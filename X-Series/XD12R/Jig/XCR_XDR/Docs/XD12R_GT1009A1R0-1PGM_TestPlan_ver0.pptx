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659" r:id="rId2"/>
    <p:sldId id="687" r:id="rId3"/>
    <p:sldId id="688" r:id="rId4"/>
    <p:sldId id="690" r:id="rId5"/>
    <p:sldId id="689" r:id="rId6"/>
    <p:sldId id="691" r:id="rId7"/>
    <p:sldId id="692" r:id="rId8"/>
    <p:sldId id="693" r:id="rId9"/>
    <p:sldId id="764" r:id="rId10"/>
    <p:sldId id="699" r:id="rId11"/>
    <p:sldId id="700" r:id="rId12"/>
    <p:sldId id="742" r:id="rId13"/>
    <p:sldId id="765" r:id="rId14"/>
    <p:sldId id="671" r:id="rId15"/>
    <p:sldId id="707" r:id="rId16"/>
    <p:sldId id="706" r:id="rId17"/>
    <p:sldId id="695" r:id="rId18"/>
    <p:sldId id="667" r:id="rId19"/>
    <p:sldId id="733" r:id="rId20"/>
    <p:sldId id="732" r:id="rId21"/>
    <p:sldId id="668" r:id="rId22"/>
    <p:sldId id="698" r:id="rId23"/>
    <p:sldId id="709" r:id="rId24"/>
    <p:sldId id="744" r:id="rId25"/>
    <p:sldId id="745" r:id="rId26"/>
    <p:sldId id="740" r:id="rId27"/>
    <p:sldId id="741" r:id="rId28"/>
    <p:sldId id="680" r:id="rId29"/>
    <p:sldId id="731" r:id="rId30"/>
    <p:sldId id="684" r:id="rId31"/>
    <p:sldId id="720" r:id="rId32"/>
    <p:sldId id="719" r:id="rId33"/>
    <p:sldId id="669" r:id="rId34"/>
    <p:sldId id="743" r:id="rId35"/>
    <p:sldId id="759" r:id="rId36"/>
    <p:sldId id="761" r:id="rId37"/>
    <p:sldId id="763" r:id="rId38"/>
    <p:sldId id="762" r:id="rId39"/>
    <p:sldId id="750" r:id="rId40"/>
    <p:sldId id="749" r:id="rId41"/>
    <p:sldId id="752" r:id="rId42"/>
    <p:sldId id="755" r:id="rId43"/>
    <p:sldId id="756" r:id="rId44"/>
    <p:sldId id="753" r:id="rId45"/>
    <p:sldId id="757" r:id="rId46"/>
    <p:sldId id="751" r:id="rId47"/>
  </p:sldIdLst>
  <p:sldSz cx="7556500" cy="106934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372A4C1-E9CD-4CBB-A65B-384B6ED1CECB}">
          <p14:sldIdLst>
            <p14:sldId id="659"/>
            <p14:sldId id="687"/>
            <p14:sldId id="688"/>
            <p14:sldId id="690"/>
            <p14:sldId id="689"/>
            <p14:sldId id="691"/>
            <p14:sldId id="692"/>
            <p14:sldId id="693"/>
            <p14:sldId id="764"/>
            <p14:sldId id="699"/>
            <p14:sldId id="700"/>
            <p14:sldId id="742"/>
            <p14:sldId id="765"/>
            <p14:sldId id="671"/>
            <p14:sldId id="707"/>
            <p14:sldId id="706"/>
            <p14:sldId id="695"/>
            <p14:sldId id="667"/>
            <p14:sldId id="733"/>
            <p14:sldId id="732"/>
            <p14:sldId id="668"/>
            <p14:sldId id="698"/>
            <p14:sldId id="709"/>
            <p14:sldId id="744"/>
            <p14:sldId id="745"/>
            <p14:sldId id="740"/>
            <p14:sldId id="741"/>
            <p14:sldId id="680"/>
            <p14:sldId id="731"/>
            <p14:sldId id="684"/>
            <p14:sldId id="720"/>
            <p14:sldId id="719"/>
            <p14:sldId id="669"/>
            <p14:sldId id="743"/>
            <p14:sldId id="759"/>
            <p14:sldId id="761"/>
            <p14:sldId id="763"/>
            <p14:sldId id="762"/>
            <p14:sldId id="750"/>
            <p14:sldId id="749"/>
            <p14:sldId id="752"/>
            <p14:sldId id="755"/>
            <p14:sldId id="756"/>
            <p14:sldId id="753"/>
            <p14:sldId id="757"/>
            <p14:sldId id="7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82F0E"/>
    <a:srgbClr val="DAE9F8"/>
    <a:srgbClr val="A7AEB6"/>
    <a:srgbClr val="DEEDEB"/>
    <a:srgbClr val="DCE6F1"/>
    <a:srgbClr val="AF6D5D"/>
    <a:srgbClr val="FF00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7181" autoAdjust="0"/>
  </p:normalViewPr>
  <p:slideViewPr>
    <p:cSldViewPr snapToGrid="0">
      <p:cViewPr varScale="1">
        <p:scale>
          <a:sx n="104" d="100"/>
          <a:sy n="104" d="100"/>
        </p:scale>
        <p:origin x="3788" y="7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8" d="100"/>
          <a:sy n="108" d="100"/>
        </p:scale>
        <p:origin x="523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6135" cy="498100"/>
          </a:xfrm>
          <a:prstGeom prst="rect">
            <a:avLst/>
          </a:prstGeom>
        </p:spPr>
        <p:txBody>
          <a:bodyPr vert="horz" lIns="83784" tIns="41892" rIns="83784" bIns="41892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113" y="0"/>
            <a:ext cx="2946135" cy="498100"/>
          </a:xfrm>
          <a:prstGeom prst="rect">
            <a:avLst/>
          </a:prstGeom>
        </p:spPr>
        <p:txBody>
          <a:bodyPr vert="horz" lIns="83784" tIns="41892" rIns="83784" bIns="41892" rtlCol="0"/>
          <a:lstStyle>
            <a:lvl1pPr algn="r">
              <a:defRPr sz="1100"/>
            </a:lvl1pPr>
          </a:lstStyle>
          <a:p>
            <a:r>
              <a:rPr lang="en-US" altLang="ko-KR" dirty="0"/>
              <a:t>2026-01-22</a:t>
            </a:r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1241425"/>
            <a:ext cx="2365375" cy="3348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3784" tIns="41892" rIns="83784" bIns="4189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637"/>
            <a:ext cx="5438140" cy="3908172"/>
          </a:xfrm>
          <a:prstGeom prst="rect">
            <a:avLst/>
          </a:prstGeom>
        </p:spPr>
        <p:txBody>
          <a:bodyPr vert="horz" lIns="83784" tIns="41892" rIns="83784" bIns="41892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28539"/>
            <a:ext cx="2946135" cy="498100"/>
          </a:xfrm>
          <a:prstGeom prst="rect">
            <a:avLst/>
          </a:prstGeom>
        </p:spPr>
        <p:txBody>
          <a:bodyPr vert="horz" lIns="83784" tIns="41892" rIns="83784" bIns="41892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113" y="9428539"/>
            <a:ext cx="2946135" cy="498100"/>
          </a:xfrm>
          <a:prstGeom prst="rect">
            <a:avLst/>
          </a:prstGeom>
        </p:spPr>
        <p:txBody>
          <a:bodyPr vert="horz" lIns="83784" tIns="41892" rIns="83784" bIns="41892" rtlCol="0" anchor="b"/>
          <a:lstStyle>
            <a:lvl1pPr algn="r">
              <a:defRPr sz="1100"/>
            </a:lvl1pPr>
          </a:lstStyle>
          <a:p>
            <a:fld id="{BFC29B26-06DF-4DD5-B145-012ED08E8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80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3497262" y="10256145"/>
            <a:ext cx="561975" cy="175259"/>
          </a:xfrm>
          <a:prstGeom prst="rect">
            <a:avLst/>
          </a:prstGeom>
        </p:spPr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 algn="ctr">
              <a:spcBef>
                <a:spcPts val="5"/>
              </a:spcBef>
            </a:pPr>
            <a:fld id="{81D60167-4931-47E6-BA6A-407CBD079E47}" type="slidenum">
              <a:rPr lang="en-US" altLang="ko-KR" smtClean="0"/>
              <a:pPr marL="12700" algn="ctr">
                <a:spcBef>
                  <a:spcPts val="5"/>
                </a:spcBef>
              </a:pPr>
              <a:t>‹#›</a:t>
            </a:fld>
            <a:endParaRPr lang="ko-KR" altLang="en-US" dirty="0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87875CDD-7E4D-6C05-1EF4-1785D0331ED7}"/>
              </a:ext>
            </a:extLst>
          </p:cNvPr>
          <p:cNvSpPr txBox="1">
            <a:spLocks/>
          </p:cNvSpPr>
          <p:nvPr userDrawn="1"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BD21419F-157D-4DDE-041D-DCE723CF3D3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17125260"/>
              </p:ext>
            </p:extLst>
          </p:nvPr>
        </p:nvGraphicFramePr>
        <p:xfrm>
          <a:off x="307442" y="290439"/>
          <a:ext cx="6879161" cy="800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450">
                  <a:extLst>
                    <a:ext uri="{9D8B030D-6E8A-4147-A177-3AD203B41FA5}">
                      <a16:colId xmlns:a16="http://schemas.microsoft.com/office/drawing/2014/main" val="1997779508"/>
                    </a:ext>
                  </a:extLst>
                </a:gridCol>
                <a:gridCol w="1662603">
                  <a:extLst>
                    <a:ext uri="{9D8B030D-6E8A-4147-A177-3AD203B41FA5}">
                      <a16:colId xmlns:a16="http://schemas.microsoft.com/office/drawing/2014/main" val="1356242479"/>
                    </a:ext>
                  </a:extLst>
                </a:gridCol>
                <a:gridCol w="1146527">
                  <a:extLst>
                    <a:ext uri="{9D8B030D-6E8A-4147-A177-3AD203B41FA5}">
                      <a16:colId xmlns:a16="http://schemas.microsoft.com/office/drawing/2014/main" val="797368838"/>
                    </a:ext>
                  </a:extLst>
                </a:gridCol>
                <a:gridCol w="1146527">
                  <a:extLst>
                    <a:ext uri="{9D8B030D-6E8A-4147-A177-3AD203B41FA5}">
                      <a16:colId xmlns:a16="http://schemas.microsoft.com/office/drawing/2014/main" val="67309211"/>
                    </a:ext>
                  </a:extLst>
                </a:gridCol>
                <a:gridCol w="1146527">
                  <a:extLst>
                    <a:ext uri="{9D8B030D-6E8A-4147-A177-3AD203B41FA5}">
                      <a16:colId xmlns:a16="http://schemas.microsoft.com/office/drawing/2014/main" val="1821539578"/>
                    </a:ext>
                  </a:extLst>
                </a:gridCol>
                <a:gridCol w="1146527">
                  <a:extLst>
                    <a:ext uri="{9D8B030D-6E8A-4147-A177-3AD203B41FA5}">
                      <a16:colId xmlns:a16="http://schemas.microsoft.com/office/drawing/2014/main" val="2829918928"/>
                    </a:ext>
                  </a:extLst>
                </a:gridCol>
              </a:tblGrid>
              <a:tr h="400317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900" dirty="0"/>
                    </a:p>
                  </a:txBody>
                  <a:tcPr marL="98708" marR="98708" marT="49354" marB="493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GT1009A1R0 (XD12P)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TEST PLAN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Control Document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■ Confidential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Date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2026. 05. 07.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85796"/>
                  </a:ext>
                </a:extLst>
              </a:tr>
              <a:tr h="4003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Rev. Num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1.2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592069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04AA903C-71AD-3AB3-A566-4F628D7062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378" y="10009982"/>
            <a:ext cx="1328449" cy="544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919D43A-CE85-1057-82EE-EAA4BBB276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75" y="456366"/>
            <a:ext cx="326366" cy="46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bject 10">
            <a:extLst>
              <a:ext uri="{FF2B5EF4-FFF2-40B4-BE49-F238E27FC236}">
                <a16:creationId xmlns:a16="http://schemas.microsoft.com/office/drawing/2014/main" id="{0488B929-5207-E4FB-F202-ED5AE1BB20B3}"/>
              </a:ext>
            </a:extLst>
          </p:cNvPr>
          <p:cNvSpPr txBox="1">
            <a:spLocks/>
          </p:cNvSpPr>
          <p:nvPr userDrawn="1"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1C49-F564-C686-13C3-E2171E71A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ED86B51-5F73-43FD-95FF-FD721A231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69517"/>
              </p:ext>
            </p:extLst>
          </p:nvPr>
        </p:nvGraphicFramePr>
        <p:xfrm>
          <a:off x="363858" y="2416690"/>
          <a:ext cx="6809235" cy="269723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895487">
                  <a:extLst>
                    <a:ext uri="{9D8B030D-6E8A-4147-A177-3AD203B41FA5}">
                      <a16:colId xmlns:a16="http://schemas.microsoft.com/office/drawing/2014/main" val="235093151"/>
                    </a:ext>
                  </a:extLst>
                </a:gridCol>
                <a:gridCol w="1413892">
                  <a:extLst>
                    <a:ext uri="{9D8B030D-6E8A-4147-A177-3AD203B41FA5}">
                      <a16:colId xmlns:a16="http://schemas.microsoft.com/office/drawing/2014/main" val="3932428638"/>
                    </a:ext>
                  </a:extLst>
                </a:gridCol>
                <a:gridCol w="1053114">
                  <a:extLst>
                    <a:ext uri="{9D8B030D-6E8A-4147-A177-3AD203B41FA5}">
                      <a16:colId xmlns:a16="http://schemas.microsoft.com/office/drawing/2014/main" val="1581193719"/>
                    </a:ext>
                  </a:extLst>
                </a:gridCol>
                <a:gridCol w="1222972">
                  <a:extLst>
                    <a:ext uri="{9D8B030D-6E8A-4147-A177-3AD203B41FA5}">
                      <a16:colId xmlns:a16="http://schemas.microsoft.com/office/drawing/2014/main" val="3195476296"/>
                    </a:ext>
                  </a:extLst>
                </a:gridCol>
                <a:gridCol w="842492">
                  <a:extLst>
                    <a:ext uri="{9D8B030D-6E8A-4147-A177-3AD203B41FA5}">
                      <a16:colId xmlns:a16="http://schemas.microsoft.com/office/drawing/2014/main" val="1869115432"/>
                    </a:ext>
                  </a:extLst>
                </a:gridCol>
                <a:gridCol w="1381278">
                  <a:extLst>
                    <a:ext uri="{9D8B030D-6E8A-4147-A177-3AD203B41FA5}">
                      <a16:colId xmlns:a16="http://schemas.microsoft.com/office/drawing/2014/main" val="1860222231"/>
                    </a:ext>
                  </a:extLst>
                </a:gridCol>
              </a:tblGrid>
              <a:tr h="269723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b="0" kern="100" dirty="0">
                          <a:solidFill>
                            <a:schemeClr val="tx1"/>
                          </a:solidFill>
                          <a:effectLst/>
                        </a:rPr>
                        <a:t>Issue Date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3742" marR="6374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b="0" kern="100" dirty="0">
                          <a:solidFill>
                            <a:schemeClr val="tx1"/>
                          </a:solidFill>
                          <a:effectLst/>
                        </a:rPr>
                        <a:t>2026.  05.  20.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3742" marR="6374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b="0" kern="100" dirty="0">
                          <a:solidFill>
                            <a:schemeClr val="tx1"/>
                          </a:solidFill>
                          <a:effectLst/>
                        </a:rPr>
                        <a:t>Dept.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3742" marR="6374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b="0" kern="100" dirty="0">
                          <a:solidFill>
                            <a:schemeClr val="tx1"/>
                          </a:solidFill>
                          <a:effectLst/>
                        </a:rPr>
                        <a:t>Development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3742" marR="6374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b="0" kern="100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3742" marR="6374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MK CHO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3742" marR="6374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41529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60CB5D5-7067-560A-1BB9-6474A23E3D32}"/>
              </a:ext>
            </a:extLst>
          </p:cNvPr>
          <p:cNvSpPr txBox="1"/>
          <p:nvPr/>
        </p:nvSpPr>
        <p:spPr>
          <a:xfrm>
            <a:off x="240869" y="1304815"/>
            <a:ext cx="7079411" cy="567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 algn="just" latinLnBrk="1">
              <a:lnSpc>
                <a:spcPct val="150000"/>
              </a:lnSpc>
            </a:pPr>
            <a:r>
              <a:rPr lang="en-US" altLang="ko-KR" sz="110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■  This document is a ‘FT test plan’ for ‘GT1009A1R0’.</a:t>
            </a:r>
            <a:endParaRPr lang="ko-KR" altLang="ko-KR" sz="1100" kern="100" dirty="0">
              <a:effectLst/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  <a:p>
            <a:pPr indent="190500" algn="just" latinLnBrk="1">
              <a:lnSpc>
                <a:spcPct val="150000"/>
              </a:lnSpc>
            </a:pPr>
            <a:r>
              <a:rPr lang="en-US" altLang="ko-KR" sz="110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Unauthorized reproduction or redistribution is prohibited without Global Technology’s written permission.</a:t>
            </a:r>
            <a:endParaRPr lang="ko-KR" altLang="ko-KR" sz="1100" kern="100" dirty="0">
              <a:effectLst/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31455-7F10-48EF-D302-6A153B9177ED}"/>
              </a:ext>
            </a:extLst>
          </p:cNvPr>
          <p:cNvSpPr txBox="1"/>
          <p:nvPr/>
        </p:nvSpPr>
        <p:spPr>
          <a:xfrm>
            <a:off x="240869" y="2155080"/>
            <a:ext cx="34321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/>
            <a:r>
              <a:rPr lang="en-US" altLang="ko-KR" sz="110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■ Issue • Revision History</a:t>
            </a:r>
            <a:endParaRPr lang="ko-KR" altLang="ko-KR" sz="1100" kern="100" dirty="0">
              <a:effectLst/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C6C235B-9649-FC5D-418D-276BE67D2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683166"/>
              </p:ext>
            </p:extLst>
          </p:nvPr>
        </p:nvGraphicFramePr>
        <p:xfrm>
          <a:off x="363858" y="3230499"/>
          <a:ext cx="6809235" cy="5354873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55226">
                  <a:extLst>
                    <a:ext uri="{9D8B030D-6E8A-4147-A177-3AD203B41FA5}">
                      <a16:colId xmlns:a16="http://schemas.microsoft.com/office/drawing/2014/main" val="674544528"/>
                    </a:ext>
                  </a:extLst>
                </a:gridCol>
                <a:gridCol w="802096">
                  <a:extLst>
                    <a:ext uri="{9D8B030D-6E8A-4147-A177-3AD203B41FA5}">
                      <a16:colId xmlns:a16="http://schemas.microsoft.com/office/drawing/2014/main" val="1713585920"/>
                    </a:ext>
                  </a:extLst>
                </a:gridCol>
                <a:gridCol w="4254613">
                  <a:extLst>
                    <a:ext uri="{9D8B030D-6E8A-4147-A177-3AD203B41FA5}">
                      <a16:colId xmlns:a16="http://schemas.microsoft.com/office/drawing/2014/main" val="1227727958"/>
                    </a:ext>
                  </a:extLst>
                </a:gridCol>
                <a:gridCol w="1097300">
                  <a:extLst>
                    <a:ext uri="{9D8B030D-6E8A-4147-A177-3AD203B41FA5}">
                      <a16:colId xmlns:a16="http://schemas.microsoft.com/office/drawing/2014/main" val="4130116281"/>
                    </a:ext>
                  </a:extLst>
                </a:gridCol>
              </a:tblGrid>
              <a:tr h="33117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Rev. No.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000" ker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Date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Summary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Name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446342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0.0</a:t>
                      </a:r>
                      <a:endParaRPr lang="ko-KR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lang="en-US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’26. 05. 20.</a:t>
                      </a:r>
                      <a:endParaRPr 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just" latinLnBrk="0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Preliminary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9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MK CHO</a:t>
                      </a:r>
                      <a:endParaRPr 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32339"/>
                  </a:ext>
                </a:extLst>
              </a:tr>
              <a:tr h="421425"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just" latinLnBrk="0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endParaRPr 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904691"/>
                  </a:ext>
                </a:extLst>
              </a:tr>
              <a:tr h="432233"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just" latinLnBrk="0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endParaRPr 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370084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just" latinLnBrk="0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endParaRPr 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049623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altLang="en-US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just" latinLnBrk="0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45239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altLang="en-US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just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397699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altLang="en-US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just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475994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altLang="en-US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just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427511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altLang="en-US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485653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altLang="en-US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just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22754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altLang="en-US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just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914466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altLang="en-US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899478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endParaRPr lang="ko-KR" altLang="en-US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168804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65F7E6-48C7-A8AC-F327-7C5211CABDA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1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3AEE7D-F008-CD7B-7D2B-C7AD116A1C32}"/>
              </a:ext>
            </a:extLst>
          </p:cNvPr>
          <p:cNvSpPr txBox="1"/>
          <p:nvPr/>
        </p:nvSpPr>
        <p:spPr>
          <a:xfrm>
            <a:off x="240869" y="2962683"/>
            <a:ext cx="37774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■ Revision History</a:t>
            </a:r>
          </a:p>
        </p:txBody>
      </p:sp>
    </p:spTree>
    <p:extLst>
      <p:ext uri="{BB962C8B-B14F-4D97-AF65-F5344CB8AC3E}">
        <p14:creationId xmlns:p14="http://schemas.microsoft.com/office/powerpoint/2010/main" val="165302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CED41-F538-9FAE-0DFE-62E082173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923CD266-5716-AA95-4171-9BA1785C706F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BA07266-EF5F-DE39-B043-30DC3F72DB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2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B409C-CFA3-BB07-BCE7-7F02DBCB3F7B}"/>
              </a:ext>
            </a:extLst>
          </p:cNvPr>
          <p:cNvSpPr txBox="1"/>
          <p:nvPr/>
        </p:nvSpPr>
        <p:spPr>
          <a:xfrm>
            <a:off x="1576553" y="2197609"/>
            <a:ext cx="4174708" cy="4581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159" b="1" dirty="0"/>
              <a:t>Contents</a:t>
            </a:r>
          </a:p>
          <a:p>
            <a:pPr>
              <a:lnSpc>
                <a:spcPct val="150000"/>
              </a:lnSpc>
            </a:pPr>
            <a:endParaRPr lang="en-US" altLang="ko-KR" sz="1943" dirty="0"/>
          </a:p>
          <a:p>
            <a:pPr>
              <a:lnSpc>
                <a:spcPct val="150000"/>
              </a:lnSpc>
            </a:pPr>
            <a:r>
              <a:rPr lang="en-US" altLang="ko-KR" sz="1943" dirty="0"/>
              <a:t>1</a:t>
            </a:r>
            <a:r>
              <a:rPr lang="en-US" altLang="ko-KR" sz="1943"/>
              <a:t>.    General </a:t>
            </a:r>
            <a:r>
              <a:rPr lang="en-US" altLang="ko-KR" sz="1943" dirty="0"/>
              <a:t>Description</a:t>
            </a:r>
          </a:p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en-US" altLang="ko-KR" sz="1943"/>
              <a:t>Bonding Diagram</a:t>
            </a:r>
          </a:p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en-US" altLang="ko-KR" sz="1943"/>
              <a:t>PKG Outline</a:t>
            </a:r>
          </a:p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en-US" altLang="ko-KR" sz="1943"/>
              <a:t>Pin Description</a:t>
            </a:r>
          </a:p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en-US" altLang="ko-KR" sz="1943"/>
              <a:t>Test Circuit (FT Board Schematic)</a:t>
            </a:r>
          </a:p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en-US" altLang="ko-KR" sz="1943"/>
              <a:t>Test Flow</a:t>
            </a:r>
            <a:endParaRPr lang="en-US" altLang="ko-KR" sz="1943" dirty="0"/>
          </a:p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en-US" altLang="ko-KR" sz="1943"/>
              <a:t>Serial Communication Protocol</a:t>
            </a:r>
          </a:p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en-US" altLang="ko-KR" sz="1943"/>
              <a:t>Individual </a:t>
            </a:r>
            <a:r>
              <a:rPr lang="en-US" altLang="ko-KR" sz="1943" dirty="0"/>
              <a:t>Test Plan</a:t>
            </a:r>
          </a:p>
        </p:txBody>
      </p:sp>
    </p:spTree>
    <p:extLst>
      <p:ext uri="{BB962C8B-B14F-4D97-AF65-F5344CB8AC3E}">
        <p14:creationId xmlns:p14="http://schemas.microsoft.com/office/powerpoint/2010/main" val="2236136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FD2E3-1718-D02E-9708-78BF21F7F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871277F2-422D-827B-0F94-BAAFE2DE2E2C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4D3C843-0D09-4110-92DD-CCD252CFAA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3</a:t>
            </a:fld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6EDC7-C502-6075-EA16-4B2A9463C926}"/>
              </a:ext>
            </a:extLst>
          </p:cNvPr>
          <p:cNvSpPr txBox="1"/>
          <p:nvPr/>
        </p:nvSpPr>
        <p:spPr>
          <a:xfrm>
            <a:off x="397148" y="1212746"/>
            <a:ext cx="6372618" cy="4008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General Description</a:t>
            </a:r>
          </a:p>
          <a:p>
            <a:pPr>
              <a:lnSpc>
                <a:spcPct val="150000"/>
              </a:lnSpc>
            </a:pPr>
            <a:endParaRPr lang="en-US" altLang="ko-KR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88900" algn="just"/>
            <a:r>
              <a:rPr lang="en-US" altLang="ko-KR" sz="1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XD12R is a 12-channel constant </a:t>
            </a:r>
            <a:r>
              <a:rPr lang="en-US" altLang="ko-KR" sz="11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current sink RGB(CM) LED  driver for display  backlight systems.</a:t>
            </a:r>
          </a:p>
          <a:p>
            <a:pPr indent="88900" algn="just"/>
            <a:r>
              <a:rPr lang="en-US" altLang="ko-KR" sz="11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While conventional RGB backlight systems require separate three channels for red, green, and blue LED pixels, the XD12R achieves multiplexed driving for full-color RGB backlight pixels with one or two channels.</a:t>
            </a:r>
          </a:p>
          <a:p>
            <a:pPr indent="88900" algn="just"/>
            <a:r>
              <a:rPr lang="en-US" altLang="ko-KR" sz="11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This approach allows single-layer BLU implementation, significantly reducing PCB layers.</a:t>
            </a:r>
          </a:p>
          <a:p>
            <a:pPr indent="88900" algn="just"/>
            <a:r>
              <a:rPr lang="en-US" altLang="ko-KR" sz="11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Each channel supports up to 40mA of output current and a maximum output voltage of 40V and can time-share up to three LEDs per channel.</a:t>
            </a:r>
          </a:p>
          <a:p>
            <a:pPr indent="88900" algn="just"/>
            <a:r>
              <a:rPr lang="en-US" altLang="ko-KR" sz="11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This device can support max 14-bit PWM dimming resolution and a 12-bit DAC global brightness resolution and max. 5-colors.</a:t>
            </a:r>
          </a:p>
          <a:p>
            <a:pPr indent="88900" algn="just"/>
            <a:r>
              <a:rPr lang="en-US" altLang="ko-KR" sz="11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To ensure stable, flicker-free RGB time-sequential operation, the device features optimized subframe timing control and precise current regulation to effectively suppress flickering caused by rapid color transitions.</a:t>
            </a:r>
          </a:p>
          <a:p>
            <a:pPr indent="88900" algn="just"/>
            <a:r>
              <a:rPr lang="en-US" altLang="ko-KR" sz="11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Integrated self-protection features include LED open/short detection and overheating shutdown. A feedback control function is also included to optimize the VLED voltage during LED operation, improving power efficiency.</a:t>
            </a:r>
          </a:p>
          <a:p>
            <a:pPr indent="88900" algn="just"/>
            <a:r>
              <a:rPr lang="en-US" altLang="ko-KR" sz="11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XD12R can be controlled with several commands through a XC24R controller or directly by a MCU.  Multiple XD12R devices can be daisy-chained and controlled via a serial interface from a single XC24R, enabling scalable, high-channel-count RGB LED backlight systems for large-area displays.</a:t>
            </a:r>
          </a:p>
        </p:txBody>
      </p:sp>
    </p:spTree>
    <p:extLst>
      <p:ext uri="{BB962C8B-B14F-4D97-AF65-F5344CB8AC3E}">
        <p14:creationId xmlns:p14="http://schemas.microsoft.com/office/powerpoint/2010/main" val="2747012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3F460-BC87-9AC0-E9E6-E1160882F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37015FB2-5B34-AC17-3DC5-6CB67F8C04CD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BAF4630-D79C-7AA4-42E9-7CBD4AE85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4</a:t>
            </a:fld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C0625-6607-C83B-E1BD-6F15E6699169}"/>
              </a:ext>
            </a:extLst>
          </p:cNvPr>
          <p:cNvSpPr txBox="1"/>
          <p:nvPr/>
        </p:nvSpPr>
        <p:spPr>
          <a:xfrm>
            <a:off x="346120" y="1302507"/>
            <a:ext cx="34321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b="1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2</a:t>
            </a:r>
            <a:r>
              <a:rPr kumimoji="0" lang="en-US" altLang="ko-K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. Bonding Diagram</a:t>
            </a:r>
            <a:endParaRPr kumimoji="0" lang="en-US" altLang="ko-KR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1F9332-4952-719D-86F1-1ED7E2E90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203" y="2008335"/>
            <a:ext cx="5064409" cy="714019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ADECC6C-B777-0E4C-CD82-7B09765477B6}"/>
              </a:ext>
            </a:extLst>
          </p:cNvPr>
          <p:cNvSpPr/>
          <p:nvPr/>
        </p:nvSpPr>
        <p:spPr>
          <a:xfrm>
            <a:off x="2154477" y="2668044"/>
            <a:ext cx="2530257" cy="12588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TBD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872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9E685-5194-E721-A9AE-F41CB17C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0C167667-E08F-4A80-49BD-307DCD7DEA96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8C0B780-BB03-49C1-6A39-0C223044B7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5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F8B53-65DE-F37B-624B-86D744551489}"/>
              </a:ext>
            </a:extLst>
          </p:cNvPr>
          <p:cNvSpPr txBox="1"/>
          <p:nvPr/>
        </p:nvSpPr>
        <p:spPr>
          <a:xfrm>
            <a:off x="338671" y="1252532"/>
            <a:ext cx="34321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/>
            <a:r>
              <a:rPr lang="en-US" altLang="ko-KR" sz="1200" b="1" kern="100"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3. Package Outline</a:t>
            </a:r>
            <a:endParaRPr lang="ko-KR" altLang="ko-KR" sz="1200" kern="100" dirty="0">
              <a:effectLst/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73467A-CED4-C1D5-9D2D-43B803E21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92" y="1695371"/>
            <a:ext cx="5041220" cy="502292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04301E8-2B32-7D9D-673E-27B8B388FD5D}"/>
              </a:ext>
            </a:extLst>
          </p:cNvPr>
          <p:cNvSpPr/>
          <p:nvPr/>
        </p:nvSpPr>
        <p:spPr>
          <a:xfrm>
            <a:off x="745299" y="6575048"/>
            <a:ext cx="1471808" cy="272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9A62729-A452-7A8C-005D-C2B5D988F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92" y="6933621"/>
            <a:ext cx="5491944" cy="281997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1632B39-C7CB-58C9-1BAD-55659C20F471}"/>
              </a:ext>
            </a:extLst>
          </p:cNvPr>
          <p:cNvSpPr/>
          <p:nvPr/>
        </p:nvSpPr>
        <p:spPr>
          <a:xfrm>
            <a:off x="2154477" y="2668044"/>
            <a:ext cx="2530257" cy="12588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TBD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0283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B7854-6B78-EC47-F6E0-CC3A8DC6D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303917D8-FFE1-9C6C-58F2-116ADC7F072E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4AAFB74A-B20D-622A-8E66-9810172C67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6</a:t>
            </a:fld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FFE30B-2234-1268-B1F6-5F2E4090ECCD}"/>
              </a:ext>
            </a:extLst>
          </p:cNvPr>
          <p:cNvSpPr txBox="1"/>
          <p:nvPr/>
        </p:nvSpPr>
        <p:spPr>
          <a:xfrm>
            <a:off x="338671" y="1233614"/>
            <a:ext cx="34321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4. P</a:t>
            </a:r>
            <a:r>
              <a:rPr lang="en-US" altLang="ko-KR" sz="1200" b="1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in Description</a:t>
            </a:r>
            <a:endParaRPr kumimoji="0" lang="en-US" altLang="ko-KR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22ED2EA-01A2-1022-6921-97FB6889C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816625"/>
              </p:ext>
            </p:extLst>
          </p:nvPr>
        </p:nvGraphicFramePr>
        <p:xfrm>
          <a:off x="617652" y="2029137"/>
          <a:ext cx="6042618" cy="42572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3869">
                  <a:extLst>
                    <a:ext uri="{9D8B030D-6E8A-4147-A177-3AD203B41FA5}">
                      <a16:colId xmlns:a16="http://schemas.microsoft.com/office/drawing/2014/main" val="1199541810"/>
                    </a:ext>
                  </a:extLst>
                </a:gridCol>
                <a:gridCol w="545282">
                  <a:extLst>
                    <a:ext uri="{9D8B030D-6E8A-4147-A177-3AD203B41FA5}">
                      <a16:colId xmlns:a16="http://schemas.microsoft.com/office/drawing/2014/main" val="2771136683"/>
                    </a:ext>
                  </a:extLst>
                </a:gridCol>
                <a:gridCol w="514124">
                  <a:extLst>
                    <a:ext uri="{9D8B030D-6E8A-4147-A177-3AD203B41FA5}">
                      <a16:colId xmlns:a16="http://schemas.microsoft.com/office/drawing/2014/main" val="112759525"/>
                    </a:ext>
                  </a:extLst>
                </a:gridCol>
                <a:gridCol w="911223">
                  <a:extLst>
                    <a:ext uri="{9D8B030D-6E8A-4147-A177-3AD203B41FA5}">
                      <a16:colId xmlns:a16="http://schemas.microsoft.com/office/drawing/2014/main" val="3900317923"/>
                    </a:ext>
                  </a:extLst>
                </a:gridCol>
                <a:gridCol w="1767880">
                  <a:extLst>
                    <a:ext uri="{9D8B030D-6E8A-4147-A177-3AD203B41FA5}">
                      <a16:colId xmlns:a16="http://schemas.microsoft.com/office/drawing/2014/main" val="3382103366"/>
                    </a:ext>
                  </a:extLst>
                </a:gridCol>
                <a:gridCol w="1470240">
                  <a:extLst>
                    <a:ext uri="{9D8B030D-6E8A-4147-A177-3AD203B41FA5}">
                      <a16:colId xmlns:a16="http://schemas.microsoft.com/office/drawing/2014/main" val="915546717"/>
                    </a:ext>
                  </a:extLst>
                </a:gridCol>
              </a:tblGrid>
              <a:tr h="2604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Pin Name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Pin No.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I/O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Remark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273324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900" b="0" i="0" u="none" strike="noStrike" baseline="-25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DD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82F0E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Power</a:t>
                      </a:r>
                      <a:endParaRPr lang="ko-KR" sz="900" b="0" i="0" u="none" strike="noStrike" dirty="0">
                        <a:solidFill>
                          <a:srgbClr val="F82F0E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Supply voltage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398132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</a:t>
                      </a: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BIDIR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Ground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008213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900" b="0" i="0" u="none" strike="noStrike" baseline="-25000" dirty="0"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SS</a:t>
                      </a:r>
                      <a:endParaRPr lang="en-US" sz="900" b="0" i="0" u="none" strike="noStrike" dirty="0"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GND</a:t>
                      </a:r>
                      <a:endParaRPr lang="ko-KR" sz="900" b="0" i="0" u="none" strike="noStrike" dirty="0"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Ground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949854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900" b="0" i="0" u="none" strike="noStrike" baseline="-25000" dirty="0"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SS</a:t>
                      </a:r>
                      <a:endParaRPr lang="en-US" sz="900" b="0" i="0" u="none" strike="noStrike" dirty="0"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GND</a:t>
                      </a:r>
                      <a:endParaRPr lang="ko-KR" sz="900" b="0" i="0" u="none" strike="noStrike" dirty="0"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Ground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537586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</a:t>
                      </a:r>
                      <a:r>
                        <a:rPr lang="en-US" sz="9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IO</a:t>
                      </a: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I/O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BIDIR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Data In/Out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 Internal PD, 48K</a:t>
                      </a:r>
                      <a:r>
                        <a:rPr lang="el-GR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Ω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298388"/>
                  </a:ext>
                </a:extLst>
              </a:tr>
              <a:tr h="50656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SVI</a:t>
                      </a:r>
                      <a:endParaRPr lang="en-US" altLang="ko-KR" sz="900" b="0" i="0" u="none" strike="noStrike" baseline="30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I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DIGITAL</a:t>
                      </a: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INPUT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800"/>
                        </a:lnSpc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External sync. Input</a:t>
                      </a:r>
                      <a:endParaRPr lang="en-US" altLang="ko-KR" sz="900" b="0" i="0" u="none" strike="noStrike" baseline="0" dirty="0">
                        <a:solidFill>
                          <a:srgbClr val="00CC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External svsync (+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vsync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) daisy chain connected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315327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O12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O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Current Load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Current Sink 12</a:t>
                      </a:r>
                      <a:endParaRPr lang="ko-KR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 If unused, connect to GND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768681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O11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O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Current Load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Current Sink 11</a:t>
                      </a:r>
                      <a:endParaRPr lang="ko-KR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 If unused, connect to GND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918571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O10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O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Current Load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Current Sink 10</a:t>
                      </a:r>
                      <a:endParaRPr lang="ko-KR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 If unused, connect to GND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580614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O9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O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Current Load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Current Sink 9</a:t>
                      </a:r>
                      <a:endParaRPr lang="ko-KR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 If unused, connect to GND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559267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O8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O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Current Load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Current Sink 8</a:t>
                      </a:r>
                      <a:endParaRPr lang="ko-KR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 If unused, connect to GND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978524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O7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O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Current Load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Current Sink 7</a:t>
                      </a:r>
                      <a:endParaRPr lang="ko-KR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 If unused, connect to GND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588335"/>
                  </a:ext>
                </a:extLst>
              </a:tr>
              <a:tr h="50656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SVO</a:t>
                      </a: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I/O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BIDIR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>
                        <a:lnSpc>
                          <a:spcPts val="800"/>
                        </a:lnSpc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External sync. Output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External svsync (+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vsync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) daisy chain connected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680076"/>
                  </a:ext>
                </a:extLst>
              </a:tr>
              <a:tr h="2869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</a:t>
                      </a:r>
                      <a:r>
                        <a:rPr lang="en-US" sz="9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DIO</a:t>
                      </a:r>
                    </a:p>
                  </a:txBody>
                  <a:tcPr marL="0" marR="0" marT="54000" marB="5400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I/O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Digital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Daisied Data In/Out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 Internal PD, 48K</a:t>
                      </a:r>
                      <a:r>
                        <a:rPr lang="el-GR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Ω</a:t>
                      </a:r>
                      <a:endParaRPr lang="ko-KR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54000" marB="54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811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576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EBB91-63F1-C053-A689-219816203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79F30C2F-AA5D-6D2B-A948-F68EBDAAA110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8E6EC85C-C231-5950-4FCC-754F5D0ECD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7</a:t>
            </a:fld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CB92B-EF72-4F52-B95A-B1EDDD85C7D0}"/>
              </a:ext>
            </a:extLst>
          </p:cNvPr>
          <p:cNvSpPr txBox="1"/>
          <p:nvPr/>
        </p:nvSpPr>
        <p:spPr>
          <a:xfrm>
            <a:off x="332364" y="1227307"/>
            <a:ext cx="3704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/>
            <a:r>
              <a:rPr lang="en-US" altLang="ko-KR" sz="1200" b="1" kern="10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5. Test Circuit (Load Board Schematic)</a:t>
            </a:r>
            <a:endParaRPr lang="ko-KR" altLang="ko-KR" sz="1200" kern="100" dirty="0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54CDC4-A798-F4B0-1B1E-608B8DB51029}"/>
              </a:ext>
            </a:extLst>
          </p:cNvPr>
          <p:cNvSpPr txBox="1"/>
          <p:nvPr/>
        </p:nvSpPr>
        <p:spPr>
          <a:xfrm>
            <a:off x="948018" y="1751711"/>
            <a:ext cx="3778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u="sng">
                <a:highlight>
                  <a:srgbClr val="FFFF00"/>
                </a:highlight>
              </a:rPr>
              <a:t>Please refer to separate materials</a:t>
            </a:r>
            <a:r>
              <a:rPr lang="en-US" altLang="ko-KR" sz="1200" u="sng">
                <a:highlight>
                  <a:srgbClr val="FFFF00"/>
                </a:highlight>
              </a:rPr>
              <a:t>.</a:t>
            </a:r>
            <a:endParaRPr lang="ko-KR" altLang="en-US" sz="1200" u="sng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5675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E5491-AE2C-2C9A-1385-DADCCE005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118BD141-DFB1-8F01-7788-F076D91EF286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56CFA91-4CE2-7153-EC10-AB6B5E5528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8</a:t>
            </a:fld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53EB00-F8F8-4895-BF66-5E8C7D9BB72C}"/>
              </a:ext>
            </a:extLst>
          </p:cNvPr>
          <p:cNvSpPr txBox="1"/>
          <p:nvPr/>
        </p:nvSpPr>
        <p:spPr>
          <a:xfrm>
            <a:off x="338670" y="1205315"/>
            <a:ext cx="3704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/>
            <a:r>
              <a:rPr lang="en-US" altLang="ko-KR" sz="1200" b="1" kern="10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6. Probe Test Flow (Ta=90</a:t>
            </a:r>
            <a:r>
              <a:rPr lang="en-US" altLang="ko-KR" sz="1200" b="1" kern="100" baseline="3000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o</a:t>
            </a:r>
            <a:r>
              <a:rPr lang="en-US" altLang="ko-KR" sz="1200" b="1" kern="10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C)</a:t>
            </a:r>
            <a:endParaRPr lang="ko-KR" altLang="ko-KR" sz="1200" kern="100" dirty="0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81709EC-1857-4FCE-A0A2-B83ED41EC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121702"/>
              </p:ext>
            </p:extLst>
          </p:nvPr>
        </p:nvGraphicFramePr>
        <p:xfrm>
          <a:off x="319193" y="1576993"/>
          <a:ext cx="6860603" cy="30331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8591">
                  <a:extLst>
                    <a:ext uri="{9D8B030D-6E8A-4147-A177-3AD203B41FA5}">
                      <a16:colId xmlns:a16="http://schemas.microsoft.com/office/drawing/2014/main" val="409393277"/>
                    </a:ext>
                  </a:extLst>
                </a:gridCol>
                <a:gridCol w="1260080">
                  <a:extLst>
                    <a:ext uri="{9D8B030D-6E8A-4147-A177-3AD203B41FA5}">
                      <a16:colId xmlns:a16="http://schemas.microsoft.com/office/drawing/2014/main" val="2481086913"/>
                    </a:ext>
                  </a:extLst>
                </a:gridCol>
                <a:gridCol w="1012122">
                  <a:extLst>
                    <a:ext uri="{9D8B030D-6E8A-4147-A177-3AD203B41FA5}">
                      <a16:colId xmlns:a16="http://schemas.microsoft.com/office/drawing/2014/main" val="2449930844"/>
                    </a:ext>
                  </a:extLst>
                </a:gridCol>
                <a:gridCol w="1047023">
                  <a:extLst>
                    <a:ext uri="{9D8B030D-6E8A-4147-A177-3AD203B41FA5}">
                      <a16:colId xmlns:a16="http://schemas.microsoft.com/office/drawing/2014/main" val="300279691"/>
                    </a:ext>
                  </a:extLst>
                </a:gridCol>
                <a:gridCol w="604902">
                  <a:extLst>
                    <a:ext uri="{9D8B030D-6E8A-4147-A177-3AD203B41FA5}">
                      <a16:colId xmlns:a16="http://schemas.microsoft.com/office/drawing/2014/main" val="4066760503"/>
                    </a:ext>
                  </a:extLst>
                </a:gridCol>
                <a:gridCol w="602665">
                  <a:extLst>
                    <a:ext uri="{9D8B030D-6E8A-4147-A177-3AD203B41FA5}">
                      <a16:colId xmlns:a16="http://schemas.microsoft.com/office/drawing/2014/main" val="4054648431"/>
                    </a:ext>
                  </a:extLst>
                </a:gridCol>
                <a:gridCol w="614253">
                  <a:extLst>
                    <a:ext uri="{9D8B030D-6E8A-4147-A177-3AD203B41FA5}">
                      <a16:colId xmlns:a16="http://schemas.microsoft.com/office/drawing/2014/main" val="4092516441"/>
                    </a:ext>
                  </a:extLst>
                </a:gridCol>
                <a:gridCol w="453710">
                  <a:extLst>
                    <a:ext uri="{9D8B030D-6E8A-4147-A177-3AD203B41FA5}">
                      <a16:colId xmlns:a16="http://schemas.microsoft.com/office/drawing/2014/main" val="950356986"/>
                    </a:ext>
                  </a:extLst>
                </a:gridCol>
                <a:gridCol w="787257">
                  <a:extLst>
                    <a:ext uri="{9D8B030D-6E8A-4147-A177-3AD203B41FA5}">
                      <a16:colId xmlns:a16="http://schemas.microsoft.com/office/drawing/2014/main" val="1889454359"/>
                    </a:ext>
                  </a:extLst>
                </a:gridCol>
              </a:tblGrid>
              <a:tr h="232828"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No.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</a:rPr>
                        <a:t>Test Items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</a:rPr>
                        <a:t>Measure Pin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</a:rPr>
                        <a:t>Min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</a:rPr>
                        <a:t>Unit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095054"/>
                  </a:ext>
                </a:extLst>
              </a:tr>
              <a:tr h="26670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1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OS_VSS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(본문)"/>
                          <a:ea typeface="맑은 고딕" panose="020B0503020000020004" pitchFamily="50" charset="-127"/>
                          <a:cs typeface="+mn-cs"/>
                        </a:rPr>
                        <a:t>PWR_OS</a:t>
                      </a:r>
                      <a:endParaRPr kumimoji="0" lang="ko-KR" alt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 (본문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VSS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-0.2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0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0.2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V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526305"/>
                  </a:ext>
                </a:extLst>
              </a:tr>
              <a:tr h="2963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2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OSN/OSP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OSN/OSP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ALLPINS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-0.9 / 0.3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-0.6 / 0.6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-0.3 / 0.9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V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869240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3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OS_VDD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(본문)"/>
                          <a:ea typeface="맑은 고딕" panose="020B0503020000020004" pitchFamily="50" charset="-127"/>
                          <a:cs typeface="+mn-cs"/>
                        </a:rPr>
                        <a:t>PWR_OS</a:t>
                      </a:r>
                      <a:endParaRPr kumimoji="0" lang="ko-KR" alt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 (본문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VDD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-0.8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-0.5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-0.2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V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757437"/>
                  </a:ext>
                </a:extLst>
              </a:tr>
              <a:tr h="88677">
                <a:tc rowSpan="5"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4</a:t>
                      </a:r>
                    </a:p>
                    <a:p>
                      <a:pPr algn="ctr" latinLnBrk="1"/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Input Leak Current (Low)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IIL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TEST, DIN, SVI, SVO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uA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120994"/>
                  </a:ext>
                </a:extLst>
              </a:tr>
              <a:tr h="209807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DOUT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-1.2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uA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985936"/>
                  </a:ext>
                </a:extLst>
              </a:tr>
              <a:tr h="265757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Input Leak Current (High)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IIH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TEST, SVO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uA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470094"/>
                  </a:ext>
                </a:extLst>
              </a:tr>
              <a:tr h="2709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DIN, DOUT, SVI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55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65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90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uA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009807"/>
                  </a:ext>
                </a:extLst>
              </a:tr>
              <a:tr h="26950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Output Hi-Z Leak Current (Low/High)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IOZL/IOZH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IOUT_CH1~12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-0.2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0.2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uA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10682"/>
                  </a:ext>
                </a:extLst>
              </a:tr>
              <a:tr h="285105"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5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OTP Init Check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OTP Init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ALLPINS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558784"/>
                  </a:ext>
                </a:extLst>
              </a:tr>
              <a:tr h="326535"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6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SCAN TEST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SCAN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719642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8EB4EDA3-84E2-D2BF-1515-8C4CC439BE63}"/>
              </a:ext>
            </a:extLst>
          </p:cNvPr>
          <p:cNvSpPr/>
          <p:nvPr/>
        </p:nvSpPr>
        <p:spPr>
          <a:xfrm>
            <a:off x="7315621" y="3735867"/>
            <a:ext cx="2530257" cy="12588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AC value check </a:t>
            </a:r>
            <a:r>
              <a:rPr lang="ko-KR" altLang="en-US" dirty="0"/>
              <a:t>필요</a:t>
            </a:r>
          </a:p>
        </p:txBody>
      </p:sp>
    </p:spTree>
    <p:extLst>
      <p:ext uri="{BB962C8B-B14F-4D97-AF65-F5344CB8AC3E}">
        <p14:creationId xmlns:p14="http://schemas.microsoft.com/office/powerpoint/2010/main" val="179643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E55F58D-EB81-C75E-74AF-D03A8207591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 algn="ctr">
              <a:spcBef>
                <a:spcPts val="5"/>
              </a:spcBef>
            </a:pPr>
            <a:fld id="{81D60167-4931-47E6-BA6A-407CBD079E47}" type="slidenum">
              <a:rPr lang="en-US" altLang="ko-KR" smtClean="0"/>
              <a:pPr marL="12700" algn="ctr">
                <a:spcBef>
                  <a:spcPts val="5"/>
                </a:spcBef>
              </a:pPr>
              <a:t>9</a:t>
            </a:fld>
            <a:endParaRPr lang="ko-KR" altLang="en-US" dirty="0"/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D4FCD94D-FA50-EC35-80BB-60582E73D41C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B668EB2-8EE5-B5DD-B37E-A0F8A3B01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74759"/>
              </p:ext>
            </p:extLst>
          </p:nvPr>
        </p:nvGraphicFramePr>
        <p:xfrm>
          <a:off x="319193" y="1576993"/>
          <a:ext cx="6860603" cy="89397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8591">
                  <a:extLst>
                    <a:ext uri="{9D8B030D-6E8A-4147-A177-3AD203B41FA5}">
                      <a16:colId xmlns:a16="http://schemas.microsoft.com/office/drawing/2014/main" val="409393277"/>
                    </a:ext>
                  </a:extLst>
                </a:gridCol>
                <a:gridCol w="1260080">
                  <a:extLst>
                    <a:ext uri="{9D8B030D-6E8A-4147-A177-3AD203B41FA5}">
                      <a16:colId xmlns:a16="http://schemas.microsoft.com/office/drawing/2014/main" val="2481086913"/>
                    </a:ext>
                  </a:extLst>
                </a:gridCol>
                <a:gridCol w="1012122">
                  <a:extLst>
                    <a:ext uri="{9D8B030D-6E8A-4147-A177-3AD203B41FA5}">
                      <a16:colId xmlns:a16="http://schemas.microsoft.com/office/drawing/2014/main" val="2449930844"/>
                    </a:ext>
                  </a:extLst>
                </a:gridCol>
                <a:gridCol w="1047023">
                  <a:extLst>
                    <a:ext uri="{9D8B030D-6E8A-4147-A177-3AD203B41FA5}">
                      <a16:colId xmlns:a16="http://schemas.microsoft.com/office/drawing/2014/main" val="300279691"/>
                    </a:ext>
                  </a:extLst>
                </a:gridCol>
                <a:gridCol w="604902">
                  <a:extLst>
                    <a:ext uri="{9D8B030D-6E8A-4147-A177-3AD203B41FA5}">
                      <a16:colId xmlns:a16="http://schemas.microsoft.com/office/drawing/2014/main" val="4066760503"/>
                    </a:ext>
                  </a:extLst>
                </a:gridCol>
                <a:gridCol w="602665">
                  <a:extLst>
                    <a:ext uri="{9D8B030D-6E8A-4147-A177-3AD203B41FA5}">
                      <a16:colId xmlns:a16="http://schemas.microsoft.com/office/drawing/2014/main" val="4054648431"/>
                    </a:ext>
                  </a:extLst>
                </a:gridCol>
                <a:gridCol w="614253">
                  <a:extLst>
                    <a:ext uri="{9D8B030D-6E8A-4147-A177-3AD203B41FA5}">
                      <a16:colId xmlns:a16="http://schemas.microsoft.com/office/drawing/2014/main" val="4092516441"/>
                    </a:ext>
                  </a:extLst>
                </a:gridCol>
                <a:gridCol w="453710">
                  <a:extLst>
                    <a:ext uri="{9D8B030D-6E8A-4147-A177-3AD203B41FA5}">
                      <a16:colId xmlns:a16="http://schemas.microsoft.com/office/drawing/2014/main" val="950356986"/>
                    </a:ext>
                  </a:extLst>
                </a:gridCol>
                <a:gridCol w="787257">
                  <a:extLst>
                    <a:ext uri="{9D8B030D-6E8A-4147-A177-3AD203B41FA5}">
                      <a16:colId xmlns:a16="http://schemas.microsoft.com/office/drawing/2014/main" val="1889454359"/>
                    </a:ext>
                  </a:extLst>
                </a:gridCol>
              </a:tblGrid>
              <a:tr h="232828"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No.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</a:rPr>
                        <a:t>Test Items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</a:rPr>
                        <a:t>Measure Pin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</a:rPr>
                        <a:t>Min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</a:rPr>
                        <a:t>Unit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095054"/>
                  </a:ext>
                </a:extLst>
              </a:tr>
              <a:tr h="26670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1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OS_VSS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(본문)"/>
                          <a:ea typeface="맑은 고딕" panose="020B0503020000020004" pitchFamily="50" charset="-127"/>
                          <a:cs typeface="+mn-cs"/>
                        </a:rPr>
                        <a:t>PWR_OS</a:t>
                      </a:r>
                      <a:endParaRPr kumimoji="0" lang="ko-KR" alt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 (본문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VSS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-0.2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0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0.2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V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526305"/>
                  </a:ext>
                </a:extLst>
              </a:tr>
              <a:tr h="2963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2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OSN/OSP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OSN/OSP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ALLPINS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-0.9 / 0.3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-0.6 / 0.6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-0.3 / 0.9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V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869240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3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OS_VDD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(본문)"/>
                          <a:ea typeface="맑은 고딕" panose="020B0503020000020004" pitchFamily="50" charset="-127"/>
                          <a:cs typeface="+mn-cs"/>
                        </a:rPr>
                        <a:t>PWR_OS</a:t>
                      </a:r>
                      <a:endParaRPr kumimoji="0" lang="ko-KR" alt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 (본문)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VDD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-0.8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-0.5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-0.2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V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757437"/>
                  </a:ext>
                </a:extLst>
              </a:tr>
              <a:tr h="88677">
                <a:tc rowSpan="5"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4</a:t>
                      </a:r>
                    </a:p>
                    <a:p>
                      <a:pPr algn="ctr" latinLnBrk="1"/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Input Leak Current (Low)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IIL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TEST, DIN, SVI, SVO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uA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120994"/>
                  </a:ext>
                </a:extLst>
              </a:tr>
              <a:tr h="209807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DOUT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-1.2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uA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985936"/>
                  </a:ext>
                </a:extLst>
              </a:tr>
              <a:tr h="265757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Input Leak Current (High)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IIH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TEST, SVO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uA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470094"/>
                  </a:ext>
                </a:extLst>
              </a:tr>
              <a:tr h="2709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DIN, DOUT, SVI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55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65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90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uA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009807"/>
                  </a:ext>
                </a:extLst>
              </a:tr>
              <a:tr h="26950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Output Hi-Z Leak Current (Low/High)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IOZL/IOZH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IOUT_CH1~12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-0.2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0.2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uA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10682"/>
                  </a:ext>
                </a:extLst>
              </a:tr>
              <a:tr h="275771"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5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OTP Init Check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OTP Init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ALLPINS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233583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6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VREF Trim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VREF_Trim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TEST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2.183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2.295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9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0.77%/4.32%</a:t>
                      </a:r>
                      <a:endParaRPr lang="ko-KR" altLang="en-US" sz="9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569334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7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OSC Trim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OSC_Trim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DOUT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1.205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1.23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1.255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MHz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2%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836696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8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IOUT_OFS Trim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IOUT_OFS Trim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IOUT_CH1~12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3.806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3.907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4.009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2.6%</a:t>
                      </a:r>
                      <a:endParaRPr kumimoji="0" lang="ko-KR" alt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26062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ICTL_GA_Trim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ICTL_GA_Trim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IOUT_CH1~12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0.974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1.026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2.6%</a:t>
                      </a:r>
                      <a:endParaRPr kumimoji="0" lang="ko-KR" alt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509601"/>
                  </a:ext>
                </a:extLst>
              </a:tr>
              <a:tr h="30743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10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OTP_Write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OTP_WRITE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-</a:t>
                      </a:r>
                      <a:endParaRPr kumimoji="0" lang="ko-KR" alt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21183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11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VREF Verify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VREF_VFY</a:t>
                      </a:r>
                      <a:endParaRPr lang="ko-KR" altLang="en-US" sz="10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2.156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2.244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2%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029175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12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OSC Verify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OSC_VFY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DOUT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1.205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1.23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1.255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MHz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2%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145886"/>
                  </a:ext>
                </a:extLst>
              </a:tr>
              <a:tr h="406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13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IOUT_L_Verify</a:t>
                      </a:r>
                      <a:endParaRPr lang="en-US" alt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IOUT_L_VFY1/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IOUT_L_VFY2/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IOUT_L_VFY3/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</a:t>
                      </a: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0.373/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1.010/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3.931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0.383/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1.037/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4.036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0.393/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1.064/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4.141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4mA</a:t>
                      </a:r>
                      <a:endParaRPr kumimoji="0" lang="ko-KR" alt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79033"/>
                  </a:ext>
                </a:extLst>
              </a:tr>
              <a:tr h="353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14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IOUT_H_Verify</a:t>
                      </a:r>
                      <a:endParaRPr lang="en-US" alt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IOUT_H_VFY1/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IOUT_H_VFY2/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IOUT_H_VFY3/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2.142/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5.747/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22.188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2.199/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5.900/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22.780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2.256/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6.053/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23.372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24mA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834507"/>
                  </a:ext>
                </a:extLst>
              </a:tr>
              <a:tr h="337938"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15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LDO (no trim)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LDO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1.425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</a:t>
                      </a:r>
                      <a:endParaRPr lang="en-US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1.575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+mn-ea"/>
                          <a:cs typeface="+mn-cs"/>
                        </a:rPr>
                        <a:t>5%/6%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8164"/>
                  </a:ext>
                </a:extLst>
              </a:tr>
              <a:tr h="4791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16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FLL</a:t>
                      </a:r>
                    </a:p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(Freq Locked Loop)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FLL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DOUT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1.15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1.24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1.29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MHz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Devided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 by 32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675292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17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Flag (Open)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FAULT_OPEN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DOUT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0.2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0.4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0.45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V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946462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18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Flag (FB)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FAULT_FB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DOUT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0.8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1.2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1.6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V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33994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19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Flag (Short)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FAULT_SHORT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DOUT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3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4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-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V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566557"/>
                  </a:ext>
                </a:extLst>
              </a:tr>
              <a:tr h="13475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PWM_DUTY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PWM_DUTY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IOUT_CH1~12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1.8</a:t>
                      </a:r>
                      <a:b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3.8</a:t>
                      </a:r>
                      <a:b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5.8</a:t>
                      </a:r>
                    </a:p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7.8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2.0</a:t>
                      </a:r>
                      <a:b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4.0</a:t>
                      </a:r>
                      <a:b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6.0</a:t>
                      </a:r>
                      <a:b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8.0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2.2</a:t>
                      </a:r>
                      <a:b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4.2</a:t>
                      </a:r>
                      <a:b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6.2</a:t>
                      </a:r>
                    </a:p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8.25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mA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25%/</a:t>
                      </a:r>
                      <a:b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50%/</a:t>
                      </a:r>
                      <a:b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75%/</a:t>
                      </a:r>
                      <a:b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100%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348535"/>
                  </a:ext>
                </a:extLst>
              </a:tr>
              <a:tr h="3099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PWM_DIFF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PWM_DIFF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IOUT_CH1~12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-0.5%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0.0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0.5%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%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-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211807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21</a:t>
                      </a:r>
                      <a:endParaRPr lang="ko-KR" altLang="en-US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Static IDD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SIDD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VDD</a:t>
                      </a:r>
                      <a:endParaRPr kumimoji="0" lang="ko-KR" alt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-</a:t>
                      </a:r>
                      <a:endParaRPr kumimoji="0" lang="ko-KR" alt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792329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22</a:t>
                      </a:r>
                      <a:endParaRPr lang="ko-KR" altLang="en-US" sz="1000" b="0" strike="noStrike" kern="1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Dynamic IDD</a:t>
                      </a:r>
                      <a:endParaRPr lang="ko-KR" altLang="en-US" sz="1000" b="0" strike="noStrike" kern="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DIDD</a:t>
                      </a:r>
                      <a:endParaRPr lang="ko-KR" altLang="en-US" sz="1000" b="0" strike="noStrike" kern="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VDD</a:t>
                      </a:r>
                      <a:endParaRPr kumimoji="0" lang="ko-KR" alt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000" b="0" strike="noStrike" kern="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lang="ko-KR" altLang="en-US" sz="1000" b="0" strike="noStrike" kern="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</a:t>
                      </a:r>
                      <a:endParaRPr lang="ko-KR" altLang="en-US" sz="1000" b="0" strike="noStrike" kern="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000" b="0" strike="noStrike" kern="1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</a:t>
                      </a:r>
                      <a:endParaRPr lang="ko-KR" altLang="en-US" sz="1000" b="0" strike="noStrike" kern="1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-</a:t>
                      </a:r>
                      <a:endParaRPr kumimoji="0" lang="ko-KR" alt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122216"/>
                  </a:ext>
                </a:extLst>
              </a:tr>
              <a:tr h="3194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23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VDD On/Off Repeat</a:t>
                      </a:r>
                    </a:p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(VREF Verify)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VDD_ON/OFF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2.156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2.244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After On/Off </a:t>
                      </a:r>
                    </a:p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3 times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9917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7076BD-1A45-3327-1B55-8876AD5DEC42}"/>
              </a:ext>
            </a:extLst>
          </p:cNvPr>
          <p:cNvSpPr txBox="1"/>
          <p:nvPr/>
        </p:nvSpPr>
        <p:spPr>
          <a:xfrm>
            <a:off x="338670" y="1205315"/>
            <a:ext cx="3704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/>
            <a:r>
              <a:rPr lang="en-US" altLang="ko-KR" sz="1200" b="1" kern="10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6. Package Test Flow (Ta=25</a:t>
            </a:r>
            <a:r>
              <a:rPr lang="en-US" altLang="ko-KR" sz="1200" b="1" kern="100" baseline="3000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o</a:t>
            </a:r>
            <a:r>
              <a:rPr lang="en-US" altLang="ko-KR" sz="1200" b="1" kern="10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C)</a:t>
            </a:r>
            <a:endParaRPr lang="ko-KR" altLang="ko-KR" sz="1200" kern="100" dirty="0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E1D028-3622-CB8A-B89C-BC8E782CA451}"/>
              </a:ext>
            </a:extLst>
          </p:cNvPr>
          <p:cNvSpPr/>
          <p:nvPr/>
        </p:nvSpPr>
        <p:spPr>
          <a:xfrm>
            <a:off x="7315621" y="3735867"/>
            <a:ext cx="2530257" cy="12588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AC value check </a:t>
            </a:r>
            <a:r>
              <a:rPr lang="ko-KR" altLang="en-US" dirty="0"/>
              <a:t>필요</a:t>
            </a:r>
          </a:p>
        </p:txBody>
      </p:sp>
    </p:spTree>
    <p:extLst>
      <p:ext uri="{BB962C8B-B14F-4D97-AF65-F5344CB8AC3E}">
        <p14:creationId xmlns:p14="http://schemas.microsoft.com/office/powerpoint/2010/main" val="3338744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40A7E-6983-59B2-7591-A5BC1521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9FEFD626-2C0E-F606-12B6-8ED035F35538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356D9AD1-E159-F384-C12D-40A96E9443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317831" y="803364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10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6141A7-799C-C963-C02E-0A3D3B38E75C}"/>
              </a:ext>
            </a:extLst>
          </p:cNvPr>
          <p:cNvSpPr txBox="1"/>
          <p:nvPr/>
        </p:nvSpPr>
        <p:spPr>
          <a:xfrm>
            <a:off x="338670" y="1233614"/>
            <a:ext cx="370494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/>
            <a:r>
              <a:rPr lang="en-US" altLang="ko-KR" sz="1080" b="1" kern="10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7. Individual Test Plan</a:t>
            </a:r>
            <a:endParaRPr lang="ko-KR" altLang="ko-KR" sz="1080" kern="100" dirty="0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D906517-F55F-5E38-6E35-235BE00CA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167802"/>
              </p:ext>
            </p:extLst>
          </p:nvPr>
        </p:nvGraphicFramePr>
        <p:xfrm>
          <a:off x="338672" y="1665334"/>
          <a:ext cx="6879157" cy="15950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537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513442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701727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72427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8759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8759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8759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588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5159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89857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Item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1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3083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8226" marR="8226" marT="82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Open/Short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OS_VSS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VSS1~4</a:t>
                      </a:r>
                      <a:endParaRPr lang="ko-KR" altLang="ko-KR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0.25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  <a:tr h="37678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26" marR="8226" marT="82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Open/Short (NMOS)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OSN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ALLPINS</a:t>
                      </a:r>
                      <a:endParaRPr lang="ko-KR" altLang="ko-KR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-0.9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-0.6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478599"/>
                  </a:ext>
                </a:extLst>
              </a:tr>
              <a:tr h="31617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26" marR="8226" marT="82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Open/Short (PMOS)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OSP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TEST, SVI, SVO</a:t>
                      </a:r>
                    </a:p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DIN, DOUT</a:t>
                      </a:r>
                      <a:endParaRPr lang="ko-KR" altLang="ko-KR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358006"/>
                  </a:ext>
                </a:extLst>
              </a:tr>
              <a:tr h="289857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26" marR="8226" marT="82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Open/Short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OS_VDD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VDD1~3</a:t>
                      </a:r>
                      <a:endParaRPr lang="ko-KR" altLang="ko-KR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-0.8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-0.5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328930"/>
                  </a:ext>
                </a:extLst>
              </a:tr>
            </a:tbl>
          </a:graphicData>
        </a:graphic>
      </p:graphicFrame>
      <p:sp>
        <p:nvSpPr>
          <p:cNvPr id="1059" name="TextBox 1058">
            <a:extLst>
              <a:ext uri="{FF2B5EF4-FFF2-40B4-BE49-F238E27FC236}">
                <a16:creationId xmlns:a16="http://schemas.microsoft.com/office/drawing/2014/main" id="{7CAFB436-20E4-4CCC-DE66-9EE21CB34CC3}"/>
              </a:ext>
            </a:extLst>
          </p:cNvPr>
          <p:cNvSpPr txBox="1"/>
          <p:nvPr/>
        </p:nvSpPr>
        <p:spPr>
          <a:xfrm>
            <a:off x="469475" y="3301245"/>
            <a:ext cx="5846230" cy="2300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[Test Method]</a:t>
            </a:r>
          </a:p>
          <a:p>
            <a:pPr marL="185080" indent="-185080">
              <a:spcBef>
                <a:spcPts val="300"/>
              </a:spcBef>
              <a:buFontTx/>
              <a:buChar char="-"/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VDD and all signal pins : 0V Force </a:t>
            </a:r>
          </a:p>
          <a:p>
            <a:pPr marL="185080" indent="-185080">
              <a:spcBef>
                <a:spcPts val="300"/>
              </a:spcBef>
              <a:buFontTx/>
              <a:buChar char="-"/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Measure signal pins and VDD pins after sourcing or sinking current (with PMU)</a:t>
            </a:r>
          </a:p>
          <a:p>
            <a:pPr>
              <a:spcBef>
                <a:spcPts val="300"/>
              </a:spcBef>
            </a:pPr>
            <a:endParaRPr lang="en-US" altLang="ko-K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      OS_VSS : source current 100uA</a:t>
            </a:r>
            <a:b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      OSN : sink current -100uA</a:t>
            </a:r>
          </a:p>
          <a:p>
            <a:pPr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      OSP :  source current 100uA</a:t>
            </a:r>
          </a:p>
          <a:p>
            <a:pPr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      OS_VDD : sink current -100uA</a:t>
            </a:r>
          </a:p>
          <a:p>
            <a:pPr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ALLPINS : TEST, DIN, SVI, SVO, DOUT, IOUT_CH[1:12]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VDD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541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5E27-825D-C06C-9728-4A5813C23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869E0E73-D48F-81E6-70C7-05AD9D0A7AEF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554897-999F-7DDF-244C-BC99EA59BF0A}"/>
              </a:ext>
            </a:extLst>
          </p:cNvPr>
          <p:cNvSpPr txBox="1"/>
          <p:nvPr/>
        </p:nvSpPr>
        <p:spPr>
          <a:xfrm>
            <a:off x="743247" y="4789066"/>
            <a:ext cx="575389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10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Method]</a:t>
            </a:r>
          </a:p>
          <a:p>
            <a:pPr algn="just" latinLnBrk="1">
              <a:spcBef>
                <a:spcPts val="300"/>
              </a:spcBef>
            </a:pPr>
            <a:endParaRPr lang="en-US" altLang="ko-KR" sz="1100" kern="100" dirty="0">
              <a:effectLst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marL="685800" lvl="1" indent="-228600" algn="just">
              <a:spcBef>
                <a:spcPts val="300"/>
              </a:spcBef>
              <a:buAutoNum type="arabicPeriod"/>
            </a:pP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IIL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Force VDD 5.5V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Force 5.5V for TEST, DIN, DOUT, SVI, and SVO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Force 0V to ‘Pin under Test’ and measure current</a:t>
            </a:r>
          </a:p>
          <a:p>
            <a:pPr lvl="1" algn="just">
              <a:spcBef>
                <a:spcPts val="300"/>
              </a:spcBef>
            </a:pPr>
            <a:endParaRPr lang="en-US" altLang="ko-KR" sz="11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685800" lvl="1" indent="-228600" algn="just">
              <a:spcBef>
                <a:spcPts val="300"/>
              </a:spcBef>
              <a:buAutoNum type="arabicPeriod" startAt="2"/>
            </a:pP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IIH 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Force VDD 5.5V;   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Force 0V for TEST, DIN, DOUT, SVI, and SVO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Force 5.5V to ‘Pin under Test’ and measure current</a:t>
            </a:r>
          </a:p>
          <a:p>
            <a:pPr lvl="1" algn="just">
              <a:spcBef>
                <a:spcPts val="300"/>
              </a:spcBef>
            </a:pPr>
            <a:endParaRPr lang="en-US" altLang="ko-KR" sz="11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 algn="just"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3.  IOZL 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 Force VDD : 5.5V  &amp;  IOUT_CH1~12 : 0V 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Measure current by parallel</a:t>
            </a:r>
          </a:p>
          <a:p>
            <a:pPr lvl="1" algn="just">
              <a:spcBef>
                <a:spcPts val="300"/>
              </a:spcBef>
            </a:pPr>
            <a:endParaRPr lang="en-US" altLang="ko-KR" sz="11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 algn="just">
              <a:spcBef>
                <a:spcPts val="300"/>
              </a:spcBef>
            </a:pPr>
            <a:r>
              <a:rPr lang="en-US" altLang="ko-KR" sz="1100" dirty="0"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4.  IOZH 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Force</a:t>
            </a:r>
            <a:r>
              <a:rPr lang="en-US" altLang="ko-KR" sz="1100" dirty="0"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VDD : 5.5V  &amp;  </a:t>
            </a: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IOUT_CH1~12</a:t>
            </a:r>
            <a:r>
              <a:rPr lang="en-US" altLang="ko-KR" sz="1100" dirty="0"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: 5.5V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M</a:t>
            </a:r>
            <a:r>
              <a:rPr lang="en-US" altLang="ko-KR" sz="1100" dirty="0"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easure current by parallel 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C0173CE-D3E3-9453-E670-DEE431D3ED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317831" y="803364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11</a:t>
            </a:fld>
            <a:endParaRPr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6FB6C83-A2E3-8BDC-E8B8-0CCD294FF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890392"/>
              </p:ext>
            </p:extLst>
          </p:nvPr>
        </p:nvGraphicFramePr>
        <p:xfrm>
          <a:off x="315097" y="1571968"/>
          <a:ext cx="6911203" cy="24163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5278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15359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745652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1341435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41268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41268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41268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8762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40913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8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Item</a:t>
                      </a:r>
                      <a:endParaRPr lang="ko-KR" alt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3718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Input Leak Current (Low) 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IIL1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TEST, DIN, DOUT</a:t>
                      </a:r>
                    </a:p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SVI, SVO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-500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500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76485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6</a:t>
                      </a:r>
                      <a:endParaRPr lang="ko-KR" altLang="en-US" sz="14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Input Leak Current (High) 1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IIH1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TEST, SVO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-500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500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2154"/>
                  </a:ext>
                </a:extLst>
              </a:tr>
              <a:tr h="40065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7</a:t>
                      </a:r>
                      <a:endParaRPr lang="ko-KR" altLang="en-US" sz="14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DIN, DOUT, SVI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55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65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90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uA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062516"/>
                  </a:ext>
                </a:extLst>
              </a:tr>
              <a:tr h="45847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8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Output Hi-Z Leak Current (Low) 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IOZL1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IOUT_CH1~12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-10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195160"/>
                  </a:ext>
                </a:extLst>
              </a:tr>
              <a:tr h="52183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9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Output Hi-Z Leak Current (High) 1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IOZH1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IOUT_CH1~12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-5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3847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FA37093-164D-9433-CE38-CD208A4B3B31}"/>
              </a:ext>
            </a:extLst>
          </p:cNvPr>
          <p:cNvSpPr txBox="1"/>
          <p:nvPr/>
        </p:nvSpPr>
        <p:spPr>
          <a:xfrm>
            <a:off x="338670" y="1233614"/>
            <a:ext cx="370494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80" kern="100" dirty="0">
                <a:latin typeface="Arial" panose="020B0604020202020204" pitchFamily="34" charset="0"/>
                <a:ea typeface="바탕" panose="02030600000101010101" pitchFamily="18" charset="-127"/>
                <a:cs typeface="Arial" panose="020B0604020202020204" pitchFamily="34" charset="0"/>
              </a:rPr>
              <a:t>Leakage Test</a:t>
            </a:r>
            <a:endParaRPr lang="ko-KR" altLang="ko-KR" sz="1080" kern="100" dirty="0"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590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8D08D-0817-811A-445F-8F12F434F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A8014249-28E4-817F-751D-E1C06EE349CA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7867536-DE13-21F0-DA65-9AABB592D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714471"/>
              </p:ext>
            </p:extLst>
          </p:nvPr>
        </p:nvGraphicFramePr>
        <p:xfrm>
          <a:off x="315097" y="1268439"/>
          <a:ext cx="6876534" cy="9858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95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319746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882555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84081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8553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8553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8553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4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4688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0322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6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LDO_Voltage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VLDO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TEST</a:t>
                      </a: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1.45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3.3% / 13.3%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  <a:tr h="200390"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LDO Code0 ~ 9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VC00~VC09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TEST</a:t>
                      </a: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Apply limit </a:t>
                      </a:r>
                    </a:p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rgbClr val="FF0000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only to</a:t>
                      </a:r>
                      <a:r>
                        <a:rPr lang="ko-KR" altLang="en-US" sz="1100" b="0" kern="100" dirty="0">
                          <a:solidFill>
                            <a:srgbClr val="FF0000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b="0" kern="100" dirty="0">
                          <a:solidFill>
                            <a:srgbClr val="FF0000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Code0</a:t>
                      </a:r>
                      <a:endParaRPr lang="ko-KR" altLang="en-US" sz="1100" b="0" kern="100" dirty="0">
                        <a:solidFill>
                          <a:srgbClr val="FF0000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826392"/>
                  </a:ext>
                </a:extLst>
              </a:tr>
              <a:tr h="200390"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LDO_DIFF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LDO_DIFF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TEST</a:t>
                      </a: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0.006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24187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ED4CF32-F652-23AD-3D14-BE322F47DCDA}"/>
              </a:ext>
            </a:extLst>
          </p:cNvPr>
          <p:cNvSpPr txBox="1"/>
          <p:nvPr/>
        </p:nvSpPr>
        <p:spPr>
          <a:xfrm>
            <a:off x="315096" y="2307269"/>
            <a:ext cx="6830831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5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Method]</a:t>
            </a:r>
            <a:endParaRPr lang="ko-KR" altLang="ko-KR" sz="105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VDD=5V,  DIN(</a:t>
            </a:r>
            <a:r>
              <a:rPr lang="en-US" altLang="ko-KR" sz="1050" kern="100" dirty="0" err="1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vih</a:t>
            </a: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=5v, </a:t>
            </a:r>
            <a:r>
              <a:rPr lang="en-US" altLang="ko-KR" sz="1050" kern="100" dirty="0" err="1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vil</a:t>
            </a: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=0)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Set only Red Shaded Register (Apply ‘DIN’ pin via test pattern) </a:t>
            </a: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Measure LDO Voltage (from TEST pin) </a:t>
            </a:r>
          </a:p>
          <a:p>
            <a:pPr marL="228600" indent="-228600" algn="just">
              <a:spcBef>
                <a:spcPts val="300"/>
              </a:spcBef>
              <a:buFontTx/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Set Blue &amp; Red Shaded Register </a:t>
            </a: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0.5ms  Measure LDO Voltage (code 0 to 9) </a:t>
            </a:r>
          </a:p>
          <a:p>
            <a:pPr marL="228600" indent="-228600" algn="just">
              <a:spcBef>
                <a:spcPts val="300"/>
              </a:spcBef>
              <a:buFontTx/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Calculate the difference voltage.</a:t>
            </a:r>
            <a:endParaRPr lang="en-US" altLang="ko-KR" sz="1050" kern="1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7B7AED5-FD32-05FC-50AC-683773C29D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12</a:t>
            </a:fld>
            <a:endParaRPr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7C5A5C6-2022-F15A-CECB-7B0AFE1DF094}"/>
              </a:ext>
            </a:extLst>
          </p:cNvPr>
          <p:cNvGraphicFramePr>
            <a:graphicFrameLocks noGrp="1"/>
          </p:cNvGraphicFramePr>
          <p:nvPr/>
        </p:nvGraphicFramePr>
        <p:xfrm>
          <a:off x="315096" y="3482054"/>
          <a:ext cx="6892812" cy="6355271"/>
        </p:xfrm>
        <a:graphic>
          <a:graphicData uri="http://schemas.openxmlformats.org/drawingml/2006/table">
            <a:tbl>
              <a:tblPr/>
              <a:tblGrid>
                <a:gridCol w="837220">
                  <a:extLst>
                    <a:ext uri="{9D8B030D-6E8A-4147-A177-3AD203B41FA5}">
                      <a16:colId xmlns:a16="http://schemas.microsoft.com/office/drawing/2014/main" val="3707200132"/>
                    </a:ext>
                  </a:extLst>
                </a:gridCol>
                <a:gridCol w="628974">
                  <a:extLst>
                    <a:ext uri="{9D8B030D-6E8A-4147-A177-3AD203B41FA5}">
                      <a16:colId xmlns:a16="http://schemas.microsoft.com/office/drawing/2014/main" val="4134363347"/>
                    </a:ext>
                  </a:extLst>
                </a:gridCol>
                <a:gridCol w="945669">
                  <a:extLst>
                    <a:ext uri="{9D8B030D-6E8A-4147-A177-3AD203B41FA5}">
                      <a16:colId xmlns:a16="http://schemas.microsoft.com/office/drawing/2014/main" val="2692939284"/>
                    </a:ext>
                  </a:extLst>
                </a:gridCol>
                <a:gridCol w="1938030">
                  <a:extLst>
                    <a:ext uri="{9D8B030D-6E8A-4147-A177-3AD203B41FA5}">
                      <a16:colId xmlns:a16="http://schemas.microsoft.com/office/drawing/2014/main" val="1450823875"/>
                    </a:ext>
                  </a:extLst>
                </a:gridCol>
                <a:gridCol w="827489">
                  <a:extLst>
                    <a:ext uri="{9D8B030D-6E8A-4147-A177-3AD203B41FA5}">
                      <a16:colId xmlns:a16="http://schemas.microsoft.com/office/drawing/2014/main" val="221308381"/>
                    </a:ext>
                  </a:extLst>
                </a:gridCol>
                <a:gridCol w="857715">
                  <a:extLst>
                    <a:ext uri="{9D8B030D-6E8A-4147-A177-3AD203B41FA5}">
                      <a16:colId xmlns:a16="http://schemas.microsoft.com/office/drawing/2014/main" val="5412395"/>
                    </a:ext>
                  </a:extLst>
                </a:gridCol>
                <a:gridCol w="857715">
                  <a:extLst>
                    <a:ext uri="{9D8B030D-6E8A-4147-A177-3AD203B41FA5}">
                      <a16:colId xmlns:a16="http://schemas.microsoft.com/office/drawing/2014/main" val="42340536"/>
                    </a:ext>
                  </a:extLst>
                </a:gridCol>
              </a:tblGrid>
              <a:tr h="189143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Setting : VREF &amp; LDO and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Measure LDO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105577"/>
                  </a:ext>
                </a:extLst>
              </a:tr>
              <a:tr h="23279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781407"/>
                  </a:ext>
                </a:extLst>
              </a:tr>
              <a:tr h="232792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70546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LDO_0 start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91024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4b'1000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96083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832690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0x170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653539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 CURR 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981063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0x35A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CLOCK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953263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318588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0xF10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300317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804479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0xF11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496226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 ~ 0x09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Sweep LDO code0 ~ 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012809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0x800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LDO_V start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70838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380392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44793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031719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 CURR 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647353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0x35A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CLOCK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421400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889689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0xD00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LDO[01]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822880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122447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0xD01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95777"/>
                  </a:ext>
                </a:extLst>
              </a:tr>
              <a:tr h="232792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0" i="0" u="sng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Measure ‘TEST’ pin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:  LDO Voltage measure test end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LDO_V end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skip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89508"/>
                  </a:ext>
                </a:extLst>
              </a:tr>
              <a:tr h="232792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sng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Delay </a:t>
                      </a:r>
                      <a:r>
                        <a:rPr lang="en-US" altLang="ko-KR" sz="1000" b="1" i="0" u="sng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0.5ms</a:t>
                      </a:r>
                      <a:r>
                        <a:rPr lang="en-US" altLang="ko-KR" sz="1000" b="0" i="0" u="sng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&amp; Measure ‘TEST’ pin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:  </a:t>
                      </a:r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LDO voltage measurement test finished according to code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LDO 0 end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90712"/>
                  </a:ext>
                </a:extLst>
              </a:tr>
              <a:tr h="232792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(Vcode2 - Vcode0) and (Vcode4 - Vcode2) and (V code6 - Vcode4) and (Vcode8 - Vcode6)</a:t>
                      </a:r>
                    </a:p>
                    <a:p>
                      <a:pPr algn="ctr" fontAlgn="ctr"/>
                      <a:r>
                        <a:rPr lang="en-US" altLang="ko-KR" sz="10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Calculate the difference voltage in these four cases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LDO DIFF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661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922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0FFA833-A37A-63EA-3B6C-C156C8B733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 algn="ctr">
              <a:spcBef>
                <a:spcPts val="5"/>
              </a:spcBef>
            </a:pPr>
            <a:fld id="{81D60167-4931-47E6-BA6A-407CBD079E47}" type="slidenum">
              <a:rPr lang="en-US" altLang="ko-KR" smtClean="0"/>
              <a:pPr marL="12700" algn="ctr">
                <a:spcBef>
                  <a:spcPts val="5"/>
                </a:spcBef>
              </a:pPr>
              <a:t>13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94B8C5-CCC2-C9E0-60F2-D426FD83C0B4}"/>
              </a:ext>
            </a:extLst>
          </p:cNvPr>
          <p:cNvSpPr txBox="1"/>
          <p:nvPr/>
        </p:nvSpPr>
        <p:spPr>
          <a:xfrm>
            <a:off x="402876" y="1824973"/>
            <a:ext cx="6469750" cy="26161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100" dirty="0"/>
              <a:t>SVI </a:t>
            </a:r>
            <a:r>
              <a:rPr lang="ko-KR" altLang="en-US" sz="1100" dirty="0"/>
              <a:t>입력 </a:t>
            </a:r>
            <a:r>
              <a:rPr lang="en-US" altLang="ko-KR" sz="1100" dirty="0"/>
              <a:t>/ external</a:t>
            </a:r>
            <a:r>
              <a:rPr lang="ko-KR" altLang="en-US" sz="1100" dirty="0"/>
              <a:t> </a:t>
            </a:r>
            <a:r>
              <a:rPr lang="en-US" altLang="ko-KR" sz="1100" dirty="0"/>
              <a:t>clock</a:t>
            </a:r>
            <a:r>
              <a:rPr lang="ko-KR" altLang="en-US" sz="1100" dirty="0"/>
              <a:t> 입력</a:t>
            </a:r>
            <a:endParaRPr lang="en-US" altLang="ko-KR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C850B3-495D-3B44-6D8D-D22362ED0799}"/>
              </a:ext>
            </a:extLst>
          </p:cNvPr>
          <p:cNvSpPr txBox="1"/>
          <p:nvPr/>
        </p:nvSpPr>
        <p:spPr>
          <a:xfrm>
            <a:off x="300709" y="1331710"/>
            <a:ext cx="2062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기본 </a:t>
            </a:r>
            <a:r>
              <a:rPr lang="en-US" altLang="ko-KR" dirty="0"/>
              <a:t>function setup</a:t>
            </a:r>
            <a:endParaRPr lang="ko-KR" altLang="en-US" dirty="0"/>
          </a:p>
        </p:txBody>
      </p:sp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6C7C1039-E975-58A2-7699-E00EAC9D32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106472"/>
              </p:ext>
            </p:extLst>
          </p:nvPr>
        </p:nvGraphicFramePr>
        <p:xfrm>
          <a:off x="627072" y="2546819"/>
          <a:ext cx="6040427" cy="2634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902736" imgH="3010172" progId="Visio.Drawing.15">
                  <p:embed/>
                </p:oleObj>
              </mc:Choice>
              <mc:Fallback>
                <p:oleObj name="Visio" r:id="rId2" imgW="6902736" imgH="3010172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7072" y="2546819"/>
                        <a:ext cx="6040427" cy="2634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9D211B-2D30-6772-6137-7EA42569B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489896"/>
              </p:ext>
            </p:extLst>
          </p:nvPr>
        </p:nvGraphicFramePr>
        <p:xfrm>
          <a:off x="669252" y="5512578"/>
          <a:ext cx="3606800" cy="3454400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4076348504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8365027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543315806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주파수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68029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SV_NO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9198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SV_width(high)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42822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1-frame 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8.3333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09651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68258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active total (time-div.)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8.1733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27892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active total (no-time-div.)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8.2533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03537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1-time division active time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(time-div.)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0.255415625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14294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1-time division active time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(no-time-div.)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0.51583125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14629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FPWM_DIV2/3 resolution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0.124714661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29170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FPWM_DIV1 resolution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0.251870728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6708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FPWM_DIV2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42639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FPWM_DIV3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0733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FPWM_DIV1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085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7810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E5A8E-5B79-4D33-3722-CF7F05873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04BC07D6-537F-BF6A-FEA4-2A83F0300B74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33B6EB-31DA-F1C0-0723-3BF4F3C1744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317831" y="803364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14</a:t>
            </a:fld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3C67EB-F2BA-F0D4-C5AD-99F418DBB446}"/>
              </a:ext>
            </a:extLst>
          </p:cNvPr>
          <p:cNvSpPr txBox="1"/>
          <p:nvPr/>
        </p:nvSpPr>
        <p:spPr>
          <a:xfrm>
            <a:off x="338671" y="1233615"/>
            <a:ext cx="68791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Arial" panose="020B0604020202020204" pitchFamily="34" charset="0"/>
                <a:cs typeface="Arial" panose="020B0604020202020204" pitchFamily="34" charset="0"/>
              </a:rPr>
              <a:t>7. Serial Communication Protocol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7C0EC3-EBD4-3AB3-5A40-B896DF948FC5}"/>
              </a:ext>
            </a:extLst>
          </p:cNvPr>
          <p:cNvSpPr txBox="1"/>
          <p:nvPr/>
        </p:nvSpPr>
        <p:spPr>
          <a:xfrm>
            <a:off x="494930" y="4881156"/>
            <a:ext cx="6469750" cy="149271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100" dirty="0"/>
              <a:t>* Serial </a:t>
            </a:r>
            <a:r>
              <a:rPr lang="ko-KR" altLang="en-US" sz="1100" dirty="0" err="1"/>
              <a:t>Protocol</a:t>
            </a:r>
            <a:r>
              <a:rPr lang="ko-KR" altLang="en-US" sz="1100" dirty="0"/>
              <a:t> </a:t>
            </a:r>
            <a:r>
              <a:rPr lang="en-US" altLang="ko-KR" sz="1100" dirty="0"/>
              <a:t>Setup Sequence (= OTP Initial Check)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ko-KR" altLang="en-US" sz="1100" dirty="0"/>
              <a:t>Power </a:t>
            </a:r>
            <a:r>
              <a:rPr lang="en-US" altLang="ko-KR" sz="1100" dirty="0"/>
              <a:t>O</a:t>
            </a:r>
            <a:r>
              <a:rPr lang="ko-KR" altLang="en-US" sz="1100" dirty="0" err="1"/>
              <a:t>n</a:t>
            </a:r>
            <a:r>
              <a:rPr lang="ko-KR" altLang="en-US" sz="1100" dirty="0"/>
              <a:t> </a:t>
            </a:r>
            <a:r>
              <a:rPr lang="en-US" altLang="ko-KR" sz="1100" dirty="0"/>
              <a:t>(VDD 5V, DIN : VIH=5V, VIL=0V)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en-US" altLang="ko-KR" sz="1100" dirty="0"/>
              <a:t>W</a:t>
            </a:r>
            <a:r>
              <a:rPr lang="ko-KR" altLang="en-US" sz="1100" dirty="0" err="1"/>
              <a:t>ait</a:t>
            </a:r>
            <a:r>
              <a:rPr lang="ko-KR" altLang="en-US" sz="1100" dirty="0"/>
              <a:t> 50 ~ 100ms</a:t>
            </a:r>
            <a:endParaRPr lang="en-US" altLang="ko-KR" sz="1100" dirty="0"/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en-US" altLang="ko-KR" sz="1100" dirty="0"/>
              <a:t>Set ‘</a:t>
            </a:r>
            <a:r>
              <a:rPr lang="ko-KR" altLang="en-US" sz="1100" dirty="0"/>
              <a:t>ID GEN</a:t>
            </a:r>
            <a:r>
              <a:rPr lang="en-US" altLang="ko-KR" sz="1100" dirty="0"/>
              <a:t>’</a:t>
            </a:r>
            <a:r>
              <a:rPr lang="ko-KR" altLang="en-US" sz="1100" dirty="0"/>
              <a:t> </a:t>
            </a:r>
            <a:r>
              <a:rPr lang="en-US" altLang="ko-KR" sz="1100" dirty="0"/>
              <a:t>:  4b’1000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en-US" altLang="ko-KR" sz="1100" dirty="0"/>
              <a:t>Set ‘r</a:t>
            </a:r>
            <a:r>
              <a:rPr lang="ko-KR" altLang="en-US" sz="1100" dirty="0" err="1"/>
              <a:t>ead</a:t>
            </a:r>
            <a:r>
              <a:rPr lang="ko-KR" altLang="en-US" sz="1100" dirty="0"/>
              <a:t> </a:t>
            </a:r>
            <a:r>
              <a:rPr lang="en-US" altLang="ko-KR" sz="1100" dirty="0"/>
              <a:t>c</a:t>
            </a:r>
            <a:r>
              <a:rPr lang="ko-KR" altLang="en-US" sz="1100" dirty="0" err="1"/>
              <a:t>ommand</a:t>
            </a:r>
            <a:r>
              <a:rPr lang="en-US" altLang="ko-KR" sz="1100" dirty="0"/>
              <a:t>’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en-US" altLang="ko-KR" sz="1100" dirty="0" err="1"/>
              <a:t>cmd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addr</a:t>
            </a:r>
            <a:r>
              <a:rPr lang="en-US" altLang="ko-KR" sz="1100" dirty="0"/>
              <a:t>) :  4b’1110 + </a:t>
            </a:r>
            <a:r>
              <a:rPr lang="en-US" altLang="ko-KR" sz="1100" dirty="0" err="1"/>
              <a:t>addr</a:t>
            </a:r>
            <a:r>
              <a:rPr lang="en-US" altLang="ko-KR" sz="1100" dirty="0"/>
              <a:t>[5:0]</a:t>
            </a:r>
          </a:p>
          <a:p>
            <a:pPr>
              <a:spcBef>
                <a:spcPts val="600"/>
              </a:spcBef>
            </a:pPr>
            <a:r>
              <a:rPr lang="ko-KR" altLang="en-US" sz="1100" dirty="0"/>
              <a:t>           </a:t>
            </a:r>
            <a:r>
              <a:rPr lang="en-US" altLang="ko-KR" sz="1100" dirty="0">
                <a:sym typeface="Wingdings" panose="05000000000000000000" pitchFamily="2" charset="2"/>
              </a:rPr>
              <a:t> (automatically output) </a:t>
            </a:r>
            <a:r>
              <a:rPr lang="ko-KR" altLang="en-US" sz="1100" dirty="0" err="1"/>
              <a:t>R</a:t>
            </a:r>
            <a:r>
              <a:rPr lang="en-US" altLang="ko-KR" sz="1100" dirty="0"/>
              <a:t>e</a:t>
            </a:r>
            <a:r>
              <a:rPr lang="ko-KR" altLang="en-US" sz="1100" dirty="0" err="1"/>
              <a:t>adout</a:t>
            </a:r>
            <a:r>
              <a:rPr lang="ko-KR" altLang="en-US" sz="1100" dirty="0"/>
              <a:t> </a:t>
            </a:r>
            <a:r>
              <a:rPr lang="en-US" altLang="ko-KR" sz="1100" dirty="0"/>
              <a:t>r</a:t>
            </a:r>
            <a:r>
              <a:rPr lang="ko-KR" altLang="en-US" sz="1100" dirty="0" err="1"/>
              <a:t>esponse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en-US" altLang="ko-KR" sz="1100" dirty="0" err="1"/>
              <a:t>cmd</a:t>
            </a:r>
            <a:r>
              <a:rPr lang="en-US" altLang="ko-KR" sz="1100" dirty="0"/>
              <a:t>, id, data[11:0])</a:t>
            </a:r>
            <a:r>
              <a:rPr lang="ko-KR" altLang="en-US" sz="1100" dirty="0"/>
              <a:t> </a:t>
            </a:r>
            <a:r>
              <a:rPr lang="en-US" altLang="ko-KR" sz="1100" dirty="0"/>
              <a:t>:  4b’1110 + 5b’00001 + data[11:0]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93D08E-8EB0-1408-1C12-C68DB6723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30" y="7214877"/>
            <a:ext cx="5476392" cy="10753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FBCC96-FE7B-3424-6392-C342232BB282}"/>
              </a:ext>
            </a:extLst>
          </p:cNvPr>
          <p:cNvSpPr txBox="1"/>
          <p:nvPr/>
        </p:nvSpPr>
        <p:spPr>
          <a:xfrm>
            <a:off x="534835" y="8456866"/>
            <a:ext cx="612718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/>
              <a:t>As shown in the above figure, 'DIN' input high (1), input low (0) waveforms must be applied.</a:t>
            </a:r>
          </a:p>
          <a:p>
            <a:r>
              <a:rPr lang="en-US" altLang="ko-KR" sz="1100"/>
              <a:t>Since it is difficult to process input '1' or '0' in one line of the test vector, </a:t>
            </a:r>
          </a:p>
          <a:p>
            <a:r>
              <a:rPr lang="en-US" altLang="ko-KR" sz="1100"/>
              <a:t>it should be processed in multiple lines within the test vector according to the ratio.</a:t>
            </a:r>
          </a:p>
          <a:p>
            <a:endParaRPr lang="en-US" altLang="ko-KR" sz="1100"/>
          </a:p>
          <a:p>
            <a:r>
              <a:rPr lang="en-US" altLang="ko-KR" sz="1100"/>
              <a:t>- input high (1) : 110</a:t>
            </a:r>
          </a:p>
          <a:p>
            <a:r>
              <a:rPr lang="en-US" altLang="ko-KR" sz="1100"/>
              <a:t>- input low (0) : 100</a:t>
            </a:r>
          </a:p>
          <a:p>
            <a:endParaRPr lang="en-US" altLang="ko-KR" sz="1100"/>
          </a:p>
          <a:p>
            <a:r>
              <a:rPr lang="en-US" altLang="ko-KR" sz="1100"/>
              <a:t>When one line of the test vector represents 1 cycle length, set one line to 3MHz.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BF24786-C3B7-AA17-CD36-C7114FE6D489}"/>
              </a:ext>
            </a:extLst>
          </p:cNvPr>
          <p:cNvGrpSpPr/>
          <p:nvPr/>
        </p:nvGrpSpPr>
        <p:grpSpPr>
          <a:xfrm>
            <a:off x="518290" y="1746654"/>
            <a:ext cx="6319389" cy="2935392"/>
            <a:chOff x="645291" y="1818641"/>
            <a:chExt cx="5911073" cy="275448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3E6B624-B65C-C207-1E0C-A92822BA9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5291" y="1818641"/>
              <a:ext cx="5911073" cy="275448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C36EE7E-B412-B20E-0A27-78E1006A8E99}"/>
                </a:ext>
              </a:extLst>
            </p:cNvPr>
            <p:cNvSpPr/>
            <p:nvPr/>
          </p:nvSpPr>
          <p:spPr>
            <a:xfrm>
              <a:off x="3685671" y="3997065"/>
              <a:ext cx="1955800" cy="5291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61DF14-D491-28B6-889E-F8444C203A89}"/>
              </a:ext>
            </a:extLst>
          </p:cNvPr>
          <p:cNvSpPr/>
          <p:nvPr/>
        </p:nvSpPr>
        <p:spPr>
          <a:xfrm>
            <a:off x="402168" y="2483944"/>
            <a:ext cx="6435512" cy="32841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8A4B518-723F-4E32-D4ED-05388021D4D6}"/>
              </a:ext>
            </a:extLst>
          </p:cNvPr>
          <p:cNvSpPr/>
          <p:nvPr/>
        </p:nvSpPr>
        <p:spPr>
          <a:xfrm>
            <a:off x="402168" y="4340858"/>
            <a:ext cx="2375745" cy="28981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071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31FEF-F505-B1AC-5C2B-453867AC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CBAEDD8C-E891-3D06-6AAE-BE47BD26F7E2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B4C2343-9BFA-15B9-65F4-D943BE975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96605"/>
              </p:ext>
            </p:extLst>
          </p:nvPr>
        </p:nvGraphicFramePr>
        <p:xfrm>
          <a:off x="308918" y="2084766"/>
          <a:ext cx="2578900" cy="50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2585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420595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795720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OTP INIT Check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OTP_INIT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4918507-96B8-7EEC-061B-B0721066C1B0}"/>
              </a:ext>
            </a:extLst>
          </p:cNvPr>
          <p:cNvSpPr txBox="1"/>
          <p:nvPr/>
        </p:nvSpPr>
        <p:spPr>
          <a:xfrm>
            <a:off x="369426" y="2691212"/>
            <a:ext cx="4489950" cy="1377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</a:pPr>
            <a:r>
              <a:rPr lang="en-US" altLang="ko-KR" sz="1050" kern="10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 </a:t>
            </a:r>
            <a:r>
              <a:rPr lang="en-US" altLang="ko-KR" sz="105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ko-KR" altLang="en-US" sz="1050">
                <a:latin typeface="Arial" panose="020B0604020202020204" pitchFamily="34" charset="0"/>
                <a:cs typeface="Arial" panose="020B0604020202020204" pitchFamily="34" charset="0"/>
              </a:rPr>
              <a:t>Protocol </a:t>
            </a:r>
            <a:r>
              <a:rPr lang="en-US" altLang="ko-KR" sz="1050">
                <a:latin typeface="Arial" panose="020B0604020202020204" pitchFamily="34" charset="0"/>
                <a:cs typeface="Arial" panose="020B0604020202020204" pitchFamily="34" charset="0"/>
              </a:rPr>
              <a:t>Setup Sequence </a:t>
            </a:r>
          </a:p>
          <a:p>
            <a:pPr>
              <a:spcBef>
                <a:spcPts val="200"/>
              </a:spcBef>
            </a:pPr>
            <a:r>
              <a:rPr lang="en-US" altLang="ko-KR" sz="1050">
                <a:latin typeface="Arial" panose="020B0604020202020204" pitchFamily="34" charset="0"/>
                <a:cs typeface="Arial" panose="020B0604020202020204" pitchFamily="34" charset="0"/>
              </a:rPr>
              <a:t>1.    Force VDD = 5V, DIN (VIH=5V, VIL=0V)</a:t>
            </a:r>
          </a:p>
          <a:p>
            <a:pPr marL="228600" indent="-228600">
              <a:spcBef>
                <a:spcPts val="200"/>
              </a:spcBef>
              <a:buFontTx/>
              <a:buAutoNum type="arabicPeriod" startAt="2"/>
            </a:pPr>
            <a:r>
              <a:rPr lang="en-US" altLang="ko-KR" sz="105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ko-KR" altLang="en-US" sz="1050">
                <a:latin typeface="Arial" panose="020B0604020202020204" pitchFamily="34" charset="0"/>
                <a:cs typeface="Arial" panose="020B0604020202020204" pitchFamily="34" charset="0"/>
              </a:rPr>
              <a:t>ait 5 ~ 10ms</a:t>
            </a:r>
          </a:p>
          <a:p>
            <a:pPr>
              <a:spcBef>
                <a:spcPts val="200"/>
              </a:spcBef>
            </a:pPr>
            <a:r>
              <a:rPr lang="en-US" altLang="ko-KR" sz="1050">
                <a:latin typeface="Arial" panose="020B0604020202020204" pitchFamily="34" charset="0"/>
                <a:cs typeface="Arial" panose="020B0604020202020204" pitchFamily="34" charset="0"/>
              </a:rPr>
              <a:t>3.   Set registers</a:t>
            </a:r>
          </a:p>
          <a:p>
            <a:pPr>
              <a:spcBef>
                <a:spcPts val="200"/>
              </a:spcBef>
            </a:pPr>
            <a:r>
              <a:rPr lang="en-US" altLang="ko-KR" sz="1050">
                <a:latin typeface="Arial" panose="020B0604020202020204" pitchFamily="34" charset="0"/>
                <a:cs typeface="Arial" panose="020B0604020202020204" pitchFamily="34" charset="0"/>
              </a:rPr>
              <a:t>    -  Set ‘RESET’ </a:t>
            </a:r>
          </a:p>
          <a:p>
            <a:pPr>
              <a:spcBef>
                <a:spcPts val="200"/>
              </a:spcBef>
            </a:pPr>
            <a:r>
              <a:rPr lang="en-US" altLang="ko-KR" sz="1050">
                <a:latin typeface="Arial" panose="020B0604020202020204" pitchFamily="34" charset="0"/>
                <a:cs typeface="Arial" panose="020B0604020202020204" pitchFamily="34" charset="0"/>
              </a:rPr>
              <a:t>    -  Set ‘ID</a:t>
            </a:r>
            <a:r>
              <a:rPr lang="ko-KR" alt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50">
                <a:latin typeface="Arial" panose="020B0604020202020204" pitchFamily="34" charset="0"/>
                <a:cs typeface="Arial" panose="020B0604020202020204" pitchFamily="34" charset="0"/>
              </a:rPr>
              <a:t>GEN’</a:t>
            </a:r>
            <a:r>
              <a:rPr lang="ko-KR" alt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50">
                <a:latin typeface="Arial" panose="020B0604020202020204" pitchFamily="34" charset="0"/>
                <a:cs typeface="Arial" panose="020B0604020202020204" pitchFamily="34" charset="0"/>
              </a:rPr>
              <a:t>(cmd_code) </a:t>
            </a:r>
          </a:p>
          <a:p>
            <a:pPr>
              <a:spcBef>
                <a:spcPts val="200"/>
              </a:spcBef>
            </a:pPr>
            <a:r>
              <a:rPr lang="ko-KR" altLang="en-US" sz="105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ko-KR" sz="1050">
                <a:latin typeface="Arial" panose="020B0604020202020204" pitchFamily="34" charset="0"/>
                <a:cs typeface="Arial" panose="020B0604020202020204" pitchFamily="34" charset="0"/>
              </a:rPr>
              <a:t>-  Set ‘r</a:t>
            </a:r>
            <a:r>
              <a:rPr lang="ko-KR" altLang="en-US" sz="1050">
                <a:latin typeface="Arial" panose="020B0604020202020204" pitchFamily="34" charset="0"/>
                <a:cs typeface="Arial" panose="020B0604020202020204" pitchFamily="34" charset="0"/>
              </a:rPr>
              <a:t>ead </a:t>
            </a:r>
            <a:r>
              <a:rPr lang="en-US" altLang="ko-KR" sz="105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ko-KR" altLang="en-US" sz="1050">
                <a:latin typeface="Arial" panose="020B0604020202020204" pitchFamily="34" charset="0"/>
                <a:cs typeface="Arial" panose="020B0604020202020204" pitchFamily="34" charset="0"/>
              </a:rPr>
              <a:t>ommand</a:t>
            </a:r>
            <a:r>
              <a:rPr lang="en-US" altLang="ko-KR" sz="105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ko-KR" alt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50">
                <a:latin typeface="Arial" panose="020B0604020202020204" pitchFamily="34" charset="0"/>
                <a:cs typeface="Arial" panose="020B0604020202020204" pitchFamily="34" charset="0"/>
              </a:rPr>
              <a:t>(cmd_code, addr)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4E9E3E-EEBF-A129-CF76-27CCFDF896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15</a:t>
            </a:fld>
            <a:endParaRPr dirty="0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7F3E0931-BBDC-D222-41FF-219BE2CAC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228052"/>
              </p:ext>
            </p:extLst>
          </p:nvPr>
        </p:nvGraphicFramePr>
        <p:xfrm>
          <a:off x="569441" y="4234218"/>
          <a:ext cx="3927927" cy="963767"/>
        </p:xfrm>
        <a:graphic>
          <a:graphicData uri="http://schemas.openxmlformats.org/drawingml/2006/table">
            <a:tbl>
              <a:tblPr/>
              <a:tblGrid>
                <a:gridCol w="731562">
                  <a:extLst>
                    <a:ext uri="{9D8B030D-6E8A-4147-A177-3AD203B41FA5}">
                      <a16:colId xmlns:a16="http://schemas.microsoft.com/office/drawing/2014/main" val="3735187688"/>
                    </a:ext>
                  </a:extLst>
                </a:gridCol>
                <a:gridCol w="731562">
                  <a:extLst>
                    <a:ext uri="{9D8B030D-6E8A-4147-A177-3AD203B41FA5}">
                      <a16:colId xmlns:a16="http://schemas.microsoft.com/office/drawing/2014/main" val="1407484390"/>
                    </a:ext>
                  </a:extLst>
                </a:gridCol>
                <a:gridCol w="1170501">
                  <a:extLst>
                    <a:ext uri="{9D8B030D-6E8A-4147-A177-3AD203B41FA5}">
                      <a16:colId xmlns:a16="http://schemas.microsoft.com/office/drawing/2014/main" val="1209412357"/>
                    </a:ext>
                  </a:extLst>
                </a:gridCol>
                <a:gridCol w="1294302">
                  <a:extLst>
                    <a:ext uri="{9D8B030D-6E8A-4147-A177-3AD203B41FA5}">
                      <a16:colId xmlns:a16="http://schemas.microsoft.com/office/drawing/2014/main" val="819273930"/>
                    </a:ext>
                  </a:extLst>
                </a:gridCol>
              </a:tblGrid>
              <a:tr h="2102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402672"/>
                  </a:ext>
                </a:extLst>
              </a:tr>
              <a:tr h="2102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678270"/>
                  </a:ext>
                </a:extLst>
              </a:tr>
              <a:tr h="21027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4b'1000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ID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234102"/>
                  </a:ext>
                </a:extLst>
              </a:tr>
              <a:tr h="332957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0x02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~ 0x3E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check default</a:t>
                      </a:r>
                      <a:b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(12-bit data)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401403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CFDC6621-B68F-C06E-BF49-E371FA3AA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832194"/>
              </p:ext>
            </p:extLst>
          </p:nvPr>
        </p:nvGraphicFramePr>
        <p:xfrm>
          <a:off x="532113" y="7894124"/>
          <a:ext cx="3598235" cy="1218113"/>
        </p:xfrm>
        <a:graphic>
          <a:graphicData uri="http://schemas.openxmlformats.org/drawingml/2006/table">
            <a:tbl>
              <a:tblPr/>
              <a:tblGrid>
                <a:gridCol w="670158">
                  <a:extLst>
                    <a:ext uri="{9D8B030D-6E8A-4147-A177-3AD203B41FA5}">
                      <a16:colId xmlns:a16="http://schemas.microsoft.com/office/drawing/2014/main" val="4021536802"/>
                    </a:ext>
                  </a:extLst>
                </a:gridCol>
                <a:gridCol w="670158">
                  <a:extLst>
                    <a:ext uri="{9D8B030D-6E8A-4147-A177-3AD203B41FA5}">
                      <a16:colId xmlns:a16="http://schemas.microsoft.com/office/drawing/2014/main" val="3401806207"/>
                    </a:ext>
                  </a:extLst>
                </a:gridCol>
                <a:gridCol w="1072254">
                  <a:extLst>
                    <a:ext uri="{9D8B030D-6E8A-4147-A177-3AD203B41FA5}">
                      <a16:colId xmlns:a16="http://schemas.microsoft.com/office/drawing/2014/main" val="1431705168"/>
                    </a:ext>
                  </a:extLst>
                </a:gridCol>
                <a:gridCol w="1185665">
                  <a:extLst>
                    <a:ext uri="{9D8B030D-6E8A-4147-A177-3AD203B41FA5}">
                      <a16:colId xmlns:a16="http://schemas.microsoft.com/office/drawing/2014/main" val="3872795250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0931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99866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13209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  <a:endParaRPr lang="ko-KR" alt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0x801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426726"/>
                  </a:ext>
                </a:extLst>
              </a:tr>
              <a:tr h="334193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</a:t>
                      </a:r>
                    </a:p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check default</a:t>
                      </a:r>
                    </a:p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(12-bit data)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187405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27A0A51-724F-DB31-3820-D7883C2E7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368406"/>
              </p:ext>
            </p:extLst>
          </p:nvPr>
        </p:nvGraphicFramePr>
        <p:xfrm>
          <a:off x="4098819" y="5127153"/>
          <a:ext cx="2910036" cy="300143"/>
        </p:xfrm>
        <a:graphic>
          <a:graphicData uri="http://schemas.openxmlformats.org/drawingml/2006/table">
            <a:tbl>
              <a:tblPr/>
              <a:tblGrid>
                <a:gridCol w="2910036">
                  <a:extLst>
                    <a:ext uri="{9D8B030D-6E8A-4147-A177-3AD203B41FA5}">
                      <a16:colId xmlns:a16="http://schemas.microsoft.com/office/drawing/2014/main" val="4009422473"/>
                    </a:ext>
                  </a:extLst>
                </a:gridCol>
              </a:tblGrid>
              <a:tr h="300143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rgbClr val="0020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585323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B4D9A8F-E68C-5245-9FB5-241A99984D02}"/>
              </a:ext>
            </a:extLst>
          </p:cNvPr>
          <p:cNvSpPr txBox="1"/>
          <p:nvPr/>
        </p:nvSpPr>
        <p:spPr>
          <a:xfrm>
            <a:off x="4525733" y="4725795"/>
            <a:ext cx="2467892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200"/>
              </a:spcBef>
            </a:pPr>
            <a:r>
              <a:rPr lang="en-US" altLang="ko-KR" sz="1000" b="0" i="0" u="none" strike="noStrike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* Address to check : 0x02 ~ 0x3E </a:t>
            </a:r>
          </a:p>
          <a:p>
            <a:pPr algn="just" latinLnBrk="1">
              <a:spcBef>
                <a:spcPts val="200"/>
              </a:spcBef>
            </a:pPr>
            <a:r>
              <a:rPr lang="en-US" altLang="ko-KR" sz="1000" b="0" i="0" u="none" strike="noStrike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(refer to upper block in next page)</a:t>
            </a:r>
            <a:endParaRPr lang="en-US" altLang="ko-KR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32644D-5C17-3D06-1BA7-B1C05BFEEEAD}"/>
              </a:ext>
            </a:extLst>
          </p:cNvPr>
          <p:cNvSpPr txBox="1"/>
          <p:nvPr/>
        </p:nvSpPr>
        <p:spPr>
          <a:xfrm>
            <a:off x="532113" y="5268946"/>
            <a:ext cx="6808311" cy="10669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28600" indent="-228600" algn="l" fontAlgn="ctr">
              <a:spcBef>
                <a:spcPts val="400"/>
              </a:spcBef>
              <a:buAutoNum type="arabicPeriod"/>
            </a:pPr>
            <a:r>
              <a:rPr lang="en-US" altLang="ko-KR" sz="1000" b="0" i="0" u="none" strike="noStrike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Set ‘write command’ for ‘RESET’   (4b’1101 + 0x00 (addr) + 0x800 (data))</a:t>
            </a:r>
          </a:p>
          <a:p>
            <a:pPr marL="228600" indent="-228600" algn="l" fontAlgn="ctr">
              <a:spcBef>
                <a:spcPts val="400"/>
              </a:spcBef>
              <a:buAutoNum type="arabicPeriod"/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Input ‘4b’1000’ for ‘ID GEN’</a:t>
            </a:r>
            <a:endParaRPr lang="en-US" altLang="ko-KR" sz="1000" b="0" i="0" u="none" strike="noStrike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l" fontAlgn="ctr">
              <a:spcBef>
                <a:spcPts val="400"/>
              </a:spcBef>
              <a:buAutoNum type="arabicPeriod"/>
            </a:pPr>
            <a:r>
              <a:rPr lang="en-US" altLang="ko-KR" sz="1000" b="0" i="0" u="none" strike="noStrike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When you set 'read command’ (4b’1110 + addr[5:0]), </a:t>
            </a:r>
            <a:endParaRPr lang="ko-KR" altLang="ko-KR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fontAlgn="ctr">
              <a:spcBef>
                <a:spcPts val="400"/>
              </a:spcBef>
              <a:buNone/>
            </a:pPr>
            <a:r>
              <a:rPr lang="en-US" altLang="ko-KR" sz="1000" b="0" i="0" strike="noStrike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000" b="0" i="0" u="sng" strike="noStrike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the value of that address is automatically output </a:t>
            </a:r>
            <a:r>
              <a:rPr lang="en-US" altLang="ko-KR" sz="1000" b="0" i="0" u="none" strike="noStrike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as 'readout response’ (4b’1110 + 00001(id[4:0]) + data[11:0]). </a:t>
            </a:r>
            <a:endParaRPr lang="ko-KR" altLang="ko-KR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fontAlgn="ctr">
              <a:spcBef>
                <a:spcPts val="400"/>
              </a:spcBef>
            </a:pPr>
            <a:r>
              <a:rPr lang="en-US" altLang="ko-KR" sz="1000" b="0" i="0" u="none" strike="noStrike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You need to read 'data[11:0]'.</a:t>
            </a:r>
            <a:endParaRPr lang="ko-KR" altLang="ko-KR" sz="1800" b="0" i="0" u="none" strike="noStrike"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B3BB4B9B-3B47-BB37-B4AA-EC78F7378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472282"/>
              </p:ext>
            </p:extLst>
          </p:nvPr>
        </p:nvGraphicFramePr>
        <p:xfrm>
          <a:off x="500584" y="6486098"/>
          <a:ext cx="6518265" cy="708901"/>
        </p:xfrm>
        <a:graphic>
          <a:graphicData uri="http://schemas.openxmlformats.org/drawingml/2006/table">
            <a:tbl>
              <a:tblPr/>
              <a:tblGrid>
                <a:gridCol w="941195">
                  <a:extLst>
                    <a:ext uri="{9D8B030D-6E8A-4147-A177-3AD203B41FA5}">
                      <a16:colId xmlns:a16="http://schemas.microsoft.com/office/drawing/2014/main" val="2880454466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1537811183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2173741685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2292636318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773072555"/>
                    </a:ext>
                  </a:extLst>
                </a:gridCol>
                <a:gridCol w="370470">
                  <a:extLst>
                    <a:ext uri="{9D8B030D-6E8A-4147-A177-3AD203B41FA5}">
                      <a16:colId xmlns:a16="http://schemas.microsoft.com/office/drawing/2014/main" val="976642347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322173827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332617254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696432024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3201259240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3804051361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3025848389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3006924311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2571776689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1596220946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3785601436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2295077668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168064462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3806781531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4159101517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2628969388"/>
                    </a:ext>
                  </a:extLst>
                </a:gridCol>
                <a:gridCol w="260330">
                  <a:extLst>
                    <a:ext uri="{9D8B030D-6E8A-4147-A177-3AD203B41FA5}">
                      <a16:colId xmlns:a16="http://schemas.microsoft.com/office/drawing/2014/main" val="1137299255"/>
                    </a:ext>
                  </a:extLst>
                </a:gridCol>
              </a:tblGrid>
              <a:tr h="1501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393946"/>
                  </a:ext>
                </a:extLst>
              </a:tr>
              <a:tr h="1501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addr[5:0]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880368"/>
                  </a:ext>
                </a:extLst>
              </a:tr>
              <a:tr h="10813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381700"/>
                  </a:ext>
                </a:extLst>
              </a:tr>
              <a:tr h="1501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749005"/>
                  </a:ext>
                </a:extLst>
              </a:tr>
              <a:tr h="1501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readout response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data[11:0]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696062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67E80D1-D980-8B40-99D3-E972DBD15582}"/>
              </a:ext>
            </a:extLst>
          </p:cNvPr>
          <p:cNvSpPr/>
          <p:nvPr/>
        </p:nvSpPr>
        <p:spPr>
          <a:xfrm>
            <a:off x="480109" y="6868354"/>
            <a:ext cx="6575808" cy="365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8AB655-44B0-69CA-D637-C9869453C84C}"/>
              </a:ext>
            </a:extLst>
          </p:cNvPr>
          <p:cNvSpPr txBox="1"/>
          <p:nvPr/>
        </p:nvSpPr>
        <p:spPr>
          <a:xfrm>
            <a:off x="4116078" y="8707975"/>
            <a:ext cx="3094470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200"/>
              </a:spcBef>
            </a:pPr>
            <a:r>
              <a:rPr lang="en-US" altLang="ko-KR" sz="1000" b="0" i="0" u="none" strike="noStrike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* Mirror Register Address to check : 0x00 ~ 0x26 </a:t>
            </a:r>
          </a:p>
          <a:p>
            <a:pPr algn="just" latinLnBrk="1">
              <a:spcBef>
                <a:spcPts val="200"/>
              </a:spcBef>
            </a:pPr>
            <a:r>
              <a:rPr lang="en-US" altLang="ko-KR" sz="1000" b="0" i="0" u="none" strike="noStrike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(refer to lower block in next page)</a:t>
            </a:r>
            <a:endParaRPr lang="en-US" altLang="ko-KR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858CA1-64FF-332B-007C-9686333CA859}"/>
              </a:ext>
            </a:extLst>
          </p:cNvPr>
          <p:cNvSpPr txBox="1"/>
          <p:nvPr/>
        </p:nvSpPr>
        <p:spPr>
          <a:xfrm>
            <a:off x="304478" y="7565033"/>
            <a:ext cx="2148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200"/>
              </a:spcBef>
            </a:pPr>
            <a:r>
              <a:rPr lang="en-US" altLang="ko-KR" sz="1100" i="0" u="sng" strike="noStrike">
                <a:solidFill>
                  <a:srgbClr val="00206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* Mirror Register Check</a:t>
            </a:r>
            <a:endParaRPr lang="en-US" altLang="ko-KR" sz="1100" u="sn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7C17F5-C1DE-A7C8-87DA-200BD8E891DF}"/>
              </a:ext>
            </a:extLst>
          </p:cNvPr>
          <p:cNvSpPr txBox="1"/>
          <p:nvPr/>
        </p:nvSpPr>
        <p:spPr>
          <a:xfrm>
            <a:off x="35206" y="6486098"/>
            <a:ext cx="4844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highlight>
                  <a:srgbClr val="FFFF00"/>
                </a:highlight>
              </a:rPr>
              <a:t>input</a:t>
            </a:r>
            <a:endParaRPr lang="ko-KR" altLang="en-US" sz="1100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B33EB-630D-DE16-2F44-99E8A3E5726D}"/>
              </a:ext>
            </a:extLst>
          </p:cNvPr>
          <p:cNvSpPr txBox="1"/>
          <p:nvPr/>
        </p:nvSpPr>
        <p:spPr>
          <a:xfrm>
            <a:off x="-46306" y="6877450"/>
            <a:ext cx="5725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highlight>
                  <a:srgbClr val="FFFF00"/>
                </a:highlight>
              </a:rPr>
              <a:t>output</a:t>
            </a:r>
            <a:endParaRPr lang="ko-KR" altLang="en-US" sz="110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5B32F-154F-6F28-CA14-8CB1C0355D70}"/>
              </a:ext>
            </a:extLst>
          </p:cNvPr>
          <p:cNvSpPr txBox="1"/>
          <p:nvPr/>
        </p:nvSpPr>
        <p:spPr>
          <a:xfrm>
            <a:off x="277420" y="1259383"/>
            <a:ext cx="6841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C00000"/>
                </a:solidFill>
                <a:highlight>
                  <a:srgbClr val="DCE6F1"/>
                </a:highlight>
              </a:rPr>
              <a:t>#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To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detect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ICs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that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do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not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operate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properly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when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ramp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power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is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applied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,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a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en-US" altLang="ko-KR" sz="1400" dirty="0">
                <a:solidFill>
                  <a:srgbClr val="C00000"/>
                </a:solidFill>
                <a:highlight>
                  <a:srgbClr val="DCE6F1"/>
                </a:highlight>
              </a:rPr>
              <a:t>2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msec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 </a:t>
            </a:r>
            <a:endParaRPr lang="en-US" altLang="ko-KR" sz="1400" dirty="0">
              <a:solidFill>
                <a:srgbClr val="C00000"/>
              </a:solidFill>
              <a:highlight>
                <a:srgbClr val="DCE6F1"/>
              </a:highlight>
            </a:endParaRPr>
          </a:p>
          <a:p>
            <a:r>
              <a:rPr lang="en-US" altLang="ko-KR" sz="1400" dirty="0">
                <a:solidFill>
                  <a:srgbClr val="C00000"/>
                </a:solidFill>
                <a:highlight>
                  <a:srgbClr val="DCE6F1"/>
                </a:highlight>
              </a:rPr>
              <a:t>   slope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d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power-up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time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should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be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applied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from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'OTP INIT CHECK'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to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the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last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 </a:t>
            </a:r>
            <a:r>
              <a:rPr lang="ko-KR" altLang="en-US" sz="1400" dirty="0" err="1">
                <a:solidFill>
                  <a:srgbClr val="C00000"/>
                </a:solidFill>
                <a:highlight>
                  <a:srgbClr val="DCE6F1"/>
                </a:highlight>
              </a:rPr>
              <a:t>item</a:t>
            </a:r>
            <a:r>
              <a:rPr lang="ko-KR" altLang="en-US" sz="1400" dirty="0">
                <a:solidFill>
                  <a:srgbClr val="C00000"/>
                </a:solidFill>
                <a:highlight>
                  <a:srgbClr val="DCE6F1"/>
                </a:highlight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35205B-83DC-2879-35F3-860FA510E9D3}"/>
              </a:ext>
            </a:extLst>
          </p:cNvPr>
          <p:cNvSpPr txBox="1"/>
          <p:nvPr/>
        </p:nvSpPr>
        <p:spPr>
          <a:xfrm>
            <a:off x="4085715" y="2536445"/>
            <a:ext cx="33479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C00000"/>
                </a:solidFill>
                <a:highlight>
                  <a:srgbClr val="FFFF00"/>
                </a:highlight>
              </a:rPr>
              <a:t>After E-fuse, </a:t>
            </a:r>
            <a:r>
              <a:rPr lang="en-US" altLang="ko-KR" sz="1200" dirty="0" err="1">
                <a:solidFill>
                  <a:srgbClr val="C00000"/>
                </a:solidFill>
                <a:highlight>
                  <a:srgbClr val="FFFF00"/>
                </a:highlight>
              </a:rPr>
              <a:t>OTP_Init_Check</a:t>
            </a:r>
            <a:r>
              <a:rPr lang="en-US" altLang="ko-KR" sz="1200" dirty="0">
                <a:solidFill>
                  <a:srgbClr val="C00000"/>
                </a:solidFill>
                <a:highlight>
                  <a:srgbClr val="FFFF00"/>
                </a:highlight>
              </a:rPr>
              <a:t> should be excluded.</a:t>
            </a:r>
            <a:endParaRPr lang="ko-KR" altLang="en-US" sz="12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pic>
        <p:nvPicPr>
          <p:cNvPr id="10" name="그림 9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F081CC-3621-8298-272C-F8F6AF355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716" y="2074686"/>
            <a:ext cx="3451210" cy="42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77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1E47C-4348-4C99-3AAB-1C201CF20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8014D90B-564E-2A14-CB66-19D0D04A34C6}"/>
              </a:ext>
            </a:extLst>
          </p:cNvPr>
          <p:cNvSpPr txBox="1">
            <a:spLocks/>
          </p:cNvSpPr>
          <p:nvPr/>
        </p:nvSpPr>
        <p:spPr>
          <a:xfrm>
            <a:off x="5607345" y="101405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77F899F-2C1D-0424-8246-DA730AFBD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320083"/>
              </p:ext>
            </p:extLst>
          </p:nvPr>
        </p:nvGraphicFramePr>
        <p:xfrm>
          <a:off x="308918" y="1343369"/>
          <a:ext cx="6882711" cy="50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730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420595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795720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72929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9037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9037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9037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829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5797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7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OTP INIT Check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j-lt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OTP_INIT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</a:tbl>
          </a:graphicData>
        </a:graphic>
      </p:graphicFrame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A31A34-EB25-D55A-DD10-5F99A258BF0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16</a:t>
            </a:fld>
            <a:endParaRPr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2CCAE84-50C4-E3D2-7085-973F79F9E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234097"/>
              </p:ext>
            </p:extLst>
          </p:nvPr>
        </p:nvGraphicFramePr>
        <p:xfrm>
          <a:off x="308918" y="2025651"/>
          <a:ext cx="3469334" cy="7870762"/>
        </p:xfrm>
        <a:graphic>
          <a:graphicData uri="http://schemas.openxmlformats.org/drawingml/2006/table">
            <a:tbl>
              <a:tblPr/>
              <a:tblGrid>
                <a:gridCol w="1259140">
                  <a:extLst>
                    <a:ext uri="{9D8B030D-6E8A-4147-A177-3AD203B41FA5}">
                      <a16:colId xmlns:a16="http://schemas.microsoft.com/office/drawing/2014/main" val="1519435789"/>
                    </a:ext>
                  </a:extLst>
                </a:gridCol>
                <a:gridCol w="522409">
                  <a:extLst>
                    <a:ext uri="{9D8B030D-6E8A-4147-A177-3AD203B41FA5}">
                      <a16:colId xmlns:a16="http://schemas.microsoft.com/office/drawing/2014/main" val="3834010553"/>
                    </a:ext>
                  </a:extLst>
                </a:gridCol>
                <a:gridCol w="562595">
                  <a:extLst>
                    <a:ext uri="{9D8B030D-6E8A-4147-A177-3AD203B41FA5}">
                      <a16:colId xmlns:a16="http://schemas.microsoft.com/office/drawing/2014/main" val="2669663464"/>
                    </a:ext>
                  </a:extLst>
                </a:gridCol>
                <a:gridCol w="562595">
                  <a:extLst>
                    <a:ext uri="{9D8B030D-6E8A-4147-A177-3AD203B41FA5}">
                      <a16:colId xmlns:a16="http://schemas.microsoft.com/office/drawing/2014/main" val="272659327"/>
                    </a:ext>
                  </a:extLst>
                </a:gridCol>
                <a:gridCol w="562595">
                  <a:extLst>
                    <a:ext uri="{9D8B030D-6E8A-4147-A177-3AD203B41FA5}">
                      <a16:colId xmlns:a16="http://schemas.microsoft.com/office/drawing/2014/main" val="3635515361"/>
                    </a:ext>
                  </a:extLst>
                </a:gridCol>
              </a:tblGrid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Register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Acc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Default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Decimal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334985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LD CONTROL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0x01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029697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PWM DIVIDER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0x02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075028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PWMCLK_DIV1/2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227619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PWMCLK_DIV2/3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0x04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704516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CHANNEL ENABLE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0x05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109554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FAULT CONTROL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0x06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747953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CHx_LD_TYPE0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0x07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149567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CHx_LD_TYPE1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0x08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773513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FAULT STATUS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RO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0x09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925182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MAX CURRENT VREF1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0x0A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323129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MAX CURRENT VREF2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0x0B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101212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MAX CURRENT VREF3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0x0C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56550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MAX CURRENT VREF4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0x0D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139952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MAX CURRENT VREF5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0x0E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11864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005564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DELAY_CH1/2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167827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DELAY_CH3/4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0x11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008328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DELAY_CH5/6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0x12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792769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DELAY_CH7/8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0x13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88429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DELAY_CH9/10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0x14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670573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DELAY_CH11/12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0x15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203470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FB_LEVEL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0x16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983522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FB/SHORT_LEVEL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0x17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161716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SHORT_LEVEL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0x18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281979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MAX_CURRENT_LEVEL0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0x19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59445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MAX_CURRENT_LEVEL1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0x1A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330358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PARITY &amp; RD_EN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0x1B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59764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sng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sng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sng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sng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sng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494968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SERIALIZER OUT RATE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0x1C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0x318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792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825994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SERIAL_LATENCY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0x1D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0x080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128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225978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V_MASK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0x1E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910142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SV_MASK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0x1F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87836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RSTCNT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224467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TIMEOUT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0x21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0x7FF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32767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150414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MCLK LOCK1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0x22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104320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MCLK LOCK2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0x23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0xC32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3122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712113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WR_PROTECT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0x24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0x555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1365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728437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NF CONTROL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0x25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536198"/>
                  </a:ext>
                </a:extLst>
              </a:tr>
              <a:tr h="1248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CHOP_EN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0x26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296879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TEMP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0x27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0x829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2089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746674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OSC FLL MANUAL1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0x28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419800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OSC FLL MANUAL2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0x29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0x808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2056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46922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OSC_SPREAD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0x2A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27638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CLOCK GATE EN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0x2B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0x017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0748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428" marR="5428" marT="542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428" marR="5428" marT="542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428" marR="5428" marT="542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428" marR="5428" marT="542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472331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OTP ACCESS1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0x3A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012766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OTP ACCESS2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0x3B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0x3FF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1023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929641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OTP WRITE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0x3C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0x004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02028"/>
                  </a:ext>
                </a:extLst>
              </a:tr>
              <a:tr h="1716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OTP RD/PROG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0x3D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282319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OTP PROTECT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0x3E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0x5A5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1445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60217"/>
                  </a:ext>
                </a:extLst>
              </a:tr>
              <a:tr h="155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OP MODE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0x3F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18207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5AF4B04-7CF8-4702-692B-40BB5ECD6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472191"/>
              </p:ext>
            </p:extLst>
          </p:nvPr>
        </p:nvGraphicFramePr>
        <p:xfrm>
          <a:off x="4178300" y="2025651"/>
          <a:ext cx="2967628" cy="6674452"/>
        </p:xfrm>
        <a:graphic>
          <a:graphicData uri="http://schemas.openxmlformats.org/drawingml/2006/table">
            <a:tbl>
              <a:tblPr/>
              <a:tblGrid>
                <a:gridCol w="1077054">
                  <a:extLst>
                    <a:ext uri="{9D8B030D-6E8A-4147-A177-3AD203B41FA5}">
                      <a16:colId xmlns:a16="http://schemas.microsoft.com/office/drawing/2014/main" val="383434271"/>
                    </a:ext>
                  </a:extLst>
                </a:gridCol>
                <a:gridCol w="446863">
                  <a:extLst>
                    <a:ext uri="{9D8B030D-6E8A-4147-A177-3AD203B41FA5}">
                      <a16:colId xmlns:a16="http://schemas.microsoft.com/office/drawing/2014/main" val="1654707229"/>
                    </a:ext>
                  </a:extLst>
                </a:gridCol>
                <a:gridCol w="481237">
                  <a:extLst>
                    <a:ext uri="{9D8B030D-6E8A-4147-A177-3AD203B41FA5}">
                      <a16:colId xmlns:a16="http://schemas.microsoft.com/office/drawing/2014/main" val="3044402578"/>
                    </a:ext>
                  </a:extLst>
                </a:gridCol>
                <a:gridCol w="481237">
                  <a:extLst>
                    <a:ext uri="{9D8B030D-6E8A-4147-A177-3AD203B41FA5}">
                      <a16:colId xmlns:a16="http://schemas.microsoft.com/office/drawing/2014/main" val="4014698345"/>
                    </a:ext>
                  </a:extLst>
                </a:gridCol>
                <a:gridCol w="481237">
                  <a:extLst>
                    <a:ext uri="{9D8B030D-6E8A-4147-A177-3AD203B41FA5}">
                      <a16:colId xmlns:a16="http://schemas.microsoft.com/office/drawing/2014/main" val="782790574"/>
                    </a:ext>
                  </a:extLst>
                </a:gridCol>
              </a:tblGrid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MIRROR Registers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23212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Register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Acc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Default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Decimal</a:t>
                      </a:r>
                    </a:p>
                  </a:txBody>
                  <a:tcPr marL="5428" marR="5428" marT="5428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934319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OTP CRC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626047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IREF / BGR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528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900549"/>
                  </a:ext>
                </a:extLst>
              </a:tr>
              <a:tr h="1036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LDO_DAC / OSC_RCTL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0x810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2064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001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LDO_OSC / LDO_CTL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128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92113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OFS_CH1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900615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OFS_CH 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594431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OFS_CH 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142826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OFS_CH 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171434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OFS_CH 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386590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OFS_CH 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104553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OFS_CH 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549882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OFS_CH 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425179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OFS_CH 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592275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OFS_CH 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975765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OFS_CH 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134838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OFS_CH 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926694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808954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GAIN_CH 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54263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GAIN_CH 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561611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GAIN_CH 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967592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GAIN_CH 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91318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GAIN_CH 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546646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GAIN_CH 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160878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GAIN_CH 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402623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GAIN_CH 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798050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GAIN_CH 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114160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GAIN_CH 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14456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GAIN_CH 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350141"/>
                  </a:ext>
                </a:extLst>
              </a:tr>
              <a:tr h="518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GAIN_CH 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594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14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CHIP_VERSION0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521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CHIP_VERSION1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957123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11307010-6A09-6C24-8CD5-A67ADA5A6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1849" y="9995919"/>
            <a:ext cx="6284890" cy="76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99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D61EE-56A1-0401-747B-56E5288D2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A0EC2487-9035-0996-0C41-1223E6F36C2F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974F89-0A7B-56D1-3908-9BB96A4F1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427777"/>
              </p:ext>
            </p:extLst>
          </p:nvPr>
        </p:nvGraphicFramePr>
        <p:xfrm>
          <a:off x="315097" y="1268439"/>
          <a:ext cx="6882713" cy="50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731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320932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883348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84965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9037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9037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9037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829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5797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VREF Trim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VREF_Trim</a:t>
                      </a:r>
                      <a:endParaRPr lang="ko-KR" altLang="en-US" sz="11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TEST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2.295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0.77% / 4.32%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</a:tbl>
          </a:graphicData>
        </a:graphic>
      </p:graphicFrame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4D463F7-EB22-615C-2B66-25C6E59499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17</a:t>
            </a:fld>
            <a:endParaRPr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C074052-4D74-821D-ED0B-14CA672D8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31526"/>
              </p:ext>
            </p:extLst>
          </p:nvPr>
        </p:nvGraphicFramePr>
        <p:xfrm>
          <a:off x="587666" y="5059985"/>
          <a:ext cx="6229414" cy="4606013"/>
        </p:xfrm>
        <a:graphic>
          <a:graphicData uri="http://schemas.openxmlformats.org/drawingml/2006/table">
            <a:tbl>
              <a:tblPr/>
              <a:tblGrid>
                <a:gridCol w="749192">
                  <a:extLst>
                    <a:ext uri="{9D8B030D-6E8A-4147-A177-3AD203B41FA5}">
                      <a16:colId xmlns:a16="http://schemas.microsoft.com/office/drawing/2014/main" val="771427327"/>
                    </a:ext>
                  </a:extLst>
                </a:gridCol>
                <a:gridCol w="729049">
                  <a:extLst>
                    <a:ext uri="{9D8B030D-6E8A-4147-A177-3AD203B41FA5}">
                      <a16:colId xmlns:a16="http://schemas.microsoft.com/office/drawing/2014/main" val="2251500675"/>
                    </a:ext>
                  </a:extLst>
                </a:gridCol>
                <a:gridCol w="1186248">
                  <a:extLst>
                    <a:ext uri="{9D8B030D-6E8A-4147-A177-3AD203B41FA5}">
                      <a16:colId xmlns:a16="http://schemas.microsoft.com/office/drawing/2014/main" val="3400346898"/>
                    </a:ext>
                  </a:extLst>
                </a:gridCol>
                <a:gridCol w="1556952">
                  <a:extLst>
                    <a:ext uri="{9D8B030D-6E8A-4147-A177-3AD203B41FA5}">
                      <a16:colId xmlns:a16="http://schemas.microsoft.com/office/drawing/2014/main" val="3329482180"/>
                    </a:ext>
                  </a:extLst>
                </a:gridCol>
                <a:gridCol w="2007973">
                  <a:extLst>
                    <a:ext uri="{9D8B030D-6E8A-4147-A177-3AD203B41FA5}">
                      <a16:colId xmlns:a16="http://schemas.microsoft.com/office/drawing/2014/main" val="3705313545"/>
                    </a:ext>
                  </a:extLst>
                </a:gridCol>
              </a:tblGrid>
              <a:tr h="2092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VREF_Trim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644556"/>
                  </a:ext>
                </a:extLst>
              </a:tr>
              <a:tr h="2092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Addr[5:0]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Data[11:0]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912561"/>
                  </a:ext>
                </a:extLst>
              </a:tr>
              <a:tr h="2092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3333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write command first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119800"/>
                  </a:ext>
                </a:extLst>
              </a:tr>
              <a:tr h="2092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775949"/>
                  </a:ext>
                </a:extLst>
              </a:tr>
              <a:tr h="2092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380858"/>
                  </a:ext>
                </a:extLst>
              </a:tr>
              <a:tr h="1485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MAX_CURR1_VREF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100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MAX_CURR2_VREF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145279"/>
                  </a:ext>
                </a:extLst>
              </a:tr>
              <a:tr h="348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MAX_CURR3_VREF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881525"/>
                  </a:ext>
                </a:extLst>
              </a:tr>
              <a:tr h="1175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MAX_CURR4_VREF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9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MAX_CURR5_VREF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945435"/>
                  </a:ext>
                </a:extLst>
              </a:tr>
              <a:tr h="76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MAX_CURRENT_LEVEL0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722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MAX_CURRENT_LEVEL1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89544"/>
                  </a:ext>
                </a:extLst>
              </a:tr>
              <a:tr h="76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FB_LEVEL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826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FB/SHORT_LEVEL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711076"/>
                  </a:ext>
                </a:extLst>
              </a:tr>
              <a:tr h="76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0x07F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SHORT_LEVEL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785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089490"/>
                  </a:ext>
                </a:extLst>
              </a:tr>
              <a:tr h="2092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CLOCK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071687"/>
                  </a:ext>
                </a:extLst>
              </a:tr>
              <a:tr h="2092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014179"/>
                  </a:ext>
                </a:extLst>
              </a:tr>
              <a:tr h="2092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test_ana_en,sw_sel,pwm_full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871093"/>
                  </a:ext>
                </a:extLst>
              </a:tr>
              <a:tr h="2092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write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599710"/>
                  </a:ext>
                </a:extLst>
              </a:tr>
              <a:tr h="2092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test_en,ddio_dis,vref_o,addr_ext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196513"/>
                  </a:ext>
                </a:extLst>
              </a:tr>
              <a:tr h="2092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0x7A0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BGR_TC 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289421"/>
                  </a:ext>
                </a:extLst>
              </a:tr>
              <a:tr h="418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 ~ 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sweep VREF_CTL[5:0]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0x020 (default)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1094"/>
                  </a:ext>
                </a:extLst>
              </a:tr>
              <a:tr h="209258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define trim code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302006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FC4211AE-AF84-BF9B-0E5C-E5E447963C21}"/>
              </a:ext>
            </a:extLst>
          </p:cNvPr>
          <p:cNvGrpSpPr/>
          <p:nvPr/>
        </p:nvGrpSpPr>
        <p:grpSpPr>
          <a:xfrm>
            <a:off x="542678" y="2009885"/>
            <a:ext cx="6319389" cy="2935392"/>
            <a:chOff x="645291" y="1818641"/>
            <a:chExt cx="5911073" cy="275448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FF9A3EC-1630-E96C-96E1-FCAEBF594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5291" y="1818641"/>
              <a:ext cx="5911073" cy="2754488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971B944-6D28-AB38-9069-EE030110BAC6}"/>
                </a:ext>
              </a:extLst>
            </p:cNvPr>
            <p:cNvSpPr/>
            <p:nvPr/>
          </p:nvSpPr>
          <p:spPr>
            <a:xfrm>
              <a:off x="3685671" y="3997065"/>
              <a:ext cx="1955800" cy="5291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8812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5259C-F012-CCA8-A07B-FDDB06C9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CFAF7AA-00B9-185B-E299-CAD0B45FF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85549"/>
              </p:ext>
            </p:extLst>
          </p:nvPr>
        </p:nvGraphicFramePr>
        <p:xfrm>
          <a:off x="287929" y="1309457"/>
          <a:ext cx="6857999" cy="50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388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256053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952303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69436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7102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7102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7102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5153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1360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ko-KR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ko-KR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PIN</a:t>
                      </a:r>
                      <a:endParaRPr lang="ko-KR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ko-KR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ko-KR" sz="11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lang="ko-KR" sz="11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OSC Trim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OSC_TRIM</a:t>
                      </a:r>
                      <a:endParaRPr lang="ko-KR" altLang="ko-KR" sz="11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DOUT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1.205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1.230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1.255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MHz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2%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4240A03-42EA-E128-8D44-8C3307136BB1}"/>
              </a:ext>
            </a:extLst>
          </p:cNvPr>
          <p:cNvSpPr txBox="1"/>
          <p:nvPr/>
        </p:nvSpPr>
        <p:spPr>
          <a:xfrm>
            <a:off x="501364" y="1909915"/>
            <a:ext cx="6431128" cy="145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50" kern="10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※ Caution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50" kern="10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ALL ‘trims’ should be independently controlled by site. </a:t>
            </a:r>
            <a:r>
              <a:rPr lang="en-US" altLang="ko-KR" sz="1050" u="sng" kern="10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Do NOT VDD Reset during Trimming.</a:t>
            </a:r>
            <a:endParaRPr lang="en-US" altLang="ko-KR" sz="1050" u="sng" kern="100" dirty="0">
              <a:effectLst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300"/>
              </a:spcBef>
            </a:pPr>
            <a:endParaRPr lang="ko-KR" altLang="ko-KR" sz="105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marL="171450" indent="-171450" algn="just" latinLnBrk="1">
              <a:spcBef>
                <a:spcPts val="300"/>
              </a:spcBef>
              <a:buFontTx/>
              <a:buChar char="-"/>
            </a:pPr>
            <a:r>
              <a:rPr lang="en-US" altLang="ko-KR" sz="105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Test Condition</a:t>
            </a:r>
            <a:endParaRPr lang="en-US" altLang="ko-KR" sz="1050" kern="1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5V, DIN (VIH = 5V, VIL = 0V) 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Set registers (Apply ‘DIN’ pin by test pattern) </a:t>
            </a:r>
          </a:p>
          <a:p>
            <a:pPr marL="228600" indent="-228600" algn="just" latinLnBrk="1">
              <a:spcBef>
                <a:spcPts val="300"/>
              </a:spcBef>
              <a:buAutoNum type="arabicPeriod" startAt="3"/>
            </a:pPr>
            <a:r>
              <a:rPr lang="en-US" altLang="ko-KR" sz="1050" kern="100" dirty="0">
                <a:latin typeface="Arial" panose="020B0604020202020204" pitchFamily="34" charset="0"/>
                <a:ea typeface="바탕" panose="02030600000101010101" pitchFamily="18" charset="-127"/>
                <a:cs typeface="Arial" panose="020B0604020202020204" pitchFamily="34" charset="0"/>
              </a:rPr>
              <a:t>Save a sweep code that outputs the closest to the target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184279-ED36-BCEA-4891-CF2737D7827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18</a:t>
            </a:fld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1A936-84D8-B031-2051-CECDD58C29D5}"/>
              </a:ext>
            </a:extLst>
          </p:cNvPr>
          <p:cNvSpPr txBox="1"/>
          <p:nvPr/>
        </p:nvSpPr>
        <p:spPr>
          <a:xfrm>
            <a:off x="4963416" y="2444860"/>
            <a:ext cx="2182512" cy="4385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*  OSC Internal Freq. : 39.3Mhz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</a:t>
            </a:r>
            <a:r>
              <a:rPr lang="en-US" altLang="ko-KR" sz="1000" kern="10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Real Output Freq : </a:t>
            </a:r>
            <a:r>
              <a:rPr lang="en-US" altLang="ko-KR" sz="1000" kern="10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1.23Mhz</a:t>
            </a:r>
            <a:endParaRPr lang="ko-KR" altLang="ko-KR" sz="100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EBB3F64-5BC8-D91B-6CE4-800AB0B75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353059"/>
              </p:ext>
            </p:extLst>
          </p:nvPr>
        </p:nvGraphicFramePr>
        <p:xfrm>
          <a:off x="844021" y="3602939"/>
          <a:ext cx="5868458" cy="4052309"/>
        </p:xfrm>
        <a:graphic>
          <a:graphicData uri="http://schemas.openxmlformats.org/drawingml/2006/table">
            <a:tbl>
              <a:tblPr/>
              <a:tblGrid>
                <a:gridCol w="739620">
                  <a:extLst>
                    <a:ext uri="{9D8B030D-6E8A-4147-A177-3AD203B41FA5}">
                      <a16:colId xmlns:a16="http://schemas.microsoft.com/office/drawing/2014/main" val="49663947"/>
                    </a:ext>
                  </a:extLst>
                </a:gridCol>
                <a:gridCol w="594121">
                  <a:extLst>
                    <a:ext uri="{9D8B030D-6E8A-4147-A177-3AD203B41FA5}">
                      <a16:colId xmlns:a16="http://schemas.microsoft.com/office/drawing/2014/main" val="1201632724"/>
                    </a:ext>
                  </a:extLst>
                </a:gridCol>
                <a:gridCol w="848744">
                  <a:extLst>
                    <a:ext uri="{9D8B030D-6E8A-4147-A177-3AD203B41FA5}">
                      <a16:colId xmlns:a16="http://schemas.microsoft.com/office/drawing/2014/main" val="1396058935"/>
                    </a:ext>
                  </a:extLst>
                </a:gridCol>
                <a:gridCol w="1491364">
                  <a:extLst>
                    <a:ext uri="{9D8B030D-6E8A-4147-A177-3AD203B41FA5}">
                      <a16:colId xmlns:a16="http://schemas.microsoft.com/office/drawing/2014/main" val="3831589230"/>
                    </a:ext>
                  </a:extLst>
                </a:gridCol>
                <a:gridCol w="2194609">
                  <a:extLst>
                    <a:ext uri="{9D8B030D-6E8A-4147-A177-3AD203B41FA5}">
                      <a16:colId xmlns:a16="http://schemas.microsoft.com/office/drawing/2014/main" val="1798460597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OSC_Trim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Continued from previous trim item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77494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06109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0x800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RESET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3471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4b'1000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 GEN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87881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 ENABLE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73126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0x170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sngStrike" dirty="0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87559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baseline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baseline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baseline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baseline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sngStrike" baseline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46054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0x25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0x35A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CLOCK GEN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84548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0x26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0x03C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LATENCY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16696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mclk32_o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22442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OSC_FLL_MAN1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54345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0x808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OSC_FLL_MAN2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695097"/>
                  </a:ext>
                </a:extLst>
              </a:tr>
              <a:tr h="2570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55706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test_en,ddio_dis,mclk32_o,addr_ext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736139"/>
                  </a:ext>
                </a:extLst>
              </a:tr>
              <a:tr h="2595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0x7A0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BGR_TC 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69341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 ~ 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sweep OSC[5:0]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0x020 (default)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54218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define trim code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281061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2A0DE6DD-9D87-8C0F-818E-79B2BD85CAE6}"/>
              </a:ext>
            </a:extLst>
          </p:cNvPr>
          <p:cNvSpPr/>
          <p:nvPr/>
        </p:nvSpPr>
        <p:spPr>
          <a:xfrm>
            <a:off x="4495800" y="3157518"/>
            <a:ext cx="2650128" cy="438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ko-KR" sz="1200" dirty="0">
                <a:solidFill>
                  <a:schemeClr val="bg1"/>
                </a:solidFill>
              </a:rPr>
              <a:t>Change OSC Register as A7R2-&gt;A7R3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(0x3A0 </a:t>
            </a:r>
            <a:r>
              <a:rPr lang="en-US" altLang="ko-KR" sz="12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200" dirty="0">
                <a:solidFill>
                  <a:schemeClr val="bg1"/>
                </a:solidFill>
              </a:rPr>
              <a:t> 0x7A0)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020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04D67-D4E3-E5D5-F5DA-0FD65CE2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9117806F-6CA7-F0FE-DFC6-57CE2882D3D2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88235DD-B186-796B-91D9-F846711B0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958991"/>
              </p:ext>
            </p:extLst>
          </p:nvPr>
        </p:nvGraphicFramePr>
        <p:xfrm>
          <a:off x="308919" y="1279869"/>
          <a:ext cx="6876536" cy="50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95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02036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77003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4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4688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13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ICTL_GA_Trim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ICTL_GA_Trim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IOUT_CH1~12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3.806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3.907</a:t>
                      </a: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4.009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2.6%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</a:tbl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A90C7F-FF71-A97C-AA19-BDB38B490F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19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DBA68-4451-7B7E-14FD-704675AF98E1}"/>
              </a:ext>
            </a:extLst>
          </p:cNvPr>
          <p:cNvSpPr txBox="1"/>
          <p:nvPr/>
        </p:nvSpPr>
        <p:spPr>
          <a:xfrm>
            <a:off x="418308" y="2091082"/>
            <a:ext cx="6727620" cy="1208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※ Caution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ALL ‘trims’ should be independently controlled by site. </a:t>
            </a:r>
            <a:r>
              <a:rPr lang="en-US" altLang="ko-KR" sz="1000" u="sng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Do NOT VDD Reset during Trimming.</a:t>
            </a:r>
            <a:endParaRPr lang="en-US" altLang="ko-KR" sz="1000" u="sng" kern="100" dirty="0">
              <a:effectLst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300"/>
              </a:spcBef>
            </a:pPr>
            <a:endParaRPr lang="en-US" altLang="ko-KR" sz="1000" kern="100" dirty="0">
              <a:effectLst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5V,   IOUT_CH1~12 :  5V 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Set registers (Apply ‘DIN’ pin by test pattern) </a:t>
            </a:r>
          </a:p>
          <a:p>
            <a:pPr marL="228600" indent="-228600" algn="just" latinLnBrk="1">
              <a:spcBef>
                <a:spcPts val="300"/>
              </a:spcBef>
              <a:buAutoNum type="arabicPeriod" startAt="3"/>
            </a:pPr>
            <a:r>
              <a:rPr lang="en-US" altLang="ko-KR" sz="1000" kern="100" dirty="0">
                <a:latin typeface="Arial" panose="020B0604020202020204" pitchFamily="34" charset="0"/>
                <a:ea typeface="바탕" panose="02030600000101010101" pitchFamily="18" charset="-127"/>
                <a:cs typeface="Arial" panose="020B0604020202020204" pitchFamily="34" charset="0"/>
              </a:rPr>
              <a:t>Save a sweep code that outputs the closest to the target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9A9162C-4949-2F3A-E4DB-AD2564029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356276"/>
              </p:ext>
            </p:extLst>
          </p:nvPr>
        </p:nvGraphicFramePr>
        <p:xfrm>
          <a:off x="497706" y="3381662"/>
          <a:ext cx="5853518" cy="4733631"/>
        </p:xfrm>
        <a:graphic>
          <a:graphicData uri="http://schemas.openxmlformats.org/drawingml/2006/table">
            <a:tbl>
              <a:tblPr/>
              <a:tblGrid>
                <a:gridCol w="825808">
                  <a:extLst>
                    <a:ext uri="{9D8B030D-6E8A-4147-A177-3AD203B41FA5}">
                      <a16:colId xmlns:a16="http://schemas.microsoft.com/office/drawing/2014/main" val="433694854"/>
                    </a:ext>
                  </a:extLst>
                </a:gridCol>
                <a:gridCol w="607211">
                  <a:extLst>
                    <a:ext uri="{9D8B030D-6E8A-4147-A177-3AD203B41FA5}">
                      <a16:colId xmlns:a16="http://schemas.microsoft.com/office/drawing/2014/main" val="3636726578"/>
                    </a:ext>
                  </a:extLst>
                </a:gridCol>
                <a:gridCol w="837952">
                  <a:extLst>
                    <a:ext uri="{9D8B030D-6E8A-4147-A177-3AD203B41FA5}">
                      <a16:colId xmlns:a16="http://schemas.microsoft.com/office/drawing/2014/main" val="1419480513"/>
                    </a:ext>
                  </a:extLst>
                </a:gridCol>
                <a:gridCol w="1323721">
                  <a:extLst>
                    <a:ext uri="{9D8B030D-6E8A-4147-A177-3AD203B41FA5}">
                      <a16:colId xmlns:a16="http://schemas.microsoft.com/office/drawing/2014/main" val="1167687565"/>
                    </a:ext>
                  </a:extLst>
                </a:gridCol>
                <a:gridCol w="2258826">
                  <a:extLst>
                    <a:ext uri="{9D8B030D-6E8A-4147-A177-3AD203B41FA5}">
                      <a16:colId xmlns:a16="http://schemas.microsoft.com/office/drawing/2014/main" val="416612078"/>
                    </a:ext>
                  </a:extLst>
                </a:gridCol>
              </a:tblGrid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ICTL_GA_Trim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910162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333858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0x800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RESET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49531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4b'1000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ID GEN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694031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0xFFF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CHANNEL ENABLE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919097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0x25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0x35A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 CLOCK GEN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401340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0x26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0x03C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 LATENCY</a:t>
                      </a:r>
                      <a:endParaRPr lang="en-US" sz="10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505739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266759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 8mA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126789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1000)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196667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003900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833447"/>
                  </a:ext>
                </a:extLst>
              </a:tr>
              <a:tr h="321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0x1B~26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 ~ 0x7F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Sweep ICTL_CH**[6:0]</a:t>
                      </a:r>
                      <a:b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0x040 (default)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811155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784431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673931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0xBB8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3000)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651775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883517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272427"/>
                  </a:ext>
                </a:extLst>
              </a:tr>
              <a:tr h="321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0x1B~26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 ~ 0x7F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Sweep ICTL_CH**[6:0]</a:t>
                      </a:r>
                      <a:b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0x040 (default)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058031"/>
                  </a:ext>
                </a:extLst>
              </a:tr>
              <a:tr h="209452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073132"/>
                  </a:ext>
                </a:extLst>
              </a:tr>
              <a:tr h="32116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define trim code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 ‘C2-C1’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Calculate ‘C2-C1’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971203"/>
                  </a:ext>
                </a:extLst>
              </a:tr>
            </a:tbl>
          </a:graphicData>
        </a:graphic>
      </p:graphicFrame>
      <p:sp>
        <p:nvSpPr>
          <p:cNvPr id="5" name="폭발: 8pt 4">
            <a:extLst>
              <a:ext uri="{FF2B5EF4-FFF2-40B4-BE49-F238E27FC236}">
                <a16:creationId xmlns:a16="http://schemas.microsoft.com/office/drawing/2014/main" id="{D78C8758-AF59-5DDE-E7D4-229565EBF3E5}"/>
              </a:ext>
            </a:extLst>
          </p:cNvPr>
          <p:cNvSpPr/>
          <p:nvPr/>
        </p:nvSpPr>
        <p:spPr>
          <a:xfrm>
            <a:off x="6252633" y="5427875"/>
            <a:ext cx="1184053" cy="737167"/>
          </a:xfrm>
          <a:prstGeom prst="irregularSeal1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Change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GA_P1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폭발: 8pt 7">
            <a:extLst>
              <a:ext uri="{FF2B5EF4-FFF2-40B4-BE49-F238E27FC236}">
                <a16:creationId xmlns:a16="http://schemas.microsoft.com/office/drawing/2014/main" id="{91A88792-CCD1-E7FE-FB7F-268C688DBB55}"/>
              </a:ext>
            </a:extLst>
          </p:cNvPr>
          <p:cNvSpPr/>
          <p:nvPr/>
        </p:nvSpPr>
        <p:spPr>
          <a:xfrm>
            <a:off x="6252633" y="6913828"/>
            <a:ext cx="1156413" cy="655371"/>
          </a:xfrm>
          <a:prstGeom prst="irregularSeal1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ko-KR" sz="1100" b="1">
                <a:solidFill>
                  <a:prstClr val="black"/>
                </a:solidFill>
              </a:rPr>
              <a:t>Change</a:t>
            </a:r>
          </a:p>
          <a:p>
            <a:pPr lvl="0" algn="ctr">
              <a:defRPr/>
            </a:pPr>
            <a:r>
              <a:rPr lang="en-US" altLang="ko-KR" sz="1100" b="1">
                <a:solidFill>
                  <a:prstClr val="black"/>
                </a:solidFill>
              </a:rPr>
              <a:t>GA_P2</a:t>
            </a:r>
            <a:endParaRPr lang="ko-KR" altLang="en-US" sz="1100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707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FD4C2-205E-87CE-45CE-4FEB2FFDC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65CC9D81-C06F-21D3-F008-BF0C336CBFF3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1ED5ECB-8823-64C9-9C11-0B380C906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009019"/>
              </p:ext>
            </p:extLst>
          </p:nvPr>
        </p:nvGraphicFramePr>
        <p:xfrm>
          <a:off x="321276" y="1288759"/>
          <a:ext cx="6851822" cy="50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053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85916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1109120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1020418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0087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63217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76470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503582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990959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14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ICTL</a:t>
                      </a:r>
                      <a:r>
                        <a:rPr lang="en-US" altLang="ko-KR" sz="11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_OFS_</a:t>
                      </a:r>
                      <a:r>
                        <a:rPr lang="en-US" altLang="ko-KR" sz="11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Trim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ICTL</a:t>
                      </a:r>
                      <a:r>
                        <a:rPr lang="en-US" altLang="ko-KR" sz="11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_OFS_</a:t>
                      </a:r>
                      <a:r>
                        <a:rPr lang="en-US" altLang="ko-KR" sz="11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Trim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IOUT_CH1~12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0.974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1.026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2.6%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D3806A8-C806-F384-05CE-5ECA3D4A8FAA}"/>
              </a:ext>
            </a:extLst>
          </p:cNvPr>
          <p:cNvSpPr txBox="1"/>
          <p:nvPr/>
        </p:nvSpPr>
        <p:spPr>
          <a:xfrm>
            <a:off x="499312" y="2137448"/>
            <a:ext cx="6270213" cy="1208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※ Caution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ALL ‘trims’ should be independently controlled by site. </a:t>
            </a:r>
            <a:r>
              <a:rPr lang="en-US" altLang="ko-KR" sz="1000" u="sng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Do NOT VDD Reset during Trimming.</a:t>
            </a:r>
            <a:endParaRPr lang="en-US" altLang="ko-KR" sz="1000" u="sng" kern="100">
              <a:effectLst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300"/>
              </a:spcBef>
            </a:pPr>
            <a:endParaRPr lang="en-US" altLang="ko-KR" sz="1000" kern="100" dirty="0">
              <a:effectLst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</a:t>
            </a: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,   IOUT_CH1~12 :  5V </a:t>
            </a:r>
            <a:endParaRPr lang="en-US" altLang="ko-KR" sz="1000" kern="1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Set registers (Apply ‘DIN’ pin by test pattern) </a:t>
            </a:r>
          </a:p>
          <a:p>
            <a:pPr marL="228600" indent="-228600" algn="just" latinLnBrk="1">
              <a:spcBef>
                <a:spcPts val="300"/>
              </a:spcBef>
              <a:buAutoNum type="arabicPeriod" startAt="3"/>
            </a:pPr>
            <a:r>
              <a:rPr lang="en-US" altLang="ko-KR" sz="1000" kern="100">
                <a:latin typeface="Arial" panose="020B0604020202020204" pitchFamily="34" charset="0"/>
                <a:ea typeface="바탕" panose="02030600000101010101" pitchFamily="18" charset="-127"/>
                <a:cs typeface="Arial" panose="020B0604020202020204" pitchFamily="34" charset="0"/>
              </a:rPr>
              <a:t>Save a sweep code that outputs the closest to the target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976FBC-F2C5-D8F9-CDDF-4AAFCB2F82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20</a:t>
            </a:fld>
            <a:endParaRPr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D2DC295-FB86-4E1E-79E1-65C704646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03882"/>
              </p:ext>
            </p:extLst>
          </p:nvPr>
        </p:nvGraphicFramePr>
        <p:xfrm>
          <a:off x="621875" y="3509785"/>
          <a:ext cx="5891266" cy="4688065"/>
        </p:xfrm>
        <a:graphic>
          <a:graphicData uri="http://schemas.openxmlformats.org/drawingml/2006/table">
            <a:tbl>
              <a:tblPr/>
              <a:tblGrid>
                <a:gridCol w="834596">
                  <a:extLst>
                    <a:ext uri="{9D8B030D-6E8A-4147-A177-3AD203B41FA5}">
                      <a16:colId xmlns:a16="http://schemas.microsoft.com/office/drawing/2014/main" val="3549395326"/>
                    </a:ext>
                  </a:extLst>
                </a:gridCol>
                <a:gridCol w="650494">
                  <a:extLst>
                    <a:ext uri="{9D8B030D-6E8A-4147-A177-3AD203B41FA5}">
                      <a16:colId xmlns:a16="http://schemas.microsoft.com/office/drawing/2014/main" val="1105208172"/>
                    </a:ext>
                  </a:extLst>
                </a:gridCol>
                <a:gridCol w="871416">
                  <a:extLst>
                    <a:ext uri="{9D8B030D-6E8A-4147-A177-3AD203B41FA5}">
                      <a16:colId xmlns:a16="http://schemas.microsoft.com/office/drawing/2014/main" val="3653611808"/>
                    </a:ext>
                  </a:extLst>
                </a:gridCol>
                <a:gridCol w="1300988">
                  <a:extLst>
                    <a:ext uri="{9D8B030D-6E8A-4147-A177-3AD203B41FA5}">
                      <a16:colId xmlns:a16="http://schemas.microsoft.com/office/drawing/2014/main" val="1455517145"/>
                    </a:ext>
                  </a:extLst>
                </a:gridCol>
                <a:gridCol w="2233772">
                  <a:extLst>
                    <a:ext uri="{9D8B030D-6E8A-4147-A177-3AD203B41FA5}">
                      <a16:colId xmlns:a16="http://schemas.microsoft.com/office/drawing/2014/main" val="3028542019"/>
                    </a:ext>
                  </a:extLst>
                </a:gridCol>
              </a:tblGrid>
              <a:tr h="184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ICTL_OFS_Trim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Continued from previous trim item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930467"/>
                  </a:ext>
                </a:extLst>
              </a:tr>
              <a:tr h="184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340574"/>
                  </a:ext>
                </a:extLst>
              </a:tr>
              <a:tr h="184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0x800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RESET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3327"/>
                  </a:ext>
                </a:extLst>
              </a:tr>
              <a:tr h="184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4b'1000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 GEN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48277"/>
                  </a:ext>
                </a:extLst>
              </a:tr>
              <a:tr h="184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 ENABLE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363369"/>
                  </a:ext>
                </a:extLst>
              </a:tr>
              <a:tr h="184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0x25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0x35A</a:t>
                      </a:r>
                      <a:endParaRPr lang="en-US" sz="1000" b="0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CLOCK GEN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534553"/>
                  </a:ext>
                </a:extLst>
              </a:tr>
              <a:tr h="184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0x26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0x03C</a:t>
                      </a:r>
                      <a:endParaRPr lang="en-US" sz="1000" b="0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LATENCY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503341"/>
                  </a:ext>
                </a:extLst>
              </a:tr>
              <a:tr h="1837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46974"/>
                  </a:ext>
                </a:extLst>
              </a:tr>
              <a:tr h="1837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 8mA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63575"/>
                  </a:ext>
                </a:extLst>
              </a:tr>
              <a:tr h="2504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0x15E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350)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251990"/>
                  </a:ext>
                </a:extLst>
              </a:tr>
              <a:tr h="1837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73716"/>
                  </a:ext>
                </a:extLst>
              </a:tr>
              <a:tr h="1837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025497"/>
                  </a:ext>
                </a:extLst>
              </a:tr>
              <a:tr h="4483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 ~ </a:t>
                      </a:r>
                      <a:r>
                        <a:rPr lang="en-US" sz="10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Sweep ICTL_OFS_CH**[5:0]</a:t>
                      </a:r>
                      <a:br>
                        <a:rPr lang="en-US" altLang="ko-KR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0x020 (default)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Change [6:0]</a:t>
                      </a:r>
                      <a:r>
                        <a:rPr lang="ko-KR" altLang="en-US" sz="10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0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0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[5:0]</a:t>
                      </a:r>
                      <a:r>
                        <a:rPr lang="ko-KR" altLang="en-US" sz="10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ko-KR" altLang="en-US" sz="1000" b="1" i="0" u="sng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681866"/>
                  </a:ext>
                </a:extLst>
              </a:tr>
              <a:tr h="183799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331410"/>
                  </a:ext>
                </a:extLst>
              </a:tr>
              <a:tr h="1837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292075"/>
                  </a:ext>
                </a:extLst>
              </a:tr>
              <a:tr h="251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600)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57625"/>
                  </a:ext>
                </a:extLst>
              </a:tr>
              <a:tr h="184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96931"/>
                  </a:ext>
                </a:extLst>
              </a:tr>
              <a:tr h="184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497358"/>
                  </a:ext>
                </a:extLst>
              </a:tr>
              <a:tr h="4735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 ~ </a:t>
                      </a:r>
                      <a:r>
                        <a:rPr lang="en-US" sz="10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Sweep ICTL_OFS_CH**[5:0]</a:t>
                      </a:r>
                      <a:br>
                        <a:rPr lang="en-US" altLang="ko-KR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0x020 (default)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Change [6:0]</a:t>
                      </a:r>
                      <a:r>
                        <a:rPr lang="ko-KR" altLang="en-US" sz="10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0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0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[5:0]</a:t>
                      </a:r>
                      <a:r>
                        <a:rPr lang="ko-KR" altLang="en-US" sz="10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ko-KR" altLang="en-US" sz="1000" b="1" i="0" u="sng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861970"/>
                  </a:ext>
                </a:extLst>
              </a:tr>
              <a:tr h="184778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643578"/>
                  </a:ext>
                </a:extLst>
              </a:tr>
              <a:tr h="29047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define trim code</a:t>
                      </a:r>
                    </a:p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 ‘(C1+C2) / 2’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Calculate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‘(C1+C2) / 2’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187427"/>
                  </a:ext>
                </a:extLst>
              </a:tr>
            </a:tbl>
          </a:graphicData>
        </a:graphic>
      </p:graphicFrame>
      <p:sp>
        <p:nvSpPr>
          <p:cNvPr id="8" name="폭발: 8pt 7">
            <a:extLst>
              <a:ext uri="{FF2B5EF4-FFF2-40B4-BE49-F238E27FC236}">
                <a16:creationId xmlns:a16="http://schemas.microsoft.com/office/drawing/2014/main" id="{77991AED-FDA4-F724-882E-2EA42D714BF1}"/>
              </a:ext>
            </a:extLst>
          </p:cNvPr>
          <p:cNvSpPr/>
          <p:nvPr/>
        </p:nvSpPr>
        <p:spPr>
          <a:xfrm>
            <a:off x="6266757" y="4979179"/>
            <a:ext cx="1127456" cy="627861"/>
          </a:xfrm>
          <a:prstGeom prst="irregularSeal1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Change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OFS_P1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폭발: 8pt 9">
            <a:extLst>
              <a:ext uri="{FF2B5EF4-FFF2-40B4-BE49-F238E27FC236}">
                <a16:creationId xmlns:a16="http://schemas.microsoft.com/office/drawing/2014/main" id="{C8CA9A49-FEC3-7571-B161-AB30B12158CB}"/>
              </a:ext>
            </a:extLst>
          </p:cNvPr>
          <p:cNvSpPr/>
          <p:nvPr/>
        </p:nvSpPr>
        <p:spPr>
          <a:xfrm>
            <a:off x="6205797" y="6444759"/>
            <a:ext cx="1127456" cy="627861"/>
          </a:xfrm>
          <a:prstGeom prst="irregularSeal1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ko-KR" sz="1100" b="1">
                <a:solidFill>
                  <a:prstClr val="black"/>
                </a:solidFill>
              </a:rPr>
              <a:t>Change</a:t>
            </a:r>
          </a:p>
          <a:p>
            <a:pPr lvl="0" algn="ctr">
              <a:defRPr/>
            </a:pPr>
            <a:r>
              <a:rPr lang="en-US" altLang="ko-KR" sz="1100" b="1">
                <a:solidFill>
                  <a:prstClr val="black"/>
                </a:solidFill>
              </a:rPr>
              <a:t>OFS_P2</a:t>
            </a:r>
            <a:endParaRPr lang="ko-KR" altLang="en-US" sz="1100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556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21EFE-302F-093B-A4BD-B5622054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7C72CC86-4A04-9FE5-F937-ACC92C9AFB47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9C758F1-4D2C-BE07-E430-0446BF738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499798"/>
              </p:ext>
            </p:extLst>
          </p:nvPr>
        </p:nvGraphicFramePr>
        <p:xfrm>
          <a:off x="294860" y="1378386"/>
          <a:ext cx="6899694" cy="50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4653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797206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669187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730720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40367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40367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40367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7981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8846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OTP_Write (e-fuse)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8AE69F5-5E42-D243-8550-45AD08F93CB0}"/>
              </a:ext>
            </a:extLst>
          </p:cNvPr>
          <p:cNvSpPr txBox="1"/>
          <p:nvPr/>
        </p:nvSpPr>
        <p:spPr>
          <a:xfrm>
            <a:off x="335727" y="2226951"/>
            <a:ext cx="5799014" cy="1679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5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</a:t>
            </a:r>
            <a:r>
              <a:rPr lang="en-US" altLang="ko-KR" sz="1050" kern="10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Method]</a:t>
            </a:r>
            <a:endParaRPr lang="en-US" altLang="ko-KR" sz="1050" kern="100" dirty="0">
              <a:effectLst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300"/>
              </a:spcBef>
            </a:pPr>
            <a:endParaRPr lang="en-US" altLang="ko-KR" sz="1050" kern="1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marL="228600" indent="-228600" algn="just" latinLnBrk="1">
              <a:spcBef>
                <a:spcPts val="300"/>
              </a:spcBef>
              <a:buAutoNum type="arabicPeriod" startAt="16"/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OTP Write 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 : When all trims are completed, perform e-fusing (=write) on all activated site</a:t>
            </a:r>
          </a:p>
          <a:p>
            <a:pPr algn="just" latinLnBrk="1">
              <a:spcBef>
                <a:spcPts val="400"/>
              </a:spcBef>
            </a:pPr>
            <a:endParaRPr lang="ko-KR" altLang="ko-KR" sz="1050" kern="10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400"/>
              </a:spcBef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(1)  </a:t>
            </a:r>
            <a:r>
              <a:rPr lang="en-US" altLang="ko-KR" sz="1050" kern="10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(No Power OFF)  Apply VDD 5.0V </a:t>
            </a:r>
            <a:r>
              <a:rPr lang="en-US" altLang="ko-KR" sz="1050" kern="10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1050" kern="10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5.5V</a:t>
            </a: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,  DIN (VIH = 5.5V, VIL = 0V)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(2)  Set registers (Force ‘DIN’ pin by test pattern) 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50" u="sng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(3)  Wait time 10ms before next step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58F4A1B-7067-BA9D-2635-6E3CD293D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608990"/>
              </p:ext>
            </p:extLst>
          </p:nvPr>
        </p:nvGraphicFramePr>
        <p:xfrm>
          <a:off x="135748" y="6750761"/>
          <a:ext cx="7285004" cy="957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562">
                  <a:extLst>
                    <a:ext uri="{9D8B030D-6E8A-4147-A177-3AD203B41FA5}">
                      <a16:colId xmlns:a16="http://schemas.microsoft.com/office/drawing/2014/main" val="1759522910"/>
                    </a:ext>
                  </a:extLst>
                </a:gridCol>
                <a:gridCol w="568734">
                  <a:extLst>
                    <a:ext uri="{9D8B030D-6E8A-4147-A177-3AD203B41FA5}">
                      <a16:colId xmlns:a16="http://schemas.microsoft.com/office/drawing/2014/main" val="704514575"/>
                    </a:ext>
                  </a:extLst>
                </a:gridCol>
                <a:gridCol w="451514">
                  <a:extLst>
                    <a:ext uri="{9D8B030D-6E8A-4147-A177-3AD203B41FA5}">
                      <a16:colId xmlns:a16="http://schemas.microsoft.com/office/drawing/2014/main" val="1247567094"/>
                    </a:ext>
                  </a:extLst>
                </a:gridCol>
                <a:gridCol w="451514">
                  <a:extLst>
                    <a:ext uri="{9D8B030D-6E8A-4147-A177-3AD203B41FA5}">
                      <a16:colId xmlns:a16="http://schemas.microsoft.com/office/drawing/2014/main" val="2553339401"/>
                    </a:ext>
                  </a:extLst>
                </a:gridCol>
                <a:gridCol w="451514">
                  <a:extLst>
                    <a:ext uri="{9D8B030D-6E8A-4147-A177-3AD203B41FA5}">
                      <a16:colId xmlns:a16="http://schemas.microsoft.com/office/drawing/2014/main" val="2482882370"/>
                    </a:ext>
                  </a:extLst>
                </a:gridCol>
                <a:gridCol w="451514">
                  <a:extLst>
                    <a:ext uri="{9D8B030D-6E8A-4147-A177-3AD203B41FA5}">
                      <a16:colId xmlns:a16="http://schemas.microsoft.com/office/drawing/2014/main" val="1960521802"/>
                    </a:ext>
                  </a:extLst>
                </a:gridCol>
                <a:gridCol w="451514">
                  <a:extLst>
                    <a:ext uri="{9D8B030D-6E8A-4147-A177-3AD203B41FA5}">
                      <a16:colId xmlns:a16="http://schemas.microsoft.com/office/drawing/2014/main" val="1384297235"/>
                    </a:ext>
                  </a:extLst>
                </a:gridCol>
                <a:gridCol w="451514">
                  <a:extLst>
                    <a:ext uri="{9D8B030D-6E8A-4147-A177-3AD203B41FA5}">
                      <a16:colId xmlns:a16="http://schemas.microsoft.com/office/drawing/2014/main" val="906421861"/>
                    </a:ext>
                  </a:extLst>
                </a:gridCol>
                <a:gridCol w="451514">
                  <a:extLst>
                    <a:ext uri="{9D8B030D-6E8A-4147-A177-3AD203B41FA5}">
                      <a16:colId xmlns:a16="http://schemas.microsoft.com/office/drawing/2014/main" val="1992067283"/>
                    </a:ext>
                  </a:extLst>
                </a:gridCol>
                <a:gridCol w="451514">
                  <a:extLst>
                    <a:ext uri="{9D8B030D-6E8A-4147-A177-3AD203B41FA5}">
                      <a16:colId xmlns:a16="http://schemas.microsoft.com/office/drawing/2014/main" val="3342973704"/>
                    </a:ext>
                  </a:extLst>
                </a:gridCol>
                <a:gridCol w="451514">
                  <a:extLst>
                    <a:ext uri="{9D8B030D-6E8A-4147-A177-3AD203B41FA5}">
                      <a16:colId xmlns:a16="http://schemas.microsoft.com/office/drawing/2014/main" val="2170543265"/>
                    </a:ext>
                  </a:extLst>
                </a:gridCol>
                <a:gridCol w="451514">
                  <a:extLst>
                    <a:ext uri="{9D8B030D-6E8A-4147-A177-3AD203B41FA5}">
                      <a16:colId xmlns:a16="http://schemas.microsoft.com/office/drawing/2014/main" val="3903797174"/>
                    </a:ext>
                  </a:extLst>
                </a:gridCol>
                <a:gridCol w="451514">
                  <a:extLst>
                    <a:ext uri="{9D8B030D-6E8A-4147-A177-3AD203B41FA5}">
                      <a16:colId xmlns:a16="http://schemas.microsoft.com/office/drawing/2014/main" val="2739023295"/>
                    </a:ext>
                  </a:extLst>
                </a:gridCol>
                <a:gridCol w="451514">
                  <a:extLst>
                    <a:ext uri="{9D8B030D-6E8A-4147-A177-3AD203B41FA5}">
                      <a16:colId xmlns:a16="http://schemas.microsoft.com/office/drawing/2014/main" val="1287798032"/>
                    </a:ext>
                  </a:extLst>
                </a:gridCol>
                <a:gridCol w="547026">
                  <a:extLst>
                    <a:ext uri="{9D8B030D-6E8A-4147-A177-3AD203B41FA5}">
                      <a16:colId xmlns:a16="http://schemas.microsoft.com/office/drawing/2014/main" val="506031418"/>
                    </a:ext>
                  </a:extLst>
                </a:gridCol>
                <a:gridCol w="451514">
                  <a:extLst>
                    <a:ext uri="{9D8B030D-6E8A-4147-A177-3AD203B41FA5}">
                      <a16:colId xmlns:a16="http://schemas.microsoft.com/office/drawing/2014/main" val="3405188674"/>
                    </a:ext>
                  </a:extLst>
                </a:gridCol>
              </a:tblGrid>
              <a:tr h="29981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Register Map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effectLst/>
                        </a:rPr>
                        <a:t>Address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B5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</a:rPr>
                        <a:t>Value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783724"/>
                  </a:ext>
                </a:extLst>
              </a:tr>
              <a:tr h="3290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Calibri (본문)"/>
                        </a:rPr>
                        <a:t>R/W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Calibri (본문)"/>
                        </a:rPr>
                        <a:t>OP MODE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effectLst/>
                          <a:latin typeface="Calibri (본문)"/>
                        </a:rPr>
                        <a:t>0x3F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Calibri (본문)"/>
                        </a:rPr>
                        <a:t>1</a:t>
                      </a:r>
                    </a:p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(TEST_EN)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  <a:t>1</a:t>
                      </a:r>
                    </a:p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  <a:t>(DDIO_DIS)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Calibri (본문)"/>
                        </a:rPr>
                        <a:t>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Calibri (본문)"/>
                        </a:rPr>
                        <a:t>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Calibri (본문)"/>
                        </a:rPr>
                        <a:t>0</a:t>
                      </a:r>
                    </a:p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(ADDR_EXT)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effectLst/>
                          <a:latin typeface="Calibri (본문)"/>
                        </a:rPr>
                        <a:t>0xC00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179793"/>
                  </a:ext>
                </a:extLst>
              </a:tr>
              <a:tr h="329074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R/W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+mn-ea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OTP RD/PROG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0x3D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(OTP_PG)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0x001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880458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5EB39CFC-B102-AA22-F165-0B793DAAFA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21</a:t>
            </a:fld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E66EF-C228-7B29-CBA9-110B2A3ABA21}"/>
              </a:ext>
            </a:extLst>
          </p:cNvPr>
          <p:cNvSpPr txBox="1"/>
          <p:nvPr/>
        </p:nvSpPr>
        <p:spPr>
          <a:xfrm>
            <a:off x="3194367" y="1962779"/>
            <a:ext cx="4026406" cy="6540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50" kern="100">
                <a:solidFill>
                  <a:srgbClr val="FF0000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* Remember : OTP writing is allowed only once.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50" kern="10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* If you write data into OTP multiple times, 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50" kern="10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the trimmed data will be modified and the output will change.</a:t>
            </a:r>
            <a:endParaRPr lang="en-US" altLang="ko-KR" sz="105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3F38B02B-0E82-21C3-103A-ECC3B94E2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707529"/>
              </p:ext>
            </p:extLst>
          </p:nvPr>
        </p:nvGraphicFramePr>
        <p:xfrm>
          <a:off x="784116" y="4023325"/>
          <a:ext cx="5431333" cy="2358001"/>
        </p:xfrm>
        <a:graphic>
          <a:graphicData uri="http://schemas.openxmlformats.org/drawingml/2006/table">
            <a:tbl>
              <a:tblPr/>
              <a:tblGrid>
                <a:gridCol w="533295">
                  <a:extLst>
                    <a:ext uri="{9D8B030D-6E8A-4147-A177-3AD203B41FA5}">
                      <a16:colId xmlns:a16="http://schemas.microsoft.com/office/drawing/2014/main" val="2858356022"/>
                    </a:ext>
                  </a:extLst>
                </a:gridCol>
                <a:gridCol w="737536">
                  <a:extLst>
                    <a:ext uri="{9D8B030D-6E8A-4147-A177-3AD203B41FA5}">
                      <a16:colId xmlns:a16="http://schemas.microsoft.com/office/drawing/2014/main" val="1367095138"/>
                    </a:ext>
                  </a:extLst>
                </a:gridCol>
                <a:gridCol w="1180057">
                  <a:extLst>
                    <a:ext uri="{9D8B030D-6E8A-4147-A177-3AD203B41FA5}">
                      <a16:colId xmlns:a16="http://schemas.microsoft.com/office/drawing/2014/main" val="3987433562"/>
                    </a:ext>
                  </a:extLst>
                </a:gridCol>
                <a:gridCol w="1304871">
                  <a:extLst>
                    <a:ext uri="{9D8B030D-6E8A-4147-A177-3AD203B41FA5}">
                      <a16:colId xmlns:a16="http://schemas.microsoft.com/office/drawing/2014/main" val="3051208866"/>
                    </a:ext>
                  </a:extLst>
                </a:gridCol>
                <a:gridCol w="1675574">
                  <a:extLst>
                    <a:ext uri="{9D8B030D-6E8A-4147-A177-3AD203B41FA5}">
                      <a16:colId xmlns:a16="http://schemas.microsoft.com/office/drawing/2014/main" val="688469859"/>
                    </a:ext>
                  </a:extLst>
                </a:gridCol>
              </a:tblGrid>
              <a:tr h="236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E-Fusing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865206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889889"/>
                  </a:ext>
                </a:extLst>
              </a:tr>
              <a:tr h="2307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4b'1000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 GEN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092793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 ENABLE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574964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0x170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344331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0xCCC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baseline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retaining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197425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0x25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0x35A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CLOCK GEN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045435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0x26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0x03C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LATENCY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290285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712770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otp_pg_start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27974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4F89857-820B-F2D5-4B3F-5473574C093A}"/>
              </a:ext>
            </a:extLst>
          </p:cNvPr>
          <p:cNvSpPr txBox="1"/>
          <p:nvPr/>
        </p:nvSpPr>
        <p:spPr>
          <a:xfrm>
            <a:off x="600275" y="7869937"/>
            <a:ext cx="5799014" cy="16850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l" fontAlgn="ctr">
              <a:spcBef>
                <a:spcPts val="600"/>
              </a:spcBef>
            </a:pPr>
            <a:r>
              <a:rPr lang="en-US" altLang="ko-KR" sz="1050" b="0" i="0" u="none" strike="noStrike">
                <a:solidFill>
                  <a:srgbClr val="3333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&lt; E-Fusing Test Flow &gt;</a:t>
            </a:r>
          </a:p>
          <a:p>
            <a:pPr fontAlgn="ctr">
              <a:spcBef>
                <a:spcPts val="600"/>
              </a:spcBef>
            </a:pPr>
            <a:r>
              <a:rPr lang="en-US" altLang="ko-KR" sz="1050" b="0" i="0" u="none" strike="noStrike">
                <a:solidFill>
                  <a:srgbClr val="3333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(1) Apply VDD &amp; I/O upto 5.5V (No Power OFF)</a:t>
            </a:r>
          </a:p>
          <a:p>
            <a:pPr fontAlgn="ctr">
              <a:spcBef>
                <a:spcPts val="600"/>
              </a:spcBef>
            </a:pPr>
            <a:r>
              <a:rPr lang="da-DK" altLang="ko-KR" sz="1050" b="0" i="0" u="none" strike="noStrike">
                <a:solidFill>
                  <a:srgbClr val="3333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(2) Set register : addr 0x3F, data 0xC00;  addr 0x3D, data 0x001</a:t>
            </a:r>
          </a:p>
          <a:p>
            <a:pPr algn="l" fontAlgn="ctr">
              <a:spcBef>
                <a:spcPts val="600"/>
              </a:spcBef>
            </a:pPr>
            <a:r>
              <a:rPr lang="en-US" altLang="ko-KR" sz="1050" b="0" i="0" u="none" strike="noStrike">
                <a:solidFill>
                  <a:srgbClr val="3333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  </a:t>
            </a:r>
            <a:r>
              <a:rPr lang="en-US" altLang="ko-KR" sz="1050" b="0" i="0" u="none" strike="noStrike">
                <a:solidFill>
                  <a:srgbClr val="3333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last searching (trimmed) codes are copied to e-fusing area  (OTP written status)</a:t>
            </a:r>
          </a:p>
          <a:p>
            <a:pPr fontAlgn="ctr">
              <a:spcBef>
                <a:spcPts val="600"/>
              </a:spcBef>
            </a:pPr>
            <a:r>
              <a:rPr lang="en-US" altLang="ko-KR" sz="1050" b="0" i="0" u="none" strike="noStrike">
                <a:solidFill>
                  <a:srgbClr val="3333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(3) Power OFF (-&gt; Erased date in register area) and Power ON (5V)</a:t>
            </a:r>
          </a:p>
          <a:p>
            <a:pPr algn="l" fontAlgn="ctr">
              <a:spcBef>
                <a:spcPts val="600"/>
              </a:spcBef>
            </a:pPr>
            <a:r>
              <a:rPr lang="en-US" altLang="ko-KR" sz="1050" b="0" i="0" u="none" strike="noStrike">
                <a:solidFill>
                  <a:srgbClr val="3333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050" b="0" i="0" u="none" strike="noStrike">
                <a:solidFill>
                  <a:srgbClr val="3333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1050" b="0" i="0" u="none" strike="noStrike">
                <a:solidFill>
                  <a:srgbClr val="3333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e-fused codes are downloaded to register area</a:t>
            </a:r>
          </a:p>
          <a:p>
            <a:pPr fontAlgn="ctr">
              <a:spcBef>
                <a:spcPts val="600"/>
              </a:spcBef>
            </a:pPr>
            <a:r>
              <a:rPr lang="en-US" altLang="ko-KR" sz="1050" b="0" i="0" u="none" strike="noStrike">
                <a:solidFill>
                  <a:srgbClr val="3333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(4) (Verify) Must be same (2)’s code and (3)’s code, output is same as the target value</a:t>
            </a: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7AC438B5-F01E-94D6-441B-98C3B9366020}"/>
              </a:ext>
            </a:extLst>
          </p:cNvPr>
          <p:cNvSpPr txBox="1">
            <a:spLocks/>
          </p:cNvSpPr>
          <p:nvPr/>
        </p:nvSpPr>
        <p:spPr>
          <a:xfrm>
            <a:off x="5715346" y="10451329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86FD04-E94B-9904-B7B8-43F5AB06F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27" y="9712024"/>
            <a:ext cx="6807993" cy="83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20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7A0F8-7A54-6C28-5F26-081F689F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704E9C-E6D5-AF37-B9E1-D95905EF4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287320"/>
              </p:ext>
            </p:extLst>
          </p:nvPr>
        </p:nvGraphicFramePr>
        <p:xfrm>
          <a:off x="321276" y="1248119"/>
          <a:ext cx="6876535" cy="50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9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65022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106347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57880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4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4688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VREF Verify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VREF_VFY</a:t>
                      </a:r>
                      <a:endParaRPr lang="ko-KR" altLang="en-US" sz="10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2.244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2%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16DA159-2147-E43F-FD44-A358A5BA5808}"/>
              </a:ext>
            </a:extLst>
          </p:cNvPr>
          <p:cNvSpPr txBox="1"/>
          <p:nvPr/>
        </p:nvSpPr>
        <p:spPr>
          <a:xfrm>
            <a:off x="425861" y="2093736"/>
            <a:ext cx="6018571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400"/>
              </a:spcBef>
            </a:pPr>
            <a:r>
              <a:rPr lang="en-US" altLang="ko-KR" sz="105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</a:t>
            </a:r>
            <a:r>
              <a:rPr lang="en-US" altLang="ko-KR" sz="1050" kern="10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Method]</a:t>
            </a:r>
          </a:p>
          <a:p>
            <a:pPr algn="just" latinLnBrk="1">
              <a:spcBef>
                <a:spcPts val="400"/>
              </a:spcBef>
            </a:pPr>
            <a:endParaRPr lang="ko-KR" altLang="ko-KR" sz="105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* VREF Verify  :</a:t>
            </a:r>
            <a:endParaRPr lang="ko-KR" altLang="ko-KR" sz="105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400"/>
              </a:spcBef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(1)  Force VDD 5V, DIN (VIH = 5V, VIL = 0V) 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(2)  Set registers (Force/Compare ‘DIN’ pin by test pattern)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23368D-B6DD-1CD1-ED64-885BF49F16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22</a:t>
            </a:fld>
            <a:endParaRPr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059CF02-FBA5-D288-E830-3AC926187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313422"/>
              </p:ext>
            </p:extLst>
          </p:nvPr>
        </p:nvGraphicFramePr>
        <p:xfrm>
          <a:off x="224366" y="7084235"/>
          <a:ext cx="7107767" cy="17400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274">
                  <a:extLst>
                    <a:ext uri="{9D8B030D-6E8A-4147-A177-3AD203B41FA5}">
                      <a16:colId xmlns:a16="http://schemas.microsoft.com/office/drawing/2014/main" val="3327850005"/>
                    </a:ext>
                  </a:extLst>
                </a:gridCol>
                <a:gridCol w="554898">
                  <a:extLst>
                    <a:ext uri="{9D8B030D-6E8A-4147-A177-3AD203B41FA5}">
                      <a16:colId xmlns:a16="http://schemas.microsoft.com/office/drawing/2014/main" val="682779797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2031312220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745700538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3576408822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2738608309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2004421470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2727496616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915215843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1451727773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1310393625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704221943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3892503671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193523887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135169707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1304495630"/>
                    </a:ext>
                  </a:extLst>
                </a:gridCol>
              </a:tblGrid>
              <a:tr h="28312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Register Map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Address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effectLst/>
                        </a:rPr>
                        <a:t>Value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837136"/>
                  </a:ext>
                </a:extLst>
              </a:tr>
              <a:tr h="49266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R/W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+mn-ea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MAX CURRENT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VREF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0x08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196124"/>
                  </a:ext>
                </a:extLst>
              </a:tr>
              <a:tr h="3980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Calibri (본문)"/>
                        </a:rPr>
                        <a:t>R/W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u="none" strike="noStrike">
                          <a:effectLst/>
                          <a:latin typeface="Calibri (본문)"/>
                        </a:rPr>
                        <a:t>OP MODE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Calibri (본문)"/>
                        </a:rPr>
                        <a:t>0x3F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  <a:t>1</a:t>
                      </a:r>
                    </a:p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  <a:t>(TEST_EN)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(DDIO_DIS)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(TST_ANA1)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  <a:latin typeface="Calibri (본문)"/>
                        </a:rPr>
                        <a:t>1</a:t>
                      </a:r>
                    </a:p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(TST_ANA0)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  <a:t>0</a:t>
                      </a:r>
                      <a:b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  <a:t>(MCLK32_O)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+mn-ea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  <a:latin typeface="Calibri (본문)"/>
                        </a:rPr>
                        <a:t>1</a:t>
                      </a:r>
                    </a:p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(VREF_O)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  <a:t>1</a:t>
                      </a:r>
                      <a:b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  <a:t>(ADDR_EXT)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effectLst/>
                          <a:latin typeface="Calibri (본문)"/>
                        </a:rPr>
                        <a:t>0xF11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979757"/>
                  </a:ext>
                </a:extLst>
              </a:tr>
              <a:tr h="2831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Calibri (본문)"/>
                        </a:rPr>
                        <a:t>R/W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VREF_CTL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Calibri (본문)"/>
                        </a:rPr>
                        <a:t>0x02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Calibri (본문)"/>
                        </a:rPr>
                        <a:t>VREF_CTL[</a:t>
                      </a:r>
                      <a:r>
                        <a:rPr lang="en-US" sz="800" u="none" strike="noStrike">
                          <a:effectLst/>
                          <a:latin typeface="Calibri (본문)"/>
                        </a:rPr>
                        <a:t>5:0]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effectLst/>
                          <a:latin typeface="Calibri (본문)"/>
                        </a:rPr>
                        <a:t>0x000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29450"/>
                  </a:ext>
                </a:extLst>
              </a:tr>
              <a:tr h="2831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Calibri (본문)"/>
                        </a:rPr>
                        <a:t>R/W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Calibri (본문)"/>
                        </a:rPr>
                        <a:t>OSC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Calibri (본문)"/>
                        </a:rPr>
                        <a:t>0x01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Calibri (본문)"/>
                        </a:rPr>
                        <a:t>OSC[5:0]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effectLst/>
                          <a:latin typeface="Calibri (본문)"/>
                        </a:rPr>
                        <a:t>0x000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081249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77956A1-2737-B292-4B14-94089E7BA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545507"/>
              </p:ext>
            </p:extLst>
          </p:nvPr>
        </p:nvGraphicFramePr>
        <p:xfrm>
          <a:off x="801279" y="3298252"/>
          <a:ext cx="5655126" cy="3093720"/>
        </p:xfrm>
        <a:graphic>
          <a:graphicData uri="http://schemas.openxmlformats.org/drawingml/2006/table">
            <a:tbl>
              <a:tblPr/>
              <a:tblGrid>
                <a:gridCol w="779923">
                  <a:extLst>
                    <a:ext uri="{9D8B030D-6E8A-4147-A177-3AD203B41FA5}">
                      <a16:colId xmlns:a16="http://schemas.microsoft.com/office/drawing/2014/main" val="1564761659"/>
                    </a:ext>
                  </a:extLst>
                </a:gridCol>
                <a:gridCol w="724214">
                  <a:extLst>
                    <a:ext uri="{9D8B030D-6E8A-4147-A177-3AD203B41FA5}">
                      <a16:colId xmlns:a16="http://schemas.microsoft.com/office/drawing/2014/main" val="2512042105"/>
                    </a:ext>
                  </a:extLst>
                </a:gridCol>
                <a:gridCol w="958191">
                  <a:extLst>
                    <a:ext uri="{9D8B030D-6E8A-4147-A177-3AD203B41FA5}">
                      <a16:colId xmlns:a16="http://schemas.microsoft.com/office/drawing/2014/main" val="2264570447"/>
                    </a:ext>
                  </a:extLst>
                </a:gridCol>
                <a:gridCol w="1281302">
                  <a:extLst>
                    <a:ext uri="{9D8B030D-6E8A-4147-A177-3AD203B41FA5}">
                      <a16:colId xmlns:a16="http://schemas.microsoft.com/office/drawing/2014/main" val="227222917"/>
                    </a:ext>
                  </a:extLst>
                </a:gridCol>
                <a:gridCol w="1911496">
                  <a:extLst>
                    <a:ext uri="{9D8B030D-6E8A-4147-A177-3AD203B41FA5}">
                      <a16:colId xmlns:a16="http://schemas.microsoft.com/office/drawing/2014/main" val="3663436624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VREF_VFY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63484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68000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64120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ID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86037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CHANNEL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35609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7583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66214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 CLOCK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66383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 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79941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0xF11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93098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vref_ctl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[5:0]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365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wait 10ms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56880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'TEST'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meas voltage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58863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FD3FC79-D803-82BD-1FD7-9CFF298D9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108357"/>
              </p:ext>
            </p:extLst>
          </p:nvPr>
        </p:nvGraphicFramePr>
        <p:xfrm>
          <a:off x="2415534" y="8936217"/>
          <a:ext cx="2369448" cy="581445"/>
        </p:xfrm>
        <a:graphic>
          <a:graphicData uri="http://schemas.openxmlformats.org/drawingml/2006/table">
            <a:tbl>
              <a:tblPr/>
              <a:tblGrid>
                <a:gridCol w="1054100">
                  <a:extLst>
                    <a:ext uri="{9D8B030D-6E8A-4147-A177-3AD203B41FA5}">
                      <a16:colId xmlns:a16="http://schemas.microsoft.com/office/drawing/2014/main" val="2506622993"/>
                    </a:ext>
                  </a:extLst>
                </a:gridCol>
                <a:gridCol w="592477">
                  <a:extLst>
                    <a:ext uri="{9D8B030D-6E8A-4147-A177-3AD203B41FA5}">
                      <a16:colId xmlns:a16="http://schemas.microsoft.com/office/drawing/2014/main" val="438221984"/>
                    </a:ext>
                  </a:extLst>
                </a:gridCol>
                <a:gridCol w="722871">
                  <a:extLst>
                    <a:ext uri="{9D8B030D-6E8A-4147-A177-3AD203B41FA5}">
                      <a16:colId xmlns:a16="http://schemas.microsoft.com/office/drawing/2014/main" val="1091329442"/>
                    </a:ext>
                  </a:extLst>
                </a:gridCol>
              </a:tblGrid>
              <a:tr h="19381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TEST_ANA_EN&lt;1:0&gt;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'00'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high-Z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234641"/>
                  </a:ext>
                </a:extLst>
              </a:tr>
              <a:tr h="193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'01 or 10'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LDO (1.5V)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511385"/>
                  </a:ext>
                </a:extLst>
              </a:tr>
              <a:tr h="193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'11'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VREF(2.2V)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810578"/>
                  </a:ext>
                </a:extLst>
              </a:tr>
            </a:tbl>
          </a:graphicData>
        </a:graphic>
      </p:graphicFrame>
      <p:sp>
        <p:nvSpPr>
          <p:cNvPr id="2" name="폭발: 8pt 1">
            <a:extLst>
              <a:ext uri="{FF2B5EF4-FFF2-40B4-BE49-F238E27FC236}">
                <a16:creationId xmlns:a16="http://schemas.microsoft.com/office/drawing/2014/main" id="{8EDCFE15-2019-5D39-0BF0-26840912FA92}"/>
              </a:ext>
            </a:extLst>
          </p:cNvPr>
          <p:cNvSpPr/>
          <p:nvPr/>
        </p:nvSpPr>
        <p:spPr>
          <a:xfrm>
            <a:off x="3898522" y="1775314"/>
            <a:ext cx="1772920" cy="784538"/>
          </a:xfrm>
          <a:prstGeom prst="irregularSeal1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Strenghen test limits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1145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B3281-A4A5-E4FF-390A-B1A716A00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A4BDB33-0139-DA8B-2B5A-1049F3434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942234"/>
              </p:ext>
            </p:extLst>
          </p:nvPr>
        </p:nvGraphicFramePr>
        <p:xfrm>
          <a:off x="321276" y="1248119"/>
          <a:ext cx="6876535" cy="50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9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65022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106347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57880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4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4688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17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OSC Verify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OSC_VFY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DOUT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1.205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1.230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1.255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MHz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2%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179F03B-ED3B-A3CA-68A1-100DA5980A4A}"/>
              </a:ext>
            </a:extLst>
          </p:cNvPr>
          <p:cNvSpPr txBox="1"/>
          <p:nvPr/>
        </p:nvSpPr>
        <p:spPr>
          <a:xfrm>
            <a:off x="413248" y="2019293"/>
            <a:ext cx="6018571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400"/>
              </a:spcBef>
            </a:pPr>
            <a:r>
              <a:rPr lang="en-US" altLang="ko-KR" sz="105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</a:t>
            </a:r>
            <a:r>
              <a:rPr lang="en-US" altLang="ko-KR" sz="1050" kern="10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Method]</a:t>
            </a:r>
          </a:p>
          <a:p>
            <a:pPr algn="just" latinLnBrk="1">
              <a:spcBef>
                <a:spcPts val="400"/>
              </a:spcBef>
            </a:pPr>
            <a:endParaRPr lang="ko-KR" altLang="ko-KR" sz="105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* OSC Verify  :</a:t>
            </a:r>
            <a:endParaRPr lang="ko-KR" altLang="ko-KR" sz="105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400"/>
              </a:spcBef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(1)  Force VDD 5V, DIN (VIH = 5V, VIL = 0V) 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(2)  Set registers (Force/Compare ‘DIN’ pin by test pattern)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F5640A-FCFB-5D51-61C1-118F71991B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23</a:t>
            </a:fld>
            <a:endParaRPr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3B297D9-FD1D-2A73-E5E7-321E1D937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336081"/>
              </p:ext>
            </p:extLst>
          </p:nvPr>
        </p:nvGraphicFramePr>
        <p:xfrm>
          <a:off x="224366" y="7202679"/>
          <a:ext cx="7107767" cy="12474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274">
                  <a:extLst>
                    <a:ext uri="{9D8B030D-6E8A-4147-A177-3AD203B41FA5}">
                      <a16:colId xmlns:a16="http://schemas.microsoft.com/office/drawing/2014/main" val="3327850005"/>
                    </a:ext>
                  </a:extLst>
                </a:gridCol>
                <a:gridCol w="554898">
                  <a:extLst>
                    <a:ext uri="{9D8B030D-6E8A-4147-A177-3AD203B41FA5}">
                      <a16:colId xmlns:a16="http://schemas.microsoft.com/office/drawing/2014/main" val="682779797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2031312220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745700538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3576408822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2738608309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2004421470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2727496616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915215843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1451727773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1310393625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704221943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3892503671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193523887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135169707"/>
                    </a:ext>
                  </a:extLst>
                </a:gridCol>
                <a:gridCol w="440529">
                  <a:extLst>
                    <a:ext uri="{9D8B030D-6E8A-4147-A177-3AD203B41FA5}">
                      <a16:colId xmlns:a16="http://schemas.microsoft.com/office/drawing/2014/main" val="1304495630"/>
                    </a:ext>
                  </a:extLst>
                </a:gridCol>
              </a:tblGrid>
              <a:tr h="28312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Register Map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Address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effectLst/>
                        </a:rPr>
                        <a:t>Value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837136"/>
                  </a:ext>
                </a:extLst>
              </a:tr>
              <a:tr h="3980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Calibri (본문)"/>
                        </a:rPr>
                        <a:t>R/W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u="none" strike="noStrike">
                          <a:effectLst/>
                          <a:latin typeface="Calibri (본문)"/>
                        </a:rPr>
                        <a:t>OP MODE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Calibri (본문)"/>
                        </a:rPr>
                        <a:t>0x3F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  <a:t>1</a:t>
                      </a:r>
                    </a:p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  <a:t>(TEST_EN)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(DDIO_DIS)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0</a:t>
                      </a:r>
                    </a:p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(TST_ANA1)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  <a:latin typeface="Calibri (본문)"/>
                        </a:rPr>
                        <a:t>0</a:t>
                      </a:r>
                    </a:p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(TST_ANA0)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  <a:t>1</a:t>
                      </a:r>
                      <a:b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  <a:t>(MCLK32_O)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+mn-ea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  <a:latin typeface="Calibri (본문)"/>
                        </a:rPr>
                        <a:t>0</a:t>
                      </a:r>
                    </a:p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(VREF_O)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  <a:t>1</a:t>
                      </a:r>
                      <a:b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+mn-ea"/>
                        </a:rPr>
                        <a:t>(ADDR_EXT)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effectLst/>
                          <a:latin typeface="Calibri (본문)"/>
                        </a:rPr>
                        <a:t>0xC21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979757"/>
                  </a:ext>
                </a:extLst>
              </a:tr>
              <a:tr h="2831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Calibri (본문)"/>
                        </a:rPr>
                        <a:t>R/W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본문)"/>
                          <a:ea typeface="맑은 고딕" panose="020B0503020000020004" pitchFamily="50" charset="-127"/>
                        </a:rPr>
                        <a:t>VREF_CTL</a:t>
                      </a: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Calibri (본문)"/>
                        </a:rPr>
                        <a:t>0x02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Calibri (본문)"/>
                        </a:rPr>
                        <a:t>VREF_CTL[</a:t>
                      </a:r>
                      <a:r>
                        <a:rPr lang="en-US" sz="800" u="none" strike="noStrike">
                          <a:effectLst/>
                          <a:latin typeface="Calibri (본문)"/>
                        </a:rPr>
                        <a:t>5:0]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effectLst/>
                          <a:latin typeface="Calibri (본문)"/>
                        </a:rPr>
                        <a:t>0x000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29450"/>
                  </a:ext>
                </a:extLst>
              </a:tr>
              <a:tr h="2831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Calibri (본문)"/>
                        </a:rPr>
                        <a:t>R/W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Calibri (본문)"/>
                        </a:rPr>
                        <a:t>OSC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Calibri (본문)"/>
                        </a:rPr>
                        <a:t>0x01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Calibri (본문)"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  <a:latin typeface="Calibri (본문)"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Calibri (본문)"/>
                        </a:rPr>
                        <a:t>OSC[5:0]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Calibri (본문)"/>
                        </a:rPr>
                        <a:t>0x000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 (본문)"/>
                        <a:ea typeface="맑은 고딕" panose="020B0503020000020004" pitchFamily="50" charset="-127"/>
                      </a:endParaRPr>
                    </a:p>
                  </a:txBody>
                  <a:tcPr marL="3486" marR="3486" marT="348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08124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AC214A2-A29E-EF13-6694-0F1B95DB5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217209"/>
              </p:ext>
            </p:extLst>
          </p:nvPr>
        </p:nvGraphicFramePr>
        <p:xfrm>
          <a:off x="966120" y="3327575"/>
          <a:ext cx="5274042" cy="3553285"/>
        </p:xfrm>
        <a:graphic>
          <a:graphicData uri="http://schemas.openxmlformats.org/drawingml/2006/table">
            <a:tbl>
              <a:tblPr/>
              <a:tblGrid>
                <a:gridCol w="647153">
                  <a:extLst>
                    <a:ext uri="{9D8B030D-6E8A-4147-A177-3AD203B41FA5}">
                      <a16:colId xmlns:a16="http://schemas.microsoft.com/office/drawing/2014/main" val="3497214942"/>
                    </a:ext>
                  </a:extLst>
                </a:gridCol>
                <a:gridCol w="659599">
                  <a:extLst>
                    <a:ext uri="{9D8B030D-6E8A-4147-A177-3AD203B41FA5}">
                      <a16:colId xmlns:a16="http://schemas.microsoft.com/office/drawing/2014/main" val="518509765"/>
                    </a:ext>
                  </a:extLst>
                </a:gridCol>
                <a:gridCol w="721824">
                  <a:extLst>
                    <a:ext uri="{9D8B030D-6E8A-4147-A177-3AD203B41FA5}">
                      <a16:colId xmlns:a16="http://schemas.microsoft.com/office/drawing/2014/main" val="2625411123"/>
                    </a:ext>
                  </a:extLst>
                </a:gridCol>
                <a:gridCol w="1431204">
                  <a:extLst>
                    <a:ext uri="{9D8B030D-6E8A-4147-A177-3AD203B41FA5}">
                      <a16:colId xmlns:a16="http://schemas.microsoft.com/office/drawing/2014/main" val="1659038719"/>
                    </a:ext>
                  </a:extLst>
                </a:gridCol>
                <a:gridCol w="1814262">
                  <a:extLst>
                    <a:ext uri="{9D8B030D-6E8A-4147-A177-3AD203B41FA5}">
                      <a16:colId xmlns:a16="http://schemas.microsoft.com/office/drawing/2014/main" val="3048404550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OSC_VFY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61359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079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0x800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RESET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2169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4b'1000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ID GEN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63186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0xFFF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CHANNEL ENABLE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61270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0x06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0x170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FAULT LEVEL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87197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5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  <a:endParaRPr lang="en-US" sz="105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  <a:endParaRPr lang="en-US" sz="105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  <a:endParaRPr lang="en-US" sz="105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i="0" u="none" strike="sngStrike" baseline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ingdings" panose="05000000000000000000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10721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0x25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0x35A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 CLOCK GEN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29433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0x26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0x03C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rgbClr val="A6A6A6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 LATENCY</a:t>
                      </a:r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A6A6A6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90916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0xC20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54545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OSC_FLL_MAN1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52861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0x808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OSC_FLL_MAN2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529810"/>
                  </a:ext>
                </a:extLst>
              </a:tr>
              <a:tr h="2385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0xC21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25324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osc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[5:0]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84943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wait 10ms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5279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'DOUT'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meas freq.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242986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5A087AF-FDD1-296D-A59E-1DA381745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762921"/>
              </p:ext>
            </p:extLst>
          </p:nvPr>
        </p:nvGraphicFramePr>
        <p:xfrm>
          <a:off x="2384002" y="8562460"/>
          <a:ext cx="2369448" cy="581445"/>
        </p:xfrm>
        <a:graphic>
          <a:graphicData uri="http://schemas.openxmlformats.org/drawingml/2006/table">
            <a:tbl>
              <a:tblPr/>
              <a:tblGrid>
                <a:gridCol w="1054100">
                  <a:extLst>
                    <a:ext uri="{9D8B030D-6E8A-4147-A177-3AD203B41FA5}">
                      <a16:colId xmlns:a16="http://schemas.microsoft.com/office/drawing/2014/main" val="2506622993"/>
                    </a:ext>
                  </a:extLst>
                </a:gridCol>
                <a:gridCol w="592477">
                  <a:extLst>
                    <a:ext uri="{9D8B030D-6E8A-4147-A177-3AD203B41FA5}">
                      <a16:colId xmlns:a16="http://schemas.microsoft.com/office/drawing/2014/main" val="438221984"/>
                    </a:ext>
                  </a:extLst>
                </a:gridCol>
                <a:gridCol w="722871">
                  <a:extLst>
                    <a:ext uri="{9D8B030D-6E8A-4147-A177-3AD203B41FA5}">
                      <a16:colId xmlns:a16="http://schemas.microsoft.com/office/drawing/2014/main" val="1091329442"/>
                    </a:ext>
                  </a:extLst>
                </a:gridCol>
              </a:tblGrid>
              <a:tr h="19381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TEST_ANA_EN&lt;1:0&gt;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'00'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high-Z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234641"/>
                  </a:ext>
                </a:extLst>
              </a:tr>
              <a:tr h="193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'01 or 10'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LDO (1.5V)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511385"/>
                  </a:ext>
                </a:extLst>
              </a:tr>
              <a:tr h="193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'11'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VREF(2.2V)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810578"/>
                  </a:ext>
                </a:extLst>
              </a:tr>
            </a:tbl>
          </a:graphicData>
        </a:graphic>
      </p:graphicFrame>
      <p:sp>
        <p:nvSpPr>
          <p:cNvPr id="2" name="폭발: 8pt 1">
            <a:extLst>
              <a:ext uri="{FF2B5EF4-FFF2-40B4-BE49-F238E27FC236}">
                <a16:creationId xmlns:a16="http://schemas.microsoft.com/office/drawing/2014/main" id="{633E8F9F-7FB9-421C-63D8-9D8F77DB9409}"/>
              </a:ext>
            </a:extLst>
          </p:cNvPr>
          <p:cNvSpPr/>
          <p:nvPr/>
        </p:nvSpPr>
        <p:spPr>
          <a:xfrm>
            <a:off x="3898522" y="1775314"/>
            <a:ext cx="1772920" cy="784538"/>
          </a:xfrm>
          <a:prstGeom prst="irregularSeal1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Strenghen test limits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251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25A4E-CB8B-8B47-1B89-E45B1E055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EB81EDE-E41E-A458-ADEC-921FF2BB9533}"/>
              </a:ext>
            </a:extLst>
          </p:cNvPr>
          <p:cNvSpPr txBox="1"/>
          <p:nvPr/>
        </p:nvSpPr>
        <p:spPr>
          <a:xfrm>
            <a:off x="427299" y="2959261"/>
            <a:ext cx="4712391" cy="87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400"/>
              </a:spcBef>
            </a:pPr>
            <a:r>
              <a:rPr lang="en-US" altLang="ko-KR" sz="105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Method]</a:t>
            </a:r>
          </a:p>
          <a:p>
            <a:pPr algn="just">
              <a:spcBef>
                <a:spcPts val="4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* OFS Verify  :</a:t>
            </a:r>
            <a:endParaRPr lang="ko-KR" altLang="ko-KR" sz="105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4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(1)  Force VDD 5V, DIN (VIH = 5V, VIL = 0V) 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(2)  Set registers (Force/Compare ‘DIN’ pin by test pattern)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3D1AAE-62C9-F0F1-0503-CAF8665A3E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24</a:t>
            </a:fld>
            <a:endParaRPr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38384CD-BD10-313A-F921-DA63F750D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572966"/>
              </p:ext>
            </p:extLst>
          </p:nvPr>
        </p:nvGraphicFramePr>
        <p:xfrm>
          <a:off x="541521" y="3895179"/>
          <a:ext cx="6291826" cy="6041035"/>
        </p:xfrm>
        <a:graphic>
          <a:graphicData uri="http://schemas.openxmlformats.org/drawingml/2006/table">
            <a:tbl>
              <a:tblPr/>
              <a:tblGrid>
                <a:gridCol w="891342">
                  <a:extLst>
                    <a:ext uri="{9D8B030D-6E8A-4147-A177-3AD203B41FA5}">
                      <a16:colId xmlns:a16="http://schemas.microsoft.com/office/drawing/2014/main" val="3549395326"/>
                    </a:ext>
                  </a:extLst>
                </a:gridCol>
                <a:gridCol w="694723">
                  <a:extLst>
                    <a:ext uri="{9D8B030D-6E8A-4147-A177-3AD203B41FA5}">
                      <a16:colId xmlns:a16="http://schemas.microsoft.com/office/drawing/2014/main" val="1105208172"/>
                    </a:ext>
                  </a:extLst>
                </a:gridCol>
                <a:gridCol w="930665">
                  <a:extLst>
                    <a:ext uri="{9D8B030D-6E8A-4147-A177-3AD203B41FA5}">
                      <a16:colId xmlns:a16="http://schemas.microsoft.com/office/drawing/2014/main" val="3653611808"/>
                    </a:ext>
                  </a:extLst>
                </a:gridCol>
                <a:gridCol w="1389445">
                  <a:extLst>
                    <a:ext uri="{9D8B030D-6E8A-4147-A177-3AD203B41FA5}">
                      <a16:colId xmlns:a16="http://schemas.microsoft.com/office/drawing/2014/main" val="1455517145"/>
                    </a:ext>
                  </a:extLst>
                </a:gridCol>
                <a:gridCol w="2385651">
                  <a:extLst>
                    <a:ext uri="{9D8B030D-6E8A-4147-A177-3AD203B41FA5}">
                      <a16:colId xmlns:a16="http://schemas.microsoft.com/office/drawing/2014/main" val="3028542019"/>
                    </a:ext>
                  </a:extLst>
                </a:gridCol>
              </a:tblGrid>
              <a:tr h="19710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OFS_Verify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dist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Continued from previous trim item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93046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340574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0x800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RESET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332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4b'1000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 GEN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4827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 ENABLE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363369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0x25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0x35A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CLOCK GEN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534553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0x26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0x03C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LATENCY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503341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560560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 4mA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63575"/>
                  </a:ext>
                </a:extLst>
              </a:tr>
              <a:tr h="267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0x15E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350)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251990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73716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025497"/>
                  </a:ext>
                </a:extLst>
              </a:tr>
              <a:tr h="4782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681866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331410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292075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1000)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57625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96931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497358"/>
                  </a:ext>
                </a:extLst>
              </a:tr>
              <a:tr h="576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861970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643578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633195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0xFA0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4000)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6680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502699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13955"/>
                  </a:ext>
                </a:extLst>
              </a:tr>
              <a:tr h="317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602019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Target : 8.000ma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0918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DE04CE2-99EF-8936-5894-23CCA5420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020898"/>
              </p:ext>
            </p:extLst>
          </p:nvPr>
        </p:nvGraphicFramePr>
        <p:xfrm>
          <a:off x="293949" y="1221400"/>
          <a:ext cx="6876535" cy="16741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9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65022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106347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57880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4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4688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39171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3917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IOUT_L Verify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ICTL1_L_VFY1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</a:t>
                      </a: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kern="100" dirty="0">
                          <a:solidFill>
                            <a:srgbClr val="F82F0E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2.6%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  (350) (RANK 1)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89485"/>
                  </a:ext>
                </a:extLst>
              </a:tr>
              <a:tr h="2391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IOUT_L Verify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ICTL1_L_VFY2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00" dirty="0">
                          <a:solidFill>
                            <a:srgbClr val="F82F0E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2.6%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1000) 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(RANK 1)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503878"/>
                  </a:ext>
                </a:extLst>
              </a:tr>
              <a:tr h="23917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IOUT_L Verify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ICTL1_L_VFY3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</a:t>
                      </a: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3.931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4.036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00" dirty="0">
                          <a:solidFill>
                            <a:srgbClr val="F82F0E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2.6%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(4000) 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(RANK 1)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544823"/>
                  </a:ext>
                </a:extLst>
              </a:tr>
              <a:tr h="23917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3.5% (RANK 2)</a:t>
                      </a:r>
                      <a:endParaRPr lang="ko-KR" altLang="ko-KR" sz="1000" b="0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954442"/>
                  </a:ext>
                </a:extLst>
              </a:tr>
              <a:tr h="23917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0" kern="10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3.5% </a:t>
                      </a:r>
                      <a:r>
                        <a:rPr lang="en-US" altLang="ko-KR" sz="10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(RANK 2)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217012"/>
                  </a:ext>
                </a:extLst>
              </a:tr>
              <a:tr h="23917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0" kern="10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3.895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4.036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3.5% </a:t>
                      </a:r>
                      <a:r>
                        <a:rPr lang="en-US" altLang="ko-KR" sz="10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(RANK 2)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425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1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0C54D-41B8-539D-FFB4-AD64AFB76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EB4390E-381F-8599-A104-B03CA22FE117}"/>
              </a:ext>
            </a:extLst>
          </p:cNvPr>
          <p:cNvSpPr txBox="1"/>
          <p:nvPr/>
        </p:nvSpPr>
        <p:spPr>
          <a:xfrm>
            <a:off x="379617" y="3046406"/>
            <a:ext cx="4033634" cy="87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400"/>
              </a:spcBef>
            </a:pPr>
            <a:r>
              <a:rPr lang="en-US" altLang="ko-KR" sz="105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Method]</a:t>
            </a:r>
          </a:p>
          <a:p>
            <a:pPr algn="just">
              <a:spcBef>
                <a:spcPts val="4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* GAIN Verify  :</a:t>
            </a:r>
            <a:endParaRPr lang="ko-KR" altLang="ko-KR" sz="105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4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(1)  Force VDD 5V, DIN (VIH = 5V, VIL = 0V) 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(2)  Set registers (Force/Compare ‘DIN’ pin by test pattern)</a:t>
            </a:r>
            <a:r>
              <a:rPr lang="en-US" altLang="ko-KR" sz="1050" strike="sngStrike" kern="10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050" strike="sngStrike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6E33EC-647A-CDBC-AF01-7B58D35EDB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25</a:t>
            </a:fld>
            <a:endParaRPr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80BA701-6181-AD84-14C0-3CDCC10FB876}"/>
              </a:ext>
            </a:extLst>
          </p:cNvPr>
          <p:cNvGraphicFramePr>
            <a:graphicFrameLocks noGrp="1"/>
          </p:cNvGraphicFramePr>
          <p:nvPr/>
        </p:nvGraphicFramePr>
        <p:xfrm>
          <a:off x="425650" y="3971895"/>
          <a:ext cx="6576848" cy="5421050"/>
        </p:xfrm>
        <a:graphic>
          <a:graphicData uri="http://schemas.openxmlformats.org/drawingml/2006/table">
            <a:tbl>
              <a:tblPr/>
              <a:tblGrid>
                <a:gridCol w="861521">
                  <a:extLst>
                    <a:ext uri="{9D8B030D-6E8A-4147-A177-3AD203B41FA5}">
                      <a16:colId xmlns:a16="http://schemas.microsoft.com/office/drawing/2014/main" val="3549395326"/>
                    </a:ext>
                  </a:extLst>
                </a:gridCol>
                <a:gridCol w="671479">
                  <a:extLst>
                    <a:ext uri="{9D8B030D-6E8A-4147-A177-3AD203B41FA5}">
                      <a16:colId xmlns:a16="http://schemas.microsoft.com/office/drawing/2014/main" val="1105208172"/>
                    </a:ext>
                  </a:extLst>
                </a:gridCol>
                <a:gridCol w="1253004">
                  <a:extLst>
                    <a:ext uri="{9D8B030D-6E8A-4147-A177-3AD203B41FA5}">
                      <a16:colId xmlns:a16="http://schemas.microsoft.com/office/drawing/2014/main" val="3653611808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1455517145"/>
                    </a:ext>
                  </a:extLst>
                </a:gridCol>
                <a:gridCol w="2449724">
                  <a:extLst>
                    <a:ext uri="{9D8B030D-6E8A-4147-A177-3AD203B41FA5}">
                      <a16:colId xmlns:a16="http://schemas.microsoft.com/office/drawing/2014/main" val="3028542019"/>
                    </a:ext>
                  </a:extLst>
                </a:gridCol>
              </a:tblGrid>
              <a:tr h="18554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GAIN_Verify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93046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340574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0x800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RESET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332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4b'1000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 GEN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4827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 ENABLE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363369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0x25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0x35A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CLOCK GEN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534553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0x26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0x03C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LATENCY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503341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319442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0x470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 24mA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595170"/>
                  </a:ext>
                </a:extLst>
              </a:tr>
              <a:tr h="2931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0x15E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350)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252954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654020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797389"/>
                  </a:ext>
                </a:extLst>
              </a:tr>
              <a:tr h="2769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460596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04332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536713"/>
                  </a:ext>
                </a:extLst>
              </a:tr>
              <a:tr h="297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1000)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61405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52063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066709"/>
                  </a:ext>
                </a:extLst>
              </a:tr>
              <a:tr h="2769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604388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292688"/>
                  </a:ext>
                </a:extLst>
              </a:tr>
              <a:tr h="205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ddio_dis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pwm_full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96931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0xFA0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4000)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497358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861970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643578"/>
                  </a:ext>
                </a:extLst>
              </a:tr>
              <a:tr h="2769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18742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36608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33F5773-ECB5-6839-97EF-81BFAB79C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610376"/>
              </p:ext>
            </p:extLst>
          </p:nvPr>
        </p:nvGraphicFramePr>
        <p:xfrm>
          <a:off x="293949" y="1221400"/>
          <a:ext cx="6876535" cy="176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9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65022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106347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57880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4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4688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19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IOUT_H Verify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ICTL1_H_VFY1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2.256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kern="100" dirty="0">
                          <a:solidFill>
                            <a:srgbClr val="F82F0E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2.6% 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 (350) (RANK 1)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805457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IOUT_H Verify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ICTL1_H_VFY2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5.747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5.900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F82F0E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2.6%</a:t>
                      </a: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 (1000) 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(RANK 1)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39416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IOUT_H Verify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ICTL1_H_VFY3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22.188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22.780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23.372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F82F0E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2.6%</a:t>
                      </a: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 (4000) 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(RANK 1)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939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2.276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3.5% (RANK 2)</a:t>
                      </a:r>
                      <a:endParaRPr lang="ko-KR" altLang="ko-KR" sz="1000" b="0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5331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5.694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5.900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6.107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3.5% </a:t>
                      </a:r>
                      <a:r>
                        <a:rPr lang="en-US" altLang="ko-KR" sz="10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(RANK 2)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51458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21.983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22.780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3333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23.577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3.5% </a:t>
                      </a:r>
                      <a:r>
                        <a:rPr lang="en-US" altLang="ko-KR" sz="10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(RANK 2)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679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900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6B5CF-7F33-A841-6D65-1552C7DA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FE54095-F2C7-F9F1-FBBF-25A5617EF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622346"/>
              </p:ext>
            </p:extLst>
          </p:nvPr>
        </p:nvGraphicFramePr>
        <p:xfrm>
          <a:off x="293949" y="1221400"/>
          <a:ext cx="6876535" cy="11958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9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65022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106347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57880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4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4688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39171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PIN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3917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17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IOUT_L Verify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OFS_VFY11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</a:t>
                      </a: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2.6% (240)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89485"/>
                  </a:ext>
                </a:extLst>
              </a:tr>
              <a:tr h="2391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IOUT_L Verify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OFS_VFY21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1.758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2.6% (573)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503878"/>
                  </a:ext>
                </a:extLst>
              </a:tr>
              <a:tr h="23917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IOUT_L Verify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OFS_VFY31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5.861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2.6% (1987)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544823"/>
                  </a:ext>
                </a:extLst>
              </a:tr>
              <a:tr h="23917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IOUT_L Verify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OFS_VFY41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8.791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2.6% (2997)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338226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24368C-D14E-2D05-47D3-860C1901AC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26</a:t>
            </a:fld>
            <a:endParaRPr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E130A4F-4DD2-E009-D964-7B9BD2014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709170"/>
              </p:ext>
            </p:extLst>
          </p:nvPr>
        </p:nvGraphicFramePr>
        <p:xfrm>
          <a:off x="446349" y="2590767"/>
          <a:ext cx="6291826" cy="7123384"/>
        </p:xfrm>
        <a:graphic>
          <a:graphicData uri="http://schemas.openxmlformats.org/drawingml/2006/table">
            <a:tbl>
              <a:tblPr/>
              <a:tblGrid>
                <a:gridCol w="891342">
                  <a:extLst>
                    <a:ext uri="{9D8B030D-6E8A-4147-A177-3AD203B41FA5}">
                      <a16:colId xmlns:a16="http://schemas.microsoft.com/office/drawing/2014/main" val="3549395326"/>
                    </a:ext>
                  </a:extLst>
                </a:gridCol>
                <a:gridCol w="694723">
                  <a:extLst>
                    <a:ext uri="{9D8B030D-6E8A-4147-A177-3AD203B41FA5}">
                      <a16:colId xmlns:a16="http://schemas.microsoft.com/office/drawing/2014/main" val="1105208172"/>
                    </a:ext>
                  </a:extLst>
                </a:gridCol>
                <a:gridCol w="930665">
                  <a:extLst>
                    <a:ext uri="{9D8B030D-6E8A-4147-A177-3AD203B41FA5}">
                      <a16:colId xmlns:a16="http://schemas.microsoft.com/office/drawing/2014/main" val="3653611808"/>
                    </a:ext>
                  </a:extLst>
                </a:gridCol>
                <a:gridCol w="1389445">
                  <a:extLst>
                    <a:ext uri="{9D8B030D-6E8A-4147-A177-3AD203B41FA5}">
                      <a16:colId xmlns:a16="http://schemas.microsoft.com/office/drawing/2014/main" val="1455517145"/>
                    </a:ext>
                  </a:extLst>
                </a:gridCol>
                <a:gridCol w="2385651">
                  <a:extLst>
                    <a:ext uri="{9D8B030D-6E8A-4147-A177-3AD203B41FA5}">
                      <a16:colId xmlns:a16="http://schemas.microsoft.com/office/drawing/2014/main" val="3028542019"/>
                    </a:ext>
                  </a:extLst>
                </a:gridCol>
              </a:tblGrid>
              <a:tr h="19710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OFS_Verify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dist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Continued from previous trim item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93046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340574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</a:t>
                      </a:r>
                      <a:endParaRPr lang="en-US" sz="1000" b="0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0x800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RESET</a:t>
                      </a:r>
                      <a:endParaRPr lang="en-US" sz="1000" b="0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332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4b'1000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 GEN</a:t>
                      </a:r>
                      <a:endParaRPr lang="en-US" sz="1000" b="0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4827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 ENABLE</a:t>
                      </a:r>
                      <a:endParaRPr lang="en-US" sz="1000" b="0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363369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0x25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0x35A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CLOCK GEN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534553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0x26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0x03C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LATENCY</a:t>
                      </a:r>
                      <a:endParaRPr lang="en-US" sz="1000" b="0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503341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560560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 12mA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63575"/>
                  </a:ext>
                </a:extLst>
              </a:tr>
              <a:tr h="267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0x0F0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240)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251990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73716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025497"/>
                  </a:ext>
                </a:extLst>
              </a:tr>
              <a:tr h="3493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681866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Target :0.791mA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331410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292075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573)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57625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96931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497358"/>
                  </a:ext>
                </a:extLst>
              </a:tr>
              <a:tr h="3508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861970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Target : 1.758mA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643578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633195"/>
                  </a:ext>
                </a:extLst>
              </a:tr>
              <a:tr h="2661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0x7C3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1987)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6680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502699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13955"/>
                  </a:ext>
                </a:extLst>
              </a:tr>
              <a:tr h="317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602019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Target : 5.861mA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0918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23857"/>
                  </a:ext>
                </a:extLst>
              </a:tr>
              <a:tr h="274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0xBB5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2997)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429240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200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87686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271341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(C4)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Target : 8.791mA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936350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C2CD1C32-2505-8390-9D98-4EA1E0B31986}"/>
              </a:ext>
            </a:extLst>
          </p:cNvPr>
          <p:cNvSpPr/>
          <p:nvPr/>
        </p:nvSpPr>
        <p:spPr>
          <a:xfrm>
            <a:off x="4351389" y="2470150"/>
            <a:ext cx="2589161" cy="260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Newly added item (2025.12.12)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34A466-E17E-4DC1-33BE-1ADF845676BD}"/>
              </a:ext>
            </a:extLst>
          </p:cNvPr>
          <p:cNvSpPr/>
          <p:nvPr/>
        </p:nvSpPr>
        <p:spPr>
          <a:xfrm>
            <a:off x="293949" y="1221400"/>
            <a:ext cx="6876535" cy="8492751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chemeClr val="tx1"/>
                </a:solidFill>
                <a:highlight>
                  <a:srgbClr val="FFFF00"/>
                </a:highlight>
              </a:rPr>
              <a:t>Excluded from Mass Production Test Program (2026.03.05) </a:t>
            </a:r>
            <a:endParaRPr lang="ko-KR" alt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1551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AF8D9-7F69-2C88-A57A-969F3997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6B3945B-0434-7EC9-15A9-8230E29F8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105487"/>
              </p:ext>
            </p:extLst>
          </p:nvPr>
        </p:nvGraphicFramePr>
        <p:xfrm>
          <a:off x="293949" y="1221400"/>
          <a:ext cx="6876535" cy="11789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9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65022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106347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57880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4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4688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3578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3578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18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IOUT_H Verify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GAIN_VFY11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2.6% (242)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805457"/>
                  </a:ext>
                </a:extLst>
              </a:tr>
              <a:tr h="2357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IOUT_H Verify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GAIN_VFY21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4.689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2.6% (582)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394165"/>
                  </a:ext>
                </a:extLst>
              </a:tr>
              <a:tr h="2357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IOUT_H Verify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GAIN_VFY31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15.629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2.6% (2024)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9397"/>
                  </a:ext>
                </a:extLst>
              </a:tr>
              <a:tr h="2357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IOUT_H Verify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GAIN_VFY41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23.443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2.6% (3054)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475889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590EAC-628A-A97F-5554-A7E306F0E3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27</a:t>
            </a:fld>
            <a:endParaRPr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2998713-641B-1645-6783-9BCB0F3E4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96402"/>
              </p:ext>
            </p:extLst>
          </p:nvPr>
        </p:nvGraphicFramePr>
        <p:xfrm>
          <a:off x="293949" y="2617228"/>
          <a:ext cx="6576848" cy="6653585"/>
        </p:xfrm>
        <a:graphic>
          <a:graphicData uri="http://schemas.openxmlformats.org/drawingml/2006/table">
            <a:tbl>
              <a:tblPr/>
              <a:tblGrid>
                <a:gridCol w="861521">
                  <a:extLst>
                    <a:ext uri="{9D8B030D-6E8A-4147-A177-3AD203B41FA5}">
                      <a16:colId xmlns:a16="http://schemas.microsoft.com/office/drawing/2014/main" val="3549395326"/>
                    </a:ext>
                  </a:extLst>
                </a:gridCol>
                <a:gridCol w="671479">
                  <a:extLst>
                    <a:ext uri="{9D8B030D-6E8A-4147-A177-3AD203B41FA5}">
                      <a16:colId xmlns:a16="http://schemas.microsoft.com/office/drawing/2014/main" val="1105208172"/>
                    </a:ext>
                  </a:extLst>
                </a:gridCol>
                <a:gridCol w="1253004">
                  <a:extLst>
                    <a:ext uri="{9D8B030D-6E8A-4147-A177-3AD203B41FA5}">
                      <a16:colId xmlns:a16="http://schemas.microsoft.com/office/drawing/2014/main" val="3653611808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1455517145"/>
                    </a:ext>
                  </a:extLst>
                </a:gridCol>
                <a:gridCol w="2449724">
                  <a:extLst>
                    <a:ext uri="{9D8B030D-6E8A-4147-A177-3AD203B41FA5}">
                      <a16:colId xmlns:a16="http://schemas.microsoft.com/office/drawing/2014/main" val="3028542019"/>
                    </a:ext>
                  </a:extLst>
                </a:gridCol>
              </a:tblGrid>
              <a:tr h="18554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GAIN_Verify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93046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340574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0x800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RESET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332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4b'1000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 GEN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4827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 ENABLE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363369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0x25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0x35A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CLOCK GEN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534553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0x26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0x03C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sng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LATENCY</a:t>
                      </a:r>
                      <a:endParaRPr lang="en-US" sz="1050" b="0" i="0" u="none" strike="noStrike">
                        <a:solidFill>
                          <a:srgbClr val="A6A6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503341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ddio_dis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pwm_full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319442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0x570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 32mA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595170"/>
                  </a:ext>
                </a:extLst>
              </a:tr>
              <a:tr h="2931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242)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252954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654020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797389"/>
                  </a:ext>
                </a:extLst>
              </a:tr>
              <a:tr h="2769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460596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: 2.110mA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04332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ddio_dis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pwm_full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536713"/>
                  </a:ext>
                </a:extLst>
              </a:tr>
              <a:tr h="297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582)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61405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52063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066709"/>
                  </a:ext>
                </a:extLst>
              </a:tr>
              <a:tr h="2769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604388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: 4.689mA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292688"/>
                  </a:ext>
                </a:extLst>
              </a:tr>
              <a:tr h="205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ddio_dis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pwm_full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96931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0x7E8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2024)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497358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861970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643578"/>
                  </a:ext>
                </a:extLst>
              </a:tr>
              <a:tr h="2769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18742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: 15.629mA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366083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ddio_dis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pwm_full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126884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0xBEE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3054)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706833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61124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574829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678279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(C4)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: 23.443mA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20799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C9C8D34A-A77C-FD7B-77E2-38E276362FAF}"/>
              </a:ext>
            </a:extLst>
          </p:cNvPr>
          <p:cNvSpPr/>
          <p:nvPr/>
        </p:nvSpPr>
        <p:spPr>
          <a:xfrm>
            <a:off x="4351389" y="2470150"/>
            <a:ext cx="2589161" cy="260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Newly added item (2025.12.12)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E95AB0-BE23-BA57-C305-D4266893EDDF}"/>
              </a:ext>
            </a:extLst>
          </p:cNvPr>
          <p:cNvSpPr/>
          <p:nvPr/>
        </p:nvSpPr>
        <p:spPr>
          <a:xfrm>
            <a:off x="293949" y="1221400"/>
            <a:ext cx="6876535" cy="8492751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chemeClr val="tx1"/>
                </a:solidFill>
                <a:highlight>
                  <a:srgbClr val="FFFF00"/>
                </a:highlight>
              </a:rPr>
              <a:t>Excluded from Mass Production Test Program (2026.03.05) </a:t>
            </a:r>
            <a:endParaRPr lang="ko-KR" alt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20671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23CE3-99A8-4EC6-0EB9-98CD39F7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2E84BD66-08FC-EAA6-D500-3410C925FBF6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3F3F24F-D6CD-6C33-1207-AE38AC9A9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906285"/>
              </p:ext>
            </p:extLst>
          </p:nvPr>
        </p:nvGraphicFramePr>
        <p:xfrm>
          <a:off x="315097" y="1268439"/>
          <a:ext cx="6876534" cy="50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95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319746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882555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84081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8553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8553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8553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4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4688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LDO (no trim)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LDO</a:t>
                      </a:r>
                      <a:endParaRPr lang="ko-KR" altLang="en-US" sz="11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TEST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1.425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1.59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Calibri (본문)"/>
                          <a:ea typeface="바탕" panose="02030600000101010101" pitchFamily="18" charset="-127"/>
                          <a:cs typeface="Times New Roman" panose="02020603050405020304" pitchFamily="18" charset="0"/>
                        </a:rPr>
                        <a:t>5%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Calibri (본문)"/>
                        <a:ea typeface="바탕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9A92CB8-54DF-363D-E63A-2D1C2A6E558F}"/>
              </a:ext>
            </a:extLst>
          </p:cNvPr>
          <p:cNvSpPr txBox="1"/>
          <p:nvPr/>
        </p:nvSpPr>
        <p:spPr>
          <a:xfrm>
            <a:off x="457854" y="2059933"/>
            <a:ext cx="3897903" cy="1254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5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Method]</a:t>
            </a:r>
            <a:endParaRPr lang="ko-KR" altLang="ko-KR" sz="105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300"/>
              </a:spcBef>
            </a:pPr>
            <a:endParaRPr lang="en-US" altLang="ko-KR" sz="1050" kern="100" dirty="0">
              <a:effectLst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300"/>
              </a:spcBef>
            </a:pPr>
            <a:endParaRPr lang="en-US" altLang="ko-KR" sz="1050" kern="1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5V, DIN (VIH = 5V, VIL = 0V) 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Set registers (Apply ‘DIN’ pin via test pattern)</a:t>
            </a:r>
          </a:p>
          <a:p>
            <a:pPr marL="228600" indent="-228600" algn="just">
              <a:spcBef>
                <a:spcPts val="300"/>
              </a:spcBef>
              <a:buFontTx/>
              <a:buAutoNum type="arabicPeriod"/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Measure Voltage (from TEST pin) 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39EABE-8478-E5F3-8E21-E541CBDD95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28</a:t>
            </a:fld>
            <a:endParaRPr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B2CCC03-E363-BE45-E6F2-BCAA74382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250539"/>
              </p:ext>
            </p:extLst>
          </p:nvPr>
        </p:nvGraphicFramePr>
        <p:xfrm>
          <a:off x="687630" y="3601616"/>
          <a:ext cx="6123073" cy="3128142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370720013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55749169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4134363347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381326294"/>
                    </a:ext>
                  </a:extLst>
                </a:gridCol>
                <a:gridCol w="2617873">
                  <a:extLst>
                    <a:ext uri="{9D8B030D-6E8A-4147-A177-3AD203B41FA5}">
                      <a16:colId xmlns:a16="http://schemas.microsoft.com/office/drawing/2014/main" val="221308381"/>
                    </a:ext>
                  </a:extLst>
                </a:gridCol>
              </a:tblGrid>
              <a:tr h="1891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LDO_NoTrim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105577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781407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91024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96083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CHANNLE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832690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653539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981063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CLOCK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953263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SERIAL 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318588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0xD00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tst_ana_en(01)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300317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804479"/>
                  </a:ext>
                </a:extLst>
              </a:tr>
              <a:tr h="232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0xD01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tst_ana_en(01), 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496226"/>
                  </a:ext>
                </a:extLst>
              </a:tr>
              <a:tr h="378287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voltage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('TEST' pin)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810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524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C1198-A27A-2E30-3355-F9583802B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BC043F9B-0507-8678-05E8-53FF63FBE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3" y="7176402"/>
            <a:ext cx="7068985" cy="981132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0DAE7D3-59B1-6F1B-3320-BC71AB45D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829669"/>
              </p:ext>
            </p:extLst>
          </p:nvPr>
        </p:nvGraphicFramePr>
        <p:xfrm>
          <a:off x="321276" y="1248118"/>
          <a:ext cx="6876535" cy="9509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9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65022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106347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829679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11963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4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4688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313982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6369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21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FLL</a:t>
                      </a:r>
                    </a:p>
                    <a:p>
                      <a:pPr algn="ctr" latinLnBrk="1"/>
                      <a:r>
                        <a:rPr lang="en-US" altLang="ko-KR" sz="105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(Freq Locked Loop)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FLL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DOUT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1.15</a:t>
                      </a:r>
                      <a:endParaRPr lang="ko-KR" sz="105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strike="noStrike" kern="100" dirty="0">
                          <a:solidFill>
                            <a:schemeClr val="tx1"/>
                          </a:solidFill>
                          <a:latin typeface="+mn-lt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1.23</a:t>
                      </a:r>
                      <a:endParaRPr lang="ko-KR" sz="105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strike="noStrike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1.29</a:t>
                      </a:r>
                      <a:endParaRPr lang="ko-KR" sz="1050" b="0" strike="noStrike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MHz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Divided by 32</a:t>
                      </a:r>
                      <a:endParaRPr lang="ko-KR" altLang="ko-KR" sz="105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22258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F1CD58-56C5-AFB5-C2BA-C681A4832B7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29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82D25B-063B-29F2-F41D-B958828CE2F0}"/>
              </a:ext>
            </a:extLst>
          </p:cNvPr>
          <p:cNvSpPr txBox="1"/>
          <p:nvPr/>
        </p:nvSpPr>
        <p:spPr>
          <a:xfrm>
            <a:off x="384482" y="2324938"/>
            <a:ext cx="2822268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</a:t>
            </a:r>
            <a:r>
              <a:rPr lang="en-US" altLang="ko-KR" sz="1000" kern="10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Method]</a:t>
            </a:r>
            <a:endParaRPr lang="en-US" altLang="ko-KR" sz="1000" kern="100" dirty="0">
              <a:effectLst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300"/>
              </a:spcBef>
            </a:pPr>
            <a:endParaRPr lang="ko-KR" altLang="ko-KR" sz="100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marL="228600" indent="-228600" algn="just">
              <a:spcBef>
                <a:spcPts val="300"/>
              </a:spcBef>
              <a:buFontTx/>
              <a:buAutoNum type="arabicPeriod"/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5V, DIN (VIH = 5V, VIL = 0V)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2.   Set registers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C44E792-58D6-170D-E164-AF1383C0D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170086"/>
              </p:ext>
            </p:extLst>
          </p:nvPr>
        </p:nvGraphicFramePr>
        <p:xfrm>
          <a:off x="655636" y="3220399"/>
          <a:ext cx="6375780" cy="3769673"/>
        </p:xfrm>
        <a:graphic>
          <a:graphicData uri="http://schemas.openxmlformats.org/drawingml/2006/table">
            <a:tbl>
              <a:tblPr/>
              <a:tblGrid>
                <a:gridCol w="658706">
                  <a:extLst>
                    <a:ext uri="{9D8B030D-6E8A-4147-A177-3AD203B41FA5}">
                      <a16:colId xmlns:a16="http://schemas.microsoft.com/office/drawing/2014/main" val="1026922637"/>
                    </a:ext>
                  </a:extLst>
                </a:gridCol>
                <a:gridCol w="658706">
                  <a:extLst>
                    <a:ext uri="{9D8B030D-6E8A-4147-A177-3AD203B41FA5}">
                      <a16:colId xmlns:a16="http://schemas.microsoft.com/office/drawing/2014/main" val="1049188379"/>
                    </a:ext>
                  </a:extLst>
                </a:gridCol>
                <a:gridCol w="658706">
                  <a:extLst>
                    <a:ext uri="{9D8B030D-6E8A-4147-A177-3AD203B41FA5}">
                      <a16:colId xmlns:a16="http://schemas.microsoft.com/office/drawing/2014/main" val="2859294035"/>
                    </a:ext>
                  </a:extLst>
                </a:gridCol>
                <a:gridCol w="1354698">
                  <a:extLst>
                    <a:ext uri="{9D8B030D-6E8A-4147-A177-3AD203B41FA5}">
                      <a16:colId xmlns:a16="http://schemas.microsoft.com/office/drawing/2014/main" val="1914812985"/>
                    </a:ext>
                  </a:extLst>
                </a:gridCol>
                <a:gridCol w="3044964">
                  <a:extLst>
                    <a:ext uri="{9D8B030D-6E8A-4147-A177-3AD203B41FA5}">
                      <a16:colId xmlns:a16="http://schemas.microsoft.com/office/drawing/2014/main" val="1550916145"/>
                    </a:ext>
                  </a:extLst>
                </a:gridCol>
              </a:tblGrid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71039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187329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806949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724554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695729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950013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604283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0x35A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 CLOCK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858302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 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98885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0xC20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test_en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ddio_dis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mclk32_o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302563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221399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66377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sng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0xFB0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 LOCK1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1.229MHz (Replace data for measuring other freq.)</a:t>
                      </a:r>
                      <a:endParaRPr lang="ko-KR" altLang="en-US" sz="900" b="0" i="1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172520"/>
                  </a:ext>
                </a:extLst>
              </a:tr>
              <a:tr h="1862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sng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0x04F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 LOCK2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1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677656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0xC00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CONTROL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ch_size, io_mode, scan_no, over, pwm_res, ld_dir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605477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0x04F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FPWM DIVIDER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pwm_res=0, 120Hz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01436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TRANSMIT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repeat (16-bit  * 12-chan) until next ‘SYNC GEN’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647606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(1ms)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079529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(if need) repeat every 120Hz (VSYNC cycle)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08311"/>
                  </a:ext>
                </a:extLst>
              </a:tr>
              <a:tr h="1886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 DOUT Freq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target 1.23MHz (Internal: 39.3MHz)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643439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C5C7C8DC-69CA-D14A-D028-40E2DBC4B34A}"/>
              </a:ext>
            </a:extLst>
          </p:cNvPr>
          <p:cNvSpPr txBox="1"/>
          <p:nvPr/>
        </p:nvSpPr>
        <p:spPr>
          <a:xfrm>
            <a:off x="458450" y="8343864"/>
            <a:ext cx="6602185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>
              <a:spcBef>
                <a:spcPts val="300"/>
              </a:spcBef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3.  FLL</a:t>
            </a:r>
            <a:endParaRPr lang="en-US" altLang="ko-KR" sz="1000" kern="100">
              <a:solidFill>
                <a:srgbClr val="C00000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algn="just">
              <a:spcBef>
                <a:spcPts val="300"/>
              </a:spcBef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- (if need) Repeat “LD</a:t>
            </a:r>
            <a:r>
              <a:rPr lang="ko-KR" altLang="en-US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TRANSMIT’ and ‘SYNC GEN’  through ‘DIN’ pin (refer to upper picture)</a:t>
            </a:r>
          </a:p>
          <a:p>
            <a:pPr algn="just">
              <a:spcBef>
                <a:spcPts val="300"/>
              </a:spcBef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- Measure ‘DOUT’ frequency after wait time </a:t>
            </a:r>
          </a:p>
        </p:txBody>
      </p:sp>
    </p:spTree>
    <p:extLst>
      <p:ext uri="{BB962C8B-B14F-4D97-AF65-F5344CB8AC3E}">
        <p14:creationId xmlns:p14="http://schemas.microsoft.com/office/powerpoint/2010/main" val="1802541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09D49-255D-11B2-123F-659257FF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C037C09-D886-0767-240D-C6A4FCEDF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139995"/>
              </p:ext>
            </p:extLst>
          </p:nvPr>
        </p:nvGraphicFramePr>
        <p:xfrm>
          <a:off x="606982" y="3511995"/>
          <a:ext cx="6459538" cy="4020369"/>
        </p:xfrm>
        <a:graphic>
          <a:graphicData uri="http://schemas.openxmlformats.org/drawingml/2006/table">
            <a:tbl>
              <a:tblPr/>
              <a:tblGrid>
                <a:gridCol w="794000">
                  <a:extLst>
                    <a:ext uri="{9D8B030D-6E8A-4147-A177-3AD203B41FA5}">
                      <a16:colId xmlns:a16="http://schemas.microsoft.com/office/drawing/2014/main" val="2548953949"/>
                    </a:ext>
                  </a:extLst>
                </a:gridCol>
                <a:gridCol w="699838">
                  <a:extLst>
                    <a:ext uri="{9D8B030D-6E8A-4147-A177-3AD203B41FA5}">
                      <a16:colId xmlns:a16="http://schemas.microsoft.com/office/drawing/2014/main" val="878094508"/>
                    </a:ext>
                  </a:extLst>
                </a:gridCol>
                <a:gridCol w="639293">
                  <a:extLst>
                    <a:ext uri="{9D8B030D-6E8A-4147-A177-3AD203B41FA5}">
                      <a16:colId xmlns:a16="http://schemas.microsoft.com/office/drawing/2014/main" val="305736736"/>
                    </a:ext>
                  </a:extLst>
                </a:gridCol>
                <a:gridCol w="1433940">
                  <a:extLst>
                    <a:ext uri="{9D8B030D-6E8A-4147-A177-3AD203B41FA5}">
                      <a16:colId xmlns:a16="http://schemas.microsoft.com/office/drawing/2014/main" val="2373856327"/>
                    </a:ext>
                  </a:extLst>
                </a:gridCol>
                <a:gridCol w="2892467">
                  <a:extLst>
                    <a:ext uri="{9D8B030D-6E8A-4147-A177-3AD203B41FA5}">
                      <a16:colId xmlns:a16="http://schemas.microsoft.com/office/drawing/2014/main" val="4168604627"/>
                    </a:ext>
                  </a:extLst>
                </a:gridCol>
              </a:tblGrid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Open_Level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438407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78882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32790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961001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017520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 to Right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8mA;  open:0.4V, fb:0.85V, short:4V(s100), 12V(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acco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S100 : 0x114 / Acco : 0x144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442710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CONTROL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fb/open/short (0x038 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0x018)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013675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639866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0x35A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 CLOCK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526336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 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514216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54600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FLL manual mode (O)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343035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0xFB0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 LOCK1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61582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0x84F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 LOCK2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enable FLL function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560030"/>
                  </a:ext>
                </a:extLst>
              </a:tr>
              <a:tr h="1928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0xC00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CONTROL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ch_size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io_mode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scan_no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over,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pwm_res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ld_dir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622602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0x04F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FPWM DIVIDER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pwm_res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=0, 120Hz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25022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LD TRANSMIT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16-bit * 12-chan </a:t>
                      </a:r>
                      <a:r>
                        <a:rPr lang="en-US" altLang="ko-KR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(repeat 12 times)</a:t>
                      </a:r>
                      <a:endParaRPr lang="en-US" sz="900" b="1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16132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1ms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764676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repeat 1 times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72706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apply 0V during 7.135ms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06323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apply voltage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694021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fault_status[3:0] (2: short, 1: open, 0: fb)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269949"/>
                  </a:ext>
                </a:extLst>
              </a:tr>
              <a:tr h="20030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sweep voltage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17736"/>
                  </a:ext>
                </a:extLst>
              </a:tr>
            </a:tbl>
          </a:graphicData>
        </a:graphic>
      </p:graphicFrame>
      <p:sp>
        <p:nvSpPr>
          <p:cNvPr id="2" name="object 10">
            <a:extLst>
              <a:ext uri="{FF2B5EF4-FFF2-40B4-BE49-F238E27FC236}">
                <a16:creationId xmlns:a16="http://schemas.microsoft.com/office/drawing/2014/main" id="{45332DF9-CA07-9EE8-8B65-610F004B7156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937F29E-4CF6-D3BA-1D77-3BCA54911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711734"/>
              </p:ext>
            </p:extLst>
          </p:nvPr>
        </p:nvGraphicFramePr>
        <p:xfrm>
          <a:off x="306968" y="1283679"/>
          <a:ext cx="6890842" cy="100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1382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577559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79845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01852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10540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071330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FAULT_OPEN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_LEVEL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F_OPEN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 (fault bit)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0.2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0.4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0.45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V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01144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FAULT_FB_</a:t>
                      </a:r>
                      <a:r>
                        <a:rPr lang="en-US" altLang="ko-KR" sz="1000" b="0" kern="1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LEVEL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F_FB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 (fault bit)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0.9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V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626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FAULT_SHORT_</a:t>
                      </a:r>
                      <a:r>
                        <a:rPr lang="en-US" altLang="ko-KR" sz="1000" b="0" kern="1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LEVEL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F_SHORT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 (fault bit)</a:t>
                      </a:r>
                      <a:endParaRPr lang="ko-KR" altLang="ko-KR" sz="1000" b="0" kern="1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12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V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44066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92980AD-AC6B-E05C-2DEA-C8898056C8F7}"/>
              </a:ext>
            </a:extLst>
          </p:cNvPr>
          <p:cNvSpPr txBox="1"/>
          <p:nvPr/>
        </p:nvSpPr>
        <p:spPr>
          <a:xfrm>
            <a:off x="384482" y="2408645"/>
            <a:ext cx="2822268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Method]</a:t>
            </a:r>
          </a:p>
          <a:p>
            <a:pPr algn="just" latinLnBrk="1">
              <a:spcBef>
                <a:spcPts val="300"/>
              </a:spcBef>
            </a:pPr>
            <a:endParaRPr lang="ko-KR" altLang="ko-KR" sz="100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marL="228600" indent="-228600" algn="just">
              <a:spcBef>
                <a:spcPts val="300"/>
              </a:spcBef>
              <a:buFontTx/>
              <a:buAutoNum type="arabicPeriod"/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5V, DIN (VIH = 5V, VIL = 0V)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2.   Set registers 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4E703EF-1D3C-00E4-EC8F-3B9764A398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30</a:t>
            </a:fld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6050E6-03FB-2592-D905-111D6306CA10}"/>
              </a:ext>
            </a:extLst>
          </p:cNvPr>
          <p:cNvSpPr txBox="1"/>
          <p:nvPr/>
        </p:nvSpPr>
        <p:spPr>
          <a:xfrm>
            <a:off x="336026" y="8512004"/>
            <a:ext cx="562261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3.  Open Level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 - 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0.1V (Channel under test)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among IOUT_CH[1:12], other IOUT pins are 5V forced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 - (one by one channel ) Check fault bit’s initial status (Short/Open/ FB/ Short = L/ H/ H)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 - (one by one) Sweep Voltage 0.2~0.6V</a:t>
            </a:r>
          </a:p>
          <a:p>
            <a:pPr algn="just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   and Check event level through ‘fault read command’  :  ‘OPEN’  bit (H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L)</a:t>
            </a:r>
          </a:p>
          <a:p>
            <a:pPr algn="just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      (Short/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Open/ FB/ Short = L/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H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/H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L/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L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/H; 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Target : 0.25V)</a:t>
            </a:r>
          </a:p>
          <a:p>
            <a:pPr algn="just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      </a:t>
            </a:r>
            <a:r>
              <a:rPr lang="en-US" altLang="ko-KR" sz="1000" u="sng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# When found rough target value, apply smaller voltage step size</a:t>
            </a:r>
            <a:endParaRPr lang="en-US" altLang="ko-KR" sz="1000" u="sng" kern="1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6AC7CD-02C8-8098-45F3-BFAA0ACCF99A}"/>
              </a:ext>
            </a:extLst>
          </p:cNvPr>
          <p:cNvSpPr txBox="1"/>
          <p:nvPr/>
        </p:nvSpPr>
        <p:spPr>
          <a:xfrm>
            <a:off x="384482" y="9936488"/>
            <a:ext cx="6525198" cy="4385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 algn="just" latinLnBrk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000" u="sng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When you set 'fault read command' (1010), 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</a:t>
            </a:r>
            <a:r>
              <a:rPr lang="en-US" altLang="ko-KR" sz="1000" u="sng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you can check the fault bits through 'fault readout response' (1010 + fault_bit[3:0]).  (automatically output)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0C505F8-6D75-5503-25E5-0776BF26C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505" y="2965487"/>
            <a:ext cx="2996942" cy="66532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FB2E8F2-489E-89C0-2108-2B4C0D32B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63" y="7482390"/>
            <a:ext cx="3295426" cy="814086"/>
          </a:xfrm>
          <a:prstGeom prst="rect">
            <a:avLst/>
          </a:prstGeom>
        </p:spPr>
      </p:pic>
      <p:sp>
        <p:nvSpPr>
          <p:cNvPr id="11" name="화살표: 오른쪽으로 구부러짐 10">
            <a:extLst>
              <a:ext uri="{FF2B5EF4-FFF2-40B4-BE49-F238E27FC236}">
                <a16:creationId xmlns:a16="http://schemas.microsoft.com/office/drawing/2014/main" id="{D6D71DDF-441D-C563-E504-10B0C8FD0B8A}"/>
              </a:ext>
            </a:extLst>
          </p:cNvPr>
          <p:cNvSpPr/>
          <p:nvPr/>
        </p:nvSpPr>
        <p:spPr>
          <a:xfrm rot="10592738">
            <a:off x="355741" y="6187265"/>
            <a:ext cx="231523" cy="66137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화살표: 왼쪽으로 구부러짐 15">
            <a:extLst>
              <a:ext uri="{FF2B5EF4-FFF2-40B4-BE49-F238E27FC236}">
                <a16:creationId xmlns:a16="http://schemas.microsoft.com/office/drawing/2014/main" id="{B4827092-D033-D489-3B84-7EE2A1A5D052}"/>
              </a:ext>
            </a:extLst>
          </p:cNvPr>
          <p:cNvSpPr/>
          <p:nvPr/>
        </p:nvSpPr>
        <p:spPr>
          <a:xfrm flipH="1">
            <a:off x="68763" y="6228557"/>
            <a:ext cx="250853" cy="637946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34F74BA-0B9C-A2CE-8707-6F4A69674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122" y="7557522"/>
            <a:ext cx="1932318" cy="47735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E767A39-4677-705B-1A0F-4D9A8CDE9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808" y="7557522"/>
            <a:ext cx="1932318" cy="47735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620D527-A386-4D8A-DE85-74EABDA90BFC}"/>
              </a:ext>
            </a:extLst>
          </p:cNvPr>
          <p:cNvSpPr txBox="1"/>
          <p:nvPr/>
        </p:nvSpPr>
        <p:spPr>
          <a:xfrm>
            <a:off x="2741567" y="8195287"/>
            <a:ext cx="4311650" cy="5078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kumimoji="0" lang="en-US" altLang="ko-KR" sz="900" b="1" i="0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* LD_TRAN</a:t>
            </a:r>
            <a:r>
              <a:rPr lang="en-US" altLang="ko-KR" sz="900" b="1" ker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SMIT+SYNC_GEN</a:t>
            </a:r>
            <a:r>
              <a:rPr kumimoji="0" lang="en-US" altLang="ko-KR" sz="900" b="1" i="0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(repeat 3 times) + apply voltage + read flag    </a:t>
            </a:r>
          </a:p>
          <a:p>
            <a:r>
              <a:rPr kumimoji="0" lang="en-US" altLang="ko-KR" sz="900" b="1" i="0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(within 8ms;  Valid time for check flag is 8ms)</a:t>
            </a:r>
          </a:p>
          <a:p>
            <a:r>
              <a:rPr kumimoji="0" lang="en-US" altLang="ko-KR" sz="900" b="1" i="0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* Apply 0.1V and 0.6V, check if flag is turned.</a:t>
            </a:r>
          </a:p>
        </p:txBody>
      </p:sp>
    </p:spTree>
    <p:extLst>
      <p:ext uri="{BB962C8B-B14F-4D97-AF65-F5344CB8AC3E}">
        <p14:creationId xmlns:p14="http://schemas.microsoft.com/office/powerpoint/2010/main" val="2451593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4378D-4673-076C-7BAB-EA7610347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86D59C23-8746-8921-B88B-599FC26AE2C1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32BC124-1289-C4C4-1B4D-98C41C66A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570247"/>
              </p:ext>
            </p:extLst>
          </p:nvPr>
        </p:nvGraphicFramePr>
        <p:xfrm>
          <a:off x="306968" y="1283679"/>
          <a:ext cx="6890842" cy="100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1382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577559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79845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848512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987510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FAULT_OPEN</a:t>
                      </a:r>
                      <a:r>
                        <a:rPr lang="en-US" altLang="ko-KR" sz="1000" b="0" kern="1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_LEVEL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F_OPEN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 (fault bit)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0.4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V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01144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23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FAULT_FB_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LEVEL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F_FB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 (fault bit)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0.8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1.2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1.6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V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626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FAULT_SHORT_</a:t>
                      </a:r>
                      <a:r>
                        <a:rPr lang="en-US" altLang="ko-KR" sz="1000" b="0" kern="1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LEVEL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F_SHORT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 (fault bit)</a:t>
                      </a:r>
                      <a:endParaRPr lang="ko-KR" altLang="ko-KR" sz="1000" b="0" kern="1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12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V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44066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A6F64A1-362C-4FC7-19CC-868E467FC3EF}"/>
              </a:ext>
            </a:extLst>
          </p:cNvPr>
          <p:cNvSpPr txBox="1"/>
          <p:nvPr/>
        </p:nvSpPr>
        <p:spPr>
          <a:xfrm>
            <a:off x="384482" y="2408645"/>
            <a:ext cx="2822268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</a:t>
            </a:r>
            <a:r>
              <a:rPr lang="en-US" altLang="ko-KR" sz="1000" kern="10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Method]</a:t>
            </a:r>
            <a:endParaRPr lang="en-US" altLang="ko-KR" sz="1000" kern="100" dirty="0">
              <a:effectLst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300"/>
              </a:spcBef>
            </a:pPr>
            <a:endParaRPr lang="ko-KR" altLang="ko-KR" sz="100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marL="228600" indent="-228600" algn="just">
              <a:spcBef>
                <a:spcPts val="300"/>
              </a:spcBef>
              <a:buFontTx/>
              <a:buAutoNum type="arabicPeriod"/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5V, DIN (VIH = 5V, VIL = 0V)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2.   Set registers 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6F76D00-2BC6-0C5E-D54C-B01E5EB279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31</a:t>
            </a:fld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575E3-DF2E-1E3F-CB9C-84EF0D72CD60}"/>
              </a:ext>
            </a:extLst>
          </p:cNvPr>
          <p:cNvSpPr txBox="1"/>
          <p:nvPr/>
        </p:nvSpPr>
        <p:spPr>
          <a:xfrm>
            <a:off x="359258" y="8665021"/>
            <a:ext cx="5915022" cy="1208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3. FB Level  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en-US" altLang="ko-KR" sz="1000" kern="100" dirty="0" err="1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contined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from Open Level)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 - 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0.7V (Channel under test)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among IOUT_CH[1:12], other IOUT pins are 5V forced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 - (one by one channel) Sweep Voltage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</a:p>
          <a:p>
            <a:pPr algn="just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    and Check event level through ‘fault read command’  :  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‘FB’ bit (L 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H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 algn="just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      (Short/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Open/ FB = L/ L/ 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H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L/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L/ 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L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;  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Target : 1.2V)</a:t>
            </a:r>
            <a:endParaRPr lang="en-US" altLang="ko-KR" sz="1000" kern="1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algn="just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      </a:t>
            </a:r>
            <a:r>
              <a:rPr lang="en-US" altLang="ko-KR" sz="1000" u="sng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# When found rough target value, apply smaller voltage step size</a:t>
            </a:r>
            <a:endParaRPr lang="en-US" altLang="ko-KR" sz="1000" u="sng" kern="1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5E78DA-C9D4-7CEE-771B-A90DCB79A130}"/>
              </a:ext>
            </a:extLst>
          </p:cNvPr>
          <p:cNvSpPr txBox="1"/>
          <p:nvPr/>
        </p:nvSpPr>
        <p:spPr>
          <a:xfrm>
            <a:off x="359258" y="10025782"/>
            <a:ext cx="6525198" cy="4385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 algn="just" latinLnBrk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000" u="sng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When you set 'fault read command' (1010), 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</a:t>
            </a:r>
            <a:r>
              <a:rPr lang="en-US" altLang="ko-KR" sz="1000" u="sng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you can check the fault bits through 'fault readout response' (1010 + fault_bit[3:0]).  (automatically output)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0E9B267-5D38-9EF7-3A6B-3DBFC5537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103263"/>
              </p:ext>
            </p:extLst>
          </p:nvPr>
        </p:nvGraphicFramePr>
        <p:xfrm>
          <a:off x="606427" y="3509379"/>
          <a:ext cx="6229501" cy="3914723"/>
        </p:xfrm>
        <a:graphic>
          <a:graphicData uri="http://schemas.openxmlformats.org/drawingml/2006/table">
            <a:tbl>
              <a:tblPr/>
              <a:tblGrid>
                <a:gridCol w="763496">
                  <a:extLst>
                    <a:ext uri="{9D8B030D-6E8A-4147-A177-3AD203B41FA5}">
                      <a16:colId xmlns:a16="http://schemas.microsoft.com/office/drawing/2014/main" val="3238064004"/>
                    </a:ext>
                  </a:extLst>
                </a:gridCol>
                <a:gridCol w="752100">
                  <a:extLst>
                    <a:ext uri="{9D8B030D-6E8A-4147-A177-3AD203B41FA5}">
                      <a16:colId xmlns:a16="http://schemas.microsoft.com/office/drawing/2014/main" val="885602713"/>
                    </a:ext>
                  </a:extLst>
                </a:gridCol>
                <a:gridCol w="535586">
                  <a:extLst>
                    <a:ext uri="{9D8B030D-6E8A-4147-A177-3AD203B41FA5}">
                      <a16:colId xmlns:a16="http://schemas.microsoft.com/office/drawing/2014/main" val="601015687"/>
                    </a:ext>
                  </a:extLst>
                </a:gridCol>
                <a:gridCol w="1378851">
                  <a:extLst>
                    <a:ext uri="{9D8B030D-6E8A-4147-A177-3AD203B41FA5}">
                      <a16:colId xmlns:a16="http://schemas.microsoft.com/office/drawing/2014/main" val="941898122"/>
                    </a:ext>
                  </a:extLst>
                </a:gridCol>
                <a:gridCol w="2799468">
                  <a:extLst>
                    <a:ext uri="{9D8B030D-6E8A-4147-A177-3AD203B41FA5}">
                      <a16:colId xmlns:a16="http://schemas.microsoft.com/office/drawing/2014/main" val="525712529"/>
                    </a:ext>
                  </a:extLst>
                </a:gridCol>
              </a:tblGrid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FB_Level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07109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445955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0x800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661016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4b'1000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 GEN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472272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 ENABLE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017958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0x06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sng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43476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CONTROL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fb/open/short (0x038 </a:t>
                      </a:r>
                      <a:r>
                        <a:rPr lang="en-US" sz="900" b="0" i="0" u="none" strike="sng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 0x018)</a:t>
                      </a:r>
                      <a:endParaRPr lang="en-US" sz="900" b="0" i="0" u="none" strike="sng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74968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0x08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  <a:endParaRPr lang="en-US" sz="9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MAX_CURR_VREF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 on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03346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0x25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0x35A</a:t>
                      </a:r>
                      <a:endParaRPr lang="en-US" sz="9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 CLOCK GEN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442643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0x26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0x03C</a:t>
                      </a:r>
                      <a:endParaRPr lang="en-US" sz="9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 LATENCY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963316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0x2A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</a:t>
                      </a:r>
                      <a:endParaRPr lang="en-US" sz="9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612641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0x2B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0x808</a:t>
                      </a:r>
                      <a:endParaRPr lang="en-US" sz="9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OSC_FLL_MAN2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FLL manual mode (O)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623444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0x27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0xFB0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 LOCK1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5642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0x28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0x84F</a:t>
                      </a:r>
                      <a:endParaRPr lang="en-US" sz="900" b="0" i="0" u="none" strike="noStrike" dirty="0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 LOCK2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enable FLL function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686812"/>
                  </a:ext>
                </a:extLst>
              </a:tr>
              <a:tr h="2037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0xC00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CONTROL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ch_size, io_mode, scan_no, over, pwm_res, ld_dir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19603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0x02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0x04F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FPWM DIVIDER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pwm_res=0, 120Hz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899116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LD TRANSMIT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16-bit * 12-chan </a:t>
                      </a:r>
                      <a:r>
                        <a:rPr lang="en-US" altLang="ko-KR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(repeat 12 times)</a:t>
                      </a:r>
                      <a:endParaRPr lang="en-US" sz="900" b="1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149734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1ms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18804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repeat 1 times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09179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apply 0V during 7.135ms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406987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apply voltage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672209"/>
                  </a:ext>
                </a:extLst>
              </a:tr>
              <a:tr h="167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fault_status[3:0] (2: short, 1: open, 0: fb)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347392"/>
                  </a:ext>
                </a:extLst>
              </a:tr>
              <a:tr h="1844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sweep voltage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217821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8E90C422-EF02-302D-9D2C-761FFC806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505" y="2933077"/>
            <a:ext cx="2996942" cy="66532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AE15531-E8FD-72A3-A80C-255A4BDDA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63" y="7482390"/>
            <a:ext cx="3295426" cy="8140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B01297-6F32-420A-7584-8C850C964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122" y="7557522"/>
            <a:ext cx="1932318" cy="4773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CB8374C-AAA3-0112-2248-4F846389C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808" y="7557522"/>
            <a:ext cx="1932318" cy="4773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CFB497-991E-E3A0-EED2-916A58D3EB37}"/>
              </a:ext>
            </a:extLst>
          </p:cNvPr>
          <p:cNvSpPr txBox="1"/>
          <p:nvPr/>
        </p:nvSpPr>
        <p:spPr>
          <a:xfrm>
            <a:off x="3192417" y="8207987"/>
            <a:ext cx="4311650" cy="5078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kumimoji="0" lang="en-US" altLang="ko-KR" sz="900" b="1" i="0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* LD_TRAN</a:t>
            </a:r>
            <a:r>
              <a:rPr lang="en-US" altLang="ko-KR" sz="900" b="1" ker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SMIT+SYNC_GEN</a:t>
            </a:r>
            <a:r>
              <a:rPr kumimoji="0" lang="en-US" altLang="ko-KR" sz="900" b="1" i="0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(repeat 3 times) + apply voltage + read flag    </a:t>
            </a:r>
          </a:p>
          <a:p>
            <a:r>
              <a:rPr kumimoji="0" lang="en-US" altLang="ko-KR" sz="900" b="1" i="0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(within 8ms;  Valid time for check flag is 8ms)</a:t>
            </a:r>
          </a:p>
          <a:p>
            <a:r>
              <a:rPr kumimoji="0" lang="en-US" altLang="ko-KR" sz="900" b="1" i="0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* Apply 0.6V and 1.6V, check if flag is turned.</a:t>
            </a:r>
          </a:p>
        </p:txBody>
      </p:sp>
    </p:spTree>
    <p:extLst>
      <p:ext uri="{BB962C8B-B14F-4D97-AF65-F5344CB8AC3E}">
        <p14:creationId xmlns:p14="http://schemas.microsoft.com/office/powerpoint/2010/main" val="924461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C9AAB-2312-138B-A9CD-C311DC7C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087E88D-8227-22B2-14E6-B04A733AC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620559"/>
              </p:ext>
            </p:extLst>
          </p:nvPr>
        </p:nvGraphicFramePr>
        <p:xfrm>
          <a:off x="539592" y="3507015"/>
          <a:ext cx="6318737" cy="3851044"/>
        </p:xfrm>
        <a:graphic>
          <a:graphicData uri="http://schemas.openxmlformats.org/drawingml/2006/table">
            <a:tbl>
              <a:tblPr/>
              <a:tblGrid>
                <a:gridCol w="800293">
                  <a:extLst>
                    <a:ext uri="{9D8B030D-6E8A-4147-A177-3AD203B41FA5}">
                      <a16:colId xmlns:a16="http://schemas.microsoft.com/office/drawing/2014/main" val="2187270126"/>
                    </a:ext>
                  </a:extLst>
                </a:gridCol>
                <a:gridCol w="788349">
                  <a:extLst>
                    <a:ext uri="{9D8B030D-6E8A-4147-A177-3AD203B41FA5}">
                      <a16:colId xmlns:a16="http://schemas.microsoft.com/office/drawing/2014/main" val="2108831959"/>
                    </a:ext>
                  </a:extLst>
                </a:gridCol>
                <a:gridCol w="561400">
                  <a:extLst>
                    <a:ext uri="{9D8B030D-6E8A-4147-A177-3AD203B41FA5}">
                      <a16:colId xmlns:a16="http://schemas.microsoft.com/office/drawing/2014/main" val="2811376413"/>
                    </a:ext>
                  </a:extLst>
                </a:gridCol>
                <a:gridCol w="1445307">
                  <a:extLst>
                    <a:ext uri="{9D8B030D-6E8A-4147-A177-3AD203B41FA5}">
                      <a16:colId xmlns:a16="http://schemas.microsoft.com/office/drawing/2014/main" val="1598549248"/>
                    </a:ext>
                  </a:extLst>
                </a:gridCol>
                <a:gridCol w="2723388">
                  <a:extLst>
                    <a:ext uri="{9D8B030D-6E8A-4147-A177-3AD203B41FA5}">
                      <a16:colId xmlns:a16="http://schemas.microsoft.com/office/drawing/2014/main" val="2353587975"/>
                    </a:ext>
                  </a:extLst>
                </a:gridCol>
              </a:tblGrid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Short_Level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677927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88497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0x800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606927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4b'1000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 GEN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290786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  <a:endParaRPr lang="en-US" sz="900" b="0" i="0" u="none" strike="noStrike" dirty="0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 ENABLE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40996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0x06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sng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231972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0x07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0x018</a:t>
                      </a:r>
                      <a:endParaRPr lang="en-US" sz="9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CONTROL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fb/open/short (0x038 </a:t>
                      </a:r>
                      <a:r>
                        <a:rPr lang="en-US" sz="900" b="0" i="0" u="none" strike="sngStrike" dirty="0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900" b="0" i="0" u="none" strike="sngStrike" dirty="0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0x018)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648817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0x08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  <a:endParaRPr lang="en-US" sz="9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MAX_CURR_VREF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 on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90361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0x25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0x35A</a:t>
                      </a:r>
                      <a:endParaRPr lang="en-US" sz="9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 CLOCK GEN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821651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0x26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0x03C</a:t>
                      </a:r>
                      <a:endParaRPr lang="en-US" sz="9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 LATENCY</a:t>
                      </a:r>
                      <a:endParaRPr 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sngStrike">
                          <a:solidFill>
                            <a:srgbClr val="BFBFB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BFBFB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033917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0x2A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</a:t>
                      </a:r>
                      <a:endParaRPr lang="en-US" sz="9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sngStrike" dirty="0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554822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 dirty="0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0x2B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0x808</a:t>
                      </a:r>
                      <a:endParaRPr lang="en-US" sz="9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OSC_FLL_MAN2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FLL manual mode (O)</a:t>
                      </a:r>
                      <a:endParaRPr lang="en-US" sz="900" b="0" i="0" u="none" strike="noStrike" dirty="0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744365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0x27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0xFB0</a:t>
                      </a:r>
                      <a:endParaRPr lang="en-US" sz="900" b="0" i="0" u="none" strike="noStrike" dirty="0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 LOCK1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428500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0x28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0x84F</a:t>
                      </a:r>
                      <a:endParaRPr lang="en-US" sz="900" b="0" i="0" u="none" strike="noStrike" dirty="0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 LOCK2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enable FLL function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830825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 dirty="0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0xC00</a:t>
                      </a:r>
                      <a:endParaRPr lang="en-US" sz="900" b="0" i="0" u="none" strike="noStrike" dirty="0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CONTROL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sngStrike" dirty="0" err="1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ch_size</a:t>
                      </a:r>
                      <a:r>
                        <a:rPr lang="en-US" sz="900" b="0" i="0" u="none" strike="sngStrike" dirty="0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900" b="0" i="0" u="none" strike="sngStrike" dirty="0" err="1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io_mode</a:t>
                      </a:r>
                      <a:r>
                        <a:rPr lang="en-US" sz="900" b="0" i="0" u="none" strike="sngStrike" dirty="0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900" b="0" i="0" u="none" strike="sngStrike" dirty="0" err="1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scan_no</a:t>
                      </a:r>
                      <a:r>
                        <a:rPr lang="en-US" sz="900" b="0" i="0" u="none" strike="sngStrike" dirty="0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over, </a:t>
                      </a:r>
                      <a:r>
                        <a:rPr lang="en-US" sz="900" b="0" i="0" u="none" strike="sngStrike" dirty="0" err="1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pwm_res</a:t>
                      </a:r>
                      <a:r>
                        <a:rPr lang="en-US" sz="900" b="0" i="0" u="none" strike="sngStrike" dirty="0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900" b="0" i="0" u="none" strike="sngStrike" dirty="0" err="1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ld_dir</a:t>
                      </a:r>
                      <a:endParaRPr lang="en-US" sz="900" b="0" i="0" u="none" strike="noStrike" dirty="0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009058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0x02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0x04F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FPWM DIVIDER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sngStrike">
                          <a:solidFill>
                            <a:srgbClr val="A6A6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pwm_res=0, 120Hz</a:t>
                      </a:r>
                      <a:endParaRPr lang="en-US" sz="900" b="0" i="0" u="none" strike="noStrike">
                        <a:solidFill>
                          <a:srgbClr val="A6A6A6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654701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LD TRANSMIT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16-bit * 12-chan </a:t>
                      </a:r>
                      <a:r>
                        <a:rPr lang="en-US" altLang="ko-KR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(repeat 12 times)</a:t>
                      </a:r>
                      <a:endParaRPr lang="en-US" sz="900" b="1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077087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1ms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638988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repeat 1 times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917469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apply 0V during 7.135ms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303360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apply voltage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643886"/>
                  </a:ext>
                </a:extLst>
              </a:tr>
              <a:tr h="165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fault_status[3:0] (2: short, 1: open, 0: fb)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324439"/>
                  </a:ext>
                </a:extLst>
              </a:tr>
              <a:tr h="20879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sweep voltage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924026"/>
                  </a:ext>
                </a:extLst>
              </a:tr>
            </a:tbl>
          </a:graphicData>
        </a:graphic>
      </p:graphicFrame>
      <p:sp>
        <p:nvSpPr>
          <p:cNvPr id="2" name="object 10">
            <a:extLst>
              <a:ext uri="{FF2B5EF4-FFF2-40B4-BE49-F238E27FC236}">
                <a16:creationId xmlns:a16="http://schemas.microsoft.com/office/drawing/2014/main" id="{60020C54-8562-6F35-4165-B7B2946FD55D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9324A17-3CBC-6217-5BBE-0F70DDB91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079645"/>
              </p:ext>
            </p:extLst>
          </p:nvPr>
        </p:nvGraphicFramePr>
        <p:xfrm>
          <a:off x="306968" y="1283679"/>
          <a:ext cx="6890842" cy="100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1382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577559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79845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32332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972270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FAULT_OPEN</a:t>
                      </a:r>
                      <a:r>
                        <a:rPr lang="en-US" altLang="ko-KR" sz="1000" b="0" kern="1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_LEVEL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F_OPEN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 (fault bit)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0.3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V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01144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FAULT_FB_</a:t>
                      </a:r>
                      <a:r>
                        <a:rPr lang="en-US" altLang="ko-KR" sz="1000" b="0" kern="1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LEVEL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F_FB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 (fault bit)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0.9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V</a:t>
                      </a:r>
                      <a:endParaRPr 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626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24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FAULT_SHORT_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LEVEL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F_SHORT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 (fault bit)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4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V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44066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A2BA874-4D1A-1596-607B-57F2E7A775F7}"/>
              </a:ext>
            </a:extLst>
          </p:cNvPr>
          <p:cNvSpPr txBox="1"/>
          <p:nvPr/>
        </p:nvSpPr>
        <p:spPr>
          <a:xfrm>
            <a:off x="384482" y="2408645"/>
            <a:ext cx="28222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</a:t>
            </a:r>
            <a:r>
              <a:rPr lang="en-US" altLang="ko-KR" sz="1000" kern="10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Method]</a:t>
            </a:r>
            <a:endParaRPr lang="en-US" altLang="ko-KR" sz="1000" kern="100" dirty="0">
              <a:effectLst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300"/>
              </a:spcBef>
            </a:pPr>
            <a:endParaRPr lang="ko-KR" altLang="ko-KR" sz="100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marL="228600" indent="-228600" algn="just">
              <a:spcBef>
                <a:spcPts val="300"/>
              </a:spcBef>
              <a:buFontTx/>
              <a:buAutoNum type="arabicPeriod"/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5V, DIN (VIH = 5V, VIL = 0V)</a:t>
            </a:r>
          </a:p>
          <a:p>
            <a:pPr algn="just">
              <a:spcBef>
                <a:spcPts val="300"/>
              </a:spcBef>
            </a:pPr>
            <a:endParaRPr lang="en-US" altLang="ko-KR" sz="1000" kern="10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2.   Set registers 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37E1887-8C96-7C60-46FA-20A8010BB1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32</a:t>
            </a:fld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3ED4EE-B88E-5294-22C5-9DAA00E9BA79}"/>
              </a:ext>
            </a:extLst>
          </p:cNvPr>
          <p:cNvSpPr txBox="1"/>
          <p:nvPr/>
        </p:nvSpPr>
        <p:spPr>
          <a:xfrm>
            <a:off x="384482" y="8638865"/>
            <a:ext cx="5870268" cy="1208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3.  Short Level  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en-US" altLang="ko-KR" sz="1000" kern="100" dirty="0" err="1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contined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from FB Level)</a:t>
            </a:r>
          </a:p>
          <a:p>
            <a:pPr algn="just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 - 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11V (Channel under test)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among IOUT_CH[1:12], other IOUT pins are 5V forced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 - (one by one channel) Sweep Voltage</a:t>
            </a:r>
          </a:p>
          <a:p>
            <a:pPr algn="just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    and Check event level through ‘fault read command’  :  ‘SHORT’ bit (L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H)</a:t>
            </a:r>
          </a:p>
          <a:p>
            <a:pPr algn="just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      (Short/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Open/ FB = 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L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L/ L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ko-KR" sz="1000" kern="100" dirty="0">
                <a:solidFill>
                  <a:srgbClr val="C0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H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L/ L;   </a:t>
            </a: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Target : 4V)</a:t>
            </a:r>
          </a:p>
          <a:p>
            <a:pPr algn="just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    </a:t>
            </a:r>
            <a:r>
              <a:rPr lang="en-US" altLang="ko-KR" sz="1000" u="sng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# When found rough target value, apply smaller voltage step size</a:t>
            </a:r>
            <a:endParaRPr lang="en-US" altLang="ko-KR" sz="1000" u="sng" kern="1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F1690F-EE2E-05B2-A48D-A4D6D30FF89F}"/>
              </a:ext>
            </a:extLst>
          </p:cNvPr>
          <p:cNvSpPr txBox="1"/>
          <p:nvPr/>
        </p:nvSpPr>
        <p:spPr>
          <a:xfrm>
            <a:off x="384482" y="9924270"/>
            <a:ext cx="6525198" cy="4385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 algn="just" latinLnBrk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000" u="sng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When you set 'fault read command' (1010), 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0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</a:t>
            </a:r>
            <a:r>
              <a:rPr lang="en-US" altLang="ko-KR" sz="1000" u="sng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you can check the fault bits through 'fault readout response' (1010 + fault_bit[3:0]).  (automatically output)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CC757FE-A562-4E22-E54D-B297697F5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505" y="2884475"/>
            <a:ext cx="2996942" cy="6653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8C9BA03-0ADA-59F1-B464-40780FBC6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63" y="7482390"/>
            <a:ext cx="3295426" cy="8140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E69AC31-1847-7C57-8757-A9EEDF5F8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122" y="7557522"/>
            <a:ext cx="1932318" cy="4773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4711065-6ED3-A72D-27B3-19E1D66C6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808" y="7557522"/>
            <a:ext cx="1932318" cy="4773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77A97C-DDD3-FA84-7C17-D48938C29275}"/>
              </a:ext>
            </a:extLst>
          </p:cNvPr>
          <p:cNvSpPr txBox="1"/>
          <p:nvPr/>
        </p:nvSpPr>
        <p:spPr>
          <a:xfrm>
            <a:off x="3192417" y="8207987"/>
            <a:ext cx="4311650" cy="5078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kumimoji="0" lang="en-US" altLang="ko-KR" sz="900" b="1" i="0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* LD_TRAN</a:t>
            </a:r>
            <a:r>
              <a:rPr lang="en-US" altLang="ko-KR" sz="900" b="1" ker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SMIT+SYNC_GEN</a:t>
            </a:r>
            <a:r>
              <a:rPr kumimoji="0" lang="en-US" altLang="ko-KR" sz="900" b="1" i="0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(repeat 3 times) + apply voltage + read flag    </a:t>
            </a:r>
          </a:p>
          <a:p>
            <a:r>
              <a:rPr kumimoji="0" lang="en-US" altLang="ko-KR" sz="900" b="1" i="0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(within 8ms;  Valid time for check flag is 8ms)</a:t>
            </a:r>
          </a:p>
          <a:p>
            <a:r>
              <a:rPr kumimoji="0" lang="en-US" altLang="ko-KR" sz="900" b="1" i="0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* Apply 11V and 15V, check if flag is turned.</a:t>
            </a:r>
          </a:p>
        </p:txBody>
      </p:sp>
    </p:spTree>
    <p:extLst>
      <p:ext uri="{BB962C8B-B14F-4D97-AF65-F5344CB8AC3E}">
        <p14:creationId xmlns:p14="http://schemas.microsoft.com/office/powerpoint/2010/main" val="30420274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BC1F-4EDE-B621-EFEC-F573C5BB2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D2F120AB-E99B-9B2B-67D1-7367CFACEFDA}"/>
              </a:ext>
            </a:extLst>
          </p:cNvPr>
          <p:cNvSpPr txBox="1">
            <a:spLocks/>
          </p:cNvSpPr>
          <p:nvPr/>
        </p:nvSpPr>
        <p:spPr>
          <a:xfrm>
            <a:off x="6174612" y="9896740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9902563-5ED3-FD35-0267-F286465D2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173810"/>
              </p:ext>
            </p:extLst>
          </p:nvPr>
        </p:nvGraphicFramePr>
        <p:xfrm>
          <a:off x="281748" y="1269024"/>
          <a:ext cx="6864180" cy="556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72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787955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726959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5572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2470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Standby Current 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SID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VD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2.4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3.5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Temporary</a:t>
                      </a:r>
                    </a:p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@8mA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6B510D9-3DBE-0BA3-4F63-6FB2DD7376BE}"/>
              </a:ext>
            </a:extLst>
          </p:cNvPr>
          <p:cNvSpPr txBox="1"/>
          <p:nvPr/>
        </p:nvSpPr>
        <p:spPr>
          <a:xfrm>
            <a:off x="578635" y="1920914"/>
            <a:ext cx="4545946" cy="1254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- SIDD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</a:t>
            </a:r>
          </a:p>
          <a:p>
            <a:pPr marL="228600" indent="-228600" algn="just">
              <a:spcBef>
                <a:spcPts val="300"/>
              </a:spcBef>
              <a:buFontTx/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0V : TEST, SVI, SVO, DIN, DOUT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Open all signal pins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Measure VDD current after wait time (10~100ms)</a:t>
            </a:r>
          </a:p>
          <a:p>
            <a:pPr algn="just" latinLnBrk="1">
              <a:spcBef>
                <a:spcPts val="300"/>
              </a:spcBef>
            </a:pPr>
            <a:endParaRPr lang="en-US" altLang="ko-KR" sz="1050" kern="1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41D91B-B7B6-E806-4B95-9FAFBABB47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33</a:t>
            </a:fld>
            <a:endParaRPr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E6DF798-7661-4A8C-ACBE-96800ADBD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633131"/>
              </p:ext>
            </p:extLst>
          </p:nvPr>
        </p:nvGraphicFramePr>
        <p:xfrm>
          <a:off x="281747" y="3056325"/>
          <a:ext cx="6864180" cy="556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72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787955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726959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5572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2470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26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Dynamic Current 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DID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VD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2.4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3.5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Temporrary</a:t>
                      </a:r>
                      <a:endParaRPr lang="en-US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@8mA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3120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1C81E12-F074-649F-F9DE-002E4BF064E2}"/>
              </a:ext>
            </a:extLst>
          </p:cNvPr>
          <p:cNvSpPr txBox="1"/>
          <p:nvPr/>
        </p:nvSpPr>
        <p:spPr>
          <a:xfrm>
            <a:off x="578635" y="3701307"/>
            <a:ext cx="4545946" cy="1254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- DIDD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0V : TEST, SVI, SVO, DIN, DOUT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PWM test </a:t>
            </a:r>
            <a:r>
              <a:rPr lang="en-US" altLang="ko-KR" sz="1050" kern="100" dirty="0" err="1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condtion</a:t>
            </a: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and pattern looping 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Measure VDD current after wait time (10~100ms)</a:t>
            </a:r>
          </a:p>
          <a:p>
            <a:pPr algn="just" latinLnBrk="1">
              <a:spcBef>
                <a:spcPts val="300"/>
              </a:spcBef>
            </a:pPr>
            <a:endParaRPr lang="en-US" altLang="ko-KR" sz="1050" kern="1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263E303-5B6B-6125-C22E-9E38FFA86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715946"/>
              </p:ext>
            </p:extLst>
          </p:nvPr>
        </p:nvGraphicFramePr>
        <p:xfrm>
          <a:off x="281747" y="5278082"/>
          <a:ext cx="6827053" cy="556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597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62929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1061568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56159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5572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2470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27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VDD On/Off Repeat</a:t>
                      </a:r>
                    </a:p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(VREF Verify)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VDD_ON/OFF</a:t>
                      </a:r>
                      <a:b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(VREF)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2.156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2.244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On/Off </a:t>
                      </a:r>
                    </a:p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3 times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79819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4C626EF-4F82-EFAC-6903-3C0BCFF40A52}"/>
              </a:ext>
            </a:extLst>
          </p:cNvPr>
          <p:cNvSpPr txBox="1"/>
          <p:nvPr/>
        </p:nvSpPr>
        <p:spPr>
          <a:xfrm>
            <a:off x="392588" y="6024097"/>
            <a:ext cx="6018571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4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(1) Power on/off 3 times</a:t>
            </a:r>
          </a:p>
          <a:p>
            <a:pPr algn="just" latinLnBrk="1">
              <a:spcBef>
                <a:spcPts val="4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(2)  Force VDD 5V, DIN (VIH = 5V, VIL = 0V) 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(3)  Set registers (Force/Compare ‘DIN’ pin by test pattern) 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F6AA6D1-E75C-2529-F749-0FCE405A9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500020"/>
              </p:ext>
            </p:extLst>
          </p:nvPr>
        </p:nvGraphicFramePr>
        <p:xfrm>
          <a:off x="756033" y="6803020"/>
          <a:ext cx="5655126" cy="3093720"/>
        </p:xfrm>
        <a:graphic>
          <a:graphicData uri="http://schemas.openxmlformats.org/drawingml/2006/table">
            <a:tbl>
              <a:tblPr/>
              <a:tblGrid>
                <a:gridCol w="779923">
                  <a:extLst>
                    <a:ext uri="{9D8B030D-6E8A-4147-A177-3AD203B41FA5}">
                      <a16:colId xmlns:a16="http://schemas.microsoft.com/office/drawing/2014/main" val="1564761659"/>
                    </a:ext>
                  </a:extLst>
                </a:gridCol>
                <a:gridCol w="724214">
                  <a:extLst>
                    <a:ext uri="{9D8B030D-6E8A-4147-A177-3AD203B41FA5}">
                      <a16:colId xmlns:a16="http://schemas.microsoft.com/office/drawing/2014/main" val="2512042105"/>
                    </a:ext>
                  </a:extLst>
                </a:gridCol>
                <a:gridCol w="958191">
                  <a:extLst>
                    <a:ext uri="{9D8B030D-6E8A-4147-A177-3AD203B41FA5}">
                      <a16:colId xmlns:a16="http://schemas.microsoft.com/office/drawing/2014/main" val="2264570447"/>
                    </a:ext>
                  </a:extLst>
                </a:gridCol>
                <a:gridCol w="1281302">
                  <a:extLst>
                    <a:ext uri="{9D8B030D-6E8A-4147-A177-3AD203B41FA5}">
                      <a16:colId xmlns:a16="http://schemas.microsoft.com/office/drawing/2014/main" val="227222917"/>
                    </a:ext>
                  </a:extLst>
                </a:gridCol>
                <a:gridCol w="1911496">
                  <a:extLst>
                    <a:ext uri="{9D8B030D-6E8A-4147-A177-3AD203B41FA5}">
                      <a16:colId xmlns:a16="http://schemas.microsoft.com/office/drawing/2014/main" val="3663436624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VREF_VFY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63484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68000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64120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ID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86037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CHANNEL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35609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7583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66214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 CLOCK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66383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 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79941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0xF11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93098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vref_ctl[5:0]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0365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wait 10ms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56880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BFBFBF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(old) 'VSYNCO'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(new) 'TEST'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meas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voltage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588638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2B381A1-3297-20A3-54DF-042323B3239D}"/>
              </a:ext>
            </a:extLst>
          </p:cNvPr>
          <p:cNvSpPr/>
          <p:nvPr/>
        </p:nvSpPr>
        <p:spPr>
          <a:xfrm>
            <a:off x="257005" y="5278082"/>
            <a:ext cx="6876535" cy="4618657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chemeClr val="tx1"/>
                </a:solidFill>
                <a:highlight>
                  <a:srgbClr val="FFFF00"/>
                </a:highlight>
              </a:rPr>
              <a:t>Excluded from Mass Production Test Program (2026.04.01) </a:t>
            </a:r>
            <a:endParaRPr lang="ko-KR" alt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86785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527E8-F722-0887-4DBF-FBDEBAF4B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F67CA32B-42A7-EA9F-0D15-28B371D43F85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6545937-06F9-E7B1-6C4E-1115E67EE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612036"/>
              </p:ext>
            </p:extLst>
          </p:nvPr>
        </p:nvGraphicFramePr>
        <p:xfrm>
          <a:off x="315096" y="1356069"/>
          <a:ext cx="6864180" cy="86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72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225647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936413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1018596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5572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2470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6300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27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Daisy Check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DAISY_CHK1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DOUT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600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666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700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ns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4046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DAISY_CHK2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DOUT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280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333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400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ns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3583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DAISY_CHK3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DOUT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280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333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400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ns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2837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DAISY_CHK4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DOUT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280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333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400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ns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876815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867E10-E655-F73F-1EA0-E0E0EDBCFF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34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47084-FCD5-0EB5-2FB6-12B88FDB8913}"/>
              </a:ext>
            </a:extLst>
          </p:cNvPr>
          <p:cNvSpPr txBox="1"/>
          <p:nvPr/>
        </p:nvSpPr>
        <p:spPr>
          <a:xfrm>
            <a:off x="442690" y="2413021"/>
            <a:ext cx="6040659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Method]</a:t>
            </a:r>
          </a:p>
          <a:p>
            <a:pPr marL="228600" indent="-228600" algn="just">
              <a:spcBef>
                <a:spcPts val="300"/>
              </a:spcBef>
              <a:buFontTx/>
              <a:buAutoNum type="arabicPeriod"/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5V, DIN (VIH = 5V, VIL = 0V)</a:t>
            </a:r>
          </a:p>
          <a:p>
            <a:pPr marL="228600" indent="-228600" algn="just" latinLnBrk="1">
              <a:spcBef>
                <a:spcPts val="300"/>
              </a:spcBef>
              <a:buAutoNum type="arabicPeriod" startAt="2"/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Set registers </a:t>
            </a:r>
          </a:p>
          <a:p>
            <a:pPr marL="228600" indent="-228600" algn="just">
              <a:spcBef>
                <a:spcPts val="300"/>
              </a:spcBef>
              <a:buAutoNum type="arabicPeriod" startAt="2"/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The ID_GEN signal entered into the DIN is output as DOUT at the same time,</a:t>
            </a:r>
          </a:p>
          <a:p>
            <a:pPr marL="228600" indent="-228600" algn="just">
              <a:spcBef>
                <a:spcPts val="300"/>
              </a:spcBef>
              <a:buAutoNum type="arabicPeriod" startAt="2"/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Measurement of the width of the pulse appearing as 110 100 100 100 in DOUT.</a:t>
            </a:r>
          </a:p>
          <a:p>
            <a:pPr marL="228600" indent="-228600" algn="just">
              <a:spcBef>
                <a:spcPts val="300"/>
              </a:spcBef>
              <a:buAutoNum type="arabicPeriod" startAt="2"/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Determine whether the '1' pulse width of the signal is appropriate for the target after comparing it to the limit value</a:t>
            </a:r>
          </a:p>
          <a:p>
            <a:pPr algn="just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   (The target is 666ns, 333ns, 333ns, 333ns)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C4CA2E5-D6E2-6BA4-8C1A-5B12082E3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927242"/>
              </p:ext>
            </p:extLst>
          </p:nvPr>
        </p:nvGraphicFramePr>
        <p:xfrm>
          <a:off x="348047" y="4355005"/>
          <a:ext cx="6860405" cy="1285252"/>
        </p:xfrm>
        <a:graphic>
          <a:graphicData uri="http://schemas.openxmlformats.org/drawingml/2006/table">
            <a:tbl>
              <a:tblPr/>
              <a:tblGrid>
                <a:gridCol w="523105">
                  <a:extLst>
                    <a:ext uri="{9D8B030D-6E8A-4147-A177-3AD203B41FA5}">
                      <a16:colId xmlns:a16="http://schemas.microsoft.com/office/drawing/2014/main" val="4002875976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27200393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5768823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18289702"/>
                    </a:ext>
                  </a:extLst>
                </a:gridCol>
                <a:gridCol w="3959860">
                  <a:extLst>
                    <a:ext uri="{9D8B030D-6E8A-4147-A177-3AD203B41FA5}">
                      <a16:colId xmlns:a16="http://schemas.microsoft.com/office/drawing/2014/main" val="1017458892"/>
                    </a:ext>
                  </a:extLst>
                </a:gridCol>
              </a:tblGrid>
              <a:tr h="10002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Daisy Check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253435"/>
                  </a:ext>
                </a:extLst>
              </a:tr>
              <a:tr h="2851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180536"/>
                  </a:ext>
                </a:extLst>
              </a:tr>
              <a:tr h="2851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782924"/>
                  </a:ext>
                </a:extLst>
              </a:tr>
              <a:tr h="2851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 GEN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216947"/>
                  </a:ext>
                </a:extLst>
              </a:tr>
              <a:tr h="285118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Measure pulse width of DOUT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Measurement of the pulse width of the ID_GEN signal as output.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619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0632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6AA7-A0AD-DB3F-F91A-2BA133CE6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D1E788B-33B3-8805-3410-59D072532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531630"/>
              </p:ext>
            </p:extLst>
          </p:nvPr>
        </p:nvGraphicFramePr>
        <p:xfrm>
          <a:off x="310016" y="3975331"/>
          <a:ext cx="6864177" cy="6601800"/>
        </p:xfrm>
        <a:graphic>
          <a:graphicData uri="http://schemas.openxmlformats.org/drawingml/2006/table">
            <a:tbl>
              <a:tblPr/>
              <a:tblGrid>
                <a:gridCol w="578110">
                  <a:extLst>
                    <a:ext uri="{9D8B030D-6E8A-4147-A177-3AD203B41FA5}">
                      <a16:colId xmlns:a16="http://schemas.microsoft.com/office/drawing/2014/main" val="1810930930"/>
                    </a:ext>
                  </a:extLst>
                </a:gridCol>
                <a:gridCol w="578110">
                  <a:extLst>
                    <a:ext uri="{9D8B030D-6E8A-4147-A177-3AD203B41FA5}">
                      <a16:colId xmlns:a16="http://schemas.microsoft.com/office/drawing/2014/main" val="3702490256"/>
                    </a:ext>
                  </a:extLst>
                </a:gridCol>
                <a:gridCol w="578110">
                  <a:extLst>
                    <a:ext uri="{9D8B030D-6E8A-4147-A177-3AD203B41FA5}">
                      <a16:colId xmlns:a16="http://schemas.microsoft.com/office/drawing/2014/main" val="1589680638"/>
                    </a:ext>
                  </a:extLst>
                </a:gridCol>
                <a:gridCol w="698854">
                  <a:extLst>
                    <a:ext uri="{9D8B030D-6E8A-4147-A177-3AD203B41FA5}">
                      <a16:colId xmlns:a16="http://schemas.microsoft.com/office/drawing/2014/main" val="18751906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950901207"/>
                    </a:ext>
                  </a:extLst>
                </a:gridCol>
                <a:gridCol w="3516593">
                  <a:extLst>
                    <a:ext uri="{9D8B030D-6E8A-4147-A177-3AD203B41FA5}">
                      <a16:colId xmlns:a16="http://schemas.microsoft.com/office/drawing/2014/main" val="2210607835"/>
                    </a:ext>
                  </a:extLst>
                </a:gridCol>
              </a:tblGrid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939259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0x800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4985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4b'1000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ID_GEN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345018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CHANNEL_ENABLE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ch1~12 Enable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852043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0x06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0x170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FAULT_LEVEL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8mA setting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759719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0x07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0x818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FAULT_CONTROL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O_DET_E,   S_DET_E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384578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0x08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MAX_CURRENT_VREF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 Full Setting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755715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0x25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0x35A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SERIAL_CLOCK_GEN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608520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0x26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0x03C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SERIAL_LATENCY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35486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0x27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0x134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MCLK_LOCK_1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 to MCLK_LOCK_2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857571"/>
                  </a:ext>
                </a:extLst>
              </a:tr>
              <a:tr h="146284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0x28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0x850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MCLK_LOCK_2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MCLK_LOCK_CNT_E=0 (FLL Enable. MCLK unlocking)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453930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FLL Range : 0 (=default)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129686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MCLK_LOCK_CNT=0x50+0x134=0x50134 (decimal : 327988)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647038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=&gt; PWM RES=1, 120Hz , XD12 &amp; XD04 : 327988 (=ideal+0.1% margin)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936167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(=&gt; ideal = 327660 (=39.3192/120Hz = 0x4FFB0)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566917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0x2A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OSC_FLL_MAN_1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547487"/>
                  </a:ext>
                </a:extLst>
              </a:tr>
              <a:tr h="146284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0x2B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0x808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OSC_FLL_MAN_2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When using MCLK_LOCK frequency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231149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Register OSC_FLL_MAN=0 in OSC_FLL_MAN2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376374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Use register MCLK_LOCK_CNT_E=0 in MCLK_LOCK2 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520126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(FLL enable, MCLK unlock)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340442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146878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When using OSC_FLL_MAN frequency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894230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Register OSC_FLL_MAN=1 in OSC_FLL_MAN2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211711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Use register MCLK_LOCK_CNT_E=1 of MCLK_LOCK2 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531246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(FLL disable, MCLK locking)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616765"/>
                  </a:ext>
                </a:extLst>
              </a:tr>
              <a:tr h="14628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0x2D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0x155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WR_PROTECT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PCK_MODE=0 (Each Channel : common PWM clock)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28815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PCK_SYNC_E=0 (SYNC Disable)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868631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REG_WR_PROTECT=0x155(write access to all internal registers is allowable)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31790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0xC1B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LD_CONTROL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Tail mode &amp; SCAN_NO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BIN : 1100 0001 1011 / LD_SIZE, SCAN_NO, PWM_RES, LD_DIR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03930"/>
                  </a:ext>
                </a:extLst>
              </a:tr>
              <a:tr h="1505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0x013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FPWM_DIVIDER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PWM_RES=1, 120Hz (decimal =19)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502124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4b'1111</a:t>
                      </a: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 to the right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TRANSMIT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120Hz process</a:t>
                      </a: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120Hz process for sending output : 3 repetitions required</a:t>
                      </a:r>
                      <a:b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Duty 50.00% : 0x1FFF</a:t>
                      </a:r>
                      <a:b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sz="5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11750"/>
                  </a:ext>
                </a:extLst>
              </a:tr>
              <a:tr h="146284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(1ms)</a:t>
                      </a: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545154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4b'1001</a:t>
                      </a: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6688"/>
                  </a:ext>
                </a:extLst>
              </a:tr>
              <a:tr h="150586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(7ms)</a:t>
                      </a: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53238"/>
                  </a:ext>
                </a:extLst>
              </a:tr>
              <a:tr h="14628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4b’1001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5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Before each channel measurement, a SYNC_GEN signal is sent before proceeding with the measurement.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Before each channel measurement, 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531222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SYNC_GEN signal is sent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670602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before proceeding with the measurement.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204772"/>
                  </a:ext>
                </a:extLst>
              </a:tr>
              <a:tr h="219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5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5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5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Meas. 5 times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537691"/>
                  </a:ext>
                </a:extLst>
              </a:tr>
              <a:tr h="219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 it fails even once among the measured values, it is a FAIL.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086947"/>
                  </a:ext>
                </a:extLst>
              </a:tr>
              <a:tr h="146284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Four difference values were calculated from 5 measurements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 100% Duty using the formulas below: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Four difference values were calculated from 5 measurements at 100% Duty using the formulas below: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896611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Diff_1={(1st - 2nd)/1st} x 100 [%]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Diff_1={(1st - 2nd)/1st} x 100 [%]</a:t>
                      </a:r>
                      <a:endParaRPr lang="ko-KR" altLang="en-US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056380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Diff_2={(1st - 3rd)/1st} x 100 [%]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Diff_2={(1st - 3rd)/1st} x 100 [%]</a:t>
                      </a:r>
                      <a:endParaRPr lang="ko-KR" altLang="en-US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45667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Diff_3={(1st - 4th)/1st} x 100 [%]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Diff_3={(1st - 4th)/1st} x 100 [%]</a:t>
                      </a:r>
                      <a:endParaRPr lang="ko-KR" altLang="en-US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915268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Diff_4={(1st - 5th)/1st} x 100 [%]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Diff_4={(1st - 5th)/1st} x 100 [%]</a:t>
                      </a:r>
                      <a:endParaRPr lang="ko-KR" altLang="en-US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060945"/>
                  </a:ext>
                </a:extLst>
              </a:tr>
            </a:tbl>
          </a:graphicData>
        </a:graphic>
      </p:graphicFrame>
      <p:sp>
        <p:nvSpPr>
          <p:cNvPr id="2" name="object 10">
            <a:extLst>
              <a:ext uri="{FF2B5EF4-FFF2-40B4-BE49-F238E27FC236}">
                <a16:creationId xmlns:a16="http://schemas.microsoft.com/office/drawing/2014/main" id="{1393C949-2E7E-0E96-CB93-FC33A7F9B741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5F33A5-2491-B6D4-06C1-F6A1657432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35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A86A4-990B-832D-FE8C-F0D3526F8493}"/>
              </a:ext>
            </a:extLst>
          </p:cNvPr>
          <p:cNvSpPr txBox="1"/>
          <p:nvPr/>
        </p:nvSpPr>
        <p:spPr>
          <a:xfrm>
            <a:off x="275628" y="3235210"/>
            <a:ext cx="3417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50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Method]</a:t>
            </a:r>
          </a:p>
          <a:p>
            <a:pPr marL="228600" indent="-228600" algn="just">
              <a:spcBef>
                <a:spcPts val="300"/>
              </a:spcBef>
              <a:buFontTx/>
              <a:buAutoNum type="arabicPeriod"/>
            </a:pPr>
            <a:r>
              <a:rPr lang="en-US" altLang="ko-KR" sz="5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5V, DIN (VIH = 5V, VIL = 0V)</a:t>
            </a:r>
          </a:p>
          <a:p>
            <a:pPr marL="228600" indent="-228600" algn="just" latinLnBrk="1">
              <a:spcBef>
                <a:spcPts val="300"/>
              </a:spcBef>
              <a:buAutoNum type="arabicPeriod" startAt="2"/>
            </a:pPr>
            <a:r>
              <a:rPr lang="en-US" altLang="ko-KR" sz="5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Set registers 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B767628-B8D4-E7FD-22C3-5CC2DDDB9EF4}"/>
              </a:ext>
            </a:extLst>
          </p:cNvPr>
          <p:cNvGrpSpPr/>
          <p:nvPr/>
        </p:nvGrpSpPr>
        <p:grpSpPr>
          <a:xfrm>
            <a:off x="23815" y="8381999"/>
            <a:ext cx="447675" cy="583564"/>
            <a:chOff x="0" y="7940040"/>
            <a:chExt cx="468205" cy="711200"/>
          </a:xfrm>
        </p:grpSpPr>
        <p:sp>
          <p:nvSpPr>
            <p:cNvPr id="11" name="화살표: 아래로 구부러짐 10">
              <a:extLst>
                <a:ext uri="{FF2B5EF4-FFF2-40B4-BE49-F238E27FC236}">
                  <a16:creationId xmlns:a16="http://schemas.microsoft.com/office/drawing/2014/main" id="{EAD4B8FF-3CB7-BB73-E2E0-ED8C8441D0C9}"/>
                </a:ext>
              </a:extLst>
            </p:cNvPr>
            <p:cNvSpPr/>
            <p:nvPr/>
          </p:nvSpPr>
          <p:spPr>
            <a:xfrm rot="16200000">
              <a:off x="-233612" y="8173652"/>
              <a:ext cx="670560" cy="203336"/>
            </a:xfrm>
            <a:prstGeom prst="curved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아래로 구부러짐 11">
              <a:extLst>
                <a:ext uri="{FF2B5EF4-FFF2-40B4-BE49-F238E27FC236}">
                  <a16:creationId xmlns:a16="http://schemas.microsoft.com/office/drawing/2014/main" id="{189A7F1D-1A51-4089-79F5-3FF4ED71EF4A}"/>
                </a:ext>
              </a:extLst>
            </p:cNvPr>
            <p:cNvSpPr/>
            <p:nvPr/>
          </p:nvSpPr>
          <p:spPr>
            <a:xfrm rot="5604183">
              <a:off x="31257" y="8214292"/>
              <a:ext cx="670560" cy="203336"/>
            </a:xfrm>
            <a:prstGeom prst="curved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80F77E6-38C9-411E-6CD8-A78F6D0E30C8}"/>
                </a:ext>
              </a:extLst>
            </p:cNvPr>
            <p:cNvSpPr/>
            <p:nvPr/>
          </p:nvSpPr>
          <p:spPr>
            <a:xfrm>
              <a:off x="30480" y="8199120"/>
              <a:ext cx="406672" cy="17272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500" b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Loop  3</a:t>
              </a:r>
              <a:endParaRPr lang="ko-KR" altLang="en-US" sz="500" b="1" dirty="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45F6337-2C41-65AD-4B4B-7A61B1A59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404076"/>
              </p:ext>
            </p:extLst>
          </p:nvPr>
        </p:nvGraphicFramePr>
        <p:xfrm>
          <a:off x="310015" y="1240025"/>
          <a:ext cx="6864178" cy="1968100"/>
        </p:xfrm>
        <a:graphic>
          <a:graphicData uri="http://schemas.openxmlformats.org/drawingml/2006/table">
            <a:tbl>
              <a:tblPr/>
              <a:tblGrid>
                <a:gridCol w="432935">
                  <a:extLst>
                    <a:ext uri="{9D8B030D-6E8A-4147-A177-3AD203B41FA5}">
                      <a16:colId xmlns:a16="http://schemas.microsoft.com/office/drawing/2014/main" val="1453321405"/>
                    </a:ext>
                  </a:extLst>
                </a:gridCol>
                <a:gridCol w="651332">
                  <a:extLst>
                    <a:ext uri="{9D8B030D-6E8A-4147-A177-3AD203B41FA5}">
                      <a16:colId xmlns:a16="http://schemas.microsoft.com/office/drawing/2014/main" val="1529074134"/>
                    </a:ext>
                  </a:extLst>
                </a:gridCol>
                <a:gridCol w="640315">
                  <a:extLst>
                    <a:ext uri="{9D8B030D-6E8A-4147-A177-3AD203B41FA5}">
                      <a16:colId xmlns:a16="http://schemas.microsoft.com/office/drawing/2014/main" val="863610818"/>
                    </a:ext>
                  </a:extLst>
                </a:gridCol>
                <a:gridCol w="486353">
                  <a:extLst>
                    <a:ext uri="{9D8B030D-6E8A-4147-A177-3AD203B41FA5}">
                      <a16:colId xmlns:a16="http://schemas.microsoft.com/office/drawing/2014/main" val="3422936961"/>
                    </a:ext>
                  </a:extLst>
                </a:gridCol>
                <a:gridCol w="401551">
                  <a:extLst>
                    <a:ext uri="{9D8B030D-6E8A-4147-A177-3AD203B41FA5}">
                      <a16:colId xmlns:a16="http://schemas.microsoft.com/office/drawing/2014/main" val="1333441536"/>
                    </a:ext>
                  </a:extLst>
                </a:gridCol>
                <a:gridCol w="385849">
                  <a:extLst>
                    <a:ext uri="{9D8B030D-6E8A-4147-A177-3AD203B41FA5}">
                      <a16:colId xmlns:a16="http://schemas.microsoft.com/office/drawing/2014/main" val="2091570871"/>
                    </a:ext>
                  </a:extLst>
                </a:gridCol>
                <a:gridCol w="758179">
                  <a:extLst>
                    <a:ext uri="{9D8B030D-6E8A-4147-A177-3AD203B41FA5}">
                      <a16:colId xmlns:a16="http://schemas.microsoft.com/office/drawing/2014/main" val="1413530565"/>
                    </a:ext>
                  </a:extLst>
                </a:gridCol>
                <a:gridCol w="443952">
                  <a:extLst>
                    <a:ext uri="{9D8B030D-6E8A-4147-A177-3AD203B41FA5}">
                      <a16:colId xmlns:a16="http://schemas.microsoft.com/office/drawing/2014/main" val="1893589027"/>
                    </a:ext>
                  </a:extLst>
                </a:gridCol>
                <a:gridCol w="443952">
                  <a:extLst>
                    <a:ext uri="{9D8B030D-6E8A-4147-A177-3AD203B41FA5}">
                      <a16:colId xmlns:a16="http://schemas.microsoft.com/office/drawing/2014/main" val="3223165759"/>
                    </a:ext>
                  </a:extLst>
                </a:gridCol>
                <a:gridCol w="443952">
                  <a:extLst>
                    <a:ext uri="{9D8B030D-6E8A-4147-A177-3AD203B41FA5}">
                      <a16:colId xmlns:a16="http://schemas.microsoft.com/office/drawing/2014/main" val="4227345510"/>
                    </a:ext>
                  </a:extLst>
                </a:gridCol>
                <a:gridCol w="443952">
                  <a:extLst>
                    <a:ext uri="{9D8B030D-6E8A-4147-A177-3AD203B41FA5}">
                      <a16:colId xmlns:a16="http://schemas.microsoft.com/office/drawing/2014/main" val="1567106716"/>
                    </a:ext>
                  </a:extLst>
                </a:gridCol>
                <a:gridCol w="443952">
                  <a:extLst>
                    <a:ext uri="{9D8B030D-6E8A-4147-A177-3AD203B41FA5}">
                      <a16:colId xmlns:a16="http://schemas.microsoft.com/office/drawing/2014/main" val="3738188098"/>
                    </a:ext>
                  </a:extLst>
                </a:gridCol>
                <a:gridCol w="443952">
                  <a:extLst>
                    <a:ext uri="{9D8B030D-6E8A-4147-A177-3AD203B41FA5}">
                      <a16:colId xmlns:a16="http://schemas.microsoft.com/office/drawing/2014/main" val="1149403104"/>
                    </a:ext>
                  </a:extLst>
                </a:gridCol>
                <a:gridCol w="443952">
                  <a:extLst>
                    <a:ext uri="{9D8B030D-6E8A-4147-A177-3AD203B41FA5}">
                      <a16:colId xmlns:a16="http://schemas.microsoft.com/office/drawing/2014/main" val="1879501170"/>
                    </a:ext>
                  </a:extLst>
                </a:gridCol>
              </a:tblGrid>
              <a:tr h="19681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Characteristics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Simbol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Test Pin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Decimal Code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Hexa Code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Bin Code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S100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Acco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672344"/>
                  </a:ext>
                </a:extLst>
              </a:tr>
              <a:tr h="1968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Low Limit[uS]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 Pulse Width[uS]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High Limit[uS]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Low Limit[mA]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Current Meas.[mA]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High Limit[mA]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306166"/>
                  </a:ext>
                </a:extLst>
              </a:tr>
              <a:tr h="196810"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PWM_SCAN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PWM_SC1_CH1~12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1023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0x03FF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0000 0011 1111 1111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50.00%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495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520.83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546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619358"/>
                  </a:ext>
                </a:extLst>
              </a:tr>
              <a:tr h="1968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PWM_SC2_CH1~12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1023</a:t>
                      </a:r>
                      <a:endParaRPr lang="en-US" altLang="ko-KR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0x03FF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0000 0011 1111 1111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50.00%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495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520.83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546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287563"/>
                  </a:ext>
                </a:extLst>
              </a:tr>
              <a:tr h="1968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PWM_SC3_CH1~12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1023</a:t>
                      </a:r>
                      <a:endParaRPr lang="en-US" altLang="ko-KR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0x03FF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0000 0011 1111 1111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50.00%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495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520.83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546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525439"/>
                  </a:ext>
                </a:extLst>
              </a:tr>
              <a:tr h="1968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PWM_SC4_CH1~12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1023</a:t>
                      </a:r>
                      <a:endParaRPr lang="en-US" altLang="ko-KR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0x03FF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0000 0011 1111 1111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50.00%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495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520.83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546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230444"/>
                  </a:ext>
                </a:extLst>
              </a:tr>
              <a:tr h="1968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PWM_SC5_CH1~12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1023</a:t>
                      </a:r>
                      <a:endParaRPr lang="en-US" altLang="ko-KR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0x03FF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0000 0011 1111 1111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50.00%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495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520.83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546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718072"/>
                  </a:ext>
                </a:extLst>
              </a:tr>
              <a:tr h="1968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PWM_SC6_CH1~12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1023</a:t>
                      </a:r>
                      <a:endParaRPr lang="en-US" altLang="ko-KR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0x03FF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0000 0011 1111 1111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50.00%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495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520.83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546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58708"/>
                  </a:ext>
                </a:extLst>
              </a:tr>
              <a:tr h="1968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PWM_SC7_CH1~12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1023</a:t>
                      </a:r>
                      <a:endParaRPr lang="en-US" altLang="ko-KR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0x03FF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0000 0011 1111 1111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50.00%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495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520.83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546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760914"/>
                  </a:ext>
                </a:extLst>
              </a:tr>
              <a:tr h="1968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PWM_SC8_CH1~12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1023</a:t>
                      </a:r>
                      <a:endParaRPr lang="en-US" altLang="ko-KR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0x03FF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0000 0011 1111 1111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50.00%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495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520.83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546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1.9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4255" marR="4255" marT="42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100089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E4CFF512-BC50-B769-8A08-7171327FF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060" y="3288354"/>
            <a:ext cx="1959323" cy="51552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EAF18B0-93C3-0E2F-F38B-7022E459B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398" y="3291528"/>
            <a:ext cx="2416795" cy="512353"/>
          </a:xfrm>
          <a:prstGeom prst="rect">
            <a:avLst/>
          </a:prstGeom>
        </p:spPr>
      </p:pic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79BB941B-0B46-8A34-6C21-4F1118D1592F}"/>
              </a:ext>
            </a:extLst>
          </p:cNvPr>
          <p:cNvSpPr/>
          <p:nvPr/>
        </p:nvSpPr>
        <p:spPr>
          <a:xfrm>
            <a:off x="4086139" y="3488410"/>
            <a:ext cx="606389" cy="2000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9814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B7645-24CB-388D-22A2-38DB32828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969F7A71-CBD5-BF4F-8DEE-A6925B579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96429"/>
              </p:ext>
            </p:extLst>
          </p:nvPr>
        </p:nvGraphicFramePr>
        <p:xfrm>
          <a:off x="310014" y="2970247"/>
          <a:ext cx="6864177" cy="7545210"/>
        </p:xfrm>
        <a:graphic>
          <a:graphicData uri="http://schemas.openxmlformats.org/drawingml/2006/table">
            <a:tbl>
              <a:tblPr/>
              <a:tblGrid>
                <a:gridCol w="578110">
                  <a:extLst>
                    <a:ext uri="{9D8B030D-6E8A-4147-A177-3AD203B41FA5}">
                      <a16:colId xmlns:a16="http://schemas.microsoft.com/office/drawing/2014/main" val="1810930930"/>
                    </a:ext>
                  </a:extLst>
                </a:gridCol>
                <a:gridCol w="578110">
                  <a:extLst>
                    <a:ext uri="{9D8B030D-6E8A-4147-A177-3AD203B41FA5}">
                      <a16:colId xmlns:a16="http://schemas.microsoft.com/office/drawing/2014/main" val="3702490256"/>
                    </a:ext>
                  </a:extLst>
                </a:gridCol>
                <a:gridCol w="578110">
                  <a:extLst>
                    <a:ext uri="{9D8B030D-6E8A-4147-A177-3AD203B41FA5}">
                      <a16:colId xmlns:a16="http://schemas.microsoft.com/office/drawing/2014/main" val="1589680638"/>
                    </a:ext>
                  </a:extLst>
                </a:gridCol>
                <a:gridCol w="811086">
                  <a:extLst>
                    <a:ext uri="{9D8B030D-6E8A-4147-A177-3AD203B41FA5}">
                      <a16:colId xmlns:a16="http://schemas.microsoft.com/office/drawing/2014/main" val="187519061"/>
                    </a:ext>
                  </a:extLst>
                </a:gridCol>
                <a:gridCol w="802168">
                  <a:extLst>
                    <a:ext uri="{9D8B030D-6E8A-4147-A177-3AD203B41FA5}">
                      <a16:colId xmlns:a16="http://schemas.microsoft.com/office/drawing/2014/main" val="2950901207"/>
                    </a:ext>
                  </a:extLst>
                </a:gridCol>
                <a:gridCol w="3516593">
                  <a:extLst>
                    <a:ext uri="{9D8B030D-6E8A-4147-A177-3AD203B41FA5}">
                      <a16:colId xmlns:a16="http://schemas.microsoft.com/office/drawing/2014/main" val="2210607835"/>
                    </a:ext>
                  </a:extLst>
                </a:gridCol>
              </a:tblGrid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939259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0x800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4985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4b'1000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ID_GEN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345018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CHANNEL_ENABLE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ch1~12 Enable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852043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0x06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0x170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FAULT_LEVEL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8mA setting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759719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0x07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0x818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FAULT_CONTROL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O_DET_E,   S_DET_E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384578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0x08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MAX_CURRENT_VREF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 Full Setting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755715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0x25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0x35A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SERIAL_CLOCK_GEN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608520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0x26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0x03C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SERIAL_LATENCY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35486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0x27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0x134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MCLK_LOCK_1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 to MCLK_LOCK_2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857571"/>
                  </a:ext>
                </a:extLst>
              </a:tr>
              <a:tr h="146284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0x28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0x850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MCLK_LOCK_2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MCLK_LOCK_CNT_E=0 (FLL Enable. MCLK unlocking)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453930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FLL Range : 0 (=default)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129686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MCLK_LOCK_CNT=0x50+0x134=0x50134 (decimal : 327988)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647038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=&gt; PWM RES=1, 120Hz , XD12 &amp; XD04 : 327988 (=ideal+0.1% margin)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936167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(=&gt; ideal = 327660 (=39.3192/120Hz = 0x4FFB0)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566917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0x2A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OSC_FLL_MAN_1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547487"/>
                  </a:ext>
                </a:extLst>
              </a:tr>
              <a:tr h="146284"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0x2B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0x808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OSC_FLL_MAN_2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When using MCLK_LOCK frequency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231149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Register OSC_FLL_MAN=0 in OSC_FLL_MAN2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376374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Use register MCLK_LOCK_CNT_E=0 in MCLK_LOCK2 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520126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(FLL enable, MCLK unlock)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340442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When using OSC_FLL_MAN frequency</a:t>
                      </a:r>
                    </a:p>
                  </a:txBody>
                  <a:tcPr marL="4302" marR="4302" marT="4302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894230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Register OSC_FLL_MAN=1 in OSC_FLL_MAN2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211711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Use register MCLK_LOCK_CNT_E=1 of MCLK_LOCK2 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531246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(FLL disable, MCLK locking)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616765"/>
                  </a:ext>
                </a:extLst>
              </a:tr>
              <a:tr h="14628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0x2D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0x155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WR_PROTECT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PCK_MODE=0 (Each Channel : common PWM clock)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28815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PCK_SYNC_E=0 (SYNC Disable)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868631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REG_WR_PROTECT=0x155(write access to all internal registers is allowable)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31790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0xC03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LD_CONTROL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Tail mode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BIN :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1100 0000 0011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LD_SIZE, SCAN_NO, PWM_RES, LD_DIR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03930"/>
                  </a:ext>
                </a:extLst>
              </a:tr>
              <a:tr h="1505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0x013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FPWM_DIVIDER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PWM_RES=1, 120Hz (decimal =19)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502124"/>
                  </a:ext>
                </a:extLst>
              </a:tr>
              <a:tr h="1505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0x09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DELAY CH EXTEND1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022986"/>
                  </a:ext>
                </a:extLst>
              </a:tr>
              <a:tr h="1505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0x0A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DELAY CH EXTEND2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801841"/>
                  </a:ext>
                </a:extLst>
              </a:tr>
              <a:tr h="150586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0x0B ~ 0x16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0x7FF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>
                          <a:latin typeface="+mn-ea"/>
                          <a:ea typeface="+mn-ea"/>
                        </a:rPr>
                        <a:t>DELAY CH1~12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440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4b'1111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 to the right</a:t>
                      </a:r>
                      <a:endParaRPr lang="ko-KR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TRANSMIT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120Hz process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120Hz process for sending output : 3 repetitions required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Duty 50% : 0x1FFF</a:t>
                      </a:r>
                      <a:b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11750"/>
                  </a:ext>
                </a:extLst>
              </a:tr>
              <a:tr h="146284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(1ms)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545154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6688"/>
                  </a:ext>
                </a:extLst>
              </a:tr>
              <a:tr h="150586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(7ms)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53238"/>
                  </a:ext>
                </a:extLst>
              </a:tr>
              <a:tr h="14628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4b’1001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Before each channel measurement, a SYNC_GEN signal is sent before proceeding with the measurement.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Before each channel measurement, 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531222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SYNC_GEN signal is sent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670602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before proceeding with the measurement.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204772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F82F0E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Measure 1 Time</a:t>
                      </a:r>
                      <a:endParaRPr lang="en-US" sz="600" b="0" i="0" u="none" strike="noStrike" dirty="0">
                        <a:solidFill>
                          <a:srgbClr val="F82F0E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Considering the delay, it's best to capture two frames.</a:t>
                      </a:r>
                      <a:endParaRPr 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394676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0x09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0x555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DELAY CH EXTEND1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40525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0x0A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0x555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DELAY CH EXTEND2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443830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0x0B ~ 0x16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0x7FF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DELAY CH1~12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26441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4b'1111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 to the right</a:t>
                      </a:r>
                      <a:endParaRPr lang="ko-KR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TRANSMIT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120Hz process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120Hz process for sending output : 3 repetitions required</a:t>
                      </a:r>
                      <a:b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Duty 50% : 0x1FFF</a:t>
                      </a:r>
                      <a:b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178067"/>
                  </a:ext>
                </a:extLst>
              </a:tr>
              <a:tr h="146284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(1ms)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884566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493123"/>
                  </a:ext>
                </a:extLst>
              </a:tr>
              <a:tr h="146284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(7ms)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554535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4b’1001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Before each channel measurement, 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694059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F82F0E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Measure 1 Time</a:t>
                      </a:r>
                      <a:endParaRPr lang="en-US" sz="600" b="0" i="0" u="none" strike="noStrike" dirty="0">
                        <a:solidFill>
                          <a:srgbClr val="F82F0E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Considering the delay, it's best to capture two frames.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475523"/>
                  </a:ext>
                </a:extLst>
              </a:tr>
            </a:tbl>
          </a:graphicData>
        </a:graphic>
      </p:graphicFrame>
      <p:sp>
        <p:nvSpPr>
          <p:cNvPr id="2" name="object 10">
            <a:extLst>
              <a:ext uri="{FF2B5EF4-FFF2-40B4-BE49-F238E27FC236}">
                <a16:creationId xmlns:a16="http://schemas.microsoft.com/office/drawing/2014/main" id="{8AF6D9DE-2A15-06DA-1154-2728D7D796CA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6E8C10-C3E2-DC28-FEF5-C93B2B96E43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36</a:t>
            </a:fld>
            <a:endParaRPr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BC30E06-296F-BD02-1A14-09D493995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132144"/>
              </p:ext>
            </p:extLst>
          </p:nvPr>
        </p:nvGraphicFramePr>
        <p:xfrm>
          <a:off x="310014" y="1203936"/>
          <a:ext cx="6864174" cy="1668800"/>
        </p:xfrm>
        <a:graphic>
          <a:graphicData uri="http://schemas.openxmlformats.org/drawingml/2006/table">
            <a:tbl>
              <a:tblPr/>
              <a:tblGrid>
                <a:gridCol w="304349">
                  <a:extLst>
                    <a:ext uri="{9D8B030D-6E8A-4147-A177-3AD203B41FA5}">
                      <a16:colId xmlns:a16="http://schemas.microsoft.com/office/drawing/2014/main" val="3660057586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4213838158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1223153346"/>
                    </a:ext>
                  </a:extLst>
                </a:gridCol>
                <a:gridCol w="394373">
                  <a:extLst>
                    <a:ext uri="{9D8B030D-6E8A-4147-A177-3AD203B41FA5}">
                      <a16:colId xmlns:a16="http://schemas.microsoft.com/office/drawing/2014/main" val="2056703022"/>
                    </a:ext>
                  </a:extLst>
                </a:gridCol>
                <a:gridCol w="351788">
                  <a:extLst>
                    <a:ext uri="{9D8B030D-6E8A-4147-A177-3AD203B41FA5}">
                      <a16:colId xmlns:a16="http://schemas.microsoft.com/office/drawing/2014/main" val="1418031553"/>
                    </a:ext>
                  </a:extLst>
                </a:gridCol>
                <a:gridCol w="403271">
                  <a:extLst>
                    <a:ext uri="{9D8B030D-6E8A-4147-A177-3AD203B41FA5}">
                      <a16:colId xmlns:a16="http://schemas.microsoft.com/office/drawing/2014/main" val="3376867646"/>
                    </a:ext>
                  </a:extLst>
                </a:gridCol>
                <a:gridCol w="403271">
                  <a:extLst>
                    <a:ext uri="{9D8B030D-6E8A-4147-A177-3AD203B41FA5}">
                      <a16:colId xmlns:a16="http://schemas.microsoft.com/office/drawing/2014/main" val="3776006999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2498015168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513302026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1199274626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4003419188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1062931572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1083061721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3844827904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4090464034"/>
                    </a:ext>
                  </a:extLst>
                </a:gridCol>
                <a:gridCol w="480492">
                  <a:extLst>
                    <a:ext uri="{9D8B030D-6E8A-4147-A177-3AD203B41FA5}">
                      <a16:colId xmlns:a16="http://schemas.microsoft.com/office/drawing/2014/main" val="2797519763"/>
                    </a:ext>
                  </a:extLst>
                </a:gridCol>
              </a:tblGrid>
              <a:tr h="16688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Characteristics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Symbol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Test Pin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Decimal Code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Hexa Code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Bin Code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Extend Register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S100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Acco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225905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(0x09 &amp; 0x0A)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Low Limit[uS]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TYP [uS]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High Limit[uS]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Low Limit[mA]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Current Meas.[mA]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High Limit[mA]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23089"/>
                  </a:ext>
                </a:extLst>
              </a:tr>
              <a:tr h="166880"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PWM_DELAY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PWM_DL1_CH1~12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2047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0x7FF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0111 1111 1111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50%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989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1040.67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1093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3.8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4.2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Acco is set up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 the code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 measure after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the target delay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 if the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measured value is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50% duty value.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568397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PWM_DL1_DU1~12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3959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4167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4375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742715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PWM_DL2_CH1~12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2047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0x7FF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0111 1111 1111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50%</a:t>
                      </a:r>
                      <a:endParaRPr lang="en-US" altLang="ko-KR" sz="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0x555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2969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3125.00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3281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3.8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4.2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254074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PWM_DL2_DU1~12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3959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4167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4375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765643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PWM_DL3_CH1~12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2047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0x7FF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0111 1111 1111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50%</a:t>
                      </a:r>
                      <a:endParaRPr lang="en-US" altLang="ko-KR" sz="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0xAAA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4949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5209.33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5470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3.8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4.2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92629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PWM_DL3_DU1~12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3959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4167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4375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844733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PWM_DL4_CH1~12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2047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0x7FF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0111 1111 1111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50%</a:t>
                      </a:r>
                      <a:endParaRPr lang="en-US" altLang="ko-KR" sz="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6928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7292.67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7657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3.8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4.2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790777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PWM_DL4_DU1~12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3959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4167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4375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165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7236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994B8-7E10-CD43-83A9-79AD65E0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E41044E-BCE5-4A86-2A18-DEABA01C8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675542"/>
              </p:ext>
            </p:extLst>
          </p:nvPr>
        </p:nvGraphicFramePr>
        <p:xfrm>
          <a:off x="303402" y="2975868"/>
          <a:ext cx="6875998" cy="7134250"/>
        </p:xfrm>
        <a:graphic>
          <a:graphicData uri="http://schemas.openxmlformats.org/drawingml/2006/table">
            <a:tbl>
              <a:tblPr/>
              <a:tblGrid>
                <a:gridCol w="579106">
                  <a:extLst>
                    <a:ext uri="{9D8B030D-6E8A-4147-A177-3AD203B41FA5}">
                      <a16:colId xmlns:a16="http://schemas.microsoft.com/office/drawing/2014/main" val="1810930930"/>
                    </a:ext>
                  </a:extLst>
                </a:gridCol>
                <a:gridCol w="579106">
                  <a:extLst>
                    <a:ext uri="{9D8B030D-6E8A-4147-A177-3AD203B41FA5}">
                      <a16:colId xmlns:a16="http://schemas.microsoft.com/office/drawing/2014/main" val="3702490256"/>
                    </a:ext>
                  </a:extLst>
                </a:gridCol>
                <a:gridCol w="579106">
                  <a:extLst>
                    <a:ext uri="{9D8B030D-6E8A-4147-A177-3AD203B41FA5}">
                      <a16:colId xmlns:a16="http://schemas.microsoft.com/office/drawing/2014/main" val="1589680638"/>
                    </a:ext>
                  </a:extLst>
                </a:gridCol>
                <a:gridCol w="812483">
                  <a:extLst>
                    <a:ext uri="{9D8B030D-6E8A-4147-A177-3AD203B41FA5}">
                      <a16:colId xmlns:a16="http://schemas.microsoft.com/office/drawing/2014/main" val="187519061"/>
                    </a:ext>
                  </a:extLst>
                </a:gridCol>
                <a:gridCol w="803549">
                  <a:extLst>
                    <a:ext uri="{9D8B030D-6E8A-4147-A177-3AD203B41FA5}">
                      <a16:colId xmlns:a16="http://schemas.microsoft.com/office/drawing/2014/main" val="2950901207"/>
                    </a:ext>
                  </a:extLst>
                </a:gridCol>
                <a:gridCol w="3522648">
                  <a:extLst>
                    <a:ext uri="{9D8B030D-6E8A-4147-A177-3AD203B41FA5}">
                      <a16:colId xmlns:a16="http://schemas.microsoft.com/office/drawing/2014/main" val="2210607835"/>
                    </a:ext>
                  </a:extLst>
                </a:gridCol>
              </a:tblGrid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939259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0x800</a:t>
                      </a:r>
                      <a:endParaRPr lang="ko-KR" altLang="en-US" sz="2800" strike="sngStrike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</a:t>
                      </a:r>
                      <a:endParaRPr lang="ko-KR" altLang="en-US" sz="2800" strike="sngStrike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4985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4b'1000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sng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2800" strike="sngStrike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ID_GEN</a:t>
                      </a:r>
                      <a:endParaRPr lang="ko-KR" altLang="en-US" sz="2800" strike="sngStrike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345018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  <a:endParaRPr lang="ko-KR" altLang="en-US" sz="2800" strike="sngStrike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CHANNEL_ENABLE</a:t>
                      </a:r>
                      <a:endParaRPr lang="ko-KR" altLang="en-US" sz="2800" strike="sngStrike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ch1~12 Enable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852043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0x06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0x170</a:t>
                      </a:r>
                      <a:endParaRPr lang="ko-KR" altLang="en-US" sz="28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FAULT_LEVEL</a:t>
                      </a:r>
                      <a:endParaRPr lang="ko-KR" altLang="en-US" sz="28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8mA setting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759719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0x07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0x818</a:t>
                      </a:r>
                      <a:endParaRPr lang="ko-KR" altLang="en-US" sz="2800" strike="sngStrike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FAULT_CONTROL</a:t>
                      </a:r>
                      <a:endParaRPr lang="ko-KR" altLang="en-US" sz="28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O_DET_E,   S_DET_E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384578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0x08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  <a:endParaRPr lang="ko-KR" altLang="en-US" sz="2800" strike="sngStrike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MAX_CURRENT_VREF</a:t>
                      </a:r>
                      <a:endParaRPr lang="ko-KR" altLang="en-US" sz="28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 Full Setting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755715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0x25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0x35A</a:t>
                      </a:r>
                      <a:endParaRPr lang="ko-KR" altLang="en-US" sz="2800" strike="sngStrike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SERIAL_CLOCK_GEN</a:t>
                      </a:r>
                      <a:endParaRPr lang="ko-KR" altLang="en-US" sz="28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608520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0x26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0x03C</a:t>
                      </a:r>
                      <a:endParaRPr lang="ko-KR" altLang="en-US" sz="2800" strike="sngStrike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SERIAL_LATENCY</a:t>
                      </a:r>
                      <a:endParaRPr lang="ko-KR" altLang="en-US" sz="2800" strike="sngStrike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35486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0x27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0x134</a:t>
                      </a:r>
                      <a:endParaRPr lang="ko-KR" altLang="en-US" sz="28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MCLK_LOCK_1</a:t>
                      </a:r>
                      <a:endParaRPr lang="ko-KR" altLang="en-US" sz="28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 to MCLK_LOCK_2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857571"/>
                  </a:ext>
                </a:extLst>
              </a:tr>
              <a:tr h="146284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0x28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0x850</a:t>
                      </a:r>
                      <a:endParaRPr lang="ko-KR" altLang="en-US" sz="28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MCLK_LOCK_2</a:t>
                      </a:r>
                      <a:endParaRPr lang="ko-KR" altLang="en-US" sz="28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MCLK_LOCK_CNT_E=0 (FLL Enable. MCLK unlocking)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453930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FLL Range : 0 (=default)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129686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MCLK_LOCK_CNT=0x50+0x134=0x50134 (decimal : 327988)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647038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=&gt; PWM RES=1, 120Hz , XD12 &amp; XD04 : 327988 (=ideal+0.1% margin)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936167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(=&gt; ideal = 327660 (=39.3192/120Hz = 0x4FFB0)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566917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0x2A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</a:t>
                      </a:r>
                      <a:endParaRPr lang="ko-KR" altLang="en-US" sz="2800" strike="sngStrike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OSC_FLL_MAN_1</a:t>
                      </a:r>
                      <a:endParaRPr lang="ko-KR" altLang="en-US" sz="2800" strike="sngStrike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547487"/>
                  </a:ext>
                </a:extLst>
              </a:tr>
              <a:tr h="146284"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0x2B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0x800</a:t>
                      </a:r>
                      <a:endParaRPr lang="ko-KR" altLang="en-US" sz="2800" strike="sngStrike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OSC_FLL_MAN_2</a:t>
                      </a:r>
                      <a:endParaRPr lang="ko-KR" altLang="en-US" sz="2800" strike="sngStrike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When using MCLK_LOCK frequency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231149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Register OSC_FLL_MAN=0 in OSC_FLL_MAN2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376374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Use register MCLK_LOCK_CNT_E=0 in MCLK_LOCK2 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520126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(FLL enable, MCLK unlock)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340442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When using OSC_FLL_MAN frequency</a:t>
                      </a:r>
                    </a:p>
                  </a:txBody>
                  <a:tcPr marL="4302" marR="4302" marT="4302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894230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Register OSC_FLL_MAN=1 in OSC_FLL_MAN2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211711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Use register MCLK_LOCK_CNT_E=1 of MCLK_LOCK2 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531246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(FLL disable, MCLK locking)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616765"/>
                  </a:ext>
                </a:extLst>
              </a:tr>
              <a:tr h="14628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0x2D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0x155</a:t>
                      </a:r>
                      <a:endParaRPr lang="ko-KR" altLang="en-US" sz="2800" strike="sngStrike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WR_PROTECT</a:t>
                      </a:r>
                      <a:endParaRPr lang="ko-KR" altLang="en-US" sz="2800" strike="sngStrike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PCK_MODE=0 (Each Channel : common PWM clock)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28815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PCK_SYNC_E=0 (SYNC Disable)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868631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REG_WR_PROTECT=0x155(write access to all internal registers is allowable)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31790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0xC03</a:t>
                      </a:r>
                      <a:endParaRPr lang="ko-KR" altLang="en-US" sz="2800" strike="sngStrike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LD_CONTROL</a:t>
                      </a:r>
                      <a:endParaRPr lang="ko-KR" altLang="en-US" sz="2800" strike="sngStrike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Tail mode</a:t>
                      </a:r>
                      <a:endParaRPr lang="en-US" sz="700" b="0" i="0" u="none" strike="sng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BIN : 1100 0000 0011 / LD_SIZE, SCAN_NO, PWM_RES, LD_DIR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03930"/>
                  </a:ext>
                </a:extLst>
              </a:tr>
              <a:tr h="1505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sng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0x013</a:t>
                      </a:r>
                      <a:endParaRPr lang="ko-KR" altLang="en-US" sz="2800" strike="sngStrike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FPWM_DIVIDER</a:t>
                      </a:r>
                      <a:endParaRPr lang="ko-KR" altLang="en-US" sz="2800" strike="sngStrike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sng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sng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PWM_RES=1, 120Hz (decimal =19)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502124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0x09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0xAAA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DELAY CH EXTEND1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057934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0x0A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0xAAA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DELAY CH EXTEND2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609076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0x0B ~ 0x16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0x7FF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>
                          <a:latin typeface="+mn-ea"/>
                          <a:ea typeface="+mn-ea"/>
                        </a:rPr>
                        <a:t>DELAY CH1~12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3668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4b'1111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 to the right</a:t>
                      </a:r>
                      <a:endParaRPr lang="ko-KR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TRANSMIT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120Hz process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120Hz process for sending output : 3 repetitions required</a:t>
                      </a:r>
                      <a:b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Duty 50% : 0x1FFF</a:t>
                      </a:r>
                      <a:b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432448"/>
                  </a:ext>
                </a:extLst>
              </a:tr>
              <a:tr h="146284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(1ms)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144249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081176"/>
                  </a:ext>
                </a:extLst>
              </a:tr>
              <a:tr h="146284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(7ms)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254682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4b’1001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Before each channel measurement, 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101697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F82F0E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Measure 1 Time</a:t>
                      </a:r>
                      <a:endParaRPr lang="en-US" sz="600" b="0" i="0" u="none" strike="noStrike" dirty="0">
                        <a:solidFill>
                          <a:srgbClr val="F82F0E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Considering the delay, it's best to capture two frames.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761892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0x09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>
                          <a:latin typeface="+mn-ea"/>
                          <a:ea typeface="+mn-ea"/>
                        </a:rPr>
                        <a:t>DELAY CH EXTEND1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833180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0x0A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DELAY CH EXTEND2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480625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0x0B ~ 0x16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0x7FF</a:t>
                      </a:r>
                      <a:endParaRPr lang="ko-KR" altLang="en-US" sz="28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>
                          <a:latin typeface="+mn-ea"/>
                          <a:ea typeface="+mn-ea"/>
                        </a:rPr>
                        <a:t>DELAY CH1~12</a:t>
                      </a:r>
                      <a:endParaRPr lang="ko-KR" altLang="en-US" sz="600" dirty="0">
                        <a:latin typeface="+mn-ea"/>
                        <a:ea typeface="+mn-ea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262456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4b'1111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 to the right</a:t>
                      </a:r>
                      <a:endParaRPr lang="ko-KR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TRANSMIT</a:t>
                      </a:r>
                      <a:endParaRPr lang="ko-KR" altLang="en-US" sz="28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120Hz process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120Hz process for sending output : 3 repetitions required</a:t>
                      </a:r>
                      <a:b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Duty 50% : 0x1FFF</a:t>
                      </a:r>
                      <a:b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081285"/>
                  </a:ext>
                </a:extLst>
              </a:tr>
              <a:tr h="146284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(1ms)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193070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84675"/>
                  </a:ext>
                </a:extLst>
              </a:tr>
              <a:tr h="146284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(7ms)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10297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4b’1001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Before each channel measurement, 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429358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F82F0E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Measure 1 Time</a:t>
                      </a:r>
                      <a:endParaRPr lang="en-US" sz="600" b="0" i="0" u="none" strike="noStrike" dirty="0">
                        <a:solidFill>
                          <a:srgbClr val="F82F0E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Considering the delay, it's best to capture two frames.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95751"/>
                  </a:ext>
                </a:extLst>
              </a:tr>
            </a:tbl>
          </a:graphicData>
        </a:graphic>
      </p:graphicFrame>
      <p:sp>
        <p:nvSpPr>
          <p:cNvPr id="2" name="object 10">
            <a:extLst>
              <a:ext uri="{FF2B5EF4-FFF2-40B4-BE49-F238E27FC236}">
                <a16:creationId xmlns:a16="http://schemas.microsoft.com/office/drawing/2014/main" id="{84DECF00-7993-5A66-3C17-35B37A04B49C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C5F351-6823-93A4-15D8-DF1A1A1D9A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37</a:t>
            </a:fld>
            <a:endParaRPr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AC7979B-1E14-74B2-92B7-E2806C55B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889632"/>
              </p:ext>
            </p:extLst>
          </p:nvPr>
        </p:nvGraphicFramePr>
        <p:xfrm>
          <a:off x="310014" y="1203936"/>
          <a:ext cx="6864174" cy="1668800"/>
        </p:xfrm>
        <a:graphic>
          <a:graphicData uri="http://schemas.openxmlformats.org/drawingml/2006/table">
            <a:tbl>
              <a:tblPr/>
              <a:tblGrid>
                <a:gridCol w="304349">
                  <a:extLst>
                    <a:ext uri="{9D8B030D-6E8A-4147-A177-3AD203B41FA5}">
                      <a16:colId xmlns:a16="http://schemas.microsoft.com/office/drawing/2014/main" val="3660057586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4213838158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1223153346"/>
                    </a:ext>
                  </a:extLst>
                </a:gridCol>
                <a:gridCol w="394373">
                  <a:extLst>
                    <a:ext uri="{9D8B030D-6E8A-4147-A177-3AD203B41FA5}">
                      <a16:colId xmlns:a16="http://schemas.microsoft.com/office/drawing/2014/main" val="2056703022"/>
                    </a:ext>
                  </a:extLst>
                </a:gridCol>
                <a:gridCol w="351788">
                  <a:extLst>
                    <a:ext uri="{9D8B030D-6E8A-4147-A177-3AD203B41FA5}">
                      <a16:colId xmlns:a16="http://schemas.microsoft.com/office/drawing/2014/main" val="1418031553"/>
                    </a:ext>
                  </a:extLst>
                </a:gridCol>
                <a:gridCol w="403271">
                  <a:extLst>
                    <a:ext uri="{9D8B030D-6E8A-4147-A177-3AD203B41FA5}">
                      <a16:colId xmlns:a16="http://schemas.microsoft.com/office/drawing/2014/main" val="3376867646"/>
                    </a:ext>
                  </a:extLst>
                </a:gridCol>
                <a:gridCol w="403271">
                  <a:extLst>
                    <a:ext uri="{9D8B030D-6E8A-4147-A177-3AD203B41FA5}">
                      <a16:colId xmlns:a16="http://schemas.microsoft.com/office/drawing/2014/main" val="3776006999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2498015168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513302026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1199274626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4003419188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1062931572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1083061721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3844827904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4090464034"/>
                    </a:ext>
                  </a:extLst>
                </a:gridCol>
                <a:gridCol w="480492">
                  <a:extLst>
                    <a:ext uri="{9D8B030D-6E8A-4147-A177-3AD203B41FA5}">
                      <a16:colId xmlns:a16="http://schemas.microsoft.com/office/drawing/2014/main" val="2797519763"/>
                    </a:ext>
                  </a:extLst>
                </a:gridCol>
              </a:tblGrid>
              <a:tr h="16688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Characteristics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Symbol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Test Pin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Decimal Code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Hexa Code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Bin Code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Extend Register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S100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Acco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225905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(0x09 &amp; 0x0A)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Low Limit[uS]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TYP [uS]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High Limit[uS]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Low Limit[mA]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Current Meas.[mA]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High Limit[mA]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23089"/>
                  </a:ext>
                </a:extLst>
              </a:tr>
              <a:tr h="166880"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PWM_DELAY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PWM_DL1_CH1~12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2047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0x7FF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0111 1111 1111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50%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989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1040.67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1093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3.8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4.2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Acco is set up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 the code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 measure after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the target delay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 if the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measured value is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50% duty value.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568397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PWM_DL1_DU1~12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3959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4167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4375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742715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PWM_DL2_CH1~12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2047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0x7FF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0111 1111 1111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50%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0x555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2969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3125.00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3281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3.8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4.2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254074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PWM_DL2_DU1~12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3959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4167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4375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765643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PWM_DL3_CH1~12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2047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0x7FF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0111 1111 1111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50%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0xAAA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4949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5209.33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5470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3.8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4.2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92629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PWM_DL3_DU1~12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3959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4167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4375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844733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PWM_DL4_CH1~12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2047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0x7FF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0111 1111 1111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50%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6928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7292.67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7657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3.8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4.2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790777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PWM_DL4_DU1~12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3959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4167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4375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165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3439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1067A-4BE8-E98F-7475-A109C7A21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E0AFDC56-754C-799B-8980-82C791DE3CAB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B354E3-74B4-6008-7694-8B943A35CB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38</a:t>
            </a:fld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CF47AB-AF9D-4824-6285-391C29916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00" y="3090664"/>
            <a:ext cx="6876000" cy="16738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AD52891-0B63-5AF8-B0E2-646A6C2B4DD3}"/>
              </a:ext>
            </a:extLst>
          </p:cNvPr>
          <p:cNvSpPr txBox="1"/>
          <p:nvPr/>
        </p:nvSpPr>
        <p:spPr>
          <a:xfrm>
            <a:off x="1114828" y="4973218"/>
            <a:ext cx="30627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Base Waveform for Each Condition </a:t>
            </a:r>
            <a:endParaRPr lang="ko-KR" altLang="en-US" sz="10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047BC-37EB-F710-336C-04F2E2E0F964}"/>
              </a:ext>
            </a:extLst>
          </p:cNvPr>
          <p:cNvSpPr txBox="1"/>
          <p:nvPr/>
        </p:nvSpPr>
        <p:spPr>
          <a:xfrm>
            <a:off x="4793041" y="4953201"/>
            <a:ext cx="235288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Target Wavfrom for Each Condition</a:t>
            </a:r>
            <a:endParaRPr lang="ko-KR" altLang="en-US" sz="105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B7D61E7-E9FF-E214-2609-C8618DA56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00" y="5234828"/>
            <a:ext cx="6876000" cy="3885793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BF4413F-4094-5A00-F82C-65FE635D7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616138"/>
              </p:ext>
            </p:extLst>
          </p:nvPr>
        </p:nvGraphicFramePr>
        <p:xfrm>
          <a:off x="310014" y="1203936"/>
          <a:ext cx="6864174" cy="1668800"/>
        </p:xfrm>
        <a:graphic>
          <a:graphicData uri="http://schemas.openxmlformats.org/drawingml/2006/table">
            <a:tbl>
              <a:tblPr/>
              <a:tblGrid>
                <a:gridCol w="304349">
                  <a:extLst>
                    <a:ext uri="{9D8B030D-6E8A-4147-A177-3AD203B41FA5}">
                      <a16:colId xmlns:a16="http://schemas.microsoft.com/office/drawing/2014/main" val="3660057586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4213838158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1223153346"/>
                    </a:ext>
                  </a:extLst>
                </a:gridCol>
                <a:gridCol w="394373">
                  <a:extLst>
                    <a:ext uri="{9D8B030D-6E8A-4147-A177-3AD203B41FA5}">
                      <a16:colId xmlns:a16="http://schemas.microsoft.com/office/drawing/2014/main" val="2056703022"/>
                    </a:ext>
                  </a:extLst>
                </a:gridCol>
                <a:gridCol w="351788">
                  <a:extLst>
                    <a:ext uri="{9D8B030D-6E8A-4147-A177-3AD203B41FA5}">
                      <a16:colId xmlns:a16="http://schemas.microsoft.com/office/drawing/2014/main" val="1418031553"/>
                    </a:ext>
                  </a:extLst>
                </a:gridCol>
                <a:gridCol w="403271">
                  <a:extLst>
                    <a:ext uri="{9D8B030D-6E8A-4147-A177-3AD203B41FA5}">
                      <a16:colId xmlns:a16="http://schemas.microsoft.com/office/drawing/2014/main" val="3376867646"/>
                    </a:ext>
                  </a:extLst>
                </a:gridCol>
                <a:gridCol w="403271">
                  <a:extLst>
                    <a:ext uri="{9D8B030D-6E8A-4147-A177-3AD203B41FA5}">
                      <a16:colId xmlns:a16="http://schemas.microsoft.com/office/drawing/2014/main" val="3776006999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2498015168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513302026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1199274626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4003419188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1062931572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1083061721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3844827904"/>
                    </a:ext>
                  </a:extLst>
                </a:gridCol>
                <a:gridCol w="446171">
                  <a:extLst>
                    <a:ext uri="{9D8B030D-6E8A-4147-A177-3AD203B41FA5}">
                      <a16:colId xmlns:a16="http://schemas.microsoft.com/office/drawing/2014/main" val="4090464034"/>
                    </a:ext>
                  </a:extLst>
                </a:gridCol>
                <a:gridCol w="480492">
                  <a:extLst>
                    <a:ext uri="{9D8B030D-6E8A-4147-A177-3AD203B41FA5}">
                      <a16:colId xmlns:a16="http://schemas.microsoft.com/office/drawing/2014/main" val="2797519763"/>
                    </a:ext>
                  </a:extLst>
                </a:gridCol>
              </a:tblGrid>
              <a:tr h="16688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Characteristics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Symbol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Test Pin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Decimal Code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Hexa Code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Bin Code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Extend Register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S100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Acco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225905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(0x09 &amp; 0x0A)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Low Limit[uS]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TYP [uS]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High Limit[uS]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Low Limit[mA]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Current Meas.[mA]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High Limit[mA]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23089"/>
                  </a:ext>
                </a:extLst>
              </a:tr>
              <a:tr h="166880"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PWM_DELAY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PWM_DL1_CH1~12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2047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0x7FF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0111 1111 1111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50%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0x000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989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1040.67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1093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3.8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4.2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Acco is set up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 the code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 measure after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the target delay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 if the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measured value is </a:t>
                      </a:r>
                      <a:b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50% duty value.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568397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PWM_DL1_DU1~12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3959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4167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4375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742715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PWM_DL2_CH1~12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2047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0x7FF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0111 1111 1111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50%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0x555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2969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3125.00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3281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3.8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4.2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254074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PWM_DL2_DU1~12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3959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4167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4375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765643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PWM_DL3_CH1~12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2047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0x7FF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0111 1111 1111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50%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0xAAA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4949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5209.33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5470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3.8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4.2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92629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PWM_DL3_DU1~12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3959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4167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4375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844733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PWM_DL4_CH1~12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2047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0x7FF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0111 1111 1111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50%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6928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7292.67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7657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3.8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4.2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790777"/>
                  </a:ext>
                </a:extLst>
              </a:tr>
              <a:tr h="16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PWM_DL4_DU1~12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3959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4167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4375</a:t>
                      </a:r>
                    </a:p>
                  </a:txBody>
                  <a:tcPr marL="4539" marR="4539" marT="45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165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8210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89164-A6BE-D3FF-B7A6-CAC020199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9869C241-06B4-CC55-B827-BFF10664FB48}"/>
              </a:ext>
            </a:extLst>
          </p:cNvPr>
          <p:cNvSpPr txBox="1">
            <a:spLocks/>
          </p:cNvSpPr>
          <p:nvPr/>
        </p:nvSpPr>
        <p:spPr>
          <a:xfrm>
            <a:off x="6174611" y="10488920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A2FC681-2C9E-0397-7E02-CBE716DF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61183"/>
              </p:ext>
            </p:extLst>
          </p:nvPr>
        </p:nvGraphicFramePr>
        <p:xfrm>
          <a:off x="315096" y="1356069"/>
          <a:ext cx="6864180" cy="40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72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225647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936413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1018596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5572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2470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63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26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Daisy IO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DAISY_IO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404694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F756-4AB6-D9FB-9FB1-17710691BDC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39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091618-5F8D-1054-B487-29EAB778E0D3}"/>
              </a:ext>
            </a:extLst>
          </p:cNvPr>
          <p:cNvSpPr txBox="1"/>
          <p:nvPr/>
        </p:nvSpPr>
        <p:spPr>
          <a:xfrm>
            <a:off x="315096" y="1925387"/>
            <a:ext cx="68604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Bef>
                <a:spcPts val="300"/>
              </a:spcBef>
            </a:pP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[Test Method]</a:t>
            </a:r>
          </a:p>
          <a:p>
            <a:pPr marL="228600" indent="-228600" algn="just">
              <a:spcBef>
                <a:spcPts val="300"/>
              </a:spcBef>
              <a:buFontTx/>
              <a:buAutoNum type="arabicPeriod"/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5V, DIN (VIH = 5V, VIL = 0V)</a:t>
            </a:r>
          </a:p>
          <a:p>
            <a:pPr marL="228600" indent="-228600" algn="just">
              <a:spcBef>
                <a:spcPts val="300"/>
              </a:spcBef>
              <a:buAutoNum type="arabicPeriod" startAt="2"/>
            </a:pPr>
            <a:r>
              <a:rPr lang="en-US" altLang="ko-KR" sz="1000" kern="100" dirty="0">
                <a:latin typeface="맑은 고딕" panose="020B0503020000020004" pitchFamily="50" charset="-127"/>
                <a:cs typeface="Arial" panose="020B0604020202020204" pitchFamily="34" charset="0"/>
              </a:rPr>
              <a:t>Input Register Signals to DIN Pin = [</a:t>
            </a:r>
            <a:r>
              <a:rPr lang="en-US" altLang="ko-KR" sz="1000" kern="100" dirty="0" err="1">
                <a:latin typeface="맑은 고딕" panose="020B0503020000020004" pitchFamily="50" charset="-127"/>
                <a:cs typeface="Arial" panose="020B0604020202020204" pitchFamily="34" charset="0"/>
              </a:rPr>
              <a:t>cmd+addr</a:t>
            </a:r>
            <a:r>
              <a:rPr lang="en-US" altLang="ko-KR" sz="1000" kern="100" dirty="0">
                <a:latin typeface="맑은 고딕" panose="020B0503020000020004" pitchFamily="50" charset="-127"/>
                <a:cs typeface="Arial" panose="020B0604020202020204" pitchFamily="34" charset="0"/>
              </a:rPr>
              <a:t>] + [</a:t>
            </a:r>
            <a:r>
              <a:rPr lang="en-US" altLang="ko-KR" sz="1000" kern="100" dirty="0" err="1">
                <a:latin typeface="맑은 고딕" panose="020B0503020000020004" pitchFamily="50" charset="-127"/>
                <a:cs typeface="Arial" panose="020B0604020202020204" pitchFamily="34" charset="0"/>
              </a:rPr>
              <a:t>cmd+addr</a:t>
            </a:r>
            <a:r>
              <a:rPr lang="en-US" altLang="ko-KR" sz="1000" kern="100" dirty="0">
                <a:latin typeface="맑은 고딕" panose="020B0503020000020004" pitchFamily="50" charset="-127"/>
                <a:cs typeface="Arial" panose="020B0604020202020204" pitchFamily="34" charset="0"/>
              </a:rPr>
              <a:t>] </a:t>
            </a:r>
            <a:endParaRPr lang="en-US" altLang="ko-KR" sz="1000" kern="100" dirty="0"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228600" indent="-228600">
              <a:spcBef>
                <a:spcPts val="300"/>
              </a:spcBef>
              <a:buAutoNum type="arabicPeriod" startAt="2"/>
            </a:pP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Input Register Signals to DOUT Pin = [</a:t>
            </a:r>
            <a:r>
              <a:rPr lang="en-US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cmd+ld+data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</a:p>
          <a:p>
            <a:pPr marL="228600" indent="-228600">
              <a:spcBef>
                <a:spcPts val="300"/>
              </a:spcBef>
              <a:buAutoNum type="arabicPeriod" startAt="2"/>
            </a:pP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Verify Output from DIN </a:t>
            </a:r>
            <a:r>
              <a:rPr lang="en-US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Pin:Confirm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the combined output = [</a:t>
            </a:r>
            <a:r>
              <a:rPr lang="en-US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cmd+ld+data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] + [</a:t>
            </a:r>
            <a:r>
              <a:rPr lang="en-US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cmd+ld+data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]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1402EE-79B2-493A-9AAA-633D4D6BF9FD}"/>
              </a:ext>
            </a:extLst>
          </p:cNvPr>
          <p:cNvSpPr/>
          <p:nvPr/>
        </p:nvSpPr>
        <p:spPr>
          <a:xfrm>
            <a:off x="1581253" y="6969956"/>
            <a:ext cx="666750" cy="409575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XD12(#2)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27847E-B696-4F60-872E-347B9F29C4C0}"/>
              </a:ext>
            </a:extLst>
          </p:cNvPr>
          <p:cNvSpPr/>
          <p:nvPr/>
        </p:nvSpPr>
        <p:spPr>
          <a:xfrm>
            <a:off x="455433" y="6981637"/>
            <a:ext cx="666750" cy="406400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Tester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8DE0595C-1236-974A-7AB9-29F623E6C400}"/>
              </a:ext>
            </a:extLst>
          </p:cNvPr>
          <p:cNvSpPr/>
          <p:nvPr/>
        </p:nvSpPr>
        <p:spPr>
          <a:xfrm>
            <a:off x="1127228" y="6766757"/>
            <a:ext cx="2124075" cy="890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A94B458-E5CF-7A7F-FB7D-C1246AA2321B}"/>
              </a:ext>
            </a:extLst>
          </p:cNvPr>
          <p:cNvCxnSpPr/>
          <p:nvPr/>
        </p:nvCxnSpPr>
        <p:spPr>
          <a:xfrm flipV="1">
            <a:off x="1133578" y="7166806"/>
            <a:ext cx="450850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175315F-149C-914D-710F-57FA6EE39909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254353" y="7169981"/>
            <a:ext cx="968375" cy="47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7E9756E-7304-431B-B2FB-3A70FD487801}"/>
              </a:ext>
            </a:extLst>
          </p:cNvPr>
          <p:cNvSpPr/>
          <p:nvPr/>
        </p:nvSpPr>
        <p:spPr>
          <a:xfrm>
            <a:off x="3222728" y="6969956"/>
            <a:ext cx="666750" cy="409575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XD12(#1)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0550705-FAE5-E565-F381-55FF284D1DBA}"/>
              </a:ext>
            </a:extLst>
          </p:cNvPr>
          <p:cNvSpPr/>
          <p:nvPr/>
        </p:nvSpPr>
        <p:spPr>
          <a:xfrm>
            <a:off x="1162153" y="6906456"/>
            <a:ext cx="479425" cy="225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>
                <a:solidFill>
                  <a:sysClr val="windowText" lastClr="000000"/>
                </a:solidFill>
              </a:rPr>
              <a:t>DIN</a:t>
            </a:r>
            <a:endParaRPr lang="ko-KR" altLang="en-US" sz="1100">
              <a:solidFill>
                <a:sysClr val="windowText" lastClr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2185DF-FBD5-409F-C3C2-2769735D82E8}"/>
              </a:ext>
            </a:extLst>
          </p:cNvPr>
          <p:cNvSpPr/>
          <p:nvPr/>
        </p:nvSpPr>
        <p:spPr>
          <a:xfrm>
            <a:off x="2216253" y="6912806"/>
            <a:ext cx="5334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>
                <a:solidFill>
                  <a:sysClr val="windowText" lastClr="000000"/>
                </a:solidFill>
              </a:rPr>
              <a:t>DOUT</a:t>
            </a:r>
            <a:endParaRPr lang="ko-KR" altLang="en-US" sz="1100">
              <a:solidFill>
                <a:sysClr val="windowText" lastClr="000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A431F2-596D-0835-4F0D-092ACA32FDF0}"/>
              </a:ext>
            </a:extLst>
          </p:cNvPr>
          <p:cNvSpPr/>
          <p:nvPr/>
        </p:nvSpPr>
        <p:spPr>
          <a:xfrm>
            <a:off x="2797278" y="6896931"/>
            <a:ext cx="428625" cy="247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100">
                <a:solidFill>
                  <a:sysClr val="windowText" lastClr="000000"/>
                </a:solidFill>
              </a:rPr>
              <a:t>DIN</a:t>
            </a:r>
            <a:endParaRPr lang="ko-KR" altLang="en-US" sz="1100">
              <a:solidFill>
                <a:sysClr val="windowText" lastClr="000000"/>
              </a:solidFill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45FE6F8D-012B-FE16-4BBB-B1F98D5D7860}"/>
              </a:ext>
            </a:extLst>
          </p:cNvPr>
          <p:cNvSpPr/>
          <p:nvPr/>
        </p:nvSpPr>
        <p:spPr>
          <a:xfrm rot="10800000">
            <a:off x="1136152" y="8202112"/>
            <a:ext cx="2124075" cy="974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5741D8-68B7-33C6-47A8-C5F868D8F1E1}"/>
              </a:ext>
            </a:extLst>
          </p:cNvPr>
          <p:cNvSpPr txBox="1"/>
          <p:nvPr/>
        </p:nvSpPr>
        <p:spPr>
          <a:xfrm>
            <a:off x="1850693" y="6604565"/>
            <a:ext cx="6707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Forward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779F17-947C-6F90-3878-3D01A1F6D907}"/>
              </a:ext>
            </a:extLst>
          </p:cNvPr>
          <p:cNvSpPr txBox="1"/>
          <p:nvPr/>
        </p:nvSpPr>
        <p:spPr>
          <a:xfrm>
            <a:off x="1880855" y="8237037"/>
            <a:ext cx="6707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Reverse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DBE6F5-DF4C-89E1-C1BF-C82CCC67B215}"/>
              </a:ext>
            </a:extLst>
          </p:cNvPr>
          <p:cNvSpPr txBox="1"/>
          <p:nvPr/>
        </p:nvSpPr>
        <p:spPr>
          <a:xfrm>
            <a:off x="315096" y="6062022"/>
            <a:ext cx="1694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Bef>
                <a:spcPts val="300"/>
              </a:spcBef>
            </a:pPr>
            <a:r>
              <a:rPr lang="en-US" altLang="ko-KR" sz="10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&lt; Daisy Chain Protocol &gt;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D66FD34-9A2C-62DA-7A2B-A775D610E939}"/>
              </a:ext>
            </a:extLst>
          </p:cNvPr>
          <p:cNvSpPr/>
          <p:nvPr/>
        </p:nvSpPr>
        <p:spPr>
          <a:xfrm>
            <a:off x="1120878" y="6454394"/>
            <a:ext cx="1063625" cy="161925"/>
          </a:xfrm>
          <a:prstGeom prst="rect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(#2)</a:t>
            </a:r>
            <a:r>
              <a:rPr lang="en-US" altLang="ko-KR" sz="1000" baseline="0" dirty="0">
                <a:solidFill>
                  <a:sysClr val="windowText" lastClr="000000"/>
                </a:solidFill>
              </a:rPr>
              <a:t>  </a:t>
            </a:r>
            <a:r>
              <a:rPr lang="en-US" altLang="ko-KR" sz="1000" dirty="0" err="1">
                <a:solidFill>
                  <a:sysClr val="windowText" lastClr="000000"/>
                </a:solidFill>
              </a:rPr>
              <a:t>cmd</a:t>
            </a:r>
            <a:r>
              <a:rPr lang="en-US" altLang="ko-KR" sz="1000" baseline="0" dirty="0">
                <a:solidFill>
                  <a:sysClr val="windowText" lastClr="000000"/>
                </a:solidFill>
              </a:rPr>
              <a:t> + </a:t>
            </a:r>
            <a:r>
              <a:rPr lang="en-US" altLang="ko-KR" sz="1000" baseline="0" dirty="0" err="1">
                <a:solidFill>
                  <a:sysClr val="windowText" lastClr="000000"/>
                </a:solidFill>
              </a:rPr>
              <a:t>addr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2B2B89F-0245-18EB-2384-9010149FDD88}"/>
              </a:ext>
            </a:extLst>
          </p:cNvPr>
          <p:cNvSpPr/>
          <p:nvPr/>
        </p:nvSpPr>
        <p:spPr>
          <a:xfrm>
            <a:off x="2187678" y="6454394"/>
            <a:ext cx="1069973" cy="161925"/>
          </a:xfrm>
          <a:prstGeom prst="rect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(#1)</a:t>
            </a:r>
            <a:r>
              <a:rPr lang="en-US" altLang="ko-KR" sz="1000" baseline="0" dirty="0">
                <a:solidFill>
                  <a:sysClr val="windowText" lastClr="000000"/>
                </a:solidFill>
              </a:rPr>
              <a:t>  </a:t>
            </a:r>
            <a:r>
              <a:rPr lang="en-US" altLang="ko-KR" sz="1000" dirty="0" err="1">
                <a:solidFill>
                  <a:sysClr val="windowText" lastClr="000000"/>
                </a:solidFill>
              </a:rPr>
              <a:t>cmd</a:t>
            </a:r>
            <a:r>
              <a:rPr lang="en-US" altLang="ko-KR" sz="1000" baseline="0" dirty="0">
                <a:solidFill>
                  <a:sysClr val="windowText" lastClr="000000"/>
                </a:solidFill>
              </a:rPr>
              <a:t> + </a:t>
            </a:r>
            <a:r>
              <a:rPr lang="en-US" altLang="ko-KR" sz="1000" baseline="0" dirty="0" err="1">
                <a:solidFill>
                  <a:sysClr val="windowText" lastClr="000000"/>
                </a:solidFill>
              </a:rPr>
              <a:t>addr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7" name="화살표: 아래로 구부러짐 26">
            <a:extLst>
              <a:ext uri="{FF2B5EF4-FFF2-40B4-BE49-F238E27FC236}">
                <a16:creationId xmlns:a16="http://schemas.microsoft.com/office/drawing/2014/main" id="{2B93E593-054E-8438-ABEA-9AFB2B5C54CB}"/>
              </a:ext>
            </a:extLst>
          </p:cNvPr>
          <p:cNvSpPr/>
          <p:nvPr/>
        </p:nvSpPr>
        <p:spPr>
          <a:xfrm rot="10800000">
            <a:off x="1940629" y="7395766"/>
            <a:ext cx="1562099" cy="234950"/>
          </a:xfrm>
          <a:prstGeom prst="curvedDownArrow">
            <a:avLst>
              <a:gd name="adj1" fmla="val 25000"/>
              <a:gd name="adj2" fmla="val 82766"/>
              <a:gd name="adj3" fmla="val 282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28" name="화살표: 아래로 구부러짐 27">
            <a:extLst>
              <a:ext uri="{FF2B5EF4-FFF2-40B4-BE49-F238E27FC236}">
                <a16:creationId xmlns:a16="http://schemas.microsoft.com/office/drawing/2014/main" id="{FE5DEF09-4296-8764-1A54-411D3385C01D}"/>
              </a:ext>
            </a:extLst>
          </p:cNvPr>
          <p:cNvSpPr/>
          <p:nvPr/>
        </p:nvSpPr>
        <p:spPr>
          <a:xfrm rot="10800000">
            <a:off x="736703" y="7395766"/>
            <a:ext cx="1063625" cy="552450"/>
          </a:xfrm>
          <a:prstGeom prst="curvedDownArrow">
            <a:avLst>
              <a:gd name="adj1" fmla="val 6897"/>
              <a:gd name="adj2" fmla="val 17559"/>
              <a:gd name="adj3" fmla="val 139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3B10908-BE0C-1A9F-0792-F09714A72011}"/>
              </a:ext>
            </a:extLst>
          </p:cNvPr>
          <p:cNvSpPr/>
          <p:nvPr/>
        </p:nvSpPr>
        <p:spPr>
          <a:xfrm>
            <a:off x="2656006" y="7532699"/>
            <a:ext cx="2200275" cy="161925"/>
          </a:xfrm>
          <a:prstGeom prst="rect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(#1)</a:t>
            </a:r>
            <a:r>
              <a:rPr lang="en-US" altLang="ko-KR" sz="1000" baseline="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000" dirty="0" err="1">
                <a:solidFill>
                  <a:sysClr val="windowText" lastClr="000000"/>
                </a:solidFill>
              </a:rPr>
              <a:t>cmd</a:t>
            </a:r>
            <a:r>
              <a:rPr lang="en-US" altLang="ko-KR" sz="1000" dirty="0">
                <a:solidFill>
                  <a:sysClr val="windowText" lastClr="000000"/>
                </a:solidFill>
              </a:rPr>
              <a:t>(4bit)</a:t>
            </a:r>
            <a:r>
              <a:rPr lang="en-US" altLang="ko-KR" sz="1000" baseline="0" dirty="0">
                <a:solidFill>
                  <a:sysClr val="windowText" lastClr="000000"/>
                </a:solidFill>
              </a:rPr>
              <a:t> + </a:t>
            </a:r>
            <a:r>
              <a:rPr lang="en-US" altLang="ko-KR" sz="1000" baseline="0" dirty="0" err="1">
                <a:solidFill>
                  <a:sysClr val="windowText" lastClr="000000"/>
                </a:solidFill>
              </a:rPr>
              <a:t>ld</a:t>
            </a:r>
            <a:r>
              <a:rPr lang="en-US" altLang="ko-KR" sz="1000" baseline="0" dirty="0">
                <a:solidFill>
                  <a:sysClr val="windowText" lastClr="000000"/>
                </a:solidFill>
              </a:rPr>
              <a:t>(00001) + data(12bit)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2957949-D725-7AEB-9248-1587741FFAD6}"/>
              </a:ext>
            </a:extLst>
          </p:cNvPr>
          <p:cNvSpPr/>
          <p:nvPr/>
        </p:nvSpPr>
        <p:spPr>
          <a:xfrm>
            <a:off x="463653" y="7916148"/>
            <a:ext cx="2200275" cy="161925"/>
          </a:xfrm>
          <a:prstGeom prst="rect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(#1)</a:t>
            </a:r>
            <a:r>
              <a:rPr lang="en-US" altLang="ko-KR" sz="1000" baseline="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000" dirty="0" err="1">
                <a:solidFill>
                  <a:sysClr val="windowText" lastClr="000000"/>
                </a:solidFill>
              </a:rPr>
              <a:t>cmd</a:t>
            </a:r>
            <a:r>
              <a:rPr lang="en-US" altLang="ko-KR" sz="1000" dirty="0">
                <a:solidFill>
                  <a:sysClr val="windowText" lastClr="000000"/>
                </a:solidFill>
              </a:rPr>
              <a:t>(4bit)</a:t>
            </a:r>
            <a:r>
              <a:rPr lang="en-US" altLang="ko-KR" sz="1000" baseline="0" dirty="0">
                <a:solidFill>
                  <a:sysClr val="windowText" lastClr="000000"/>
                </a:solidFill>
              </a:rPr>
              <a:t> + </a:t>
            </a:r>
            <a:r>
              <a:rPr lang="en-US" altLang="ko-KR" sz="1000" baseline="0" dirty="0" err="1">
                <a:solidFill>
                  <a:sysClr val="windowText" lastClr="000000"/>
                </a:solidFill>
              </a:rPr>
              <a:t>ld</a:t>
            </a:r>
            <a:r>
              <a:rPr lang="en-US" altLang="ko-KR" sz="1000" baseline="0" dirty="0">
                <a:solidFill>
                  <a:sysClr val="windowText" lastClr="000000"/>
                </a:solidFill>
              </a:rPr>
              <a:t>(00001) + data(12bit)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90796D-8284-D9AE-E10B-59431E4EF856}"/>
              </a:ext>
            </a:extLst>
          </p:cNvPr>
          <p:cNvSpPr/>
          <p:nvPr/>
        </p:nvSpPr>
        <p:spPr>
          <a:xfrm>
            <a:off x="2654403" y="7916148"/>
            <a:ext cx="2200275" cy="161925"/>
          </a:xfrm>
          <a:prstGeom prst="rect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ysClr val="windowText" lastClr="000000"/>
                </a:solidFill>
              </a:rPr>
              <a:t>(#2)</a:t>
            </a:r>
            <a:r>
              <a:rPr lang="en-US" altLang="ko-KR" sz="1000" baseline="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000" dirty="0" err="1">
                <a:solidFill>
                  <a:sysClr val="windowText" lastClr="000000"/>
                </a:solidFill>
              </a:rPr>
              <a:t>cmd</a:t>
            </a:r>
            <a:r>
              <a:rPr lang="en-US" altLang="ko-KR" sz="1000" dirty="0">
                <a:solidFill>
                  <a:sysClr val="windowText" lastClr="000000"/>
                </a:solidFill>
              </a:rPr>
              <a:t>(4bit)</a:t>
            </a:r>
            <a:r>
              <a:rPr lang="en-US" altLang="ko-KR" sz="1000" baseline="0" dirty="0">
                <a:solidFill>
                  <a:sysClr val="windowText" lastClr="000000"/>
                </a:solidFill>
              </a:rPr>
              <a:t> + </a:t>
            </a:r>
            <a:r>
              <a:rPr lang="en-US" altLang="ko-KR" sz="1000" baseline="0" dirty="0" err="1">
                <a:solidFill>
                  <a:sysClr val="windowText" lastClr="000000"/>
                </a:solidFill>
              </a:rPr>
              <a:t>ld</a:t>
            </a:r>
            <a:r>
              <a:rPr lang="en-US" altLang="ko-KR" sz="1000" baseline="0" dirty="0">
                <a:solidFill>
                  <a:sysClr val="windowText" lastClr="000000"/>
                </a:solidFill>
              </a:rPr>
              <a:t>(00010) + data(12bit)</a:t>
            </a: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6E7321-9EBA-D704-7855-A95877BA193C}"/>
              </a:ext>
            </a:extLst>
          </p:cNvPr>
          <p:cNvSpPr txBox="1"/>
          <p:nvPr/>
        </p:nvSpPr>
        <p:spPr>
          <a:xfrm>
            <a:off x="315095" y="8551259"/>
            <a:ext cx="6860405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300"/>
              </a:spcBef>
              <a:buFontTx/>
              <a:buAutoNum type="arabicPeriod"/>
            </a:pP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Forward Path (Command Delivery): </a:t>
            </a:r>
            <a:b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Tester transmits a sequence of </a:t>
            </a:r>
            <a:r>
              <a:rPr lang="en-US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cmd+addr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(the signal for #2) </a:t>
            </a:r>
            <a:b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followed by </a:t>
            </a:r>
            <a:r>
              <a:rPr lang="en-US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cmd+addr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(the signal for #1) to the DIN pin of XD12(#2). </a:t>
            </a:r>
          </a:p>
          <a:p>
            <a:pPr marL="228600" indent="-228600">
              <a:spcBef>
                <a:spcPts val="300"/>
              </a:spcBef>
              <a:buAutoNum type="arabicPeriod" startAt="2"/>
            </a:pP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Reverse Path (Data Injection): </a:t>
            </a:r>
            <a:b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The output of XD12(#1), consisting of </a:t>
            </a:r>
            <a:r>
              <a:rPr lang="en-US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cmd+id+data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b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is fed into the DOUT pin of XD12(#2).</a:t>
            </a:r>
          </a:p>
          <a:p>
            <a:pPr marL="228600" indent="-228600">
              <a:spcBef>
                <a:spcPts val="300"/>
              </a:spcBef>
              <a:buAutoNum type="arabicPeriod" startAt="2"/>
            </a:pP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Data Aggregation and Final Output: </a:t>
            </a:r>
            <a:b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XD12(#2) appends its own output to the end of the XD12(#1) output.</a:t>
            </a:r>
            <a:b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i.e. it transmits the combined packet “ [#1: </a:t>
            </a:r>
            <a:r>
              <a:rPr lang="en-US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cmd+id+data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] + [#2: </a:t>
            </a:r>
            <a:r>
              <a:rPr lang="en-US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cmd+id+data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] “ through the DIN pin.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DBAF900E-01FB-0C6C-79BB-5B6FC355D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525414"/>
              </p:ext>
            </p:extLst>
          </p:nvPr>
        </p:nvGraphicFramePr>
        <p:xfrm>
          <a:off x="315096" y="3298351"/>
          <a:ext cx="6860404" cy="1848629"/>
        </p:xfrm>
        <a:graphic>
          <a:graphicData uri="http://schemas.openxmlformats.org/drawingml/2006/table">
            <a:tbl>
              <a:tblPr/>
              <a:tblGrid>
                <a:gridCol w="987290">
                  <a:extLst>
                    <a:ext uri="{9D8B030D-6E8A-4147-A177-3AD203B41FA5}">
                      <a16:colId xmlns:a16="http://schemas.microsoft.com/office/drawing/2014/main" val="1168232267"/>
                    </a:ext>
                  </a:extLst>
                </a:gridCol>
                <a:gridCol w="658194">
                  <a:extLst>
                    <a:ext uri="{9D8B030D-6E8A-4147-A177-3AD203B41FA5}">
                      <a16:colId xmlns:a16="http://schemas.microsoft.com/office/drawing/2014/main" val="2763558702"/>
                    </a:ext>
                  </a:extLst>
                </a:gridCol>
                <a:gridCol w="658194">
                  <a:extLst>
                    <a:ext uri="{9D8B030D-6E8A-4147-A177-3AD203B41FA5}">
                      <a16:colId xmlns:a16="http://schemas.microsoft.com/office/drawing/2014/main" val="752981055"/>
                    </a:ext>
                  </a:extLst>
                </a:gridCol>
                <a:gridCol w="1101209">
                  <a:extLst>
                    <a:ext uri="{9D8B030D-6E8A-4147-A177-3AD203B41FA5}">
                      <a16:colId xmlns:a16="http://schemas.microsoft.com/office/drawing/2014/main" val="3598496086"/>
                    </a:ext>
                  </a:extLst>
                </a:gridCol>
                <a:gridCol w="3455517">
                  <a:extLst>
                    <a:ext uri="{9D8B030D-6E8A-4147-A177-3AD203B41FA5}">
                      <a16:colId xmlns:a16="http://schemas.microsoft.com/office/drawing/2014/main" val="2064974108"/>
                    </a:ext>
                  </a:extLst>
                </a:gridCol>
              </a:tblGrid>
              <a:tr h="204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DAISY_IO</a:t>
                      </a:r>
                    </a:p>
                  </a:txBody>
                  <a:tcPr marL="6013" marR="6013" marT="60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3" marR="6013" marT="60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3" marR="6013" marT="60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3" marR="6013" marT="60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3" marR="6013" marT="60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305681"/>
                  </a:ext>
                </a:extLst>
              </a:tr>
              <a:tr h="204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172011"/>
                  </a:ext>
                </a:extLst>
              </a:tr>
              <a:tr h="204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0x800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 this signal on the DIN pin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289597"/>
                  </a:ext>
                </a:extLst>
              </a:tr>
              <a:tr h="204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8b'10001000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 GEN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 this signal on the DIN pin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58705"/>
                  </a:ext>
                </a:extLst>
              </a:tr>
              <a:tr h="204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4b'1110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0x07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CONTROL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 this signal on the DIN pin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656427"/>
                  </a:ext>
                </a:extLst>
              </a:tr>
              <a:tr h="204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4b'1110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0x07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CONTROL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 this signal on the DIN pin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35174"/>
                  </a:ext>
                </a:extLst>
              </a:tr>
              <a:tr h="204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4b'1110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5b'00001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0x800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 CONTROL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 this signal on the </a:t>
                      </a:r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pin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419292"/>
                  </a:ext>
                </a:extLst>
              </a:tr>
              <a:tr h="285162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Measure the output of the DIN pin and compare it to the expected output below.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42bit Output = </a:t>
                      </a:r>
                      <a:r>
                        <a:rPr lang="en-US" sz="900" b="0" i="0" u="none" strike="noStrike" dirty="0">
                          <a:solidFill>
                            <a:srgbClr val="3333FF"/>
                          </a:solidFill>
                          <a:effectLst/>
                          <a:highlight>
                            <a:srgbClr val="FFFF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1110 00001 1000 0000 0000 </a:t>
                      </a:r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1110 00010 1000 0000 0000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Note: Since input is input to DOUT and output is output to DIN, measurement must be performed simultaneously with input.</a:t>
                      </a:r>
                    </a:p>
                  </a:txBody>
                  <a:tcPr marL="6013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153780"/>
                  </a:ext>
                </a:extLst>
              </a:tr>
            </a:tbl>
          </a:graphicData>
        </a:graphic>
      </p:graphicFrame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9AEF5FC5-4E8A-30C3-97FE-1E9A70E9C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016444"/>
              </p:ext>
            </p:extLst>
          </p:nvPr>
        </p:nvGraphicFramePr>
        <p:xfrm>
          <a:off x="315095" y="5310430"/>
          <a:ext cx="6860404" cy="621941"/>
        </p:xfrm>
        <a:graphic>
          <a:graphicData uri="http://schemas.openxmlformats.org/drawingml/2006/table">
            <a:tbl>
              <a:tblPr/>
              <a:tblGrid>
                <a:gridCol w="6860404">
                  <a:extLst>
                    <a:ext uri="{9D8B030D-6E8A-4147-A177-3AD203B41FA5}">
                      <a16:colId xmlns:a16="http://schemas.microsoft.com/office/drawing/2014/main" val="434735700"/>
                    </a:ext>
                  </a:extLst>
                </a:gridCol>
              </a:tblGrid>
              <a:tr h="2044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Recommended test method 1) Make the expected 42bit Output into a pattern and determine pass/fail using a function test.</a:t>
                      </a:r>
                    </a:p>
                  </a:txBody>
                  <a:tcPr marL="144316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283441"/>
                  </a:ext>
                </a:extLst>
              </a:tr>
              <a:tr h="3956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Recommended test method 2) The above signal converted to decimal = 3,861,177,444,352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                         Divide this value into three digits and distribute it as follows: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                         DAISY_IO1=3  /  DAISY_IO2=861  /  DAISY_IO3=177  /  DAISY_IO4=444  /  DAISY_IO5=352</a:t>
                      </a:r>
                    </a:p>
                  </a:txBody>
                  <a:tcPr marL="144316" marR="6013" marT="60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35474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153AB323-E894-5EDA-9478-BD1127E0B4BF}"/>
              </a:ext>
            </a:extLst>
          </p:cNvPr>
          <p:cNvSpPr/>
          <p:nvPr/>
        </p:nvSpPr>
        <p:spPr>
          <a:xfrm>
            <a:off x="298964" y="1309020"/>
            <a:ext cx="6876535" cy="9179900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chemeClr val="tx1"/>
                </a:solidFill>
                <a:highlight>
                  <a:srgbClr val="FFFF00"/>
                </a:highlight>
              </a:rPr>
              <a:t>Hold this Item</a:t>
            </a:r>
            <a:endParaRPr lang="ko-KR" alt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615991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37AD9-EB0F-F1A4-E186-10E7A313B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02A03B5-1586-0A98-3F20-D9AEBD144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951474"/>
              </p:ext>
            </p:extLst>
          </p:nvPr>
        </p:nvGraphicFramePr>
        <p:xfrm>
          <a:off x="310016" y="3803881"/>
          <a:ext cx="6864177" cy="6819875"/>
        </p:xfrm>
        <a:graphic>
          <a:graphicData uri="http://schemas.openxmlformats.org/drawingml/2006/table">
            <a:tbl>
              <a:tblPr/>
              <a:tblGrid>
                <a:gridCol w="578110">
                  <a:extLst>
                    <a:ext uri="{9D8B030D-6E8A-4147-A177-3AD203B41FA5}">
                      <a16:colId xmlns:a16="http://schemas.microsoft.com/office/drawing/2014/main" val="1810930930"/>
                    </a:ext>
                  </a:extLst>
                </a:gridCol>
                <a:gridCol w="578110">
                  <a:extLst>
                    <a:ext uri="{9D8B030D-6E8A-4147-A177-3AD203B41FA5}">
                      <a16:colId xmlns:a16="http://schemas.microsoft.com/office/drawing/2014/main" val="3702490256"/>
                    </a:ext>
                  </a:extLst>
                </a:gridCol>
                <a:gridCol w="578110">
                  <a:extLst>
                    <a:ext uri="{9D8B030D-6E8A-4147-A177-3AD203B41FA5}">
                      <a16:colId xmlns:a16="http://schemas.microsoft.com/office/drawing/2014/main" val="1589680638"/>
                    </a:ext>
                  </a:extLst>
                </a:gridCol>
                <a:gridCol w="698854">
                  <a:extLst>
                    <a:ext uri="{9D8B030D-6E8A-4147-A177-3AD203B41FA5}">
                      <a16:colId xmlns:a16="http://schemas.microsoft.com/office/drawing/2014/main" val="18751906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950901207"/>
                    </a:ext>
                  </a:extLst>
                </a:gridCol>
                <a:gridCol w="3516593">
                  <a:extLst>
                    <a:ext uri="{9D8B030D-6E8A-4147-A177-3AD203B41FA5}">
                      <a16:colId xmlns:a16="http://schemas.microsoft.com/office/drawing/2014/main" val="2210607835"/>
                    </a:ext>
                  </a:extLst>
                </a:gridCol>
              </a:tblGrid>
              <a:tr h="193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</a:t>
                      </a: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/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/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466841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939259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0x800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4985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4b'1000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ID_GEN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345018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CHANNEL_ENABLE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ch1~12 Enable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852043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0x06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0x570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FAULT_LEVEL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32mA setting (old = 0x170 8mA setting)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759719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0x07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0x818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FAULT_CONTROL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O_DET_E,   S_DET_E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384578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0x08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0xFFF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MAX_CURRENT_VREF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 Full Setting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755715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0x25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0x35A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SERIAL_CLOCK_GEN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608520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0x26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0x03C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SERIAL_LATENCY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35486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0x27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0x134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MCLK_LOCK_1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 to MCLK_LOCK_2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857571"/>
                  </a:ext>
                </a:extLst>
              </a:tr>
              <a:tr h="146284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0x28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0x050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MCLK_LOCK_2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MCLK_LOCK_CNT_E=0 (FLL Enable. MCLK unlocking)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453930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FLL Range : 0 (=default)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129686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MCLK_LOCK_CNT=0x50+0x134=0x50134 (decimal : 327988)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647038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=&gt; PWM RES=1, 120Hz , XD12 &amp; XD04 : 327988 (=ideal+0.1% margin)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936167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(=&gt; ideal = 327660 (=39.3192/120Hz = 0x4FFB0)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566917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0x2A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OSC_FLL_MAN_1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547487"/>
                  </a:ext>
                </a:extLst>
              </a:tr>
              <a:tr h="146284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0x2B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OSC_FLL_MAN_2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When using MCLK_LOCK frequency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231149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Register OSC_FLL_MAN=0 in OSC_FLL_MAN2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376374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Use register MCLK_LOCK_CNT_E=0 in MCLK_LOCK2 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520126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(FLL enable, MCLK unlock)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340442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146878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When using OSC_FLL_MAN frequency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894230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Register OSC_FLL_MAN=1 in OSC_FLL_MAN2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211711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Use register MCLK_LOCK_CNT_E=1 of MCLK_LOCK2 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531246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(FLL disable, MCLK locking)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616765"/>
                  </a:ext>
                </a:extLst>
              </a:tr>
              <a:tr h="14628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0x2D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0x155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WR_PROTECT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PCK_MODE=0 (Each Channel : common PWM clock)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28815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PCK_SYNC_E=0 (SYNC Disable)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868631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REG_WR_PROTECT=0x155(write access to all internal registers is allowable)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31790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0xC03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LD_CONTROL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Tail mode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LD_SIZE : 4, PWM_RES=1, LD_DIR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03930"/>
                  </a:ext>
                </a:extLst>
              </a:tr>
              <a:tr h="1505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0x02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0x013</a:t>
                      </a:r>
                      <a:endParaRPr lang="ko-KR" altLang="en-US" sz="200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FPWM_DIVIDER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PWM_RES=1, 120Hz (decimal =19)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502124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4b'1111</a:t>
                      </a: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Refer to the right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 TRANSMIT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120Hz process</a:t>
                      </a: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120Hz process for sending output : 3 repetitions required</a:t>
                      </a:r>
                      <a:b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Duty 0.00% : 0x0000   /   </a:t>
                      </a:r>
                      <a:r>
                        <a:rPr lang="en-US" altLang="ko-KR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Duty 50.00% : 0x1FFF</a:t>
                      </a:r>
                      <a:b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Duty 0.19% : 0x001F  </a:t>
                      </a:r>
                      <a:r>
                        <a:rPr lang="en-US" altLang="ko-KR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/   Duty 62.50% : 0x2800</a:t>
                      </a:r>
                      <a:b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Duty 1.56% : 0x00FF</a:t>
                      </a:r>
                      <a:r>
                        <a:rPr lang="en-US" altLang="ko-KR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  /   Duty 75.00% : 0x3000</a:t>
                      </a:r>
                      <a:b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Duty 6.24% : 0x03FF</a:t>
                      </a:r>
                      <a:r>
                        <a:rPr lang="en-US" altLang="ko-KR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  /   Duty 87.51% : 0x3800</a:t>
                      </a:r>
                      <a:b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Duty 12.5% : 0x07FF</a:t>
                      </a:r>
                      <a:r>
                        <a:rPr lang="en-US" altLang="ko-KR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  /   Duty 93.76% : 0x3C00</a:t>
                      </a:r>
                      <a:b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Duty 25.0% : 0x0FFF</a:t>
                      </a:r>
                      <a:r>
                        <a:rPr lang="en-US" altLang="ko-KR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  /   Duty 100.0% : 0x3FFF</a:t>
                      </a:r>
                      <a:b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Duty 37.5% : 0x17FF</a:t>
                      </a:r>
                      <a:r>
                        <a:rPr lang="en-US" altLang="ko-KR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  /</a:t>
                      </a:r>
                      <a:endParaRPr lang="en-US" sz="5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11750"/>
                  </a:ext>
                </a:extLst>
              </a:tr>
              <a:tr h="146284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(1ms)</a:t>
                      </a: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545154"/>
                  </a:ext>
                </a:extLst>
              </a:tr>
              <a:tr h="1462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4b'1001</a:t>
                      </a: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6688"/>
                  </a:ext>
                </a:extLst>
              </a:tr>
              <a:tr h="150586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time (7ms)</a:t>
                      </a:r>
                    </a:p>
                  </a:txBody>
                  <a:tcPr marL="4302" marR="4302" marT="43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53238"/>
                  </a:ext>
                </a:extLst>
              </a:tr>
              <a:tr h="14628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4b’1001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500" b="0" i="0" u="none" strike="noStrike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 GEN</a:t>
                      </a:r>
                      <a:endParaRPr lang="en-US" sz="5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Before each channel measurement, a SYNC_GEN signal is sent before proceeding with the measurement.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Before each channel measurement, 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531222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SYNC_GEN signal is sent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670602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before proceeding with the measurement.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204772"/>
                  </a:ext>
                </a:extLst>
              </a:tr>
              <a:tr h="219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5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5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5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Meas. 5 times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537691"/>
                  </a:ext>
                </a:extLst>
              </a:tr>
              <a:tr h="219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 it fails even once among the measured values, it is a FAIL.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086947"/>
                  </a:ext>
                </a:extLst>
              </a:tr>
              <a:tr h="146284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Four difference values were calculated from 5 measurements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 100% Duty using the formulas below: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Four difference values were calculated from 5 measurements at 100% Duty using the formulas below: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896611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Diff_1={(1st - 2nd)/1st} x 100 [%]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Diff_1={(1st - 2nd)/1st} x 100 [%]</a:t>
                      </a:r>
                      <a:endParaRPr lang="ko-KR" altLang="en-US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056380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Diff_2={(1st - 3rd)/1st} x 100 [%]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Diff_2={(1st - 3rd)/1st} x 100 [%]</a:t>
                      </a:r>
                      <a:endParaRPr lang="ko-KR" altLang="en-US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45667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Diff_3={(1st - 4th)/1st} x 100 [%]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Diff_3={(1st - 4th)/1st} x 100 [%]</a:t>
                      </a:r>
                      <a:endParaRPr lang="ko-KR" altLang="en-US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915268"/>
                  </a:ext>
                </a:extLst>
              </a:tr>
              <a:tr h="146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Diff_4={(1st - 5th)/1st} x 100 [%]</a:t>
                      </a:r>
                      <a:endParaRPr lang="ko-KR" altLang="en-US" sz="2000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Diff_4={(1st - 5th)/1st} x 100 [%]</a:t>
                      </a:r>
                      <a:endParaRPr lang="ko-KR" altLang="en-US" dirty="0"/>
                    </a:p>
                  </a:txBody>
                  <a:tcPr marL="4302" marR="4302" marT="43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060945"/>
                  </a:ext>
                </a:extLst>
              </a:tr>
            </a:tbl>
          </a:graphicData>
        </a:graphic>
      </p:graphicFrame>
      <p:sp>
        <p:nvSpPr>
          <p:cNvPr id="2" name="object 10">
            <a:extLst>
              <a:ext uri="{FF2B5EF4-FFF2-40B4-BE49-F238E27FC236}">
                <a16:creationId xmlns:a16="http://schemas.microsoft.com/office/drawing/2014/main" id="{75719707-260F-1379-CF76-5162D78129EF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874700-A1E8-2A29-C081-F1C95D4297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40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34E3C-B27F-EFB8-5B87-4132FDD8F8D9}"/>
              </a:ext>
            </a:extLst>
          </p:cNvPr>
          <p:cNvSpPr txBox="1"/>
          <p:nvPr/>
        </p:nvSpPr>
        <p:spPr>
          <a:xfrm>
            <a:off x="310016" y="3263706"/>
            <a:ext cx="341743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50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Method]</a:t>
            </a:r>
          </a:p>
          <a:p>
            <a:pPr marL="228600" indent="-228600" algn="just">
              <a:spcBef>
                <a:spcPts val="300"/>
              </a:spcBef>
              <a:buFontTx/>
              <a:buAutoNum type="arabicPeriod"/>
            </a:pPr>
            <a:r>
              <a:rPr lang="en-US" altLang="ko-KR" sz="5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</a:t>
            </a:r>
            <a:r>
              <a:rPr lang="en-US" altLang="ko-KR" sz="500" kern="100" dirty="0"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5.8</a:t>
            </a:r>
            <a:r>
              <a:rPr lang="en-US" altLang="ko-KR" sz="5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V, DIN (VIH = 5V, VIL = 0V)</a:t>
            </a:r>
          </a:p>
          <a:p>
            <a:pPr marL="228600" indent="-228600" algn="just">
              <a:spcBef>
                <a:spcPts val="300"/>
              </a:spcBef>
              <a:buAutoNum type="arabicPeriod" startAt="2"/>
            </a:pPr>
            <a:r>
              <a:rPr lang="en-US" altLang="ko-KR" sz="5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Change the voltage given to the channel (previously 5v) to 7v</a:t>
            </a:r>
          </a:p>
          <a:p>
            <a:pPr marL="228600" indent="-228600" algn="just" latinLnBrk="1">
              <a:spcBef>
                <a:spcPts val="300"/>
              </a:spcBef>
              <a:buAutoNum type="arabicPeriod" startAt="2"/>
            </a:pPr>
            <a:r>
              <a:rPr lang="en-US" altLang="ko-KR" sz="50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Set registers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0299B-D082-3B2D-8E16-FA6BC6FDE51D}"/>
              </a:ext>
            </a:extLst>
          </p:cNvPr>
          <p:cNvSpPr txBox="1"/>
          <p:nvPr/>
        </p:nvSpPr>
        <p:spPr>
          <a:xfrm>
            <a:off x="5904669" y="3492973"/>
            <a:ext cx="13762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highlight>
                  <a:srgbClr val="FFFF00"/>
                </a:highlight>
              </a:rPr>
              <a:t>Measured after Trim</a:t>
            </a:r>
            <a:endParaRPr lang="ko-KR" altLang="en-US" sz="900" dirty="0">
              <a:highlight>
                <a:srgbClr val="FFFF00"/>
              </a:highlight>
            </a:endParaRPr>
          </a:p>
        </p:txBody>
      </p:sp>
      <p:sp>
        <p:nvSpPr>
          <p:cNvPr id="11" name="화살표: 아래로 구부러짐 10">
            <a:extLst>
              <a:ext uri="{FF2B5EF4-FFF2-40B4-BE49-F238E27FC236}">
                <a16:creationId xmlns:a16="http://schemas.microsoft.com/office/drawing/2014/main" id="{5E1FAE33-ADBF-17B8-D0EC-3226332FA45E}"/>
              </a:ext>
            </a:extLst>
          </p:cNvPr>
          <p:cNvSpPr/>
          <p:nvPr/>
        </p:nvSpPr>
        <p:spPr>
          <a:xfrm rot="16200000">
            <a:off x="-233612" y="8173652"/>
            <a:ext cx="670560" cy="203336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화살표: 아래로 구부러짐 11">
            <a:extLst>
              <a:ext uri="{FF2B5EF4-FFF2-40B4-BE49-F238E27FC236}">
                <a16:creationId xmlns:a16="http://schemas.microsoft.com/office/drawing/2014/main" id="{E2DCCBED-D72C-4CDA-1A98-AA1F63DA471E}"/>
              </a:ext>
            </a:extLst>
          </p:cNvPr>
          <p:cNvSpPr/>
          <p:nvPr/>
        </p:nvSpPr>
        <p:spPr>
          <a:xfrm rot="5604183">
            <a:off x="31257" y="8214292"/>
            <a:ext cx="670560" cy="203336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964881-7FBB-2DAD-2B21-006411481022}"/>
              </a:ext>
            </a:extLst>
          </p:cNvPr>
          <p:cNvSpPr/>
          <p:nvPr/>
        </p:nvSpPr>
        <p:spPr>
          <a:xfrm>
            <a:off x="30480" y="8199120"/>
            <a:ext cx="406672" cy="1727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" b="1" dirty="0">
                <a:solidFill>
                  <a:srgbClr val="FF0000"/>
                </a:solidFill>
                <a:highlight>
                  <a:srgbClr val="FFFF00"/>
                </a:highlight>
              </a:rPr>
              <a:t>Loop  3</a:t>
            </a:r>
            <a:endParaRPr lang="ko-KR" altLang="en-US" sz="5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96D9FB5-E762-4674-B1FB-AE442A526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862325"/>
              </p:ext>
            </p:extLst>
          </p:nvPr>
        </p:nvGraphicFramePr>
        <p:xfrm>
          <a:off x="310016" y="1159492"/>
          <a:ext cx="6923479" cy="2171090"/>
        </p:xfrm>
        <a:graphic>
          <a:graphicData uri="http://schemas.openxmlformats.org/drawingml/2006/table">
            <a:tbl>
              <a:tblPr/>
              <a:tblGrid>
                <a:gridCol w="348635">
                  <a:extLst>
                    <a:ext uri="{9D8B030D-6E8A-4147-A177-3AD203B41FA5}">
                      <a16:colId xmlns:a16="http://schemas.microsoft.com/office/drawing/2014/main" val="1490685720"/>
                    </a:ext>
                  </a:extLst>
                </a:gridCol>
                <a:gridCol w="427572">
                  <a:extLst>
                    <a:ext uri="{9D8B030D-6E8A-4147-A177-3AD203B41FA5}">
                      <a16:colId xmlns:a16="http://schemas.microsoft.com/office/drawing/2014/main" val="1354364565"/>
                    </a:ext>
                  </a:extLst>
                </a:gridCol>
                <a:gridCol w="848566">
                  <a:extLst>
                    <a:ext uri="{9D8B030D-6E8A-4147-A177-3AD203B41FA5}">
                      <a16:colId xmlns:a16="http://schemas.microsoft.com/office/drawing/2014/main" val="3562321394"/>
                    </a:ext>
                  </a:extLst>
                </a:gridCol>
                <a:gridCol w="848566">
                  <a:extLst>
                    <a:ext uri="{9D8B030D-6E8A-4147-A177-3AD203B41FA5}">
                      <a16:colId xmlns:a16="http://schemas.microsoft.com/office/drawing/2014/main" val="1730929778"/>
                    </a:ext>
                  </a:extLst>
                </a:gridCol>
                <a:gridCol w="309168">
                  <a:extLst>
                    <a:ext uri="{9D8B030D-6E8A-4147-A177-3AD203B41FA5}">
                      <a16:colId xmlns:a16="http://schemas.microsoft.com/office/drawing/2014/main" val="1511658697"/>
                    </a:ext>
                  </a:extLst>
                </a:gridCol>
                <a:gridCol w="473619">
                  <a:extLst>
                    <a:ext uri="{9D8B030D-6E8A-4147-A177-3AD203B41FA5}">
                      <a16:colId xmlns:a16="http://schemas.microsoft.com/office/drawing/2014/main" val="3033046939"/>
                    </a:ext>
                  </a:extLst>
                </a:gridCol>
                <a:gridCol w="374947">
                  <a:extLst>
                    <a:ext uri="{9D8B030D-6E8A-4147-A177-3AD203B41FA5}">
                      <a16:colId xmlns:a16="http://schemas.microsoft.com/office/drawing/2014/main" val="2711841409"/>
                    </a:ext>
                  </a:extLst>
                </a:gridCol>
                <a:gridCol w="572289">
                  <a:extLst>
                    <a:ext uri="{9D8B030D-6E8A-4147-A177-3AD203B41FA5}">
                      <a16:colId xmlns:a16="http://schemas.microsoft.com/office/drawing/2014/main" val="481597020"/>
                    </a:ext>
                  </a:extLst>
                </a:gridCol>
                <a:gridCol w="467040">
                  <a:extLst>
                    <a:ext uri="{9D8B030D-6E8A-4147-A177-3AD203B41FA5}">
                      <a16:colId xmlns:a16="http://schemas.microsoft.com/office/drawing/2014/main" val="1443209737"/>
                    </a:ext>
                  </a:extLst>
                </a:gridCol>
                <a:gridCol w="309168">
                  <a:extLst>
                    <a:ext uri="{9D8B030D-6E8A-4147-A177-3AD203B41FA5}">
                      <a16:colId xmlns:a16="http://schemas.microsoft.com/office/drawing/2014/main" val="2882675658"/>
                    </a:ext>
                  </a:extLst>
                </a:gridCol>
                <a:gridCol w="476907">
                  <a:extLst>
                    <a:ext uri="{9D8B030D-6E8A-4147-A177-3AD203B41FA5}">
                      <a16:colId xmlns:a16="http://schemas.microsoft.com/office/drawing/2014/main" val="1501814548"/>
                    </a:ext>
                  </a:extLst>
                </a:gridCol>
                <a:gridCol w="322324">
                  <a:extLst>
                    <a:ext uri="{9D8B030D-6E8A-4147-A177-3AD203B41FA5}">
                      <a16:colId xmlns:a16="http://schemas.microsoft.com/office/drawing/2014/main" val="2302825355"/>
                    </a:ext>
                  </a:extLst>
                </a:gridCol>
                <a:gridCol w="325612">
                  <a:extLst>
                    <a:ext uri="{9D8B030D-6E8A-4147-A177-3AD203B41FA5}">
                      <a16:colId xmlns:a16="http://schemas.microsoft.com/office/drawing/2014/main" val="3765047729"/>
                    </a:ext>
                  </a:extLst>
                </a:gridCol>
                <a:gridCol w="477008">
                  <a:extLst>
                    <a:ext uri="{9D8B030D-6E8A-4147-A177-3AD203B41FA5}">
                      <a16:colId xmlns:a16="http://schemas.microsoft.com/office/drawing/2014/main" val="1496159573"/>
                    </a:ext>
                  </a:extLst>
                </a:gridCol>
                <a:gridCol w="342058">
                  <a:extLst>
                    <a:ext uri="{9D8B030D-6E8A-4147-A177-3AD203B41FA5}">
                      <a16:colId xmlns:a16="http://schemas.microsoft.com/office/drawing/2014/main" val="621087667"/>
                    </a:ext>
                  </a:extLst>
                </a:gridCol>
              </a:tblGrid>
              <a:tr h="13015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Characteristics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Simbol</a:t>
                      </a:r>
                      <a:endParaRPr 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Test Pin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Decimal Code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Hexa Code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Bin Code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S100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Acco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75559126"/>
                  </a:ext>
                </a:extLst>
              </a:tr>
              <a:tr h="1508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Low Limit[</a:t>
                      </a:r>
                      <a:r>
                        <a:rPr lang="en-US" sz="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uS</a:t>
                      </a: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 Pulse Width[</a:t>
                      </a:r>
                      <a:r>
                        <a:rPr lang="en-US" sz="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uS</a:t>
                      </a: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High Limit[</a:t>
                      </a:r>
                      <a:r>
                        <a:rPr lang="en-US" sz="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uS</a:t>
                      </a: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Low Limit[mA]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Current Meas.[mA]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High Limit[mA]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886957"/>
                  </a:ext>
                </a:extLst>
              </a:tr>
              <a:tr h="125711"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PWM Test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DUTY_0P_CH1~12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0.00%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0X0000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0000 0000 0000 0000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0.00%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-2 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-0.060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0.060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861554"/>
                  </a:ext>
                </a:extLst>
              </a:tr>
              <a:tr h="1257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DUTY_0P19_CH1~12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0.19%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0x001F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0000 0000 0001 1111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0.19%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 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15.8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Does not apply to Acco.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7082782"/>
                  </a:ext>
                </a:extLst>
              </a:tr>
              <a:tr h="1257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DUTY_1P56_CH1~12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1.56%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255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0x00FF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0000 0000 1111 1111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1.56%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123 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129.7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136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0.3mA (S</a:t>
                      </a:r>
                      <a:r>
                        <a:rPr lang="ko-KR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120us(J</a:t>
                      </a:r>
                      <a:r>
                        <a:rPr lang="ko-KR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0.5mA (S</a:t>
                      </a:r>
                      <a:r>
                        <a:rPr lang="ko-KR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130us (J</a:t>
                      </a:r>
                      <a:r>
                        <a:rPr lang="ko-KR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0.8 (S</a:t>
                      </a:r>
                      <a:r>
                        <a:rPr lang="ko-KR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140us(J</a:t>
                      </a:r>
                      <a:r>
                        <a:rPr lang="ko-KR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85997"/>
                  </a:ext>
                </a:extLst>
              </a:tr>
              <a:tr h="1257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DUTY_6P24_CH1~12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6.24%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1023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0x03FF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0000 0011 1111 1111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6.24%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494 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520.4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546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1.78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1.93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2.089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494287"/>
                  </a:ext>
                </a:extLst>
              </a:tr>
              <a:tr h="1257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DUTY_12P5_CH1~12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12.49%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2047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0x07FF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0000 0111 1111 1111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12.49%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989 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1041.2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1093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3.65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3.85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4.04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788842"/>
                  </a:ext>
                </a:extLst>
              </a:tr>
              <a:tr h="1257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DUTY_25_CH1~12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25.00%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4095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0x0FFF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0000 1111 1111 1111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25.00%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1979 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2083.0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2187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7.30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7.69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8.07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985559"/>
                  </a:ext>
                </a:extLst>
              </a:tr>
              <a:tr h="1257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DUTY_37P5_CH1~12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37.50%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6143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0x17FF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0001 0111 1111 1111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37.50%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2968 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3124.7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3281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10.869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11.5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12.381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372707"/>
                  </a:ext>
                </a:extLst>
              </a:tr>
              <a:tr h="1257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DUTY_50_CH1~12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50.00%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8191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0x1FFF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0001 1111 1111 1111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50.00%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3958 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4166.4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4375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14.59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15.36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16.13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902946"/>
                  </a:ext>
                </a:extLst>
              </a:tr>
              <a:tr h="1257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DUTY_62P5_CH1~12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62.50%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10240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0x2800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0010 1000 0000 0000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62.50%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4948 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5208.7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5469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18.15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19.11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20.06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975453"/>
                  </a:ext>
                </a:extLst>
              </a:tr>
              <a:tr h="1257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DUTY_75_CH1~12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75.00%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12288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0x3000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0011 0000 0000 0000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75.00%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5938 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6250.4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6563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21.739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22.79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24.761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15996"/>
                  </a:ext>
                </a:extLst>
              </a:tr>
              <a:tr h="1257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DUTY_87P5_CH1~12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87.51%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14336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0x3800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0011 1000 0000 0000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87.51%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6928 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7292.1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7657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25.498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26.40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28.753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957269"/>
                  </a:ext>
                </a:extLst>
              </a:tr>
              <a:tr h="1257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DUTY_93P76_CH1~12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93.76%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15360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0x3C00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0011 1100 0000 0000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93.76%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7422 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7813.0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8204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214596"/>
                  </a:ext>
                </a:extLst>
              </a:tr>
              <a:tr h="1257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DUTY_100P_CH1~12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16383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0x3FFF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0011 1111 1111 1111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7917 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8333.3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8750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29.45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30.50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32.55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039877"/>
                  </a:ext>
                </a:extLst>
              </a:tr>
              <a:tr h="1257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DUTY_DIFF_100P_CH1~12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16383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0x3FFF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0011 1111 1111 1111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-5%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-5%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672006"/>
                  </a:ext>
                </a:extLst>
              </a:tr>
              <a:tr h="1301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I_100P_CH1~12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IOUT_CH1~12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16383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0x3FFF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0011 1111 1111 1111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29.45 [mA]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31  [mA]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32.55  [mA]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Does not apply to Acco.</a:t>
                      </a:r>
                    </a:p>
                  </a:txBody>
                  <a:tcPr marL="2760" marR="2760" marT="27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45736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612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CB030-F00B-7975-284A-1C1B2075D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B566C852-777C-700E-7DA9-B3858050991E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6F5977-D4A7-D2F7-4578-F54F4DA9991F}"/>
              </a:ext>
            </a:extLst>
          </p:cNvPr>
          <p:cNvSpPr txBox="1"/>
          <p:nvPr/>
        </p:nvSpPr>
        <p:spPr>
          <a:xfrm>
            <a:off x="306627" y="6788238"/>
            <a:ext cx="5753890" cy="3285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80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Method]</a:t>
            </a:r>
          </a:p>
          <a:p>
            <a:pPr algn="just" latinLnBrk="1">
              <a:spcBef>
                <a:spcPts val="300"/>
              </a:spcBef>
            </a:pPr>
            <a:endParaRPr lang="en-US" altLang="ko-KR" sz="800" kern="100" dirty="0">
              <a:effectLst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marL="685800" lvl="1" indent="-228600" algn="just">
              <a:spcBef>
                <a:spcPts val="300"/>
              </a:spcBef>
              <a:buAutoNum type="arabicPeriod"/>
            </a:pP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IIL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Force VDD 5.5V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Force 5.5V for TEST, DIN, DOUT, SVI, and SVO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Force 0V to ‘Pin under Test’ and measure current</a:t>
            </a:r>
          </a:p>
          <a:p>
            <a:pPr lvl="1" algn="just">
              <a:spcBef>
                <a:spcPts val="300"/>
              </a:spcBef>
            </a:pP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685800" lvl="1" indent="-228600" algn="just">
              <a:spcBef>
                <a:spcPts val="300"/>
              </a:spcBef>
              <a:buAutoNum type="arabicPeriod" startAt="2"/>
            </a:pP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IIH 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Force VDD 5.5V;   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Force 0V for TEST, DIN, DOUT, SVI, and SVO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Force 5.5V to ‘Pin under Test’ and measure current</a:t>
            </a:r>
          </a:p>
          <a:p>
            <a:pPr lvl="1" algn="just">
              <a:spcBef>
                <a:spcPts val="300"/>
              </a:spcBef>
            </a:pP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 algn="just">
              <a:spcBef>
                <a:spcPts val="300"/>
              </a:spcBef>
            </a:pP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3.  IOZL 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 Force VDD : 5.5V  &amp;  IOUT_CH1~12 : 0V 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Measure current by parallel</a:t>
            </a:r>
          </a:p>
          <a:p>
            <a:pPr lvl="1" algn="just">
              <a:spcBef>
                <a:spcPts val="300"/>
              </a:spcBef>
            </a:pP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 algn="just">
              <a:spcBef>
                <a:spcPts val="300"/>
              </a:spcBef>
            </a:pPr>
            <a:r>
              <a:rPr lang="en-US" altLang="ko-KR" sz="800" dirty="0"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4.  IOZH 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Force</a:t>
            </a:r>
            <a:r>
              <a:rPr lang="en-US" altLang="ko-KR" sz="800" dirty="0"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VDD : 5.5V  &amp;  </a:t>
            </a: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IOUT_CH1~12</a:t>
            </a:r>
            <a:r>
              <a:rPr lang="en-US" altLang="ko-KR" sz="800" dirty="0"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: 5.5V</a:t>
            </a:r>
          </a:p>
          <a:p>
            <a:pPr lvl="1" algn="just">
              <a:spcBef>
                <a:spcPts val="300"/>
              </a:spcBef>
            </a:pP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</a:t>
            </a:r>
            <a:r>
              <a:rPr lang="en-US" altLang="ko-KR" sz="800" b="1" dirty="0">
                <a:solidFill>
                  <a:srgbClr val="F82F0E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Delay 500ms</a:t>
            </a:r>
            <a:endParaRPr lang="en-US" altLang="ko-KR" sz="800" b="1" dirty="0">
              <a:solidFill>
                <a:srgbClr val="F82F0E"/>
              </a:solidFill>
              <a:effectLst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 algn="just">
              <a:spcBef>
                <a:spcPts val="300"/>
              </a:spcBef>
            </a:pPr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- M</a:t>
            </a:r>
            <a:r>
              <a:rPr lang="en-US" altLang="ko-KR" sz="800" dirty="0"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easure current by parallel 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B43B73C4-EA39-D0C1-7586-9EE87E1CD8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317831" y="803364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41</a:t>
            </a:fld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683A9-2CD9-C3B7-9EC7-4812C56D7F7D}"/>
              </a:ext>
            </a:extLst>
          </p:cNvPr>
          <p:cNvSpPr txBox="1"/>
          <p:nvPr/>
        </p:nvSpPr>
        <p:spPr>
          <a:xfrm>
            <a:off x="338670" y="1233614"/>
            <a:ext cx="370494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080" kern="100" dirty="0">
                <a:latin typeface="Arial" panose="020B0604020202020204" pitchFamily="34" charset="0"/>
                <a:ea typeface="바탕" panose="02030600000101010101" pitchFamily="18" charset="-127"/>
                <a:cs typeface="Arial" panose="020B0604020202020204" pitchFamily="34" charset="0"/>
              </a:rPr>
              <a:t>Leakage Test</a:t>
            </a:r>
            <a:endParaRPr lang="ko-KR" altLang="ko-KR" sz="1080" kern="100" dirty="0"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1E078C9-C5D4-CEAE-BC5C-799CC885E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186637"/>
              </p:ext>
            </p:extLst>
          </p:nvPr>
        </p:nvGraphicFramePr>
        <p:xfrm>
          <a:off x="315096" y="4068111"/>
          <a:ext cx="6911203" cy="24501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5278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995551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865460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1341435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41268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41268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41268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8762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40913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350015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Item</a:t>
                      </a:r>
                      <a:endParaRPr lang="ko-KR" alt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350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36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△ </a:t>
                      </a: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IOZH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Delta_</a:t>
                      </a:r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IOZH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IOUT_CH1~12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-7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7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nA</a:t>
                      </a:r>
                      <a:endParaRPr lang="ko-KR" sz="1000" b="0" kern="1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IOZH2 – IOZH1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76485"/>
                  </a:ext>
                </a:extLst>
              </a:tr>
              <a:tr h="35001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37</a:t>
                      </a:r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△ </a:t>
                      </a: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IOZL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Delta_</a:t>
                      </a:r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IOZL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IOUT_CH1~12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-3.5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3.5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nA</a:t>
                      </a:r>
                      <a:endParaRPr lang="ko-KR" sz="1000" b="0" kern="1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IOZL2 – IOZL1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2154"/>
                  </a:ext>
                </a:extLst>
              </a:tr>
              <a:tr h="350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38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△ </a:t>
                      </a: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IIL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Delta_IIL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DIN, DOUT, SVI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-300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300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nA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IIL2 – IIL1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062516"/>
                  </a:ext>
                </a:extLst>
              </a:tr>
              <a:tr h="350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39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Delta_IIL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TEST, SVO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-100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100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nA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IIL2 – IIL1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940618"/>
                  </a:ext>
                </a:extLst>
              </a:tr>
              <a:tr h="350015"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40</a:t>
                      </a:r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△ </a:t>
                      </a: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IIH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Delta_IIH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DIN, DOUT, SVI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-10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uA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IIH2 – IIH1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195160"/>
                  </a:ext>
                </a:extLst>
              </a:tr>
              <a:tr h="350015"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41</a:t>
                      </a:r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Delta_IIH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TEST, SVO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-100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100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nA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IIH2 – IIH1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38473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1A0CF38-AF92-5D7F-29CA-B04E5B4F8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058677"/>
              </p:ext>
            </p:extLst>
          </p:nvPr>
        </p:nvGraphicFramePr>
        <p:xfrm>
          <a:off x="306627" y="1491177"/>
          <a:ext cx="6911203" cy="24175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5278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15359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745652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1341435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41268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41268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41268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8762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40913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8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Item</a:t>
                      </a:r>
                      <a:endParaRPr lang="ko-KR" alt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3730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31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Output Hi-Z Leak Current (High) 2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IOZH2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IOUT_CH1~12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-5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nA</a:t>
                      </a:r>
                      <a:endParaRPr lang="ko-KR" sz="1000" b="0" kern="1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76485"/>
                  </a:ext>
                </a:extLst>
              </a:tr>
              <a:tr h="375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Output Hi-Z Leak Current (Low) 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IOZL2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IOUT_CH1~12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-10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10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nA</a:t>
                      </a:r>
                      <a:endParaRPr lang="ko-KR" sz="1000" b="0" kern="1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2154"/>
                  </a:ext>
                </a:extLst>
              </a:tr>
              <a:tr h="400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33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Input Leak Current (Low) 2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IIL2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TEST, DIN, DOUT</a:t>
                      </a:r>
                    </a:p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SVI, SVO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-500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500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nA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062516"/>
                  </a:ext>
                </a:extLst>
              </a:tr>
              <a:tr h="458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34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Input Leak Current (High) 2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IIH2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DIN, DOUT, SVI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55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65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90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uA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195160"/>
                  </a:ext>
                </a:extLst>
              </a:tr>
              <a:tr h="521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35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TEST, SVO</a:t>
                      </a:r>
                      <a:endParaRPr lang="ko-KR" alt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-500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500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trike="noStrike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nA</a:t>
                      </a:r>
                      <a:endParaRPr lang="ko-KR" sz="1000" b="0" strike="noStrike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384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7161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4919E-045D-6116-73FB-534D8947C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56370AF-0298-5CD5-B89D-5701230DB58D}"/>
              </a:ext>
            </a:extLst>
          </p:cNvPr>
          <p:cNvSpPr txBox="1"/>
          <p:nvPr/>
        </p:nvSpPr>
        <p:spPr>
          <a:xfrm>
            <a:off x="288664" y="2418539"/>
            <a:ext cx="4712391" cy="87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400"/>
              </a:spcBef>
            </a:pPr>
            <a:r>
              <a:rPr lang="en-US" altLang="ko-KR" sz="105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Method]</a:t>
            </a:r>
          </a:p>
          <a:p>
            <a:pPr algn="just">
              <a:spcBef>
                <a:spcPts val="4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* OFS Verify  :</a:t>
            </a:r>
            <a:endParaRPr lang="ko-KR" altLang="ko-KR" sz="105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4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(1)  Force VDD 5V, DIN (VIH = 5V, VIL = 0V) 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(2)  Set registers (Force/Compare ‘DIN’ pin by test pattern)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88A221-3A3C-4A03-FE9F-C710239B9C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42</a:t>
            </a:fld>
            <a:endParaRPr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53DD7B6-8EBB-25ED-B741-1D91DB58C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225903"/>
              </p:ext>
            </p:extLst>
          </p:nvPr>
        </p:nvGraphicFramePr>
        <p:xfrm>
          <a:off x="288664" y="3538722"/>
          <a:ext cx="6876535" cy="6435247"/>
        </p:xfrm>
        <a:graphic>
          <a:graphicData uri="http://schemas.openxmlformats.org/drawingml/2006/table">
            <a:tbl>
              <a:tblPr/>
              <a:tblGrid>
                <a:gridCol w="974176">
                  <a:extLst>
                    <a:ext uri="{9D8B030D-6E8A-4147-A177-3AD203B41FA5}">
                      <a16:colId xmlns:a16="http://schemas.microsoft.com/office/drawing/2014/main" val="3549395326"/>
                    </a:ext>
                  </a:extLst>
                </a:gridCol>
                <a:gridCol w="759285">
                  <a:extLst>
                    <a:ext uri="{9D8B030D-6E8A-4147-A177-3AD203B41FA5}">
                      <a16:colId xmlns:a16="http://schemas.microsoft.com/office/drawing/2014/main" val="1105208172"/>
                    </a:ext>
                  </a:extLst>
                </a:gridCol>
                <a:gridCol w="1017153">
                  <a:extLst>
                    <a:ext uri="{9D8B030D-6E8A-4147-A177-3AD203B41FA5}">
                      <a16:colId xmlns:a16="http://schemas.microsoft.com/office/drawing/2014/main" val="3653611808"/>
                    </a:ext>
                  </a:extLst>
                </a:gridCol>
                <a:gridCol w="1518568">
                  <a:extLst>
                    <a:ext uri="{9D8B030D-6E8A-4147-A177-3AD203B41FA5}">
                      <a16:colId xmlns:a16="http://schemas.microsoft.com/office/drawing/2014/main" val="1455517145"/>
                    </a:ext>
                  </a:extLst>
                </a:gridCol>
                <a:gridCol w="2607353">
                  <a:extLst>
                    <a:ext uri="{9D8B030D-6E8A-4147-A177-3AD203B41FA5}">
                      <a16:colId xmlns:a16="http://schemas.microsoft.com/office/drawing/2014/main" val="3028542019"/>
                    </a:ext>
                  </a:extLst>
                </a:gridCol>
              </a:tblGrid>
              <a:tr h="19710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OFS_Verify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dist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Continued from previous trim item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93046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340574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332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ID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4827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CHANNEL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85435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233946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363369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 CLOCK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534553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 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503341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560560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 4mA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63575"/>
                  </a:ext>
                </a:extLst>
              </a:tr>
              <a:tr h="267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0x15E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350)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251990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73716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025497"/>
                  </a:ext>
                </a:extLst>
              </a:tr>
              <a:tr h="4782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681866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331410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292075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1000)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57625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96931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497358"/>
                  </a:ext>
                </a:extLst>
              </a:tr>
              <a:tr h="576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861970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643578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633195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0xFA0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4000)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6680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502699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13955"/>
                  </a:ext>
                </a:extLst>
              </a:tr>
              <a:tr h="317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602019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Target : 8.000ma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0918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3C6B670-2F1A-680D-0A37-6BE732942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819862"/>
              </p:ext>
            </p:extLst>
          </p:nvPr>
        </p:nvGraphicFramePr>
        <p:xfrm>
          <a:off x="293949" y="1221400"/>
          <a:ext cx="6876535" cy="9566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9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65022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106347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57880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4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4688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39171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3917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IOUT2_L Verify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ICTL2_L_VFY1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</a:t>
                      </a: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5% (350)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89485"/>
                  </a:ext>
                </a:extLst>
              </a:tr>
              <a:tr h="2391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IOUT2_L Verify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ICTL2_L_VFY2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5% (1000)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503878"/>
                  </a:ext>
                </a:extLst>
              </a:tr>
              <a:tr h="23917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IOUT2_L Verify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ICTL2_L_VFY3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</a:t>
                      </a:r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3.834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4.036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4.238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5% (4000)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544823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BDE2A1B5-70AE-8FB2-6193-5F28E511933F}"/>
              </a:ext>
            </a:extLst>
          </p:cNvPr>
          <p:cNvSpPr/>
          <p:nvPr/>
        </p:nvSpPr>
        <p:spPr>
          <a:xfrm>
            <a:off x="293949" y="1221400"/>
            <a:ext cx="6876535" cy="8492751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chemeClr val="tx1"/>
                </a:solidFill>
                <a:highlight>
                  <a:srgbClr val="FFFF00"/>
                </a:highlight>
              </a:rPr>
              <a:t>Excluded from Mass Production Test Program (2026.04.01) </a:t>
            </a:r>
            <a:endParaRPr lang="ko-KR" alt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940543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EFE6E-ED72-C52F-DB3A-CB5ED90DE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8BA4FB2-17CD-EECB-3471-847E4181EAA5}"/>
              </a:ext>
            </a:extLst>
          </p:cNvPr>
          <p:cNvSpPr txBox="1"/>
          <p:nvPr/>
        </p:nvSpPr>
        <p:spPr>
          <a:xfrm>
            <a:off x="293949" y="2469855"/>
            <a:ext cx="4033634" cy="87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400"/>
              </a:spcBef>
            </a:pPr>
            <a:r>
              <a:rPr lang="en-US" altLang="ko-KR" sz="105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Method]</a:t>
            </a:r>
          </a:p>
          <a:p>
            <a:pPr algn="just">
              <a:spcBef>
                <a:spcPts val="4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* GAIN Verify  :</a:t>
            </a:r>
            <a:endParaRPr lang="ko-KR" altLang="ko-KR" sz="105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4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(1)  Force VDD 5V, DIN (VIH = 5V, VIL = 0V) 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(2)  Set registers (Force/Compare ‘DIN’ pin by test pattern)</a:t>
            </a:r>
            <a:r>
              <a:rPr lang="en-US" altLang="ko-KR" sz="1050" strike="sngStrike" kern="100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050" strike="sngStrike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E87E61-57B1-E227-A950-F6D06AC337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43</a:t>
            </a:fld>
            <a:endParaRPr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5D5F399-7EAB-A331-543C-B5896F11C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367777"/>
              </p:ext>
            </p:extLst>
          </p:nvPr>
        </p:nvGraphicFramePr>
        <p:xfrm>
          <a:off x="293949" y="3590038"/>
          <a:ext cx="6876536" cy="5792144"/>
        </p:xfrm>
        <a:graphic>
          <a:graphicData uri="http://schemas.openxmlformats.org/drawingml/2006/table">
            <a:tbl>
              <a:tblPr/>
              <a:tblGrid>
                <a:gridCol w="900778">
                  <a:extLst>
                    <a:ext uri="{9D8B030D-6E8A-4147-A177-3AD203B41FA5}">
                      <a16:colId xmlns:a16="http://schemas.microsoft.com/office/drawing/2014/main" val="3549395326"/>
                    </a:ext>
                  </a:extLst>
                </a:gridCol>
                <a:gridCol w="702077">
                  <a:extLst>
                    <a:ext uri="{9D8B030D-6E8A-4147-A177-3AD203B41FA5}">
                      <a16:colId xmlns:a16="http://schemas.microsoft.com/office/drawing/2014/main" val="1105208172"/>
                    </a:ext>
                  </a:extLst>
                </a:gridCol>
                <a:gridCol w="1310100">
                  <a:extLst>
                    <a:ext uri="{9D8B030D-6E8A-4147-A177-3AD203B41FA5}">
                      <a16:colId xmlns:a16="http://schemas.microsoft.com/office/drawing/2014/main" val="3653611808"/>
                    </a:ext>
                  </a:extLst>
                </a:gridCol>
                <a:gridCol w="1402231">
                  <a:extLst>
                    <a:ext uri="{9D8B030D-6E8A-4147-A177-3AD203B41FA5}">
                      <a16:colId xmlns:a16="http://schemas.microsoft.com/office/drawing/2014/main" val="1455517145"/>
                    </a:ext>
                  </a:extLst>
                </a:gridCol>
                <a:gridCol w="2561350">
                  <a:extLst>
                    <a:ext uri="{9D8B030D-6E8A-4147-A177-3AD203B41FA5}">
                      <a16:colId xmlns:a16="http://schemas.microsoft.com/office/drawing/2014/main" val="3028542019"/>
                    </a:ext>
                  </a:extLst>
                </a:gridCol>
              </a:tblGrid>
              <a:tr h="18554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GAIN_Verify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93046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340574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sng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332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ID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sng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659812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CHANNEL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sng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4827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sng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801076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sng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363369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 CLOCK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sng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534553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sng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 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sng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503341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319442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0x470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 24mA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595170"/>
                  </a:ext>
                </a:extLst>
              </a:tr>
              <a:tr h="2931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0x15E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350)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252954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654020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797389"/>
                  </a:ext>
                </a:extLst>
              </a:tr>
              <a:tr h="2769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460596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04332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536713"/>
                  </a:ext>
                </a:extLst>
              </a:tr>
              <a:tr h="297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1000)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61405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52063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066709"/>
                  </a:ext>
                </a:extLst>
              </a:tr>
              <a:tr h="2769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604388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292688"/>
                  </a:ext>
                </a:extLst>
              </a:tr>
              <a:tr h="205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ddio_dis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pwm_full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96931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0xFA0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4000)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497358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861970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643578"/>
                  </a:ext>
                </a:extLst>
              </a:tr>
              <a:tr h="2769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187427"/>
                  </a:ext>
                </a:extLst>
              </a:tr>
              <a:tr h="185547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36608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2C504D4-22E7-50A7-A67F-5E8694C7A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294794"/>
              </p:ext>
            </p:extLst>
          </p:nvPr>
        </p:nvGraphicFramePr>
        <p:xfrm>
          <a:off x="293949" y="1221400"/>
          <a:ext cx="6876535" cy="100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9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65022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106347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57880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4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4688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42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IOUT2_H Verify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ICTL2_H_VFY1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2.089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5% (350)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805457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IOUT2_H Verify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ICTL2_H_VFY2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5.605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5.900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6.195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5% (1000)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39416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IOUT2_H Verify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ICTL2_H_VFY3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21.641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22.780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23.919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5% (4000)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9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4265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873D0-3F81-7535-2B6D-4D3681F4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2086691E-E79E-0E4D-3308-33CC5B9B6C36}"/>
              </a:ext>
            </a:extLst>
          </p:cNvPr>
          <p:cNvSpPr txBox="1">
            <a:spLocks/>
          </p:cNvSpPr>
          <p:nvPr/>
        </p:nvSpPr>
        <p:spPr>
          <a:xfrm>
            <a:off x="6174612" y="9896740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038CAA1-8661-778E-CB2C-4A5F29BEF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604600"/>
              </p:ext>
            </p:extLst>
          </p:nvPr>
        </p:nvGraphicFramePr>
        <p:xfrm>
          <a:off x="293949" y="2793006"/>
          <a:ext cx="6864180" cy="556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72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787955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665742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726959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5572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2470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43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Standby Current 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SIDD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VD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2.4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3.5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Temporary</a:t>
                      </a:r>
                    </a:p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@8mA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F49DB3E-1D29-ADFC-EC7C-23E0A433A59A}"/>
              </a:ext>
            </a:extLst>
          </p:cNvPr>
          <p:cNvSpPr txBox="1"/>
          <p:nvPr/>
        </p:nvSpPr>
        <p:spPr>
          <a:xfrm>
            <a:off x="590836" y="3444896"/>
            <a:ext cx="4545946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- SIDD</a:t>
            </a:r>
            <a:endParaRPr lang="en-US" altLang="ko-KR" sz="1050" kern="1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Open all signal pins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Measure VDD current after wait time (10~100ms)</a:t>
            </a:r>
          </a:p>
          <a:p>
            <a:pPr algn="just" latinLnBrk="1">
              <a:spcBef>
                <a:spcPts val="300"/>
              </a:spcBef>
            </a:pPr>
            <a:endParaRPr lang="en-US" altLang="ko-KR" sz="1050" kern="10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8D11F-6C83-ACE0-BA37-7E27C96FE0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44</a:t>
            </a:fld>
            <a:endParaRPr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7B0728A-A521-6A40-FA1A-EC01252FF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20539"/>
              </p:ext>
            </p:extLst>
          </p:nvPr>
        </p:nvGraphicFramePr>
        <p:xfrm>
          <a:off x="293948" y="4580307"/>
          <a:ext cx="6864180" cy="556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72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466928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98676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726959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5572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2470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44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Dynamic Current 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DIDD2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VD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2.4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3.5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Temporrary</a:t>
                      </a:r>
                      <a:endParaRPr lang="en-US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@8mA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3120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29FF53-7C56-E9A9-3511-3DFDDCBBED92}"/>
              </a:ext>
            </a:extLst>
          </p:cNvPr>
          <p:cNvSpPr txBox="1"/>
          <p:nvPr/>
        </p:nvSpPr>
        <p:spPr>
          <a:xfrm>
            <a:off x="590836" y="5225289"/>
            <a:ext cx="4545946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3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- DIDD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Force VDD 5V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PWM test </a:t>
            </a:r>
            <a:r>
              <a:rPr lang="en-US" altLang="ko-KR" sz="1050" kern="100" dirty="0" err="1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condtion</a:t>
            </a: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and pattern looping </a:t>
            </a:r>
          </a:p>
          <a:p>
            <a:pPr marL="228600" indent="-228600" algn="just" latinLnBrk="1">
              <a:spcBef>
                <a:spcPts val="300"/>
              </a:spcBef>
              <a:buAutoNum type="arabicPeriod"/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Measure VDD current after wait time (10~100ms)</a:t>
            </a:r>
          </a:p>
          <a:p>
            <a:pPr algn="just" latinLnBrk="1">
              <a:spcBef>
                <a:spcPts val="300"/>
              </a:spcBef>
            </a:pPr>
            <a:endParaRPr lang="en-US" altLang="ko-KR" sz="1050" kern="100" dirty="0"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8941366-F850-FF67-3541-678E6B30C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333692"/>
              </p:ext>
            </p:extLst>
          </p:nvPr>
        </p:nvGraphicFramePr>
        <p:xfrm>
          <a:off x="293949" y="1221400"/>
          <a:ext cx="6876535" cy="100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9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65022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106347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57880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4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4688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43</a:t>
                      </a:r>
                      <a:endParaRPr lang="ko-KR" altLang="en-US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△</a:t>
                      </a: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IOUT2_H Verify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IOUT2_H_P1_DELTA</a:t>
                      </a:r>
                      <a:endParaRPr lang="ko-KR" sz="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{(IOUT2 – IOUT1)/IOUT}*100</a:t>
                      </a:r>
                      <a:endParaRPr lang="ko-KR" altLang="ko-KR" sz="7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805457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△</a:t>
                      </a: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IOUT2_H Verify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IOUT2_H_P2_DELTA</a:t>
                      </a:r>
                      <a:endParaRPr lang="ko-KR" altLang="ko-KR" sz="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{(IOUT2 – IOUT1)/IOUT}*100</a:t>
                      </a:r>
                      <a:endParaRPr lang="ko-KR" altLang="ko-KR" sz="7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39416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△</a:t>
                      </a: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IOUT2_H Verify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IOUT2_H_P3_DELTA</a:t>
                      </a:r>
                      <a:endParaRPr lang="ko-KR" altLang="ko-KR" sz="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IOUT_CH[1:12]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{(IOUT2 – IOUT1)/IOUT}*100</a:t>
                      </a:r>
                      <a:endParaRPr lang="ko-KR" altLang="ko-KR" sz="7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9397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53339090-85C8-3194-FB0B-06382345BFD2}"/>
              </a:ext>
            </a:extLst>
          </p:cNvPr>
          <p:cNvSpPr/>
          <p:nvPr/>
        </p:nvSpPr>
        <p:spPr>
          <a:xfrm>
            <a:off x="293949" y="2793005"/>
            <a:ext cx="6876535" cy="1626595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chemeClr val="tx1"/>
                </a:solidFill>
                <a:highlight>
                  <a:srgbClr val="FFFF00"/>
                </a:highlight>
              </a:rPr>
              <a:t>Excluded from Mass Production Test Program (2026.04.01) </a:t>
            </a:r>
            <a:endParaRPr lang="ko-KR" altLang="en-US" sz="36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36F6663-7748-7AB1-6EB6-140FBD466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135885"/>
              </p:ext>
            </p:extLst>
          </p:nvPr>
        </p:nvGraphicFramePr>
        <p:xfrm>
          <a:off x="293948" y="6469455"/>
          <a:ext cx="6864180" cy="556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72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457403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996294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726959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7586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5572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2470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45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trike="noStrike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△</a:t>
                      </a: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Dynamic Current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DIDD_DELTA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VDD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-5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0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5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%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Temporrary</a:t>
                      </a:r>
                      <a:endParaRPr lang="en-US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@8mA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312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2943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F568D-1917-5320-403A-61AB8DFE2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56CE589-03EC-2D4B-5014-77A7AD490B1D}"/>
              </a:ext>
            </a:extLst>
          </p:cNvPr>
          <p:cNvSpPr txBox="1"/>
          <p:nvPr/>
        </p:nvSpPr>
        <p:spPr>
          <a:xfrm>
            <a:off x="288664" y="2274093"/>
            <a:ext cx="4712391" cy="87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Bef>
                <a:spcPts val="400"/>
              </a:spcBef>
            </a:pPr>
            <a:r>
              <a:rPr lang="en-US" altLang="ko-KR" sz="1050" kern="100" dirty="0"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[Test Method]</a:t>
            </a:r>
          </a:p>
          <a:p>
            <a:pPr algn="just">
              <a:spcBef>
                <a:spcPts val="4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* OFS Verify  :</a:t>
            </a:r>
            <a:endParaRPr lang="ko-KR" altLang="ko-KR" sz="1050" kern="100" dirty="0">
              <a:effectLst/>
              <a:latin typeface="Arial" panose="020B0604020202020204" pitchFamily="34" charset="0"/>
              <a:ea typeface="바탕" panose="02030600000101010101" pitchFamily="18" charset="-127"/>
              <a:cs typeface="Arial" panose="020B0604020202020204" pitchFamily="34" charset="0"/>
            </a:endParaRPr>
          </a:p>
          <a:p>
            <a:pPr algn="just" latinLnBrk="1">
              <a:spcBef>
                <a:spcPts val="4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(1)  Force VDD 5V, DIN (VIH = 5V, VIL = 0V) </a:t>
            </a:r>
          </a:p>
          <a:p>
            <a:pPr algn="just" latinLnBrk="1">
              <a:spcBef>
                <a:spcPts val="300"/>
              </a:spcBef>
            </a:pPr>
            <a:r>
              <a:rPr lang="en-US" altLang="ko-KR" sz="1050" kern="100" dirty="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  (2)  Set registers (Force/Compare ‘DIN’ pin by test pattern)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91E7C1-FA3E-B4E6-B2CE-7BA828EA78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299504" y="805686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45</a:t>
            </a:fld>
            <a:endParaRPr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04D76E0-96AF-1C67-0B08-2E37C6679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046844"/>
              </p:ext>
            </p:extLst>
          </p:nvPr>
        </p:nvGraphicFramePr>
        <p:xfrm>
          <a:off x="288664" y="3838989"/>
          <a:ext cx="6876535" cy="6559103"/>
        </p:xfrm>
        <a:graphic>
          <a:graphicData uri="http://schemas.openxmlformats.org/drawingml/2006/table">
            <a:tbl>
              <a:tblPr/>
              <a:tblGrid>
                <a:gridCol w="974176">
                  <a:extLst>
                    <a:ext uri="{9D8B030D-6E8A-4147-A177-3AD203B41FA5}">
                      <a16:colId xmlns:a16="http://schemas.microsoft.com/office/drawing/2014/main" val="3549395326"/>
                    </a:ext>
                  </a:extLst>
                </a:gridCol>
                <a:gridCol w="759285">
                  <a:extLst>
                    <a:ext uri="{9D8B030D-6E8A-4147-A177-3AD203B41FA5}">
                      <a16:colId xmlns:a16="http://schemas.microsoft.com/office/drawing/2014/main" val="1105208172"/>
                    </a:ext>
                  </a:extLst>
                </a:gridCol>
                <a:gridCol w="1017153">
                  <a:extLst>
                    <a:ext uri="{9D8B030D-6E8A-4147-A177-3AD203B41FA5}">
                      <a16:colId xmlns:a16="http://schemas.microsoft.com/office/drawing/2014/main" val="3653611808"/>
                    </a:ext>
                  </a:extLst>
                </a:gridCol>
                <a:gridCol w="1518568">
                  <a:extLst>
                    <a:ext uri="{9D8B030D-6E8A-4147-A177-3AD203B41FA5}">
                      <a16:colId xmlns:a16="http://schemas.microsoft.com/office/drawing/2014/main" val="1455517145"/>
                    </a:ext>
                  </a:extLst>
                </a:gridCol>
                <a:gridCol w="2607353">
                  <a:extLst>
                    <a:ext uri="{9D8B030D-6E8A-4147-A177-3AD203B41FA5}">
                      <a16:colId xmlns:a16="http://schemas.microsoft.com/office/drawing/2014/main" val="3028542019"/>
                    </a:ext>
                  </a:extLst>
                </a:gridCol>
              </a:tblGrid>
              <a:tr h="19710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OFS_Verify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dist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Continued from previous trim item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93046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340574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332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ID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4827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CHANNEL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85435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0x170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8mA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233946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0xFFF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363369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0x35A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 CLOCK GEN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534553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0x03C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SERIAL 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503341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560560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 4mA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63575"/>
                  </a:ext>
                </a:extLst>
              </a:tr>
              <a:tr h="267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sng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0x15E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sng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350)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251990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sng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73716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  <a:endParaRPr lang="en-US" sz="1000" b="0" i="0" u="none" strike="sng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025497"/>
                  </a:ext>
                </a:extLst>
              </a:tr>
              <a:tr h="4782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</a:p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sng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681866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sng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sng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sng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sng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331410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ddio_dis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pwm_full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292075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1000)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398568"/>
                  </a:ext>
                </a:extLst>
              </a:tr>
              <a:tr h="196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 4mA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367048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896931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497358"/>
                  </a:ext>
                </a:extLst>
              </a:tr>
              <a:tr h="576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861970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643578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 ddio_dis, pwm_full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633195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sng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0xFA0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MAX_CURR_VREF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sngStrike" baseline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(decimal: 4000)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66807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0xA5A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sng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502699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4b'1101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0x3F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0xC41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 MODE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test_en,ddio_dis,pwm_full,addr_ext</a:t>
                      </a:r>
                      <a:endParaRPr lang="en-US" sz="1000" b="0" i="0" u="none" strike="sng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13955"/>
                  </a:ext>
                </a:extLst>
              </a:tr>
              <a:tr h="317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4b’1110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sng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CHxx</a:t>
                      </a:r>
                      <a:endParaRPr lang="en-US" altLang="ko-KR" sz="1000" b="0" i="0" u="none" strike="sng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fontAlgn="ctr"/>
                      <a:r>
                        <a:rPr lang="en-US" altLang="ko-KR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0x03~0E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ICTL_CH**[6:0]</a:t>
                      </a:r>
                      <a:endParaRPr lang="en-US" sz="1050" b="0" i="0" u="none" strike="sng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 command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sng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602019"/>
                  </a:ext>
                </a:extLst>
              </a:tr>
              <a:tr h="197106"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sng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sng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sng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sng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Meas. current (C3)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sng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Target : 8.000ma</a:t>
                      </a:r>
                      <a:endParaRPr lang="en-US" sz="1000" b="0" i="0" u="none" strike="sng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0918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540B182-B981-A543-540D-E3A32D6A7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750179"/>
              </p:ext>
            </p:extLst>
          </p:nvPr>
        </p:nvGraphicFramePr>
        <p:xfrm>
          <a:off x="293949" y="1221400"/>
          <a:ext cx="6844670" cy="7175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94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133157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1063479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957880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8554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4664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1234688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39171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Symbol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PIN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</a:t>
                      </a:r>
                      <a:endParaRPr lang="ko-KR" sz="1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239171"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IOUT_OFF_L Verify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ICTL_OFF_L_VFY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IOUT_CH[1:10]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5% (1000)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503878"/>
                  </a:ext>
                </a:extLst>
              </a:tr>
              <a:tr h="239171">
                <a:tc vMerge="1">
                  <a:txBody>
                    <a:bodyPr/>
                    <a:lstStyle/>
                    <a:p>
                      <a:pPr algn="ctr"/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IOUT_CH[11:12]</a:t>
                      </a: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</a:t>
                      </a: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바탕" panose="02030600000101010101" pitchFamily="18" charset="-127"/>
                          <a:cs typeface="Calibri" panose="020F0502020204030204" pitchFamily="34" charset="0"/>
                        </a:rPr>
                        <a:t>- % (1000)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바탕" panose="02030600000101010101" pitchFamily="18" charset="-127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149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677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DE24B-2F4A-4EFA-5534-81BCFDFE7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BDDF8648-885A-5DAF-BE2F-599B93CDDFEB}"/>
              </a:ext>
            </a:extLst>
          </p:cNvPr>
          <p:cNvSpPr txBox="1">
            <a:spLocks/>
          </p:cNvSpPr>
          <p:nvPr/>
        </p:nvSpPr>
        <p:spPr>
          <a:xfrm>
            <a:off x="6174612" y="10343775"/>
            <a:ext cx="971316" cy="20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0" i="0" kern="1200">
                <a:solidFill>
                  <a:srgbClr val="FF0000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852" defTabSz="1069320">
              <a:lnSpc>
                <a:spcPts val="1667"/>
              </a:lnSpc>
              <a:defRPr/>
            </a:pPr>
            <a:r>
              <a:rPr lang="en-US" sz="1403" spc="-5" dirty="0"/>
              <a:t>Confidential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B71447B7-D71A-0A59-60E7-86593E66BB1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317831" y="803364"/>
            <a:ext cx="561975" cy="175259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/>
              <a:t>Page</a:t>
            </a:r>
            <a:r>
              <a:rPr lang="en-US" spc="-55"/>
              <a:t> </a:t>
            </a:r>
            <a:fld id="{81D60167-4931-47E6-BA6A-407CBD079E47}" type="slidenum">
              <a:rPr smtClean="0"/>
              <a:t>46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DA0A3E-33AD-4F83-7EF5-FAF201B57C8E}"/>
              </a:ext>
            </a:extLst>
          </p:cNvPr>
          <p:cNvSpPr txBox="1"/>
          <p:nvPr/>
        </p:nvSpPr>
        <p:spPr>
          <a:xfrm>
            <a:off x="338670" y="1233614"/>
            <a:ext cx="370494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/>
            <a:r>
              <a:rPr lang="en-US" altLang="ko-KR" sz="1080" b="1" kern="100" dirty="0"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7. Individual Test Plan</a:t>
            </a:r>
            <a:endParaRPr lang="ko-KR" altLang="ko-KR" sz="1080" kern="100" dirty="0"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96866E3-A98D-95CE-5662-E17D194E4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016529"/>
              </p:ext>
            </p:extLst>
          </p:nvPr>
        </p:nvGraphicFramePr>
        <p:xfrm>
          <a:off x="338672" y="1665334"/>
          <a:ext cx="6879157" cy="15950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537">
                  <a:extLst>
                    <a:ext uri="{9D8B030D-6E8A-4147-A177-3AD203B41FA5}">
                      <a16:colId xmlns:a16="http://schemas.microsoft.com/office/drawing/2014/main" val="1844814628"/>
                    </a:ext>
                  </a:extLst>
                </a:gridCol>
                <a:gridCol w="1513442">
                  <a:extLst>
                    <a:ext uri="{9D8B030D-6E8A-4147-A177-3AD203B41FA5}">
                      <a16:colId xmlns:a16="http://schemas.microsoft.com/office/drawing/2014/main" val="1838857397"/>
                    </a:ext>
                  </a:extLst>
                </a:gridCol>
                <a:gridCol w="701727">
                  <a:extLst>
                    <a:ext uri="{9D8B030D-6E8A-4147-A177-3AD203B41FA5}">
                      <a16:colId xmlns:a16="http://schemas.microsoft.com/office/drawing/2014/main" val="766588008"/>
                    </a:ext>
                  </a:extLst>
                </a:gridCol>
                <a:gridCol w="1243302">
                  <a:extLst>
                    <a:ext uri="{9D8B030D-6E8A-4147-A177-3AD203B41FA5}">
                      <a16:colId xmlns:a16="http://schemas.microsoft.com/office/drawing/2014/main" val="2245931796"/>
                    </a:ext>
                  </a:extLst>
                </a:gridCol>
                <a:gridCol w="537210">
                  <a:extLst>
                    <a:ext uri="{9D8B030D-6E8A-4147-A177-3AD203B41FA5}">
                      <a16:colId xmlns:a16="http://schemas.microsoft.com/office/drawing/2014/main" val="3545949564"/>
                    </a:ext>
                  </a:extLst>
                </a:gridCol>
                <a:gridCol w="537210">
                  <a:extLst>
                    <a:ext uri="{9D8B030D-6E8A-4147-A177-3AD203B41FA5}">
                      <a16:colId xmlns:a16="http://schemas.microsoft.com/office/drawing/2014/main" val="1016839293"/>
                    </a:ext>
                  </a:extLst>
                </a:gridCol>
                <a:gridCol w="537210">
                  <a:extLst>
                    <a:ext uri="{9D8B030D-6E8A-4147-A177-3AD203B41FA5}">
                      <a16:colId xmlns:a16="http://schemas.microsoft.com/office/drawing/2014/main" val="1479094643"/>
                    </a:ext>
                  </a:extLst>
                </a:gridCol>
                <a:gridCol w="537210">
                  <a:extLst>
                    <a:ext uri="{9D8B030D-6E8A-4147-A177-3AD203B41FA5}">
                      <a16:colId xmlns:a16="http://schemas.microsoft.com/office/drawing/2014/main" val="3884577691"/>
                    </a:ext>
                  </a:extLst>
                </a:gridCol>
                <a:gridCol w="898309">
                  <a:extLst>
                    <a:ext uri="{9D8B030D-6E8A-4147-A177-3AD203B41FA5}">
                      <a16:colId xmlns:a16="http://schemas.microsoft.com/office/drawing/2014/main" val="2649004371"/>
                    </a:ext>
                  </a:extLst>
                </a:gridCol>
              </a:tblGrid>
              <a:tr h="289857"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바탕" panose="02030600000101010101" pitchFamily="18" charset="-127"/>
                          <a:cs typeface="Arial" panose="020B0604020202020204" pitchFamily="34" charset="0"/>
                        </a:rPr>
                        <a:t>Item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PIN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</a:t>
                      </a:r>
                      <a:endParaRPr lang="ko-KR" sz="11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74031" marR="7403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173898"/>
                  </a:ext>
                </a:extLst>
              </a:tr>
              <a:tr h="3083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8226" marR="8226" marT="82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Open/Short 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OS_VSS2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VSS</a:t>
                      </a:r>
                      <a:endParaRPr lang="ko-KR" altLang="ko-KR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0.25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0701"/>
                  </a:ext>
                </a:extLst>
              </a:tr>
              <a:tr h="37678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  <a:endParaRPr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26" marR="8226" marT="82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Open/Short (NMOS) 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OSN2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ALLPINS</a:t>
                      </a:r>
                      <a:endParaRPr lang="ko-KR" altLang="ko-KR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-0.9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-0.6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478599"/>
                  </a:ext>
                </a:extLst>
              </a:tr>
              <a:tr h="31617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</a:t>
                      </a:r>
                      <a:endParaRPr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26" marR="8226" marT="82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Open/Short (PMOS) 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OSP2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TEST, DIN, DIOUT, SVI, SVO</a:t>
                      </a:r>
                      <a:endParaRPr lang="ko-KR" altLang="ko-KR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358006"/>
                  </a:ext>
                </a:extLst>
              </a:tr>
              <a:tr h="289857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endParaRPr sz="11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26" marR="8226" marT="82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Open/Short 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OS_VDD2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VDD</a:t>
                      </a:r>
                      <a:endParaRPr lang="ko-KR" altLang="ko-KR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-0.8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-0.5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ts val="1300"/>
                        </a:lnSpc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300"/>
                        </a:lnSpc>
                      </a:pPr>
                      <a:endParaRPr lang="ko-KR" altLang="en-US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20" marR="5212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328930"/>
                  </a:ext>
                </a:extLst>
              </a:tr>
            </a:tbl>
          </a:graphicData>
        </a:graphic>
      </p:graphicFrame>
      <p:sp>
        <p:nvSpPr>
          <p:cNvPr id="1059" name="TextBox 1058">
            <a:extLst>
              <a:ext uri="{FF2B5EF4-FFF2-40B4-BE49-F238E27FC236}">
                <a16:creationId xmlns:a16="http://schemas.microsoft.com/office/drawing/2014/main" id="{58FBFEF1-E1C5-6605-6253-1AB7824373AF}"/>
              </a:ext>
            </a:extLst>
          </p:cNvPr>
          <p:cNvSpPr txBox="1"/>
          <p:nvPr/>
        </p:nvSpPr>
        <p:spPr>
          <a:xfrm>
            <a:off x="469475" y="3301245"/>
            <a:ext cx="5846230" cy="2300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[Test Method]</a:t>
            </a:r>
          </a:p>
          <a:p>
            <a:pPr marL="185080" indent="-185080">
              <a:spcBef>
                <a:spcPts val="300"/>
              </a:spcBef>
              <a:buFontTx/>
              <a:buChar char="-"/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VDD and all signal pins : 0V Force </a:t>
            </a:r>
          </a:p>
          <a:p>
            <a:pPr marL="185080" indent="-185080">
              <a:spcBef>
                <a:spcPts val="300"/>
              </a:spcBef>
              <a:buFontTx/>
              <a:buChar char="-"/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Measure signal pins and VDD pins after sourcing or sinking current (with PMU)</a:t>
            </a:r>
          </a:p>
          <a:p>
            <a:pPr>
              <a:spcBef>
                <a:spcPts val="300"/>
              </a:spcBef>
            </a:pPr>
            <a:endParaRPr lang="en-US" altLang="ko-K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      OS_VSS : source current 100uA</a:t>
            </a:r>
            <a:b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      OSN : sink current -100uA</a:t>
            </a:r>
          </a:p>
          <a:p>
            <a:pPr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      OSP :  source current 100uA</a:t>
            </a:r>
          </a:p>
          <a:p>
            <a:pPr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      OS_VDD : sink current -100uA</a:t>
            </a:r>
          </a:p>
          <a:p>
            <a:pPr>
              <a:spcBef>
                <a:spcPts val="300"/>
              </a:spcBef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ALLPINS : TEST, DIN, SVO, SVI, DOUT, IOUT_CH[1:12]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VDD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620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128787</TotalTime>
  <Words>16007</Words>
  <Application>Microsoft Office PowerPoint</Application>
  <PresentationFormat>사용자 지정</PresentationFormat>
  <Paragraphs>5998</Paragraphs>
  <Slides>46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6" baseType="lpstr">
      <vt:lpstr>Calibri (본문)</vt:lpstr>
      <vt:lpstr>Microsoft GothicNeo</vt:lpstr>
      <vt:lpstr>굴림</vt:lpstr>
      <vt:lpstr>맑은 고딕</vt:lpstr>
      <vt:lpstr>바탕</vt:lpstr>
      <vt:lpstr>Arial</vt:lpstr>
      <vt:lpstr>Calibri</vt:lpstr>
      <vt:lpstr>Wingdings</vt:lpstr>
      <vt:lpstr>Office Theme</vt:lpstr>
      <vt:lpstr>Microsoft Visio 드로잉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yseom@glbltech.com</dc:creator>
  <cp:lastModifiedBy>moonki cho</cp:lastModifiedBy>
  <cp:revision>871</cp:revision>
  <cp:lastPrinted>2026-02-26T05:57:15Z</cp:lastPrinted>
  <dcterms:created xsi:type="dcterms:W3CDTF">2023-12-21T07:42:53Z</dcterms:created>
  <dcterms:modified xsi:type="dcterms:W3CDTF">2026-05-21T04:41:32Z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2023-11-29T00:00:00Z</vt:filetime>
  </property>
  <property fmtid="{D5CDD505-2E9C-101B-9397-08002B2CF9AE}" pid="3" name="Creator">
    <vt:lpwstr>Microsoft® PowerPoint® Microsoft 365용</vt:lpwstr>
  </property>
  <property fmtid="{D5CDD505-2E9C-101B-9397-08002B2CF9AE}" pid="4" name="LastSaved">
    <vt:filetime>2023-12-21T00:00:00Z</vt:filetime>
  </property>
</Properties>
</file>