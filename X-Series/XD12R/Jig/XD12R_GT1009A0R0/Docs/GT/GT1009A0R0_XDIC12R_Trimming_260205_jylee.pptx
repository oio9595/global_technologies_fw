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548" r:id="rId3"/>
    <p:sldId id="549" r:id="rId4"/>
    <p:sldId id="537" r:id="rId5"/>
    <p:sldId id="538" r:id="rId6"/>
    <p:sldId id="561" r:id="rId7"/>
    <p:sldId id="560" r:id="rId8"/>
    <p:sldId id="562" r:id="rId9"/>
    <p:sldId id="563" r:id="rId10"/>
    <p:sldId id="550" r:id="rId11"/>
    <p:sldId id="535" r:id="rId12"/>
    <p:sldId id="552" r:id="rId13"/>
    <p:sldId id="553" r:id="rId14"/>
    <p:sldId id="547" r:id="rId15"/>
    <p:sldId id="551" r:id="rId16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548"/>
            <p14:sldId id="549"/>
            <p14:sldId id="537"/>
            <p14:sldId id="538"/>
            <p14:sldId id="561"/>
            <p14:sldId id="560"/>
            <p14:sldId id="562"/>
            <p14:sldId id="563"/>
            <p14:sldId id="550"/>
            <p14:sldId id="535"/>
            <p14:sldId id="552"/>
            <p14:sldId id="553"/>
            <p14:sldId id="547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2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43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6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36950"/>
          </a:xfrm>
        </p:spPr>
        <p:txBody>
          <a:bodyPr>
            <a:normAutofit/>
          </a:bodyPr>
          <a:lstStyle/>
          <a:p>
            <a:r>
              <a:rPr lang="en-US" altLang="ko-KR" dirty="0"/>
              <a:t>XDIC12R</a:t>
            </a:r>
            <a:br>
              <a:rPr lang="en-US" altLang="ko-KR" dirty="0"/>
            </a:br>
            <a:r>
              <a:rPr lang="en-US" altLang="ko-KR" dirty="0"/>
              <a:t>Trimming Sequence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000" dirty="0"/>
              <a:t>(GT1009A0R0)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9313"/>
            <a:ext cx="9144000" cy="1655762"/>
          </a:xfrm>
        </p:spPr>
        <p:txBody>
          <a:bodyPr/>
          <a:lstStyle/>
          <a:p>
            <a:endParaRPr lang="en-US" altLang="ko-KR" dirty="0"/>
          </a:p>
          <a:p>
            <a:r>
              <a:rPr lang="en-US" altLang="ko-KR" dirty="0" err="1"/>
              <a:t>jy</a:t>
            </a:r>
            <a:r>
              <a:rPr lang="en-US" altLang="ko-KR" dirty="0"/>
              <a:t> Lee</a:t>
            </a:r>
          </a:p>
          <a:p>
            <a:r>
              <a:rPr lang="en-US" altLang="ko-KR" dirty="0"/>
              <a:t>2026. 02. 05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270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DAA07208-BAA6-2C69-EA14-06ABF3115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951719"/>
            <a:ext cx="7115175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2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68C8-C34B-6EA0-ACA3-5DB2FBA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13F0EE-4123-888E-C7E8-CFE9DC6D746C}"/>
              </a:ext>
            </a:extLst>
          </p:cNvPr>
          <p:cNvSpPr txBox="1"/>
          <p:nvPr/>
        </p:nvSpPr>
        <p:spPr>
          <a:xfrm>
            <a:off x="274320" y="506306"/>
            <a:ext cx="217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 Interface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5D85EE2-CBBC-0D3E-AB39-C41C6764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51A37-3064-44A4-5533-7A6E000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40" y="1481192"/>
            <a:ext cx="4069520" cy="10421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409F7D-9F29-DEDB-4EA1-98080CD57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241" y="1178890"/>
            <a:ext cx="3328254" cy="206841"/>
          </a:xfrm>
          <a:prstGeom prst="rect">
            <a:avLst/>
          </a:prstGeom>
        </p:spPr>
      </p:pic>
      <p:pic>
        <p:nvPicPr>
          <p:cNvPr id="8" name="그림 7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270002-6ED4-689F-F75F-3DF9AB0B9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766" y="2618847"/>
            <a:ext cx="7632467" cy="370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19" y="512021"/>
            <a:ext cx="597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C5B3B-7383-2383-3550-25DF44F93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1ED8D0-3452-24D6-A3EA-59C40A83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22" y="1015234"/>
            <a:ext cx="9903143" cy="533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2021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LD_DATA Transfer</a:t>
            </a:r>
            <a:endParaRPr lang="ko-KR" altLang="en-US" dirty="0"/>
          </a:p>
        </p:txBody>
      </p: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그림 9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CD7732-FA7F-1082-BBD5-20C3BB06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22" y="4239038"/>
            <a:ext cx="8848336" cy="19788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74145D-F34F-10C7-350A-1F81D0085F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101"/>
          <a:stretch/>
        </p:blipFill>
        <p:spPr>
          <a:xfrm>
            <a:off x="1607062" y="1456104"/>
            <a:ext cx="7146257" cy="188540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589FA53-2810-B7B1-DEA0-BDC0BE4DDEA6}"/>
              </a:ext>
            </a:extLst>
          </p:cNvPr>
          <p:cNvCxnSpPr>
            <a:cxnSpLocks/>
          </p:cNvCxnSpPr>
          <p:nvPr/>
        </p:nvCxnSpPr>
        <p:spPr>
          <a:xfrm flipH="1">
            <a:off x="1828800" y="1925955"/>
            <a:ext cx="1171575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6A6AB42-4E57-5A2A-4A71-B31EDF79487B}"/>
              </a:ext>
            </a:extLst>
          </p:cNvPr>
          <p:cNvCxnSpPr>
            <a:cxnSpLocks/>
          </p:cNvCxnSpPr>
          <p:nvPr/>
        </p:nvCxnSpPr>
        <p:spPr>
          <a:xfrm>
            <a:off x="5452110" y="1925955"/>
            <a:ext cx="5178548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02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Type1(LED1+LED2+LED3),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4325B24-1AF8-31A6-2974-4A7A9883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25" y="1039008"/>
            <a:ext cx="8365749" cy="525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2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1F19-BE0F-88CE-7095-3FBD03FE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9A1134B-AC9A-F5F9-4E2F-33F398E6FC62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Type2(LED1,LED2+LED3),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ACF827-52BD-60DA-18B0-753DAA44E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6CD0AD-5F04-BF13-5667-1CBCD9A6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568" y="987343"/>
            <a:ext cx="8166863" cy="53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2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99F81-C892-9C5A-D7E6-D011E139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108D5C-2B7C-86AA-F7C3-A3730AAB7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330D71-8CA3-40B5-4E5D-F935B2939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837" y="884626"/>
            <a:ext cx="10220325" cy="52792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144633-932F-C3F9-F741-38AC40157E3F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 Initial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677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0C1A-1443-EBFD-D17A-00710428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C38721-1FFE-D032-E46F-D86A9FD3C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7CEF0-BE04-9007-2027-3A98B0FE0AF5}"/>
              </a:ext>
            </a:extLst>
          </p:cNvPr>
          <p:cNvSpPr txBox="1"/>
          <p:nvPr/>
        </p:nvSpPr>
        <p:spPr>
          <a:xfrm>
            <a:off x="274319" y="506306"/>
            <a:ext cx="524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XD12R </a:t>
            </a:r>
            <a:r>
              <a:rPr lang="ko-KR" altLang="en-US" dirty="0"/>
              <a:t>레지스터  </a:t>
            </a:r>
            <a:r>
              <a:rPr lang="en-US" altLang="ko-KR" dirty="0"/>
              <a:t>Write </a:t>
            </a:r>
            <a:r>
              <a:rPr lang="ko-KR" altLang="en-US" dirty="0"/>
              <a:t>시 유의 사항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pic>
        <p:nvPicPr>
          <p:cNvPr id="6" name="그림 5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931C8B-A38A-B11F-3354-754BE7C69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75638"/>
            <a:ext cx="6249272" cy="20481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E14B94-4429-0EA2-F358-CD240129A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293131"/>
            <a:ext cx="5410200" cy="12509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F6DAC9-5C98-17C0-2E13-0D485EC93B31}"/>
              </a:ext>
            </a:extLst>
          </p:cNvPr>
          <p:cNvSpPr txBox="1"/>
          <p:nvPr/>
        </p:nvSpPr>
        <p:spPr>
          <a:xfrm>
            <a:off x="514350" y="4566496"/>
            <a:ext cx="9299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WR_Protect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값이 </a:t>
            </a:r>
            <a:r>
              <a:rPr lang="en-US" altLang="ko-KR" b="1" dirty="0">
                <a:solidFill>
                  <a:srgbClr val="FF0000"/>
                </a:solidFill>
              </a:rPr>
              <a:t>0x555</a:t>
            </a:r>
            <a:r>
              <a:rPr lang="ko-KR" altLang="en-US" b="1" dirty="0">
                <a:solidFill>
                  <a:srgbClr val="FF0000"/>
                </a:solidFill>
              </a:rPr>
              <a:t>인 경우 </a:t>
            </a:r>
            <a:r>
              <a:rPr lang="en-US" altLang="ko-KR" b="1" dirty="0">
                <a:solidFill>
                  <a:srgbClr val="FF0000"/>
                </a:solidFill>
              </a:rPr>
              <a:t>Vref (0x0B, 0x0C, 0x0D</a:t>
            </a:r>
            <a:r>
              <a:rPr lang="ko-KR" altLang="en-US" b="1" dirty="0">
                <a:solidFill>
                  <a:srgbClr val="FF0000"/>
                </a:solidFill>
              </a:rPr>
              <a:t>번지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b="1" dirty="0">
                <a:solidFill>
                  <a:srgbClr val="FF0000"/>
                </a:solidFill>
              </a:rPr>
              <a:t>에 </a:t>
            </a:r>
            <a:r>
              <a:rPr lang="en-US" altLang="ko-KR" b="1" dirty="0">
                <a:solidFill>
                  <a:srgbClr val="FF0000"/>
                </a:solidFill>
              </a:rPr>
              <a:t>Write</a:t>
            </a:r>
            <a:r>
              <a:rPr lang="ko-KR" altLang="en-US" b="1" dirty="0">
                <a:solidFill>
                  <a:srgbClr val="FF0000"/>
                </a:solidFill>
              </a:rPr>
              <a:t> 못하는 점 유의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123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B90A-1680-386D-0CBD-F2A32E2A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67DCAA-308B-2430-64B8-D503B37D88A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4BF372-9BBA-6ED9-D2BC-2E525BDE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E28F537-4ABB-7CF3-CF6D-030937389FAD}"/>
              </a:ext>
            </a:extLst>
          </p:cNvPr>
          <p:cNvGrpSpPr/>
          <p:nvPr/>
        </p:nvGrpSpPr>
        <p:grpSpPr>
          <a:xfrm>
            <a:off x="329565" y="849671"/>
            <a:ext cx="10595610" cy="5502023"/>
            <a:chOff x="329565" y="849671"/>
            <a:chExt cx="11532870" cy="5502023"/>
          </a:xfrm>
        </p:grpSpPr>
        <p:pic>
          <p:nvPicPr>
            <p:cNvPr id="3" name="그림 2" descr="텍스트, 스크린샷, 번호, 평행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2E483F5-D3FF-7963-BE09-CCDB7711B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565" y="849671"/>
              <a:ext cx="11532870" cy="550202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6A1965B-383C-1548-3223-84F85CD1BDFB}"/>
                </a:ext>
              </a:extLst>
            </p:cNvPr>
            <p:cNvSpPr txBox="1"/>
            <p:nvPr/>
          </p:nvSpPr>
          <p:spPr>
            <a:xfrm>
              <a:off x="10386394" y="1559240"/>
              <a:ext cx="13515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</a:rPr>
                <a:t>**signed binary**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860B47-43A0-8F15-62BE-2196D3377AF2}"/>
                </a:ext>
              </a:extLst>
            </p:cNvPr>
            <p:cNvSpPr txBox="1"/>
            <p:nvPr/>
          </p:nvSpPr>
          <p:spPr>
            <a:xfrm>
              <a:off x="10386394" y="2039855"/>
              <a:ext cx="13515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</a:rPr>
                <a:t>**signed binary**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DA0B8689-7E8F-BEE8-365E-55A0FCC0F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496" y="574731"/>
            <a:ext cx="7867400" cy="175673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14ADA60-0A8A-3B3B-BB7E-315ACAF16D5A}"/>
              </a:ext>
            </a:extLst>
          </p:cNvPr>
          <p:cNvCxnSpPr>
            <a:cxnSpLocks/>
          </p:cNvCxnSpPr>
          <p:nvPr/>
        </p:nvCxnSpPr>
        <p:spPr>
          <a:xfrm flipH="1">
            <a:off x="7618343" y="323022"/>
            <a:ext cx="318053" cy="251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2276FE-7999-D707-5F6C-B6827A158A12}"/>
              </a:ext>
            </a:extLst>
          </p:cNvPr>
          <p:cNvSpPr txBox="1"/>
          <p:nvPr/>
        </p:nvSpPr>
        <p:spPr>
          <a:xfrm>
            <a:off x="7979467" y="171187"/>
            <a:ext cx="3092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0000FF"/>
                </a:solidFill>
              </a:rPr>
              <a:t>모든 테스트 및 </a:t>
            </a:r>
            <a:r>
              <a:rPr lang="ko-KR" altLang="en-US" sz="1000" b="1" dirty="0" err="1">
                <a:solidFill>
                  <a:srgbClr val="0000FF"/>
                </a:solidFill>
              </a:rPr>
              <a:t>노멀모드</a:t>
            </a:r>
            <a:r>
              <a:rPr lang="ko-KR" altLang="en-US" sz="1000" b="1" dirty="0">
                <a:solidFill>
                  <a:srgbClr val="0000FF"/>
                </a:solidFill>
              </a:rPr>
              <a:t> 에서 </a:t>
            </a:r>
            <a:r>
              <a:rPr lang="en-US" altLang="ko-KR" sz="1000" b="1" dirty="0">
                <a:solidFill>
                  <a:srgbClr val="0000FF"/>
                </a:solidFill>
              </a:rPr>
              <a:t>0x20 : 3F </a:t>
            </a:r>
            <a:r>
              <a:rPr lang="ko-KR" altLang="en-US" sz="1000" b="1" dirty="0">
                <a:solidFill>
                  <a:srgbClr val="0000FF"/>
                </a:solidFill>
              </a:rPr>
              <a:t>입력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5AFB446-649C-9E0E-F37E-2F6A1F011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721093"/>
              </p:ext>
            </p:extLst>
          </p:nvPr>
        </p:nvGraphicFramePr>
        <p:xfrm>
          <a:off x="10942320" y="875639"/>
          <a:ext cx="622276" cy="5330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276">
                  <a:extLst>
                    <a:ext uri="{9D8B030D-6E8A-4147-A177-3AD203B41FA5}">
                      <a16:colId xmlns:a16="http://schemas.microsoft.com/office/drawing/2014/main" val="999952988"/>
                    </a:ext>
                  </a:extLst>
                </a:gridCol>
              </a:tblGrid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0x3F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번지 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63085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0x800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49924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0x900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29131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0x900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40851"/>
                  </a:ext>
                </a:extLst>
              </a:tr>
              <a:tr h="427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0xB00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32589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0xC00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64181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0xD00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523439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0x810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688234"/>
                  </a:ext>
                </a:extLst>
              </a:tr>
              <a:tr h="1531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0x820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419065"/>
                  </a:ext>
                </a:extLst>
              </a:tr>
              <a:tr h="154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0x820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7668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4E8536-24E1-AE42-DA5D-4F6F9BFB0BD9}"/>
              </a:ext>
            </a:extLst>
          </p:cNvPr>
          <p:cNvSpPr txBox="1"/>
          <p:nvPr/>
        </p:nvSpPr>
        <p:spPr>
          <a:xfrm>
            <a:off x="3752850" y="2562225"/>
            <a:ext cx="1257300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800" b="1" dirty="0">
                <a:solidFill>
                  <a:srgbClr val="0000FF"/>
                </a:solidFill>
              </a:rPr>
              <a:t>좌측 레지스터 셋팅 후 </a:t>
            </a:r>
            <a:endParaRPr lang="en-US" altLang="ko-KR" sz="800" b="1" dirty="0">
              <a:solidFill>
                <a:srgbClr val="0000FF"/>
              </a:solidFill>
            </a:endParaRPr>
          </a:p>
          <a:p>
            <a:r>
              <a:rPr lang="en-US" altLang="ko-KR" sz="800" b="1" dirty="0">
                <a:solidFill>
                  <a:srgbClr val="0000FF"/>
                </a:solidFill>
              </a:rPr>
              <a:t>8.333ms</a:t>
            </a:r>
            <a:r>
              <a:rPr lang="ko-KR" altLang="en-US" sz="800" b="1" dirty="0">
                <a:solidFill>
                  <a:srgbClr val="0000FF"/>
                </a:solidFill>
              </a:rPr>
              <a:t> 간격으로</a:t>
            </a:r>
            <a:endParaRPr lang="en-US" altLang="ko-KR" sz="800" b="1" dirty="0">
              <a:solidFill>
                <a:srgbClr val="0000FF"/>
              </a:solidFill>
            </a:endParaRPr>
          </a:p>
          <a:p>
            <a:r>
              <a:rPr lang="en-US" altLang="ko-KR" sz="800" b="1" dirty="0" err="1">
                <a:solidFill>
                  <a:srgbClr val="0000FF"/>
                </a:solidFill>
              </a:rPr>
              <a:t>Vsync</a:t>
            </a:r>
            <a:r>
              <a:rPr lang="en-US" altLang="ko-KR" sz="800" b="1" dirty="0">
                <a:solidFill>
                  <a:srgbClr val="0000FF"/>
                </a:solidFill>
              </a:rPr>
              <a:t> Command </a:t>
            </a:r>
          </a:p>
          <a:p>
            <a:r>
              <a:rPr lang="en-US" altLang="ko-KR" sz="800" b="1" dirty="0">
                <a:solidFill>
                  <a:srgbClr val="0000FF"/>
                </a:solidFill>
              </a:rPr>
              <a:t>120</a:t>
            </a:r>
            <a:r>
              <a:rPr lang="ko-KR" altLang="en-US" sz="800" b="1" dirty="0">
                <a:solidFill>
                  <a:srgbClr val="0000FF"/>
                </a:solidFill>
              </a:rPr>
              <a:t>회 전달 후 주파수 측정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F64FFBA0-6698-FB25-C700-BE50AF362857}"/>
              </a:ext>
            </a:extLst>
          </p:cNvPr>
          <p:cNvSpPr/>
          <p:nvPr/>
        </p:nvSpPr>
        <p:spPr>
          <a:xfrm rot="12062464">
            <a:off x="6972299" y="6224310"/>
            <a:ext cx="935521" cy="453300"/>
          </a:xfrm>
          <a:prstGeom prst="rightArrow">
            <a:avLst>
              <a:gd name="adj1" fmla="val 31293"/>
              <a:gd name="adj2" fmla="val 50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6276F-DE2D-C3A4-74B1-467771924697}"/>
              </a:ext>
            </a:extLst>
          </p:cNvPr>
          <p:cNvSpPr txBox="1"/>
          <p:nvPr/>
        </p:nvSpPr>
        <p:spPr>
          <a:xfrm>
            <a:off x="7958008" y="6474959"/>
            <a:ext cx="2621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rgbClr val="0000FF"/>
                </a:solidFill>
              </a:rPr>
              <a:t>XD12P</a:t>
            </a:r>
            <a:r>
              <a:rPr lang="ko-KR" altLang="en-US" sz="1100" b="1" dirty="0">
                <a:solidFill>
                  <a:srgbClr val="0000FF"/>
                </a:solidFill>
              </a:rPr>
              <a:t>와 동일한 방법으로 </a:t>
            </a:r>
            <a:r>
              <a:rPr lang="en-US" altLang="ko-KR" sz="1100" b="1" dirty="0">
                <a:solidFill>
                  <a:srgbClr val="0000FF"/>
                </a:solidFill>
              </a:rPr>
              <a:t>eFuse </a:t>
            </a:r>
            <a:r>
              <a:rPr lang="ko-KR" altLang="en-US" sz="1100" b="1" dirty="0">
                <a:solidFill>
                  <a:srgbClr val="0000FF"/>
                </a:solidFill>
              </a:rPr>
              <a:t>가능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E33AE62-B913-6DA2-3C49-4C763D025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38746"/>
              </p:ext>
            </p:extLst>
          </p:nvPr>
        </p:nvGraphicFramePr>
        <p:xfrm>
          <a:off x="11619841" y="875639"/>
          <a:ext cx="534059" cy="5330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59">
                  <a:extLst>
                    <a:ext uri="{9D8B030D-6E8A-4147-A177-3AD203B41FA5}">
                      <a16:colId xmlns:a16="http://schemas.microsoft.com/office/drawing/2014/main" val="999952988"/>
                    </a:ext>
                  </a:extLst>
                </a:gridCol>
              </a:tblGrid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허용 오차율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63085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1.5%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49924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1.5%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29131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1.5%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40851"/>
                  </a:ext>
                </a:extLst>
              </a:tr>
              <a:tr h="427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1.5%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32589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1.5%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64181"/>
                  </a:ext>
                </a:extLst>
              </a:tr>
              <a:tr h="15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1.5%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523439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1.5%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688234"/>
                  </a:ext>
                </a:extLst>
              </a:tr>
              <a:tr h="1531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0.5%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419065"/>
                  </a:ext>
                </a:extLst>
              </a:tr>
              <a:tr h="154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1.2%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76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29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DB58A8-2F91-D4E5-8678-ADFD287D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53" y="855326"/>
            <a:ext cx="10132694" cy="54963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06312E-2542-C3C0-F50B-620D5CD5F9C7}"/>
              </a:ext>
            </a:extLst>
          </p:cNvPr>
          <p:cNvSpPr txBox="1"/>
          <p:nvPr/>
        </p:nvSpPr>
        <p:spPr>
          <a:xfrm>
            <a:off x="9942774" y="1441406"/>
            <a:ext cx="13515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**signed binary**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CF950-B0D9-179B-90D5-76E2C733DF08}"/>
              </a:ext>
            </a:extLst>
          </p:cNvPr>
          <p:cNvSpPr txBox="1"/>
          <p:nvPr/>
        </p:nvSpPr>
        <p:spPr>
          <a:xfrm>
            <a:off x="9933343" y="1577943"/>
            <a:ext cx="13515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**signed binary**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FCC792-08EA-2FFC-DEA3-2DFE247275DF}"/>
              </a:ext>
            </a:extLst>
          </p:cNvPr>
          <p:cNvCxnSpPr/>
          <p:nvPr/>
        </p:nvCxnSpPr>
        <p:spPr>
          <a:xfrm>
            <a:off x="7086986" y="5805234"/>
            <a:ext cx="24509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2939007-AD1D-8A34-62F1-56D82EC941E2}"/>
              </a:ext>
            </a:extLst>
          </p:cNvPr>
          <p:cNvSpPr txBox="1"/>
          <p:nvPr/>
        </p:nvSpPr>
        <p:spPr>
          <a:xfrm>
            <a:off x="7109940" y="5549138"/>
            <a:ext cx="4442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</a:rPr>
              <a:t>3’d3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1DF24C4-BA86-F86D-F9C2-8C04047CF99F}"/>
              </a:ext>
            </a:extLst>
          </p:cNvPr>
          <p:cNvCxnSpPr/>
          <p:nvPr/>
        </p:nvCxnSpPr>
        <p:spPr>
          <a:xfrm>
            <a:off x="10561189" y="5806810"/>
            <a:ext cx="24509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266D88-0CEA-A42C-0A12-7D049692B4CE}"/>
              </a:ext>
            </a:extLst>
          </p:cNvPr>
          <p:cNvSpPr txBox="1"/>
          <p:nvPr/>
        </p:nvSpPr>
        <p:spPr>
          <a:xfrm>
            <a:off x="10734744" y="5629212"/>
            <a:ext cx="6056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</a:rPr>
              <a:t>0.75V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67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99BF-765F-0DDA-46D4-F5F0348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AF97A06-1F72-4EA3-2D3B-71E0B79BB7E9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EBDBC35-3190-20CA-C028-7E7314030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37546-A29A-9A98-929F-70F27953FE64}"/>
              </a:ext>
            </a:extLst>
          </p:cNvPr>
          <p:cNvSpPr txBox="1"/>
          <p:nvPr/>
        </p:nvSpPr>
        <p:spPr>
          <a:xfrm>
            <a:off x="674370" y="1096824"/>
            <a:ext cx="1070991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When TEST_EN = 1,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DACA_OFS using MAX_CURR_VREF1 (0x0B) and TEST_ANA_EN[2:0] = 3’d3.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DACB_OFS using MAX_CURR_VREF1 (0x0B) and TEST_ANA_EN[2:0] = 3’d4.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MCLK64_O = 1, </a:t>
            </a:r>
            <a:r>
              <a:rPr lang="en-US" altLang="ko-KR" sz="1100" dirty="0" err="1"/>
              <a:t>mclk</a:t>
            </a:r>
            <a:r>
              <a:rPr lang="en-US" altLang="ko-KR" sz="1100" dirty="0"/>
              <a:t>/64 clock out to DDIO.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PWMOUT_FULL = 1, </a:t>
            </a:r>
            <a:r>
              <a:rPr lang="en-US" altLang="ko-KR" sz="1100" dirty="0" err="1"/>
              <a:t>PWM_OUT_CHx</a:t>
            </a:r>
            <a:r>
              <a:rPr lang="en-US" altLang="ko-KR" sz="1100" dirty="0"/>
              <a:t> = 1 (@CHx_EN=1) driving a high-active level to analog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using test equipment, set the EXT_CLKIN = 1 and use an external clock.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45163B-9026-0FB5-0716-D1DA08C2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4514850"/>
            <a:ext cx="9300172" cy="439349"/>
          </a:xfrm>
          <a:prstGeom prst="rect">
            <a:avLst/>
          </a:prstGeom>
        </p:spPr>
      </p:pic>
      <p:pic>
        <p:nvPicPr>
          <p:cNvPr id="9" name="그림 8" descr="스크린샷, 라인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F9B149-4397-7AD0-FB37-60E0881B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46" y="4973949"/>
            <a:ext cx="8831507" cy="12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60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DD3-2B75-0EE4-FA03-1376D615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DAEB33-894C-944B-8096-43B9B958AA2D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Signal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0CF33ED-EC5E-94E7-1F7F-4BDC104B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22FB14-50FF-6FF4-542E-9B9EE777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60" y="506306"/>
            <a:ext cx="6027360" cy="58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148589" y="46770"/>
            <a:ext cx="8376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 [</a:t>
            </a:r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데이터시트와 비교 후 두 문서가 동일하도록 업데이트 필요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그림 3" descr="텍스트, 번호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01C681-2F47-F137-7A27-A039EE59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97" y="508435"/>
            <a:ext cx="9372506" cy="58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10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A1C8-AD0D-8EFA-BB78-B6827C97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0D147-FC7C-FA2B-82FF-D6C58403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4897A9-3DEA-65A3-52B5-4AE6657A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82" y="508435"/>
            <a:ext cx="8960463" cy="5831658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413024E-0D8F-FE26-5BBF-B7679E5C5102}"/>
              </a:ext>
            </a:extLst>
          </p:cNvPr>
          <p:cNvCxnSpPr/>
          <p:nvPr/>
        </p:nvCxnSpPr>
        <p:spPr>
          <a:xfrm>
            <a:off x="2752627" y="768285"/>
            <a:ext cx="24509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34F114D-A6CA-29F8-AEF3-73CBDEEAA7BE}"/>
              </a:ext>
            </a:extLst>
          </p:cNvPr>
          <p:cNvSpPr/>
          <p:nvPr/>
        </p:nvSpPr>
        <p:spPr>
          <a:xfrm rot="8307361">
            <a:off x="2640142" y="827059"/>
            <a:ext cx="221529" cy="116761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4A8AB-B7D0-F6E6-0A9E-28F66830C198}"/>
              </a:ext>
            </a:extLst>
          </p:cNvPr>
          <p:cNvSpPr txBox="1"/>
          <p:nvPr/>
        </p:nvSpPr>
        <p:spPr>
          <a:xfrm>
            <a:off x="247650" y="1031611"/>
            <a:ext cx="3800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0x890 -&gt; 0x810  VDD Typical 3.3V </a:t>
            </a:r>
            <a:r>
              <a:rPr lang="ko-KR" altLang="en-US" sz="1200" b="1" dirty="0">
                <a:solidFill>
                  <a:srgbClr val="0000FF"/>
                </a:solidFill>
              </a:rPr>
              <a:t>변경으로 인해 </a:t>
            </a:r>
            <a:r>
              <a:rPr lang="en-US" altLang="ko-KR" sz="1200" b="1" dirty="0">
                <a:solidFill>
                  <a:srgbClr val="0000FF"/>
                </a:solidFill>
              </a:rPr>
              <a:t>VDD_SEL   1’b1 -&gt; 1’b0</a:t>
            </a:r>
            <a:r>
              <a:rPr lang="ko-KR" altLang="en-US" sz="1200" b="1" dirty="0">
                <a:solidFill>
                  <a:srgbClr val="0000FF"/>
                </a:solidFill>
              </a:rPr>
              <a:t>로 변경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DF4F7-F224-CA03-0CA5-8A62C8799B0C}"/>
              </a:ext>
            </a:extLst>
          </p:cNvPr>
          <p:cNvSpPr txBox="1"/>
          <p:nvPr/>
        </p:nvSpPr>
        <p:spPr>
          <a:xfrm>
            <a:off x="8270237" y="3532016"/>
            <a:ext cx="2878318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LDO_CTL Signed</a:t>
            </a:r>
          </a:p>
          <a:p>
            <a:endParaRPr lang="en-US" altLang="ko-KR" sz="1200" b="1" dirty="0">
              <a:solidFill>
                <a:srgbClr val="0000FF"/>
              </a:solidFill>
            </a:endParaRPr>
          </a:p>
          <a:p>
            <a:r>
              <a:rPr lang="en-US" altLang="ko-KR" sz="1200" b="1" dirty="0">
                <a:solidFill>
                  <a:srgbClr val="0000FF"/>
                </a:solidFill>
              </a:rPr>
              <a:t>DACA_OFS / DACB_OFS  Signed bit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MSB [6] </a:t>
            </a:r>
            <a:r>
              <a:rPr lang="ko-KR" altLang="en-US" sz="1200" b="1" dirty="0">
                <a:solidFill>
                  <a:srgbClr val="0000FF"/>
                </a:solidFill>
              </a:rPr>
              <a:t>부호  </a:t>
            </a:r>
            <a:r>
              <a:rPr lang="en-US" altLang="ko-KR" sz="1200" b="1" dirty="0">
                <a:solidFill>
                  <a:srgbClr val="0000FF"/>
                </a:solidFill>
              </a:rPr>
              <a:t>0 : ‘+’  1 : ‘-’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F2F21-8194-B6E8-3BAF-898006C93762}"/>
              </a:ext>
            </a:extLst>
          </p:cNvPr>
          <p:cNvSpPr txBox="1"/>
          <p:nvPr/>
        </p:nvSpPr>
        <p:spPr>
          <a:xfrm>
            <a:off x="139949" y="25372"/>
            <a:ext cx="8376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 [</a:t>
            </a:r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데이터시트와 비교 후 두 문서가 동일하도록 업데이트 필요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53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10387</TotalTime>
  <Words>384</Words>
  <Application>Microsoft Office PowerPoint</Application>
  <PresentationFormat>와이드스크린</PresentationFormat>
  <Paragraphs>82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XDIC12R Trimming Sequence  (GT1009A0R0)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이 준영</cp:lastModifiedBy>
  <cp:revision>50</cp:revision>
  <dcterms:created xsi:type="dcterms:W3CDTF">2024-06-18T04:48:30Z</dcterms:created>
  <dcterms:modified xsi:type="dcterms:W3CDTF">2026-02-05T05:06:24Z</dcterms:modified>
</cp:coreProperties>
</file>