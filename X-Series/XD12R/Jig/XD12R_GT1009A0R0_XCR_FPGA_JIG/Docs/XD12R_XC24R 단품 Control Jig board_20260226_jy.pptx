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30"/>
  </p:notesMasterIdLst>
  <p:sldIdLst>
    <p:sldId id="262" r:id="rId2"/>
    <p:sldId id="12254" r:id="rId3"/>
    <p:sldId id="12238" r:id="rId4"/>
    <p:sldId id="12024" r:id="rId5"/>
    <p:sldId id="12230" r:id="rId6"/>
    <p:sldId id="12225" r:id="rId7"/>
    <p:sldId id="12244" r:id="rId8"/>
    <p:sldId id="12245" r:id="rId9"/>
    <p:sldId id="12246" r:id="rId10"/>
    <p:sldId id="12247" r:id="rId11"/>
    <p:sldId id="12136" r:id="rId12"/>
    <p:sldId id="12250" r:id="rId13"/>
    <p:sldId id="12248" r:id="rId14"/>
    <p:sldId id="12227" r:id="rId15"/>
    <p:sldId id="12240" r:id="rId16"/>
    <p:sldId id="12169" r:id="rId17"/>
    <p:sldId id="12251" r:id="rId18"/>
    <p:sldId id="12252" r:id="rId19"/>
    <p:sldId id="12253" r:id="rId20"/>
    <p:sldId id="12224" r:id="rId21"/>
    <p:sldId id="12226" r:id="rId22"/>
    <p:sldId id="12228" r:id="rId23"/>
    <p:sldId id="12134" r:id="rId24"/>
    <p:sldId id="12173" r:id="rId25"/>
    <p:sldId id="12241" r:id="rId26"/>
    <p:sldId id="12243" r:id="rId27"/>
    <p:sldId id="12237" r:id="rId28"/>
    <p:sldId id="12138" r:id="rId2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612" userDrawn="1">
          <p15:clr>
            <a:srgbClr val="A4A3A4"/>
          </p15:clr>
        </p15:guide>
        <p15:guide id="6" pos="7514" userDrawn="1">
          <p15:clr>
            <a:srgbClr val="A4A3A4"/>
          </p15:clr>
        </p15:guide>
        <p15:guide id="7" orient="horz" pos="1298" userDrawn="1">
          <p15:clr>
            <a:srgbClr val="A4A3A4"/>
          </p15:clr>
        </p15:guide>
        <p15:guide id="8" orient="horz" pos="28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FF"/>
    <a:srgbClr val="FF00FF"/>
    <a:srgbClr val="FF3399"/>
    <a:srgbClr val="00FF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6910" autoAdjust="0"/>
  </p:normalViewPr>
  <p:slideViewPr>
    <p:cSldViewPr snapToGrid="0">
      <p:cViewPr varScale="1">
        <p:scale>
          <a:sx n="103" d="100"/>
          <a:sy n="103" d="100"/>
        </p:scale>
        <p:origin x="828" y="96"/>
      </p:cViewPr>
      <p:guideLst>
        <p:guide pos="3840"/>
        <p:guide pos="98"/>
        <p:guide orient="horz" pos="709"/>
        <p:guide orient="horz" pos="3612"/>
        <p:guide pos="7514"/>
        <p:guide orient="horz" pos="1298"/>
        <p:guide orient="horz" pos="28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26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6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33DFA-4712-453C-BF26-9F61B2E017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1E638F5E-06AD-DF40-D757-90D9C8FB9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E399F-1BFF-4322-9ED9-3A8BC9AA54FE}" type="datetimeFigureOut">
              <a:rPr lang="ko-KR" altLang="en-US" smtClean="0"/>
              <a:pPr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93E22C-20A3-88B3-D907-14CFA0B715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322"/>
            <a:ext cx="2945955" cy="497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78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BE0A-92E0-816A-66CA-8E2FFBEC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0F127C-8B37-371D-88EC-DF116998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C8A4B3-3AF8-0523-BA66-05C4D38D7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SPI Port</a:t>
            </a:r>
            <a:r>
              <a:rPr lang="ko-KR" altLang="en-US" dirty="0"/>
              <a:t>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12B66-DCA5-C9FF-4F3C-D915D4F69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33DFA-4712-453C-BF26-9F61B2E017F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851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BE0A-92E0-816A-66CA-8E2FFBEC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0F127C-8B37-371D-88EC-DF116998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C8A4B3-3AF8-0523-BA66-05C4D38D7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SPI Port</a:t>
            </a:r>
            <a:r>
              <a:rPr lang="ko-KR" altLang="en-US" dirty="0"/>
              <a:t>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12B66-DCA5-C9FF-4F3C-D915D4F69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33DFA-4712-453C-BF26-9F61B2E017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851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89766-BC00-1231-CC6C-15364EE4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4F1E61-DFB9-3DEE-BD12-D7E04AE97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B61F3D-6A1C-9B4D-C7F4-B9C95B66F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E5E7A-1C7C-BD77-5F7B-1BF943FFB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12C3EE-A66C-4243-AAB0-AF21606E8B3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609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SPI Port </a:t>
            </a:r>
            <a:r>
              <a:rPr lang="ko-KR" altLang="en-US" dirty="0"/>
              <a:t>확인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33DFA-4712-453C-BF26-9F61B2E017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427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AC2CA3D-086A-73C8-7DA5-13A833E6506A}"/>
              </a:ext>
            </a:extLst>
          </p:cNvPr>
          <p:cNvCxnSpPr>
            <a:cxnSpLocks/>
          </p:cNvCxnSpPr>
          <p:nvPr userDrawn="1"/>
        </p:nvCxnSpPr>
        <p:spPr>
          <a:xfrm>
            <a:off x="63690" y="327544"/>
            <a:ext cx="1196908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4A51EE80-1042-4E1A-6AE8-6287B586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4894"/>
            <a:ext cx="6804182" cy="322650"/>
          </a:xfrm>
          <a:prstGeom prst="rect">
            <a:avLst/>
          </a:prstGeom>
        </p:spPr>
        <p:txBody>
          <a:bodyPr tIns="0" bIns="0">
            <a:normAutofit/>
          </a:bodyPr>
          <a:lstStyle>
            <a:lvl1pPr>
              <a:defRPr sz="1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39959C9-09FF-084C-F568-11E2FEA25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7846" y="6594445"/>
            <a:ext cx="709684" cy="2440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330A4D7-0DF7-299A-9177-BF8E9D03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4579" y="6600971"/>
            <a:ext cx="1222323" cy="225605"/>
          </a:xfrm>
        </p:spPr>
        <p:txBody>
          <a:bodyPr tIns="0" bIns="0"/>
          <a:lstStyle>
            <a:lvl1pPr>
              <a:defRPr sz="1000"/>
            </a:lvl1pPr>
          </a:lstStyle>
          <a:p>
            <a:fld id="{F45E847C-C0EB-4AB5-BC15-76BCFA53A4EC}" type="datetime1">
              <a:rPr lang="ko-KR" altLang="en-US" smtClean="0"/>
              <a:pPr/>
              <a:t>2026-02-26</a:t>
            </a:fld>
            <a:endParaRPr lang="ko-KR" altLang="en-US" dirty="0"/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01E291D5-76E8-C024-3561-38A3F164C7F7}"/>
              </a:ext>
            </a:extLst>
          </p:cNvPr>
          <p:cNvSpPr txBox="1">
            <a:spLocks/>
          </p:cNvSpPr>
          <p:nvPr userDrawn="1"/>
        </p:nvSpPr>
        <p:spPr>
          <a:xfrm>
            <a:off x="22745" y="6593264"/>
            <a:ext cx="1191906" cy="24520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sz="1050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sz="1050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sz="1050" b="0" dirty="0">
              <a:solidFill>
                <a:srgbClr val="FF00FF"/>
              </a:solidFill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4CE38F-D4B7-21CF-EB98-98DF59BC8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854519" y="6581368"/>
            <a:ext cx="937328" cy="2452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1D7E2-E4F3-C103-9317-1830DAD73012}"/>
              </a:ext>
            </a:extLst>
          </p:cNvPr>
          <p:cNvSpPr txBox="1"/>
          <p:nvPr userDrawn="1"/>
        </p:nvSpPr>
        <p:spPr>
          <a:xfrm>
            <a:off x="11082336" y="6767084"/>
            <a:ext cx="773020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500" b="1" kern="900" spc="-60" baseline="0" dirty="0">
                <a:latin typeface="+mn-ea"/>
                <a:ea typeface="+mn-ea"/>
              </a:rPr>
              <a:t>주식회사 글로벌테크놀로지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DDE8603-C9BE-272B-489D-E2B14B068132}"/>
              </a:ext>
            </a:extLst>
          </p:cNvPr>
          <p:cNvCxnSpPr>
            <a:cxnSpLocks/>
          </p:cNvCxnSpPr>
          <p:nvPr userDrawn="1"/>
        </p:nvCxnSpPr>
        <p:spPr>
          <a:xfrm>
            <a:off x="63690" y="6578237"/>
            <a:ext cx="1196908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61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92F9FD9-D69F-AC12-EF5A-968CF490918C}"/>
              </a:ext>
            </a:extLst>
          </p:cNvPr>
          <p:cNvCxnSpPr>
            <a:cxnSpLocks/>
          </p:cNvCxnSpPr>
          <p:nvPr userDrawn="1"/>
        </p:nvCxnSpPr>
        <p:spPr>
          <a:xfrm>
            <a:off x="63690" y="327544"/>
            <a:ext cx="1196908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22212616-B590-CB03-8C4D-0B0F8955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4894"/>
            <a:ext cx="6804182" cy="322650"/>
          </a:xfrm>
          <a:prstGeom prst="rect">
            <a:avLst/>
          </a:prstGeom>
        </p:spPr>
        <p:txBody>
          <a:bodyPr tIns="0" bIns="0">
            <a:normAutofit/>
          </a:bodyPr>
          <a:lstStyle>
            <a:lvl1pPr>
              <a:defRPr sz="1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F722644-2B9F-3449-6B64-F40956A19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7846" y="6594445"/>
            <a:ext cx="709684" cy="2440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23A29A2C-6B11-62B9-D9F6-FC43E9F0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4579" y="6600971"/>
            <a:ext cx="1222323" cy="225605"/>
          </a:xfrm>
        </p:spPr>
        <p:txBody>
          <a:bodyPr tIns="0" bIns="0"/>
          <a:lstStyle>
            <a:lvl1pPr>
              <a:defRPr sz="1000"/>
            </a:lvl1pPr>
          </a:lstStyle>
          <a:p>
            <a:fld id="{5F3ECF54-8F67-4A6C-8563-0FB9A74FEE6E}" type="datetime1">
              <a:rPr lang="ko-KR" altLang="en-US" smtClean="0"/>
              <a:pPr/>
              <a:t>2026-02-26</a:t>
            </a:fld>
            <a:endParaRPr lang="ko-KR" altLang="en-US" dirty="0"/>
          </a:p>
        </p:txBody>
      </p:sp>
      <p:sp>
        <p:nvSpPr>
          <p:cNvPr id="9" name="날짜 개체 틀 1">
            <a:extLst>
              <a:ext uri="{FF2B5EF4-FFF2-40B4-BE49-F238E27FC236}">
                <a16:creationId xmlns:a16="http://schemas.microsoft.com/office/drawing/2014/main" id="{83512F11-4A77-B85D-8689-2D922E5B77EB}"/>
              </a:ext>
            </a:extLst>
          </p:cNvPr>
          <p:cNvSpPr txBox="1">
            <a:spLocks/>
          </p:cNvSpPr>
          <p:nvPr userDrawn="1"/>
        </p:nvSpPr>
        <p:spPr>
          <a:xfrm>
            <a:off x="22745" y="6593264"/>
            <a:ext cx="1191906" cy="24520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sz="1050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sz="1050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sz="1050" b="0" dirty="0">
              <a:solidFill>
                <a:srgbClr val="FF00FF"/>
              </a:solidFill>
              <a:effectLst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73F3AEB-2471-4570-9A39-32DF8D0D0B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854519" y="6581368"/>
            <a:ext cx="937328" cy="245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9AE3D2-004E-89F9-512A-82A28EB1C279}"/>
              </a:ext>
            </a:extLst>
          </p:cNvPr>
          <p:cNvSpPr txBox="1"/>
          <p:nvPr userDrawn="1"/>
        </p:nvSpPr>
        <p:spPr>
          <a:xfrm>
            <a:off x="11082336" y="6767084"/>
            <a:ext cx="773020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500" b="1" kern="900" spc="-60" baseline="0" dirty="0">
                <a:latin typeface="+mn-ea"/>
                <a:ea typeface="+mn-ea"/>
              </a:rPr>
              <a:t>주식회사 글로벌테크놀로지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3F8E93F-A228-D1BE-D024-CD68B6111A16}"/>
              </a:ext>
            </a:extLst>
          </p:cNvPr>
          <p:cNvCxnSpPr>
            <a:cxnSpLocks/>
          </p:cNvCxnSpPr>
          <p:nvPr userDrawn="1"/>
        </p:nvCxnSpPr>
        <p:spPr>
          <a:xfrm>
            <a:off x="63690" y="6578237"/>
            <a:ext cx="1196908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44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71071-B60B-5EBD-D365-10BF81E85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AB8632-90DC-710C-DD51-FEF2D1C6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46CB4-3E0D-22FB-EA27-71E58EE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5600" y="6356350"/>
            <a:ext cx="1955800" cy="365125"/>
          </a:xfrm>
        </p:spPr>
        <p:txBody>
          <a:bodyPr/>
          <a:lstStyle/>
          <a:p>
            <a:fld id="{7263DB66-BA1E-46F7-9FB5-CFCF7B690454}" type="datetime1">
              <a:rPr lang="ko-KR" altLang="en-US" smtClean="0"/>
              <a:pPr/>
              <a:t>2026-02-26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F3BE9-02E0-A498-C445-2D82F14E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8575E-8425-E1B0-0ADB-88250BCD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5399"/>
            <a:ext cx="1807633" cy="365125"/>
          </a:xfrm>
        </p:spPr>
        <p:txBody>
          <a:bodyPr/>
          <a:lstStyle/>
          <a:p>
            <a:fld id="{CA25BFFE-6A0B-4524-8279-66A8FB651E0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EB153097-2857-949B-5DE3-E7725C9EF722}"/>
              </a:ext>
            </a:extLst>
          </p:cNvPr>
          <p:cNvSpPr txBox="1">
            <a:spLocks/>
          </p:cNvSpPr>
          <p:nvPr userDrawn="1"/>
        </p:nvSpPr>
        <p:spPr>
          <a:xfrm>
            <a:off x="0" y="6354152"/>
            <a:ext cx="16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b="0" dirty="0">
              <a:solidFill>
                <a:srgbClr val="FF00FF"/>
              </a:solidFill>
              <a:effectLst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35C9FE-E6E4-B4E0-84CA-8657263CD02B}"/>
              </a:ext>
            </a:extLst>
          </p:cNvPr>
          <p:cNvGrpSpPr/>
          <p:nvPr userDrawn="1"/>
        </p:nvGrpSpPr>
        <p:grpSpPr>
          <a:xfrm>
            <a:off x="10612804" y="6387414"/>
            <a:ext cx="1515701" cy="396512"/>
            <a:chOff x="10612804" y="6387414"/>
            <a:chExt cx="1515701" cy="3965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68C8827-A010-D846-38FF-A0D6000B1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83"/>
            <a:stretch/>
          </p:blipFill>
          <p:spPr>
            <a:xfrm>
              <a:off x="10612804" y="6387414"/>
              <a:ext cx="1515701" cy="39651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856EEA-589D-4787-39C2-3DC3B606B2A7}"/>
                </a:ext>
              </a:extLst>
            </p:cNvPr>
            <p:cNvSpPr txBox="1"/>
            <p:nvPr userDrawn="1"/>
          </p:nvSpPr>
          <p:spPr>
            <a:xfrm>
              <a:off x="11012478" y="6678510"/>
              <a:ext cx="873957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610" b="1" kern="900" spc="-60" baseline="0" dirty="0"/>
                <a:t>주식회사 글로벌테크놀로지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40F2887-4BE4-5F59-E3B0-D70CC81D93E7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97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F1EF0F-49DC-FD28-9297-668272AA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B78006-DEC6-278E-082A-86A63F2C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4F3AE-743C-5B41-3306-5F9920CB1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555-6659-4412-843F-B574A61BD0CB}" type="datetime1">
              <a:rPr lang="ko-KR" altLang="en-US" smtClean="0"/>
              <a:pPr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FC433-7259-184D-4D72-DF757D246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558E7-B4C3-4B7B-CA69-FAEB5EBB2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6FC60-9363-4DF2-9B4A-ED2D6EDB0B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0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D8914-EDA2-05D4-8912-88C717C42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7439"/>
            <a:ext cx="12192000" cy="2316481"/>
          </a:xfrm>
        </p:spPr>
        <p:txBody>
          <a:bodyPr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/>
              <a:t>XD12R + FPGA (XC24R)</a:t>
            </a:r>
            <a:br>
              <a:rPr lang="en-US" altLang="ko-KR" sz="4000" b="1" dirty="0"/>
            </a:br>
            <a:r>
              <a:rPr lang="ko-KR" altLang="en-US" sz="4000" b="1" dirty="0"/>
              <a:t>단품 </a:t>
            </a:r>
            <a:r>
              <a:rPr lang="en-US" altLang="ko-KR" sz="4000" b="1" dirty="0"/>
              <a:t>Control Jig board</a:t>
            </a:r>
            <a:endParaRPr lang="ko-KR" alt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29DD1-FD04-0772-DEEE-CC6CD1F1BDAE}"/>
              </a:ext>
            </a:extLst>
          </p:cNvPr>
          <p:cNvSpPr txBox="1"/>
          <p:nvPr/>
        </p:nvSpPr>
        <p:spPr>
          <a:xfrm>
            <a:off x="4283709" y="5361938"/>
            <a:ext cx="3624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㈜ </a:t>
            </a:r>
            <a:r>
              <a:rPr lang="ko-KR" altLang="en-US" b="1" dirty="0" err="1"/>
              <a:t>글로벌테크놀로지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3F09B-249E-A9F4-8776-99622EE83860}"/>
              </a:ext>
            </a:extLst>
          </p:cNvPr>
          <p:cNvSpPr txBox="1"/>
          <p:nvPr/>
        </p:nvSpPr>
        <p:spPr>
          <a:xfrm>
            <a:off x="5250256" y="4287747"/>
            <a:ext cx="1691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2026. 02. 26</a:t>
            </a:r>
          </a:p>
        </p:txBody>
      </p:sp>
    </p:spTree>
    <p:extLst>
      <p:ext uri="{BB962C8B-B14F-4D97-AF65-F5344CB8AC3E}">
        <p14:creationId xmlns:p14="http://schemas.microsoft.com/office/powerpoint/2010/main" val="330562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EB4F-9663-315A-E25F-A3AC9045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A6469-90CE-6281-4E37-331C68E3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Hardware</a:t>
            </a:r>
            <a:r>
              <a:rPr lang="ko-KR" altLang="en-US" dirty="0"/>
              <a:t> 구성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기존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1BCC1-CCA8-72AB-EBD8-0F3595484906}"/>
              </a:ext>
            </a:extLst>
          </p:cNvPr>
          <p:cNvSpPr txBox="1"/>
          <p:nvPr/>
        </p:nvSpPr>
        <p:spPr>
          <a:xfrm>
            <a:off x="1288498" y="428995"/>
            <a:ext cx="995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PC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096128-D012-0625-D20D-350BCDCA0CCC}"/>
              </a:ext>
            </a:extLst>
          </p:cNvPr>
          <p:cNvSpPr/>
          <p:nvPr/>
        </p:nvSpPr>
        <p:spPr>
          <a:xfrm>
            <a:off x="1100592" y="816307"/>
            <a:ext cx="1371600" cy="10270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567F9D06-0041-D212-C79F-0C1269BBE282}"/>
              </a:ext>
            </a:extLst>
          </p:cNvPr>
          <p:cNvSpPr/>
          <p:nvPr/>
        </p:nvSpPr>
        <p:spPr>
          <a:xfrm>
            <a:off x="2472192" y="1171121"/>
            <a:ext cx="947784" cy="417047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RS232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DBE38-3321-C983-0CF4-C6D67D57C676}"/>
              </a:ext>
            </a:extLst>
          </p:cNvPr>
          <p:cNvSpPr txBox="1"/>
          <p:nvPr/>
        </p:nvSpPr>
        <p:spPr>
          <a:xfrm>
            <a:off x="5060" y="3470967"/>
            <a:ext cx="245997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IC </a:t>
            </a:r>
            <a:r>
              <a:rPr lang="ko-KR" altLang="en-US" sz="1100" b="1" dirty="0">
                <a:latin typeface="+mn-ea"/>
              </a:rPr>
              <a:t>부품</a:t>
            </a:r>
            <a:endParaRPr lang="en-US" altLang="ko-KR" sz="11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DAC : 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latin typeface="+mn-ea"/>
              </a:rPr>
              <a:t>AD7392 Analog Device, 12bits 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AD5340 Analog Device 12bits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DAC8541, TI, 16bits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E695243-3588-EE8C-9112-3B38760E733C}"/>
              </a:ext>
            </a:extLst>
          </p:cNvPr>
          <p:cNvSpPr txBox="1"/>
          <p:nvPr/>
        </p:nvSpPr>
        <p:spPr>
          <a:xfrm>
            <a:off x="22270" y="4409913"/>
            <a:ext cx="309304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222222"/>
                </a:solidFill>
                <a:latin typeface="+mn-ea"/>
              </a:rPr>
              <a:t>Analog Switch (SPDT) </a:t>
            </a:r>
            <a:r>
              <a:rPr lang="en-US" altLang="ko-KR" sz="1000" dirty="0">
                <a:solidFill>
                  <a:srgbClr val="222222"/>
                </a:solidFill>
                <a:latin typeface="+mn-ea"/>
              </a:rPr>
              <a:t>: </a:t>
            </a:r>
          </a:p>
          <a:p>
            <a:r>
              <a:rPr lang="en-US" altLang="ko-KR" sz="1000" dirty="0">
                <a:solidFill>
                  <a:srgbClr val="222222"/>
                </a:solidFill>
                <a:latin typeface="+mn-ea"/>
              </a:rPr>
              <a:t> - NLASB3157, ONSEMI</a:t>
            </a:r>
          </a:p>
          <a:p>
            <a:endParaRPr lang="en-US" altLang="ko-KR" sz="1000" dirty="0">
              <a:solidFill>
                <a:srgbClr val="222222"/>
              </a:solidFill>
              <a:latin typeface="+mn-ea"/>
            </a:endParaRPr>
          </a:p>
          <a:p>
            <a:r>
              <a:rPr lang="en-US" altLang="ko-KR" sz="1000" dirty="0">
                <a:solidFill>
                  <a:srgbClr val="222222"/>
                </a:solidFill>
                <a:latin typeface="+mn-ea"/>
              </a:rPr>
              <a:t>Analog Switch :</a:t>
            </a:r>
          </a:p>
          <a:p>
            <a:r>
              <a:rPr lang="en-US" altLang="ko-KR" sz="1000" dirty="0">
                <a:solidFill>
                  <a:srgbClr val="222222"/>
                </a:solidFill>
                <a:latin typeface="+mn-ea"/>
              </a:rPr>
              <a:t> - </a:t>
            </a:r>
            <a:r>
              <a:rPr lang="en-US" altLang="ko-KR" sz="1000" dirty="0">
                <a:latin typeface="+mn-ea"/>
              </a:rPr>
              <a:t>TMUX1308QDYYRQ1, TI  </a:t>
            </a:r>
            <a:r>
              <a:rPr lang="en-US" altLang="ko-KR" sz="1000" b="1" dirty="0">
                <a:latin typeface="+mn-ea"/>
              </a:rPr>
              <a:t>P-delay 15ns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6427C0-F235-4C76-8A2C-747F999EBBB8}"/>
              </a:ext>
            </a:extLst>
          </p:cNvPr>
          <p:cNvSpPr/>
          <p:nvPr/>
        </p:nvSpPr>
        <p:spPr>
          <a:xfrm rot="5400000">
            <a:off x="4391737" y="-907810"/>
            <a:ext cx="6070654" cy="8673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F6AF7B6-D64E-390A-8183-27167AF6012D}"/>
              </a:ext>
            </a:extLst>
          </p:cNvPr>
          <p:cNvSpPr/>
          <p:nvPr/>
        </p:nvSpPr>
        <p:spPr>
          <a:xfrm>
            <a:off x="8365817" y="5704711"/>
            <a:ext cx="1681162" cy="6978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Power Module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DC/DC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Input : 12V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Output : 5V, 3.3V, 1.8V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284C46-098B-2643-9039-0CB155E7DC19}"/>
              </a:ext>
            </a:extLst>
          </p:cNvPr>
          <p:cNvSpPr/>
          <p:nvPr/>
        </p:nvSpPr>
        <p:spPr>
          <a:xfrm>
            <a:off x="3446742" y="539046"/>
            <a:ext cx="2742467" cy="1545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ⓒ</a:t>
            </a:r>
            <a:endParaRPr lang="en-US" altLang="ko-KR" sz="1200" dirty="0">
              <a:solidFill>
                <a:srgbClr val="0000FF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MCU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board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(STM32F446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NUCLEO)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ko-KR" altLang="en-US" sz="1100" dirty="0">
                <a:solidFill>
                  <a:schemeClr val="tx1"/>
                </a:solidFill>
              </a:rPr>
              <a:t>전원</a:t>
            </a:r>
            <a:r>
              <a:rPr lang="en-US" altLang="ko-KR" sz="1100" dirty="0">
                <a:solidFill>
                  <a:schemeClr val="tx1"/>
                </a:solidFill>
              </a:rPr>
              <a:t>: 5V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(3.3V</a:t>
            </a:r>
            <a:r>
              <a:rPr lang="ko-KR" altLang="en-US" sz="1100" dirty="0">
                <a:solidFill>
                  <a:schemeClr val="tx1"/>
                </a:solidFill>
              </a:rPr>
              <a:t>내부연결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1026" name="Picture 2" descr="NUCLEO-F446RE | Product - STMicroelectronics">
            <a:extLst>
              <a:ext uri="{FF2B5EF4-FFF2-40B4-BE49-F238E27FC236}">
                <a16:creationId xmlns:a16="http://schemas.microsoft.com/office/drawing/2014/main" id="{DE7A430F-9A5E-6BA6-A403-9C8AC3A7D6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7" r="24520"/>
          <a:stretch>
            <a:fillRect/>
          </a:stretch>
        </p:blipFill>
        <p:spPr bwMode="auto">
          <a:xfrm rot="5400000">
            <a:off x="4658673" y="440403"/>
            <a:ext cx="1276911" cy="164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B393E11A-95B2-0D94-BC7C-245508C23856}"/>
              </a:ext>
            </a:extLst>
          </p:cNvPr>
          <p:cNvSpPr/>
          <p:nvPr/>
        </p:nvSpPr>
        <p:spPr>
          <a:xfrm>
            <a:off x="3504180" y="2802866"/>
            <a:ext cx="2595575" cy="16939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FPGA Board ALINX AC7A200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(ARTIX XC7A200T), </a:t>
            </a:r>
            <a:r>
              <a:rPr lang="ko-KR" altLang="en-US" sz="1100" dirty="0">
                <a:solidFill>
                  <a:schemeClr val="tx1"/>
                </a:solidFill>
              </a:rPr>
              <a:t>전원 </a:t>
            </a:r>
            <a:r>
              <a:rPr lang="en-US" altLang="ko-KR" sz="1100" dirty="0">
                <a:solidFill>
                  <a:schemeClr val="tx1"/>
                </a:solidFill>
              </a:rPr>
              <a:t>: 5V</a:t>
            </a:r>
          </a:p>
        </p:txBody>
      </p:sp>
      <p:sp>
        <p:nvSpPr>
          <p:cNvPr id="69" name="화살표: 아래쪽 68">
            <a:extLst>
              <a:ext uri="{FF2B5EF4-FFF2-40B4-BE49-F238E27FC236}">
                <a16:creationId xmlns:a16="http://schemas.microsoft.com/office/drawing/2014/main" id="{3E063A0B-CBB3-5B07-448E-2CF099A26EF6}"/>
              </a:ext>
            </a:extLst>
          </p:cNvPr>
          <p:cNvSpPr/>
          <p:nvPr/>
        </p:nvSpPr>
        <p:spPr>
          <a:xfrm>
            <a:off x="3665592" y="2099895"/>
            <a:ext cx="2279090" cy="696552"/>
          </a:xfrm>
          <a:prstGeom prst="downArrow">
            <a:avLst>
              <a:gd name="adj1" fmla="val 69121"/>
              <a:gd name="adj2" fmla="val 288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SPI, Int x 2, I2c x 1, 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MCLK, VSYNC, GPIO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PA0~15, (13,14 </a:t>
            </a:r>
            <a:r>
              <a:rPr lang="ko-KR" altLang="en-US" sz="900" dirty="0">
                <a:solidFill>
                  <a:schemeClr val="tx1"/>
                </a:solidFill>
              </a:rPr>
              <a:t>제외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PB0~10, PB13~15, PH0,1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5E348A-2E3C-5A93-EDA5-9EC640E8A918}"/>
              </a:ext>
            </a:extLst>
          </p:cNvPr>
          <p:cNvSpPr txBox="1"/>
          <p:nvPr/>
        </p:nvSpPr>
        <p:spPr>
          <a:xfrm>
            <a:off x="9799189" y="422548"/>
            <a:ext cx="1923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Control Jig Board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4794F8B3-5725-E796-C393-D4BEBCD5A10B}"/>
              </a:ext>
            </a:extLst>
          </p:cNvPr>
          <p:cNvSpPr/>
          <p:nvPr/>
        </p:nvSpPr>
        <p:spPr>
          <a:xfrm>
            <a:off x="6194895" y="488524"/>
            <a:ext cx="886726" cy="1469943"/>
          </a:xfrm>
          <a:prstGeom prst="rightArrow">
            <a:avLst>
              <a:gd name="adj1" fmla="val 79105"/>
              <a:gd name="adj2" fmla="val 31909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SPI,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MCLK, VSYNC, INTx2, I2C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TEST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3A8DA6-4268-F3D9-A950-01CE79BC4984}"/>
              </a:ext>
            </a:extLst>
          </p:cNvPr>
          <p:cNvSpPr/>
          <p:nvPr/>
        </p:nvSpPr>
        <p:spPr>
          <a:xfrm>
            <a:off x="8779924" y="1523394"/>
            <a:ext cx="2788774" cy="8427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LED display (R,G,B chip) 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Module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36 channels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2B385DB-F704-8629-8D2B-87F1FCED4548}"/>
              </a:ext>
            </a:extLst>
          </p:cNvPr>
          <p:cNvSpPr/>
          <p:nvPr/>
        </p:nvSpPr>
        <p:spPr>
          <a:xfrm rot="16200000">
            <a:off x="8956671" y="2439420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D1C876C-150A-3345-883C-D3488079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865798" y="1827440"/>
            <a:ext cx="362625" cy="332820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340F8703-3C5B-EF75-52A0-783442DF1228}"/>
              </a:ext>
            </a:extLst>
          </p:cNvPr>
          <p:cNvGrpSpPr/>
          <p:nvPr/>
        </p:nvGrpSpPr>
        <p:grpSpPr>
          <a:xfrm>
            <a:off x="3485458" y="4452757"/>
            <a:ext cx="2020147" cy="351198"/>
            <a:chOff x="2503883" y="4439245"/>
            <a:chExt cx="2133065" cy="459029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931CCAD-6FEE-91C4-DF39-FD8EF390ADA8}"/>
                </a:ext>
              </a:extLst>
            </p:cNvPr>
            <p:cNvGrpSpPr/>
            <p:nvPr/>
          </p:nvGrpSpPr>
          <p:grpSpPr>
            <a:xfrm>
              <a:off x="3085508" y="4496785"/>
              <a:ext cx="155608" cy="401485"/>
              <a:chOff x="2714983" y="4981074"/>
              <a:chExt cx="155608" cy="401485"/>
            </a:xfrm>
          </p:grpSpPr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CDE1020-9740-7C49-9BBE-7ABEF2160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40148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6732F205-BD85-BE1E-4C21-AD3176FE6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983" y="5052739"/>
                <a:ext cx="155608" cy="217006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787577-676B-F1A2-9AC2-2F5D41D73EA3}"/>
                </a:ext>
              </a:extLst>
            </p:cNvPr>
            <p:cNvSpPr txBox="1"/>
            <p:nvPr/>
          </p:nvSpPr>
          <p:spPr>
            <a:xfrm>
              <a:off x="2503883" y="4439245"/>
              <a:ext cx="638822" cy="400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12bits </a:t>
              </a:r>
            </a:p>
            <a:p>
              <a:pPr algn="ctr"/>
              <a:r>
                <a:rPr lang="en-US" altLang="ko-KR" sz="1000" dirty="0"/>
                <a:t>Parallel 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38B710BA-E158-67D2-12B0-48A553B5F1F8}"/>
                </a:ext>
              </a:extLst>
            </p:cNvPr>
            <p:cNvGrpSpPr/>
            <p:nvPr/>
          </p:nvGrpSpPr>
          <p:grpSpPr>
            <a:xfrm>
              <a:off x="3798713" y="4502606"/>
              <a:ext cx="132284" cy="395663"/>
              <a:chOff x="2740336" y="4981074"/>
              <a:chExt cx="132284" cy="395663"/>
            </a:xfrm>
          </p:grpSpPr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3F2D2FA1-C476-BD46-3D8C-0B0C7C342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39566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E18565FC-E1C9-5BF1-8B4A-351E268A1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0336" y="5065322"/>
                <a:ext cx="132284" cy="19962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0587ABA-938A-363F-D177-3F395BD7EC7A}"/>
                </a:ext>
              </a:extLst>
            </p:cNvPr>
            <p:cNvGrpSpPr/>
            <p:nvPr/>
          </p:nvGrpSpPr>
          <p:grpSpPr>
            <a:xfrm>
              <a:off x="4481340" y="4502606"/>
              <a:ext cx="155608" cy="395668"/>
              <a:chOff x="2727498" y="4981074"/>
              <a:chExt cx="155608" cy="395668"/>
            </a:xfrm>
          </p:grpSpPr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77118C41-E03F-D1D5-6023-AA49AACFC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39566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>
                <a:extLst>
                  <a:ext uri="{FF2B5EF4-FFF2-40B4-BE49-F238E27FC236}">
                    <a16:creationId xmlns:a16="http://schemas.microsoft.com/office/drawing/2014/main" id="{CFD35157-6DD0-D94D-5F67-E804AD7407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98" y="5061693"/>
                <a:ext cx="155608" cy="217006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8B84B18-BC90-003F-755D-6284597D47CD}"/>
              </a:ext>
            </a:extLst>
          </p:cNvPr>
          <p:cNvSpPr/>
          <p:nvPr/>
        </p:nvSpPr>
        <p:spPr>
          <a:xfrm>
            <a:off x="6189209" y="5808065"/>
            <a:ext cx="2033955" cy="6015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RGB LED Power DC/DC, Input : 12V,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VLED : 6V or 9V or 12V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75" name="그림 74" descr="전자제품, 텍스트, 전자 공학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2801A-A3B1-1E08-C817-DB23A75D4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293" y="3255000"/>
            <a:ext cx="1208858" cy="1206302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2FAE2B04-AEE9-0657-EAE2-B4D7348EC195}"/>
              </a:ext>
            </a:extLst>
          </p:cNvPr>
          <p:cNvSpPr txBox="1"/>
          <p:nvPr/>
        </p:nvSpPr>
        <p:spPr>
          <a:xfrm>
            <a:off x="6145343" y="5344152"/>
            <a:ext cx="1070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Feed back</a:t>
            </a:r>
          </a:p>
          <a:p>
            <a:pPr algn="ctr"/>
            <a:r>
              <a:rPr lang="en-US" altLang="ko-KR" sz="1000" dirty="0"/>
              <a:t> (FBO1, 2, 3)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1817B1D-1D2F-27B9-331B-A49B0BCF93B1}"/>
              </a:ext>
            </a:extLst>
          </p:cNvPr>
          <p:cNvCxnSpPr>
            <a:cxnSpLocks/>
          </p:cNvCxnSpPr>
          <p:nvPr/>
        </p:nvCxnSpPr>
        <p:spPr>
          <a:xfrm>
            <a:off x="9444043" y="3216036"/>
            <a:ext cx="602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597CAAE-4BF0-A4AA-E9C6-9850FD3A5CC2}"/>
              </a:ext>
            </a:extLst>
          </p:cNvPr>
          <p:cNvCxnSpPr>
            <a:cxnSpLocks/>
          </p:cNvCxnSpPr>
          <p:nvPr/>
        </p:nvCxnSpPr>
        <p:spPr>
          <a:xfrm>
            <a:off x="10665835" y="3208679"/>
            <a:ext cx="328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994B3A3-4664-E9AC-B7CD-9A385364DD71}"/>
              </a:ext>
            </a:extLst>
          </p:cNvPr>
          <p:cNvSpPr txBox="1"/>
          <p:nvPr/>
        </p:nvSpPr>
        <p:spPr>
          <a:xfrm>
            <a:off x="8185550" y="3057594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8E57784B-C9E4-FAEC-91BA-F7BDF1F35FE9}"/>
              </a:ext>
            </a:extLst>
          </p:cNvPr>
          <p:cNvSpPr/>
          <p:nvPr/>
        </p:nvSpPr>
        <p:spPr>
          <a:xfrm rot="5400000">
            <a:off x="7122127" y="2009321"/>
            <a:ext cx="992704" cy="311668"/>
          </a:xfrm>
          <a:prstGeom prst="rightArrow">
            <a:avLst>
              <a:gd name="adj1" fmla="val 71807"/>
              <a:gd name="adj2" fmla="val 2112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SVO1</a:t>
            </a:r>
            <a:r>
              <a:rPr lang="ko-KR" altLang="en-US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~</a:t>
            </a:r>
            <a:r>
              <a:rPr lang="ko-KR" altLang="en-US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12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CD579145-7DDD-5E2B-1185-9F8B38EF12E7}"/>
              </a:ext>
            </a:extLst>
          </p:cNvPr>
          <p:cNvCxnSpPr>
            <a:cxnSpLocks/>
          </p:cNvCxnSpPr>
          <p:nvPr/>
        </p:nvCxnSpPr>
        <p:spPr>
          <a:xfrm flipH="1">
            <a:off x="8271824" y="2924543"/>
            <a:ext cx="4040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CA919034-8E2E-6540-CF30-09C8C2B81D67}"/>
              </a:ext>
            </a:extLst>
          </p:cNvPr>
          <p:cNvCxnSpPr>
            <a:cxnSpLocks/>
          </p:cNvCxnSpPr>
          <p:nvPr/>
        </p:nvCxnSpPr>
        <p:spPr>
          <a:xfrm>
            <a:off x="8272156" y="3244071"/>
            <a:ext cx="403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0B0BEA2-5A58-C65B-88C8-FBCF014C9346}"/>
              </a:ext>
            </a:extLst>
          </p:cNvPr>
          <p:cNvSpPr txBox="1"/>
          <p:nvPr/>
        </p:nvSpPr>
        <p:spPr>
          <a:xfrm>
            <a:off x="8185550" y="2691712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sp>
        <p:nvSpPr>
          <p:cNvPr id="120" name="화살표: 왼쪽/오른쪽 119">
            <a:extLst>
              <a:ext uri="{FF2B5EF4-FFF2-40B4-BE49-F238E27FC236}">
                <a16:creationId xmlns:a16="http://schemas.microsoft.com/office/drawing/2014/main" id="{6308F5F9-A948-14AB-0D85-AC09BFB082CA}"/>
              </a:ext>
            </a:extLst>
          </p:cNvPr>
          <p:cNvSpPr/>
          <p:nvPr/>
        </p:nvSpPr>
        <p:spPr>
          <a:xfrm rot="5400000">
            <a:off x="7484937" y="1987370"/>
            <a:ext cx="1006719" cy="352386"/>
          </a:xfrm>
          <a:prstGeom prst="leftRightArrow">
            <a:avLst>
              <a:gd name="adj1" fmla="val 64477"/>
              <a:gd name="adj2" fmla="val 2794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DIO1 ~ 24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E74D296D-08D6-A530-B9C6-0FE8D5831BED}"/>
              </a:ext>
            </a:extLst>
          </p:cNvPr>
          <p:cNvCxnSpPr>
            <a:cxnSpLocks/>
          </p:cNvCxnSpPr>
          <p:nvPr/>
        </p:nvCxnSpPr>
        <p:spPr>
          <a:xfrm>
            <a:off x="9444043" y="2932872"/>
            <a:ext cx="602936" cy="50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6CC786E-890F-CF53-8D1C-8570B047017B}"/>
              </a:ext>
            </a:extLst>
          </p:cNvPr>
          <p:cNvCxnSpPr>
            <a:cxnSpLocks/>
          </p:cNvCxnSpPr>
          <p:nvPr/>
        </p:nvCxnSpPr>
        <p:spPr>
          <a:xfrm>
            <a:off x="10663037" y="2889682"/>
            <a:ext cx="3288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B8F0BAD-07B7-AAEB-8ED0-F4B1B4E09DAA}"/>
              </a:ext>
            </a:extLst>
          </p:cNvPr>
          <p:cNvSpPr txBox="1"/>
          <p:nvPr/>
        </p:nvSpPr>
        <p:spPr>
          <a:xfrm>
            <a:off x="9534869" y="2729445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B4A798D-46D5-550E-8CC7-4C832AEF020A}"/>
              </a:ext>
            </a:extLst>
          </p:cNvPr>
          <p:cNvSpPr txBox="1"/>
          <p:nvPr/>
        </p:nvSpPr>
        <p:spPr>
          <a:xfrm>
            <a:off x="10565606" y="2663032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54EA29-7882-0392-FFC8-CE1BC45600F6}"/>
              </a:ext>
            </a:extLst>
          </p:cNvPr>
          <p:cNvSpPr txBox="1"/>
          <p:nvPr/>
        </p:nvSpPr>
        <p:spPr>
          <a:xfrm>
            <a:off x="9534868" y="3038554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024BF6-7F4E-5F67-7A80-6E2EC2F8AB1E}"/>
              </a:ext>
            </a:extLst>
          </p:cNvPr>
          <p:cNvSpPr txBox="1"/>
          <p:nvPr/>
        </p:nvSpPr>
        <p:spPr>
          <a:xfrm>
            <a:off x="10554030" y="3008621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cxnSp>
        <p:nvCxnSpPr>
          <p:cNvPr id="1047" name="연결선: 꺾임 1046">
            <a:extLst>
              <a:ext uri="{FF2B5EF4-FFF2-40B4-BE49-F238E27FC236}">
                <a16:creationId xmlns:a16="http://schemas.microsoft.com/office/drawing/2014/main" id="{03698C8B-C8ED-3D54-FD36-BE413382145F}"/>
              </a:ext>
            </a:extLst>
          </p:cNvPr>
          <p:cNvCxnSpPr>
            <a:cxnSpLocks/>
          </p:cNvCxnSpPr>
          <p:nvPr/>
        </p:nvCxnSpPr>
        <p:spPr>
          <a:xfrm rot="5400000">
            <a:off x="5459764" y="2812175"/>
            <a:ext cx="2937017" cy="650273"/>
          </a:xfrm>
          <a:prstGeom prst="bentConnector3">
            <a:avLst>
              <a:gd name="adj1" fmla="val 2697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직선 연결선 1050">
            <a:extLst>
              <a:ext uri="{FF2B5EF4-FFF2-40B4-BE49-F238E27FC236}">
                <a16:creationId xmlns:a16="http://schemas.microsoft.com/office/drawing/2014/main" id="{32A40AE1-BBDE-A330-7DE3-E48A256789F8}"/>
              </a:ext>
            </a:extLst>
          </p:cNvPr>
          <p:cNvCxnSpPr>
            <a:cxnSpLocks/>
          </p:cNvCxnSpPr>
          <p:nvPr/>
        </p:nvCxnSpPr>
        <p:spPr>
          <a:xfrm>
            <a:off x="6544681" y="4064170"/>
            <a:ext cx="105322" cy="123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D4CADCB3-1F5E-B367-5326-81D2B4C9EDC9}"/>
              </a:ext>
            </a:extLst>
          </p:cNvPr>
          <p:cNvSpPr/>
          <p:nvPr/>
        </p:nvSpPr>
        <p:spPr>
          <a:xfrm>
            <a:off x="6006192" y="4622824"/>
            <a:ext cx="1462324" cy="726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FB Mux Switch</a:t>
            </a:r>
          </a:p>
        </p:txBody>
      </p: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56CE6C39-1BD7-2B5D-1802-1EDC053AAB68}"/>
              </a:ext>
            </a:extLst>
          </p:cNvPr>
          <p:cNvGrpSpPr/>
          <p:nvPr/>
        </p:nvGrpSpPr>
        <p:grpSpPr>
          <a:xfrm>
            <a:off x="6405531" y="4821895"/>
            <a:ext cx="847873" cy="209911"/>
            <a:chOff x="3154628" y="5305543"/>
            <a:chExt cx="1393161" cy="283567"/>
          </a:xfrm>
        </p:grpSpPr>
        <p:cxnSp>
          <p:nvCxnSpPr>
            <p:cNvPr id="1037" name="직선 화살표 연결선 1036">
              <a:extLst>
                <a:ext uri="{FF2B5EF4-FFF2-40B4-BE49-F238E27FC236}">
                  <a16:creationId xmlns:a16="http://schemas.microsoft.com/office/drawing/2014/main" id="{DFA733CD-1E82-B179-FAF4-209FF0C7B809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28" y="5305544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직선 화살표 연결선 1037">
              <a:extLst>
                <a:ext uri="{FF2B5EF4-FFF2-40B4-BE49-F238E27FC236}">
                  <a16:creationId xmlns:a16="http://schemas.microsoft.com/office/drawing/2014/main" id="{20E62D93-B4F7-A77F-56FA-1ABB223D2A42}"/>
                </a:ext>
              </a:extLst>
            </p:cNvPr>
            <p:cNvCxnSpPr>
              <a:cxnSpLocks/>
            </p:cNvCxnSpPr>
            <p:nvPr/>
          </p:nvCxnSpPr>
          <p:spPr>
            <a:xfrm>
              <a:off x="3836401" y="5313667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직선 화살표 연결선 1038">
              <a:extLst>
                <a:ext uri="{FF2B5EF4-FFF2-40B4-BE49-F238E27FC236}">
                  <a16:creationId xmlns:a16="http://schemas.microsoft.com/office/drawing/2014/main" id="{7DC480FA-241B-4E63-0D3B-26A590546E23}"/>
                </a:ext>
              </a:extLst>
            </p:cNvPr>
            <p:cNvCxnSpPr>
              <a:cxnSpLocks/>
            </p:cNvCxnSpPr>
            <p:nvPr/>
          </p:nvCxnSpPr>
          <p:spPr>
            <a:xfrm>
              <a:off x="4547789" y="5305543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AD85B7B2-A6BE-6352-2021-C84690F7FC1C}"/>
              </a:ext>
            </a:extLst>
          </p:cNvPr>
          <p:cNvSpPr/>
          <p:nvPr/>
        </p:nvSpPr>
        <p:spPr>
          <a:xfrm>
            <a:off x="6095605" y="3329522"/>
            <a:ext cx="990218" cy="269090"/>
          </a:xfrm>
          <a:prstGeom prst="rightArrow">
            <a:avLst>
              <a:gd name="adj1" fmla="val 71807"/>
              <a:gd name="adj2" fmla="val 2112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SVO1</a:t>
            </a:r>
            <a:r>
              <a:rPr lang="ko-KR" altLang="en-US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~</a:t>
            </a:r>
            <a:r>
              <a:rPr lang="ko-KR" altLang="en-US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12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화살표: 왼쪽/오른쪽 118">
            <a:extLst>
              <a:ext uri="{FF2B5EF4-FFF2-40B4-BE49-F238E27FC236}">
                <a16:creationId xmlns:a16="http://schemas.microsoft.com/office/drawing/2014/main" id="{14A18CDF-6E00-A5F7-1FB7-048087E5A884}"/>
              </a:ext>
            </a:extLst>
          </p:cNvPr>
          <p:cNvSpPr/>
          <p:nvPr/>
        </p:nvSpPr>
        <p:spPr>
          <a:xfrm>
            <a:off x="6095264" y="3008621"/>
            <a:ext cx="1006719" cy="310108"/>
          </a:xfrm>
          <a:prstGeom prst="leftRightArrow">
            <a:avLst>
              <a:gd name="adj1" fmla="val 64477"/>
              <a:gd name="adj2" fmla="val 2794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DIO1 ~ 24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57" name="그룹 1056">
            <a:extLst>
              <a:ext uri="{FF2B5EF4-FFF2-40B4-BE49-F238E27FC236}">
                <a16:creationId xmlns:a16="http://schemas.microsoft.com/office/drawing/2014/main" id="{C7F28ED3-B002-C0B2-406A-31EE4B3B284D}"/>
              </a:ext>
            </a:extLst>
          </p:cNvPr>
          <p:cNvGrpSpPr/>
          <p:nvPr/>
        </p:nvGrpSpPr>
        <p:grpSpPr>
          <a:xfrm>
            <a:off x="6197827" y="4821467"/>
            <a:ext cx="847873" cy="209911"/>
            <a:chOff x="3154628" y="5305543"/>
            <a:chExt cx="1393161" cy="283567"/>
          </a:xfrm>
        </p:grpSpPr>
        <p:cxnSp>
          <p:nvCxnSpPr>
            <p:cNvPr id="1058" name="직선 화살표 연결선 1057">
              <a:extLst>
                <a:ext uri="{FF2B5EF4-FFF2-40B4-BE49-F238E27FC236}">
                  <a16:creationId xmlns:a16="http://schemas.microsoft.com/office/drawing/2014/main" id="{8482D1E5-CC4F-BF59-787F-20B40EB432C7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28" y="5305544"/>
              <a:ext cx="0" cy="2754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직선 화살표 연결선 1058">
              <a:extLst>
                <a:ext uri="{FF2B5EF4-FFF2-40B4-BE49-F238E27FC236}">
                  <a16:creationId xmlns:a16="http://schemas.microsoft.com/office/drawing/2014/main" id="{9FF7EB3E-638D-D964-1D64-2CB9B4AA3560}"/>
                </a:ext>
              </a:extLst>
            </p:cNvPr>
            <p:cNvCxnSpPr>
              <a:cxnSpLocks/>
            </p:cNvCxnSpPr>
            <p:nvPr/>
          </p:nvCxnSpPr>
          <p:spPr>
            <a:xfrm>
              <a:off x="3836401" y="5313667"/>
              <a:ext cx="0" cy="2754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직선 화살표 연결선 1059">
              <a:extLst>
                <a:ext uri="{FF2B5EF4-FFF2-40B4-BE49-F238E27FC236}">
                  <a16:creationId xmlns:a16="http://schemas.microsoft.com/office/drawing/2014/main" id="{A01D9676-AC71-C6BD-49F6-D75E8B68BFF9}"/>
                </a:ext>
              </a:extLst>
            </p:cNvPr>
            <p:cNvCxnSpPr>
              <a:cxnSpLocks/>
            </p:cNvCxnSpPr>
            <p:nvPr/>
          </p:nvCxnSpPr>
          <p:spPr>
            <a:xfrm>
              <a:off x="4547789" y="5305543"/>
              <a:ext cx="0" cy="2754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1" name="그룹 1060">
            <a:extLst>
              <a:ext uri="{FF2B5EF4-FFF2-40B4-BE49-F238E27FC236}">
                <a16:creationId xmlns:a16="http://schemas.microsoft.com/office/drawing/2014/main" id="{84FA8471-6B83-AC87-8B78-63965EF0DF78}"/>
              </a:ext>
            </a:extLst>
          </p:cNvPr>
          <p:cNvGrpSpPr/>
          <p:nvPr/>
        </p:nvGrpSpPr>
        <p:grpSpPr>
          <a:xfrm>
            <a:off x="6284895" y="5365894"/>
            <a:ext cx="847873" cy="453014"/>
            <a:chOff x="3154628" y="5305543"/>
            <a:chExt cx="1393161" cy="283567"/>
          </a:xfrm>
        </p:grpSpPr>
        <p:cxnSp>
          <p:nvCxnSpPr>
            <p:cNvPr id="1062" name="직선 화살표 연결선 1061">
              <a:extLst>
                <a:ext uri="{FF2B5EF4-FFF2-40B4-BE49-F238E27FC236}">
                  <a16:creationId xmlns:a16="http://schemas.microsoft.com/office/drawing/2014/main" id="{30A8AB3A-55DA-7015-2AD6-30CF3F567B9B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28" y="5305544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직선 화살표 연결선 1062">
              <a:extLst>
                <a:ext uri="{FF2B5EF4-FFF2-40B4-BE49-F238E27FC236}">
                  <a16:creationId xmlns:a16="http://schemas.microsoft.com/office/drawing/2014/main" id="{79962DA4-8AA1-8ABE-2CC0-57529A66B07F}"/>
                </a:ext>
              </a:extLst>
            </p:cNvPr>
            <p:cNvCxnSpPr>
              <a:cxnSpLocks/>
            </p:cNvCxnSpPr>
            <p:nvPr/>
          </p:nvCxnSpPr>
          <p:spPr>
            <a:xfrm>
              <a:off x="3836401" y="5313667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직선 화살표 연결선 1063">
              <a:extLst>
                <a:ext uri="{FF2B5EF4-FFF2-40B4-BE49-F238E27FC236}">
                  <a16:creationId xmlns:a16="http://schemas.microsoft.com/office/drawing/2014/main" id="{88A60F81-8578-0C9A-E70D-98DD6ECBCB05}"/>
                </a:ext>
              </a:extLst>
            </p:cNvPr>
            <p:cNvCxnSpPr>
              <a:cxnSpLocks/>
            </p:cNvCxnSpPr>
            <p:nvPr/>
          </p:nvCxnSpPr>
          <p:spPr>
            <a:xfrm>
              <a:off x="4547789" y="5305543"/>
              <a:ext cx="0" cy="2754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8" name="직사각형 1067">
            <a:extLst>
              <a:ext uri="{FF2B5EF4-FFF2-40B4-BE49-F238E27FC236}">
                <a16:creationId xmlns:a16="http://schemas.microsoft.com/office/drawing/2014/main" id="{2701056D-A736-7687-6CAE-8B9C64B800FB}"/>
              </a:ext>
            </a:extLst>
          </p:cNvPr>
          <p:cNvSpPr/>
          <p:nvPr/>
        </p:nvSpPr>
        <p:spPr>
          <a:xfrm>
            <a:off x="3926981" y="4801247"/>
            <a:ext cx="1658214" cy="10532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DAC x 3</a:t>
            </a:r>
          </a:p>
        </p:txBody>
      </p:sp>
      <p:sp>
        <p:nvSpPr>
          <p:cNvPr id="1069" name="직사각형 1068">
            <a:extLst>
              <a:ext uri="{FF2B5EF4-FFF2-40B4-BE49-F238E27FC236}">
                <a16:creationId xmlns:a16="http://schemas.microsoft.com/office/drawing/2014/main" id="{F02A43C0-0261-D291-49C3-0D70C7AE295E}"/>
              </a:ext>
            </a:extLst>
          </p:cNvPr>
          <p:cNvSpPr/>
          <p:nvPr/>
        </p:nvSpPr>
        <p:spPr>
          <a:xfrm>
            <a:off x="3952036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1" name="직사각형 1070">
            <a:extLst>
              <a:ext uri="{FF2B5EF4-FFF2-40B4-BE49-F238E27FC236}">
                <a16:creationId xmlns:a16="http://schemas.microsoft.com/office/drawing/2014/main" id="{DCF79051-968D-8C1D-23E5-744981A2B611}"/>
              </a:ext>
            </a:extLst>
          </p:cNvPr>
          <p:cNvSpPr/>
          <p:nvPr/>
        </p:nvSpPr>
        <p:spPr>
          <a:xfrm>
            <a:off x="4498118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2" name="직사각형 1071">
            <a:extLst>
              <a:ext uri="{FF2B5EF4-FFF2-40B4-BE49-F238E27FC236}">
                <a16:creationId xmlns:a16="http://schemas.microsoft.com/office/drawing/2014/main" id="{ADE1620E-1A4A-2C49-595D-1F90EAF0C355}"/>
              </a:ext>
            </a:extLst>
          </p:cNvPr>
          <p:cNvSpPr/>
          <p:nvPr/>
        </p:nvSpPr>
        <p:spPr>
          <a:xfrm>
            <a:off x="5049319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83" name="직선 화살표 연결선 1082">
            <a:extLst>
              <a:ext uri="{FF2B5EF4-FFF2-40B4-BE49-F238E27FC236}">
                <a16:creationId xmlns:a16="http://schemas.microsoft.com/office/drawing/2014/main" id="{9EA1E5C3-4C50-40E3-6F82-FFBFFC2E83EB}"/>
              </a:ext>
            </a:extLst>
          </p:cNvPr>
          <p:cNvCxnSpPr/>
          <p:nvPr/>
        </p:nvCxnSpPr>
        <p:spPr>
          <a:xfrm>
            <a:off x="5620249" y="5157075"/>
            <a:ext cx="3859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TextBox 1083">
            <a:extLst>
              <a:ext uri="{FF2B5EF4-FFF2-40B4-BE49-F238E27FC236}">
                <a16:creationId xmlns:a16="http://schemas.microsoft.com/office/drawing/2014/main" id="{678645FE-85C6-2C8A-933E-91B63B82D485}"/>
              </a:ext>
            </a:extLst>
          </p:cNvPr>
          <p:cNvSpPr txBox="1"/>
          <p:nvPr/>
        </p:nvSpPr>
        <p:spPr>
          <a:xfrm>
            <a:off x="6508600" y="4193182"/>
            <a:ext cx="1006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Feed back</a:t>
            </a:r>
          </a:p>
          <a:p>
            <a:pPr algn="ctr"/>
            <a:r>
              <a:rPr lang="en-US" altLang="ko-KR" sz="1000" dirty="0"/>
              <a:t> (FBO1, 2, 3)</a:t>
            </a:r>
          </a:p>
        </p:txBody>
      </p: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D7915352-B5F8-B258-8233-93EE0E384B9C}"/>
              </a:ext>
            </a:extLst>
          </p:cNvPr>
          <p:cNvCxnSpPr/>
          <p:nvPr/>
        </p:nvCxnSpPr>
        <p:spPr>
          <a:xfrm>
            <a:off x="5734549" y="5089701"/>
            <a:ext cx="69146" cy="124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화살표: 오른쪽 1095">
            <a:extLst>
              <a:ext uri="{FF2B5EF4-FFF2-40B4-BE49-F238E27FC236}">
                <a16:creationId xmlns:a16="http://schemas.microsoft.com/office/drawing/2014/main" id="{D95F8B8D-43F6-818D-1892-286C0AC74DB0}"/>
              </a:ext>
            </a:extLst>
          </p:cNvPr>
          <p:cNvSpPr/>
          <p:nvPr/>
        </p:nvSpPr>
        <p:spPr>
          <a:xfrm rot="16200000">
            <a:off x="10157167" y="2478168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7" name="화살표: 오른쪽 1096">
            <a:extLst>
              <a:ext uri="{FF2B5EF4-FFF2-40B4-BE49-F238E27FC236}">
                <a16:creationId xmlns:a16="http://schemas.microsoft.com/office/drawing/2014/main" id="{7F2FCF5F-37A7-9263-B0F2-FCA48C739937}"/>
              </a:ext>
            </a:extLst>
          </p:cNvPr>
          <p:cNvSpPr/>
          <p:nvPr/>
        </p:nvSpPr>
        <p:spPr>
          <a:xfrm rot="16200000">
            <a:off x="11174680" y="2478168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3" name="직선 화살표 연결선 1102">
            <a:extLst>
              <a:ext uri="{FF2B5EF4-FFF2-40B4-BE49-F238E27FC236}">
                <a16:creationId xmlns:a16="http://schemas.microsoft.com/office/drawing/2014/main" id="{390C6277-DFED-F787-304C-F4BB2232434A}"/>
              </a:ext>
            </a:extLst>
          </p:cNvPr>
          <p:cNvCxnSpPr>
            <a:cxnSpLocks/>
          </p:cNvCxnSpPr>
          <p:nvPr/>
        </p:nvCxnSpPr>
        <p:spPr>
          <a:xfrm>
            <a:off x="7350032" y="1668803"/>
            <a:ext cx="0" cy="21893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TextBox 1106">
            <a:extLst>
              <a:ext uri="{FF2B5EF4-FFF2-40B4-BE49-F238E27FC236}">
                <a16:creationId xmlns:a16="http://schemas.microsoft.com/office/drawing/2014/main" id="{188C20C2-FFEB-22DA-4636-1D62F6E52CC7}"/>
              </a:ext>
            </a:extLst>
          </p:cNvPr>
          <p:cNvSpPr txBox="1"/>
          <p:nvPr/>
        </p:nvSpPr>
        <p:spPr>
          <a:xfrm>
            <a:off x="7648941" y="4178051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Gate 1,2,3</a:t>
            </a:r>
          </a:p>
        </p:txBody>
      </p:sp>
      <p:grpSp>
        <p:nvGrpSpPr>
          <p:cNvPr id="1143" name="그룹 1142">
            <a:extLst>
              <a:ext uri="{FF2B5EF4-FFF2-40B4-BE49-F238E27FC236}">
                <a16:creationId xmlns:a16="http://schemas.microsoft.com/office/drawing/2014/main" id="{EA667D86-7BDA-D225-40CA-A49DFA839594}"/>
              </a:ext>
            </a:extLst>
          </p:cNvPr>
          <p:cNvGrpSpPr/>
          <p:nvPr/>
        </p:nvGrpSpPr>
        <p:grpSpPr>
          <a:xfrm>
            <a:off x="7783838" y="5214225"/>
            <a:ext cx="312803" cy="593840"/>
            <a:chOff x="6802264" y="4998701"/>
            <a:chExt cx="312803" cy="571090"/>
          </a:xfrm>
        </p:grpSpPr>
        <p:cxnSp>
          <p:nvCxnSpPr>
            <p:cNvPr id="1099" name="직선 화살표 연결선 1098">
              <a:extLst>
                <a:ext uri="{FF2B5EF4-FFF2-40B4-BE49-F238E27FC236}">
                  <a16:creationId xmlns:a16="http://schemas.microsoft.com/office/drawing/2014/main" id="{36D7033C-CE77-D539-A91E-8054CBD49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2264" y="5005392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직선 화살표 연결선 1110">
              <a:extLst>
                <a:ext uri="{FF2B5EF4-FFF2-40B4-BE49-F238E27FC236}">
                  <a16:creationId xmlns:a16="http://schemas.microsoft.com/office/drawing/2014/main" id="{0495BE0D-A778-6155-BFE1-CE1EAA4AA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67" y="4998701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직선 화살표 연결선 1113">
              <a:extLst>
                <a:ext uri="{FF2B5EF4-FFF2-40B4-BE49-F238E27FC236}">
                  <a16:creationId xmlns:a16="http://schemas.microsoft.com/office/drawing/2014/main" id="{6FD8785C-2520-4208-7359-EE8F47988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5067" y="5005392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5" name="TextBox 1114">
            <a:extLst>
              <a:ext uri="{FF2B5EF4-FFF2-40B4-BE49-F238E27FC236}">
                <a16:creationId xmlns:a16="http://schemas.microsoft.com/office/drawing/2014/main" id="{7903945F-3AB1-05BB-15B4-19CA4E531341}"/>
              </a:ext>
            </a:extLst>
          </p:cNvPr>
          <p:cNvSpPr txBox="1"/>
          <p:nvPr/>
        </p:nvSpPr>
        <p:spPr>
          <a:xfrm>
            <a:off x="7932541" y="5416281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VLED R,G,B</a:t>
            </a:r>
          </a:p>
        </p:txBody>
      </p:sp>
      <p:cxnSp>
        <p:nvCxnSpPr>
          <p:cNvPr id="1116" name="직선 화살표 연결선 1115">
            <a:extLst>
              <a:ext uri="{FF2B5EF4-FFF2-40B4-BE49-F238E27FC236}">
                <a16:creationId xmlns:a16="http://schemas.microsoft.com/office/drawing/2014/main" id="{21604475-F51A-6D06-8A34-D93AB5E067DC}"/>
              </a:ext>
            </a:extLst>
          </p:cNvPr>
          <p:cNvCxnSpPr>
            <a:cxnSpLocks/>
          </p:cNvCxnSpPr>
          <p:nvPr/>
        </p:nvCxnSpPr>
        <p:spPr>
          <a:xfrm>
            <a:off x="7812103" y="3958687"/>
            <a:ext cx="0" cy="5380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직선 연결선 1124">
            <a:extLst>
              <a:ext uri="{FF2B5EF4-FFF2-40B4-BE49-F238E27FC236}">
                <a16:creationId xmlns:a16="http://schemas.microsoft.com/office/drawing/2014/main" id="{B8A47A29-E293-F671-1A35-62EC7A7C625B}"/>
              </a:ext>
            </a:extLst>
          </p:cNvPr>
          <p:cNvCxnSpPr>
            <a:cxnSpLocks/>
          </p:cNvCxnSpPr>
          <p:nvPr/>
        </p:nvCxnSpPr>
        <p:spPr>
          <a:xfrm>
            <a:off x="7722173" y="4221808"/>
            <a:ext cx="221473" cy="165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C8C11B4-59ED-3DD4-1109-5E734B0DD8DF}"/>
              </a:ext>
            </a:extLst>
          </p:cNvPr>
          <p:cNvGrpSpPr/>
          <p:nvPr/>
        </p:nvGrpSpPr>
        <p:grpSpPr>
          <a:xfrm>
            <a:off x="6119547" y="3851777"/>
            <a:ext cx="991248" cy="138447"/>
            <a:chOff x="5490897" y="3643231"/>
            <a:chExt cx="991248" cy="138447"/>
          </a:xfrm>
        </p:grpSpPr>
        <p:cxnSp>
          <p:nvCxnSpPr>
            <p:cNvPr id="1120" name="직선 화살표 연결선 1119">
              <a:extLst>
                <a:ext uri="{FF2B5EF4-FFF2-40B4-BE49-F238E27FC236}">
                  <a16:creationId xmlns:a16="http://schemas.microsoft.com/office/drawing/2014/main" id="{84AB5D83-4D28-67AE-2096-0231E33E759C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97" y="3704665"/>
              <a:ext cx="99124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직선 연결선 1125">
              <a:extLst>
                <a:ext uri="{FF2B5EF4-FFF2-40B4-BE49-F238E27FC236}">
                  <a16:creationId xmlns:a16="http://schemas.microsoft.com/office/drawing/2014/main" id="{12878466-4BD6-86D9-024E-6A29B281320C}"/>
                </a:ext>
              </a:extLst>
            </p:cNvPr>
            <p:cNvCxnSpPr>
              <a:cxnSpLocks/>
            </p:cNvCxnSpPr>
            <p:nvPr/>
          </p:nvCxnSpPr>
          <p:spPr>
            <a:xfrm>
              <a:off x="6064001" y="3643231"/>
              <a:ext cx="110736" cy="1384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7" name="직선 연결선 1126">
            <a:extLst>
              <a:ext uri="{FF2B5EF4-FFF2-40B4-BE49-F238E27FC236}">
                <a16:creationId xmlns:a16="http://schemas.microsoft.com/office/drawing/2014/main" id="{98D035F4-57EB-69A2-E53F-D4E2714913C5}"/>
              </a:ext>
            </a:extLst>
          </p:cNvPr>
          <p:cNvCxnSpPr>
            <a:cxnSpLocks/>
          </p:cNvCxnSpPr>
          <p:nvPr/>
        </p:nvCxnSpPr>
        <p:spPr>
          <a:xfrm>
            <a:off x="7301034" y="2270559"/>
            <a:ext cx="124736" cy="95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연결선: 꺾임 1133">
            <a:extLst>
              <a:ext uri="{FF2B5EF4-FFF2-40B4-BE49-F238E27FC236}">
                <a16:creationId xmlns:a16="http://schemas.microsoft.com/office/drawing/2014/main" id="{66ADC00C-BD89-672A-0D5B-ADBA8B1CBA97}"/>
              </a:ext>
            </a:extLst>
          </p:cNvPr>
          <p:cNvCxnSpPr/>
          <p:nvPr/>
        </p:nvCxnSpPr>
        <p:spPr>
          <a:xfrm rot="5400000" flipH="1" flipV="1">
            <a:off x="7875861" y="3029810"/>
            <a:ext cx="2342302" cy="1123354"/>
          </a:xfrm>
          <a:prstGeom prst="bentConnector3">
            <a:avLst>
              <a:gd name="adj1" fmla="val 389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6" name="TextBox 1135">
            <a:extLst>
              <a:ext uri="{FF2B5EF4-FFF2-40B4-BE49-F238E27FC236}">
                <a16:creationId xmlns:a16="http://schemas.microsoft.com/office/drawing/2014/main" id="{D399B4CC-CA92-72F5-0E1F-A51A2FD3D0CB}"/>
              </a:ext>
            </a:extLst>
          </p:cNvPr>
          <p:cNvSpPr txBox="1"/>
          <p:nvPr/>
        </p:nvSpPr>
        <p:spPr>
          <a:xfrm>
            <a:off x="9362398" y="3958687"/>
            <a:ext cx="873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VLED</a:t>
            </a:r>
          </a:p>
        </p:txBody>
      </p:sp>
      <p:sp>
        <p:nvSpPr>
          <p:cNvPr id="1102" name="직사각형 1101">
            <a:extLst>
              <a:ext uri="{FF2B5EF4-FFF2-40B4-BE49-F238E27FC236}">
                <a16:creationId xmlns:a16="http://schemas.microsoft.com/office/drawing/2014/main" id="{3E97E50F-0D01-4210-49AB-73DCDFCAE4A2}"/>
              </a:ext>
            </a:extLst>
          </p:cNvPr>
          <p:cNvSpPr/>
          <p:nvPr/>
        </p:nvSpPr>
        <p:spPr>
          <a:xfrm>
            <a:off x="7688948" y="4519885"/>
            <a:ext cx="1681162" cy="716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Power Switch Module(</a:t>
            </a:r>
            <a:r>
              <a:rPr lang="ko-KR" altLang="en-US" sz="1100" dirty="0">
                <a:solidFill>
                  <a:schemeClr val="tx1"/>
                </a:solidFill>
              </a:rPr>
              <a:t>시분할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- Gate Driver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&amp; FET</a:t>
            </a:r>
          </a:p>
        </p:txBody>
      </p:sp>
      <p:cxnSp>
        <p:nvCxnSpPr>
          <p:cNvPr id="1140" name="연결선: 꺾임 1139">
            <a:extLst>
              <a:ext uri="{FF2B5EF4-FFF2-40B4-BE49-F238E27FC236}">
                <a16:creationId xmlns:a16="http://schemas.microsoft.com/office/drawing/2014/main" id="{00882F85-7E7A-6E99-2500-DCE27DEA8476}"/>
              </a:ext>
            </a:extLst>
          </p:cNvPr>
          <p:cNvCxnSpPr/>
          <p:nvPr/>
        </p:nvCxnSpPr>
        <p:spPr>
          <a:xfrm rot="16200000" flipH="1">
            <a:off x="5783998" y="4516482"/>
            <a:ext cx="241890" cy="202497"/>
          </a:xfrm>
          <a:prstGeom prst="bentConnector3">
            <a:avLst>
              <a:gd name="adj1" fmla="val 1011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2" name="TextBox 1141">
            <a:extLst>
              <a:ext uri="{FF2B5EF4-FFF2-40B4-BE49-F238E27FC236}">
                <a16:creationId xmlns:a16="http://schemas.microsoft.com/office/drawing/2014/main" id="{4C47B2B9-4700-A4A3-416F-A9A67F7EC0B0}"/>
              </a:ext>
            </a:extLst>
          </p:cNvPr>
          <p:cNvSpPr txBox="1"/>
          <p:nvPr/>
        </p:nvSpPr>
        <p:spPr>
          <a:xfrm>
            <a:off x="5181927" y="4483134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SEL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25B06159-9BAA-CFDC-53AD-68891A3997CB}"/>
              </a:ext>
            </a:extLst>
          </p:cNvPr>
          <p:cNvSpPr txBox="1"/>
          <p:nvPr/>
        </p:nvSpPr>
        <p:spPr>
          <a:xfrm>
            <a:off x="4209289" y="5421883"/>
            <a:ext cx="1070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Feed back</a:t>
            </a:r>
          </a:p>
          <a:p>
            <a:pPr algn="ctr"/>
            <a:r>
              <a:rPr lang="en-US" altLang="ko-KR" sz="1000" dirty="0"/>
              <a:t> (FBO1, 2, 3)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E5715517-F28A-0DA1-7DFA-C6D588D5E598}"/>
              </a:ext>
            </a:extLst>
          </p:cNvPr>
          <p:cNvCxnSpPr>
            <a:cxnSpLocks/>
          </p:cNvCxnSpPr>
          <p:nvPr/>
        </p:nvCxnSpPr>
        <p:spPr>
          <a:xfrm rot="10800000">
            <a:off x="6189209" y="1983026"/>
            <a:ext cx="921588" cy="796008"/>
          </a:xfrm>
          <a:prstGeom prst="bentConnector3">
            <a:avLst>
              <a:gd name="adj1" fmla="val 31200"/>
            </a:avLst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BD06A9-0B0F-342E-4C33-DF517459C176}"/>
              </a:ext>
            </a:extLst>
          </p:cNvPr>
          <p:cNvSpPr txBox="1"/>
          <p:nvPr/>
        </p:nvSpPr>
        <p:spPr>
          <a:xfrm>
            <a:off x="6104088" y="2029914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MUX control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D41D833-C98E-F5FD-8E48-FF92C7B5A34A}"/>
              </a:ext>
            </a:extLst>
          </p:cNvPr>
          <p:cNvCxnSpPr>
            <a:cxnSpLocks/>
          </p:cNvCxnSpPr>
          <p:nvPr/>
        </p:nvCxnSpPr>
        <p:spPr>
          <a:xfrm>
            <a:off x="6323208" y="1908450"/>
            <a:ext cx="221473" cy="165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9C65D1C-5754-3C3D-D9A5-58C141A74784}"/>
              </a:ext>
            </a:extLst>
          </p:cNvPr>
          <p:cNvGrpSpPr/>
          <p:nvPr/>
        </p:nvGrpSpPr>
        <p:grpSpPr>
          <a:xfrm>
            <a:off x="6141583" y="5054749"/>
            <a:ext cx="305969" cy="288581"/>
            <a:chOff x="11397256" y="5089701"/>
            <a:chExt cx="356030" cy="33218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1CAFB15-8040-46DE-A134-CBF6BB11C3D3}"/>
                </a:ext>
              </a:extLst>
            </p:cNvPr>
            <p:cNvSpPr/>
            <p:nvPr/>
          </p:nvSpPr>
          <p:spPr>
            <a:xfrm>
              <a:off x="11526253" y="5344152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3514044-C5D0-0B15-C3C4-547466D6F36B}"/>
                </a:ext>
              </a:extLst>
            </p:cNvPr>
            <p:cNvSpPr/>
            <p:nvPr/>
          </p:nvSpPr>
          <p:spPr>
            <a:xfrm>
              <a:off x="11669185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A8D6D9B-EC02-5A2E-1A17-6D2D5B485CA9}"/>
                </a:ext>
              </a:extLst>
            </p:cNvPr>
            <p:cNvSpPr/>
            <p:nvPr/>
          </p:nvSpPr>
          <p:spPr>
            <a:xfrm>
              <a:off x="11397256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E982023-72DF-96FA-BE0B-1EB93B56C72C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1478193" y="5089701"/>
              <a:ext cx="90111" cy="254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B695BDD-CD4C-9B7E-6576-4CB553E1DD55}"/>
              </a:ext>
            </a:extLst>
          </p:cNvPr>
          <p:cNvGrpSpPr/>
          <p:nvPr/>
        </p:nvGrpSpPr>
        <p:grpSpPr>
          <a:xfrm>
            <a:off x="6560222" y="5054749"/>
            <a:ext cx="305969" cy="288581"/>
            <a:chOff x="11397256" y="5089701"/>
            <a:chExt cx="356030" cy="33218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974EDDD-0E44-4502-E812-955F8CE4161A}"/>
                </a:ext>
              </a:extLst>
            </p:cNvPr>
            <p:cNvSpPr/>
            <p:nvPr/>
          </p:nvSpPr>
          <p:spPr>
            <a:xfrm>
              <a:off x="11526253" y="5344152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5AFCCEB-4E57-E467-61DC-69F3CC311BA7}"/>
                </a:ext>
              </a:extLst>
            </p:cNvPr>
            <p:cNvSpPr/>
            <p:nvPr/>
          </p:nvSpPr>
          <p:spPr>
            <a:xfrm>
              <a:off x="11669185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D61DDA8-795C-99F0-81B1-1E15004652C2}"/>
                </a:ext>
              </a:extLst>
            </p:cNvPr>
            <p:cNvSpPr/>
            <p:nvPr/>
          </p:nvSpPr>
          <p:spPr>
            <a:xfrm>
              <a:off x="11397256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22E2C49-71AA-9944-5BD6-D6D26C814935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11478193" y="5089701"/>
              <a:ext cx="90111" cy="254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57D3C85-1957-ABBD-1C4F-B1E3B2435C70}"/>
              </a:ext>
            </a:extLst>
          </p:cNvPr>
          <p:cNvGrpSpPr/>
          <p:nvPr/>
        </p:nvGrpSpPr>
        <p:grpSpPr>
          <a:xfrm>
            <a:off x="6994268" y="5054749"/>
            <a:ext cx="305969" cy="288581"/>
            <a:chOff x="11397256" y="5089701"/>
            <a:chExt cx="356030" cy="332182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3982F34-DD34-1AA9-6698-AA0CEEA637AD}"/>
                </a:ext>
              </a:extLst>
            </p:cNvPr>
            <p:cNvSpPr/>
            <p:nvPr/>
          </p:nvSpPr>
          <p:spPr>
            <a:xfrm>
              <a:off x="11526253" y="5344152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45921C0-0691-2904-850F-F923776E847B}"/>
                </a:ext>
              </a:extLst>
            </p:cNvPr>
            <p:cNvSpPr/>
            <p:nvPr/>
          </p:nvSpPr>
          <p:spPr>
            <a:xfrm>
              <a:off x="11669185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674593F-2706-A25F-5298-DCC8F100542B}"/>
                </a:ext>
              </a:extLst>
            </p:cNvPr>
            <p:cNvSpPr/>
            <p:nvPr/>
          </p:nvSpPr>
          <p:spPr>
            <a:xfrm>
              <a:off x="11397256" y="5104714"/>
              <a:ext cx="84101" cy="77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B311A802-57D3-B0D3-1635-DECBEA3AB849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11478193" y="5089701"/>
              <a:ext cx="90111" cy="254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12A087F-83CB-48F4-5D2B-A56BB43A2797}"/>
              </a:ext>
            </a:extLst>
          </p:cNvPr>
          <p:cNvSpPr txBox="1"/>
          <p:nvPr/>
        </p:nvSpPr>
        <p:spPr>
          <a:xfrm>
            <a:off x="3504179" y="2811390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ⓓ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35F78C-7FFD-1B1C-450E-27B8EFEDD589}"/>
              </a:ext>
            </a:extLst>
          </p:cNvPr>
          <p:cNvSpPr txBox="1"/>
          <p:nvPr/>
        </p:nvSpPr>
        <p:spPr>
          <a:xfrm>
            <a:off x="7097423" y="616982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ⓐ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22DFB1-721D-7D03-12B6-26FEDA4620D3}"/>
              </a:ext>
            </a:extLst>
          </p:cNvPr>
          <p:cNvSpPr txBox="1"/>
          <p:nvPr/>
        </p:nvSpPr>
        <p:spPr>
          <a:xfrm>
            <a:off x="8604965" y="2449782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ⓑ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4ECAEB9-8F66-B53E-91C1-307197CD8795}"/>
              </a:ext>
            </a:extLst>
          </p:cNvPr>
          <p:cNvSpPr/>
          <p:nvPr/>
        </p:nvSpPr>
        <p:spPr>
          <a:xfrm>
            <a:off x="10289776" y="5704711"/>
            <a:ext cx="1366119" cy="6978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Control Switch &amp; LED Indication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4675706-A6F0-DB0F-BF2B-20653B89C377}"/>
              </a:ext>
            </a:extLst>
          </p:cNvPr>
          <p:cNvGrpSpPr/>
          <p:nvPr/>
        </p:nvGrpSpPr>
        <p:grpSpPr>
          <a:xfrm>
            <a:off x="7094248" y="2665851"/>
            <a:ext cx="1186001" cy="1072844"/>
            <a:chOff x="10240315" y="3909548"/>
            <a:chExt cx="1186001" cy="1072844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60A6956F-737F-F8D1-FE2B-CA9AB2851BA0}"/>
                </a:ext>
              </a:extLst>
            </p:cNvPr>
            <p:cNvSpPr/>
            <p:nvPr/>
          </p:nvSpPr>
          <p:spPr>
            <a:xfrm>
              <a:off x="10240315" y="3909548"/>
              <a:ext cx="1186001" cy="10728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DATA&amp;SV</a:t>
              </a: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MUX</a:t>
              </a: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01CCEB2-8F67-D471-760A-C5E56E01E778}"/>
                </a:ext>
              </a:extLst>
            </p:cNvPr>
            <p:cNvGrpSpPr/>
            <p:nvPr/>
          </p:nvGrpSpPr>
          <p:grpSpPr>
            <a:xfrm>
              <a:off x="10565606" y="4287212"/>
              <a:ext cx="559801" cy="616316"/>
              <a:chOff x="12177766" y="4687767"/>
              <a:chExt cx="559801" cy="616316"/>
            </a:xfrm>
          </p:grpSpPr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65E6D478-E365-E13A-B11E-BFEFDB37929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376136" y="4645190"/>
                <a:ext cx="38098" cy="1232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5AC07C26-72D8-AC9F-59F4-67D991DBCC9F}"/>
                  </a:ext>
                </a:extLst>
              </p:cNvPr>
              <p:cNvGrpSpPr/>
              <p:nvPr/>
            </p:nvGrpSpPr>
            <p:grpSpPr>
              <a:xfrm>
                <a:off x="12304300" y="4725779"/>
                <a:ext cx="37652" cy="575904"/>
                <a:chOff x="17138646" y="2642024"/>
                <a:chExt cx="37652" cy="575904"/>
              </a:xfrm>
            </p:grpSpPr>
            <p:sp>
              <p:nvSpPr>
                <p:cNvPr id="1025" name="타원 1024">
                  <a:extLst>
                    <a:ext uri="{FF2B5EF4-FFF2-40B4-BE49-F238E27FC236}">
                      <a16:creationId xmlns:a16="http://schemas.microsoft.com/office/drawing/2014/main" id="{F488E840-7577-47E9-42ED-6886638EECC4}"/>
                    </a:ext>
                  </a:extLst>
                </p:cNvPr>
                <p:cNvSpPr/>
                <p:nvPr/>
              </p:nvSpPr>
              <p:spPr>
                <a:xfrm rot="16200000">
                  <a:off x="17139693" y="3181324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7" name="타원 1026">
                  <a:extLst>
                    <a:ext uri="{FF2B5EF4-FFF2-40B4-BE49-F238E27FC236}">
                      <a16:creationId xmlns:a16="http://schemas.microsoft.com/office/drawing/2014/main" id="{0B219C78-F190-46A1-363E-5569CF1CEB6B}"/>
                    </a:ext>
                  </a:extLst>
                </p:cNvPr>
                <p:cNvSpPr/>
                <p:nvPr/>
              </p:nvSpPr>
              <p:spPr>
                <a:xfrm rot="16200000">
                  <a:off x="17139693" y="28599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8" name="타원 1027">
                  <a:extLst>
                    <a:ext uri="{FF2B5EF4-FFF2-40B4-BE49-F238E27FC236}">
                      <a16:creationId xmlns:a16="http://schemas.microsoft.com/office/drawing/2014/main" id="{0FDB88F6-E8D4-1ACF-8F07-803691713209}"/>
                    </a:ext>
                  </a:extLst>
                </p:cNvPr>
                <p:cNvSpPr/>
                <p:nvPr/>
              </p:nvSpPr>
              <p:spPr>
                <a:xfrm rot="16200000">
                  <a:off x="17139693" y="26409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9" name="타원 1028">
                  <a:extLst>
                    <a:ext uri="{FF2B5EF4-FFF2-40B4-BE49-F238E27FC236}">
                      <a16:creationId xmlns:a16="http://schemas.microsoft.com/office/drawing/2014/main" id="{DF2B5259-EA6E-2B5F-56C9-436C454F3063}"/>
                    </a:ext>
                  </a:extLst>
                </p:cNvPr>
                <p:cNvSpPr/>
                <p:nvPr/>
              </p:nvSpPr>
              <p:spPr>
                <a:xfrm rot="16200000">
                  <a:off x="17139693" y="27504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60E3E727-B430-1F63-6D24-9FB765B22A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385709" y="4755835"/>
                <a:ext cx="38098" cy="1232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9A1AF364-8615-F0D7-9CD5-63C13C442BC1}"/>
                  </a:ext>
                </a:extLst>
              </p:cNvPr>
              <p:cNvCxnSpPr/>
              <p:nvPr/>
            </p:nvCxnSpPr>
            <p:spPr>
              <a:xfrm>
                <a:off x="12409137" y="5049036"/>
                <a:ext cx="0" cy="9949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6DA01AD0-E359-38D5-B129-9C5106DEB85D}"/>
                  </a:ext>
                </a:extLst>
              </p:cNvPr>
              <p:cNvGrpSpPr/>
              <p:nvPr/>
            </p:nvGrpSpPr>
            <p:grpSpPr>
              <a:xfrm>
                <a:off x="12434794" y="4728179"/>
                <a:ext cx="37652" cy="575904"/>
                <a:chOff x="17138646" y="2642024"/>
                <a:chExt cx="37652" cy="575904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78124E80-743C-3585-B750-D93D9D6665F4}"/>
                    </a:ext>
                  </a:extLst>
                </p:cNvPr>
                <p:cNvSpPr/>
                <p:nvPr/>
              </p:nvSpPr>
              <p:spPr>
                <a:xfrm rot="16200000">
                  <a:off x="17139693" y="3181324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8DD70229-8905-C8B6-B234-6AF8D75BD1B0}"/>
                    </a:ext>
                  </a:extLst>
                </p:cNvPr>
                <p:cNvSpPr/>
                <p:nvPr/>
              </p:nvSpPr>
              <p:spPr>
                <a:xfrm rot="16200000">
                  <a:off x="17139693" y="28599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7" name="타원 126">
                  <a:extLst>
                    <a:ext uri="{FF2B5EF4-FFF2-40B4-BE49-F238E27FC236}">
                      <a16:creationId xmlns:a16="http://schemas.microsoft.com/office/drawing/2014/main" id="{790DA5B2-A6BF-0EF8-253E-D1D8888034BA}"/>
                    </a:ext>
                  </a:extLst>
                </p:cNvPr>
                <p:cNvSpPr/>
                <p:nvPr/>
              </p:nvSpPr>
              <p:spPr>
                <a:xfrm rot="16200000">
                  <a:off x="17139693" y="26409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4" name="타원 1023">
                  <a:extLst>
                    <a:ext uri="{FF2B5EF4-FFF2-40B4-BE49-F238E27FC236}">
                      <a16:creationId xmlns:a16="http://schemas.microsoft.com/office/drawing/2014/main" id="{C94BB39F-67A9-6509-E902-0F3995C13A5F}"/>
                    </a:ext>
                  </a:extLst>
                </p:cNvPr>
                <p:cNvSpPr/>
                <p:nvPr/>
              </p:nvSpPr>
              <p:spPr>
                <a:xfrm rot="16200000">
                  <a:off x="17139693" y="2750477"/>
                  <a:ext cx="35557" cy="3765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0413ED33-9566-358D-8313-363AA12576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385709" y="4858438"/>
                <a:ext cx="38098" cy="1232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64FC76B1-71FC-5A8F-0DFD-4942D312DEB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2387718" y="5191103"/>
                <a:ext cx="38098" cy="1232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5ADEE47C-B11A-B9E7-C75C-256F80421D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66064" y="4740863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EC7EA44-81FC-94F4-E459-7123CAFBF9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71888" y="4851287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17FAEB66-11E7-D858-006A-1738785E73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68976" y="4957029"/>
                <a:ext cx="13409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FC93D8AB-D505-3959-A732-8622910997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68976" y="5283184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A0680DD6-7BD7-0E68-6447-E74E78D3C4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00601" y="4738676"/>
                <a:ext cx="0" cy="5503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381AD668-8730-DECA-F468-35B24C17A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77766" y="4743594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015E86BA-C1F4-9968-088D-8AEC47A07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83590" y="4854018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58759C26-D925-CA33-41E5-D695BDC2A0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80678" y="4959760"/>
                <a:ext cx="13409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C8D3DAB7-EC1C-F6BB-8046-3F7C6FA16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80678" y="5285915"/>
                <a:ext cx="1340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DBFF24E9-54B7-D533-F9FC-100FD44ABC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03476" y="4994705"/>
                <a:ext cx="134091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107D36-7587-16F7-FA29-2F23A73BBA8E}"/>
              </a:ext>
            </a:extLst>
          </p:cNvPr>
          <p:cNvSpPr/>
          <p:nvPr/>
        </p:nvSpPr>
        <p:spPr>
          <a:xfrm>
            <a:off x="7110795" y="3868250"/>
            <a:ext cx="1452897" cy="3249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LED_ON/OFF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754AA-3A4D-B8C4-6D0D-1AD23C89E795}"/>
              </a:ext>
            </a:extLst>
          </p:cNvPr>
          <p:cNvSpPr txBox="1"/>
          <p:nvPr/>
        </p:nvSpPr>
        <p:spPr>
          <a:xfrm>
            <a:off x="7056055" y="2671507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ⓔ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241D54-E098-C22E-8ADF-423DB68C98B8}"/>
              </a:ext>
            </a:extLst>
          </p:cNvPr>
          <p:cNvSpPr txBox="1"/>
          <p:nvPr/>
        </p:nvSpPr>
        <p:spPr>
          <a:xfrm>
            <a:off x="6999156" y="3820813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ⓔ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064550-0FEB-A107-7930-057DE77E8494}"/>
              </a:ext>
            </a:extLst>
          </p:cNvPr>
          <p:cNvSpPr txBox="1"/>
          <p:nvPr/>
        </p:nvSpPr>
        <p:spPr>
          <a:xfrm>
            <a:off x="5894022" y="3712466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Gate 1,2,3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5183B0-E987-162F-8C5D-4358E9AC3394}"/>
              </a:ext>
            </a:extLst>
          </p:cNvPr>
          <p:cNvSpPr txBox="1"/>
          <p:nvPr/>
        </p:nvSpPr>
        <p:spPr>
          <a:xfrm rot="5400000">
            <a:off x="6655584" y="1938685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Gate 1,2,3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D7CD8D-4268-FDFF-8149-B72DAE52211B}"/>
              </a:ext>
            </a:extLst>
          </p:cNvPr>
          <p:cNvSpPr txBox="1"/>
          <p:nvPr/>
        </p:nvSpPr>
        <p:spPr>
          <a:xfrm>
            <a:off x="7699305" y="4516580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ⓕ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0891A9B-F5DC-D41F-0D08-E52D30AA9A50}"/>
              </a:ext>
            </a:extLst>
          </p:cNvPr>
          <p:cNvCxnSpPr>
            <a:cxnSpLocks/>
          </p:cNvCxnSpPr>
          <p:nvPr/>
        </p:nvCxnSpPr>
        <p:spPr>
          <a:xfrm>
            <a:off x="1717496" y="3915334"/>
            <a:ext cx="2318797" cy="1241741"/>
          </a:xfrm>
          <a:prstGeom prst="straightConnector1">
            <a:avLst/>
          </a:prstGeom>
          <a:ln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1DF1E50-1CF6-6AB9-F932-BBCF6D7B30D1}"/>
              </a:ext>
            </a:extLst>
          </p:cNvPr>
          <p:cNvCxnSpPr>
            <a:cxnSpLocks/>
          </p:cNvCxnSpPr>
          <p:nvPr/>
        </p:nvCxnSpPr>
        <p:spPr>
          <a:xfrm flipV="1">
            <a:off x="1528964" y="2968748"/>
            <a:ext cx="5845813" cy="2142835"/>
          </a:xfrm>
          <a:prstGeom prst="straightConnector1">
            <a:avLst/>
          </a:prstGeom>
          <a:ln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77A7B69-6C83-273B-B58D-F25758E7B007}"/>
              </a:ext>
            </a:extLst>
          </p:cNvPr>
          <p:cNvCxnSpPr>
            <a:cxnSpLocks/>
          </p:cNvCxnSpPr>
          <p:nvPr/>
        </p:nvCxnSpPr>
        <p:spPr>
          <a:xfrm flipV="1">
            <a:off x="1419066" y="4087821"/>
            <a:ext cx="6159060" cy="471984"/>
          </a:xfrm>
          <a:prstGeom prst="straightConnector1">
            <a:avLst/>
          </a:prstGeom>
          <a:ln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9A60B0B-AB76-86ED-758A-26F78FC4381B}"/>
              </a:ext>
            </a:extLst>
          </p:cNvPr>
          <p:cNvCxnSpPr>
            <a:cxnSpLocks/>
          </p:cNvCxnSpPr>
          <p:nvPr/>
        </p:nvCxnSpPr>
        <p:spPr>
          <a:xfrm>
            <a:off x="1409819" y="4559805"/>
            <a:ext cx="4751234" cy="282843"/>
          </a:xfrm>
          <a:prstGeom prst="straightConnector1">
            <a:avLst/>
          </a:prstGeom>
          <a:ln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20FDD81-2AF7-50F3-65B9-E2ED1F18FB67}"/>
              </a:ext>
            </a:extLst>
          </p:cNvPr>
          <p:cNvSpPr/>
          <p:nvPr/>
        </p:nvSpPr>
        <p:spPr>
          <a:xfrm>
            <a:off x="7110795" y="622899"/>
            <a:ext cx="1115356" cy="1047439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XC24R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주문제작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Socket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042A39C-2D4A-2C28-7DFB-23FAFD8E7C0A}"/>
              </a:ext>
            </a:extLst>
          </p:cNvPr>
          <p:cNvSpPr/>
          <p:nvPr/>
        </p:nvSpPr>
        <p:spPr>
          <a:xfrm>
            <a:off x="8720835" y="2691712"/>
            <a:ext cx="723207" cy="816393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주문제작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5A1C2C-9621-2EEC-8DA2-2B6B21757EF3}"/>
              </a:ext>
            </a:extLst>
          </p:cNvPr>
          <p:cNvSpPr/>
          <p:nvPr/>
        </p:nvSpPr>
        <p:spPr>
          <a:xfrm>
            <a:off x="10046979" y="2700793"/>
            <a:ext cx="616057" cy="81639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#2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상용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FA2D931-7DCD-CA24-8560-8485F0F8A00F}"/>
              </a:ext>
            </a:extLst>
          </p:cNvPr>
          <p:cNvSpPr/>
          <p:nvPr/>
        </p:nvSpPr>
        <p:spPr>
          <a:xfrm>
            <a:off x="11008126" y="2700794"/>
            <a:ext cx="612822" cy="8073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#3</a:t>
            </a: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상용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8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EB4F-9663-315A-E25F-A3AC9045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E311101-157D-1678-9C32-C0B60E3FAF53}"/>
              </a:ext>
            </a:extLst>
          </p:cNvPr>
          <p:cNvCxnSpPr>
            <a:cxnSpLocks/>
          </p:cNvCxnSpPr>
          <p:nvPr/>
        </p:nvCxnSpPr>
        <p:spPr>
          <a:xfrm flipV="1">
            <a:off x="8751895" y="1793677"/>
            <a:ext cx="655596" cy="1720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5B8AAC8-D118-C1C3-E79B-5DFFD5F62958}"/>
              </a:ext>
            </a:extLst>
          </p:cNvPr>
          <p:cNvCxnSpPr>
            <a:cxnSpLocks/>
          </p:cNvCxnSpPr>
          <p:nvPr/>
        </p:nvCxnSpPr>
        <p:spPr>
          <a:xfrm>
            <a:off x="5882190" y="3720302"/>
            <a:ext cx="2909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CA919034-8E2E-6540-CF30-09C8C2B81D67}"/>
              </a:ext>
            </a:extLst>
          </p:cNvPr>
          <p:cNvCxnSpPr>
            <a:cxnSpLocks/>
          </p:cNvCxnSpPr>
          <p:nvPr/>
        </p:nvCxnSpPr>
        <p:spPr>
          <a:xfrm>
            <a:off x="5871995" y="3972197"/>
            <a:ext cx="2909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22EB3A-B271-1144-EA58-022A2ACEB4D3}"/>
              </a:ext>
            </a:extLst>
          </p:cNvPr>
          <p:cNvCxnSpPr>
            <a:cxnSpLocks/>
          </p:cNvCxnSpPr>
          <p:nvPr/>
        </p:nvCxnSpPr>
        <p:spPr>
          <a:xfrm>
            <a:off x="8562153" y="768818"/>
            <a:ext cx="90445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4BEA6469-90CE-6281-4E37-331C68E3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Hardware</a:t>
            </a:r>
            <a:r>
              <a:rPr lang="ko-KR" altLang="en-US" dirty="0"/>
              <a:t> 구성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변경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1BCC1-CCA8-72AB-EBD8-0F3595484906}"/>
              </a:ext>
            </a:extLst>
          </p:cNvPr>
          <p:cNvSpPr txBox="1"/>
          <p:nvPr/>
        </p:nvSpPr>
        <p:spPr>
          <a:xfrm>
            <a:off x="1288498" y="428995"/>
            <a:ext cx="995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PC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096128-D012-0625-D20D-350BCDCA0CCC}"/>
              </a:ext>
            </a:extLst>
          </p:cNvPr>
          <p:cNvSpPr/>
          <p:nvPr/>
        </p:nvSpPr>
        <p:spPr>
          <a:xfrm>
            <a:off x="1100592" y="816307"/>
            <a:ext cx="1371600" cy="10270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567F9D06-0041-D212-C79F-0C1269BBE282}"/>
              </a:ext>
            </a:extLst>
          </p:cNvPr>
          <p:cNvSpPr/>
          <p:nvPr/>
        </p:nvSpPr>
        <p:spPr>
          <a:xfrm>
            <a:off x="2472192" y="1171121"/>
            <a:ext cx="947784" cy="417047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RS232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DBE38-3321-C983-0CF4-C6D67D57C676}"/>
              </a:ext>
            </a:extLst>
          </p:cNvPr>
          <p:cNvSpPr txBox="1"/>
          <p:nvPr/>
        </p:nvSpPr>
        <p:spPr>
          <a:xfrm>
            <a:off x="24367" y="4576019"/>
            <a:ext cx="245997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IC </a:t>
            </a:r>
            <a:r>
              <a:rPr lang="ko-KR" altLang="en-US" sz="1100" b="1" dirty="0">
                <a:latin typeface="+mn-ea"/>
              </a:rPr>
              <a:t>부품</a:t>
            </a:r>
            <a:endParaRPr lang="en-US" altLang="ko-KR" sz="11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DAC : 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latin typeface="+mn-ea"/>
              </a:rPr>
              <a:t>AD7392 Analog Device, 12bits 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AD5340 Analog Device 12bits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DAC8541, TI, 16bits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F6AF7B6-D64E-390A-8183-27167AF6012D}"/>
              </a:ext>
            </a:extLst>
          </p:cNvPr>
          <p:cNvSpPr/>
          <p:nvPr/>
        </p:nvSpPr>
        <p:spPr>
          <a:xfrm>
            <a:off x="8365817" y="5704711"/>
            <a:ext cx="1681162" cy="6978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Power Module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DC/DC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Input : 12V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Output : 5V, 3.3V, 1.8V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284C46-098B-2643-9039-0CB155E7DC19}"/>
              </a:ext>
            </a:extLst>
          </p:cNvPr>
          <p:cNvSpPr/>
          <p:nvPr/>
        </p:nvSpPr>
        <p:spPr>
          <a:xfrm>
            <a:off x="3446742" y="379634"/>
            <a:ext cx="2742467" cy="17052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ⓒ</a:t>
            </a:r>
            <a:endParaRPr lang="en-US" altLang="ko-KR" sz="1200" dirty="0">
              <a:solidFill>
                <a:srgbClr val="0000FF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MCU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board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(STM32F446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NUCLEO)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ko-KR" altLang="en-US" sz="1100" dirty="0">
                <a:solidFill>
                  <a:schemeClr val="tx1"/>
                </a:solidFill>
              </a:rPr>
              <a:t>전원</a:t>
            </a:r>
            <a:r>
              <a:rPr lang="en-US" altLang="ko-KR" sz="1100" dirty="0">
                <a:solidFill>
                  <a:schemeClr val="tx1"/>
                </a:solidFill>
              </a:rPr>
              <a:t>: 5V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(3.3V</a:t>
            </a:r>
            <a:r>
              <a:rPr lang="ko-KR" altLang="en-US" sz="1100" dirty="0">
                <a:solidFill>
                  <a:schemeClr val="tx1"/>
                </a:solidFill>
              </a:rPr>
              <a:t>내부연결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1026" name="Picture 2" descr="NUCLEO-F446RE | Product - STMicroelectronics">
            <a:extLst>
              <a:ext uri="{FF2B5EF4-FFF2-40B4-BE49-F238E27FC236}">
                <a16:creationId xmlns:a16="http://schemas.microsoft.com/office/drawing/2014/main" id="{DE7A430F-9A5E-6BA6-A403-9C8AC3A7D6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7" r="24520"/>
          <a:stretch>
            <a:fillRect/>
          </a:stretch>
        </p:blipFill>
        <p:spPr bwMode="auto">
          <a:xfrm rot="5400000">
            <a:off x="4542037" y="628555"/>
            <a:ext cx="751152" cy="96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B393E11A-95B2-0D94-BC7C-245508C23856}"/>
              </a:ext>
            </a:extLst>
          </p:cNvPr>
          <p:cNvSpPr/>
          <p:nvPr/>
        </p:nvSpPr>
        <p:spPr>
          <a:xfrm>
            <a:off x="3504180" y="2802866"/>
            <a:ext cx="2595575" cy="16939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FPGA Board ALINX AC7A200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(ARTIX XC7A200T), </a:t>
            </a:r>
            <a:r>
              <a:rPr lang="ko-KR" altLang="en-US" sz="1100" dirty="0">
                <a:solidFill>
                  <a:schemeClr val="tx1"/>
                </a:solidFill>
              </a:rPr>
              <a:t>전원 </a:t>
            </a:r>
            <a:r>
              <a:rPr lang="en-US" altLang="ko-KR" sz="1100" dirty="0">
                <a:solidFill>
                  <a:schemeClr val="tx1"/>
                </a:solidFill>
              </a:rPr>
              <a:t>: 5V</a:t>
            </a:r>
          </a:p>
        </p:txBody>
      </p:sp>
      <p:sp>
        <p:nvSpPr>
          <p:cNvPr id="69" name="화살표: 아래쪽 68">
            <a:extLst>
              <a:ext uri="{FF2B5EF4-FFF2-40B4-BE49-F238E27FC236}">
                <a16:creationId xmlns:a16="http://schemas.microsoft.com/office/drawing/2014/main" id="{3E063A0B-CBB3-5B07-448E-2CF099A26EF6}"/>
              </a:ext>
            </a:extLst>
          </p:cNvPr>
          <p:cNvSpPr/>
          <p:nvPr/>
        </p:nvSpPr>
        <p:spPr>
          <a:xfrm>
            <a:off x="3665592" y="2099895"/>
            <a:ext cx="2279090" cy="676011"/>
          </a:xfrm>
          <a:prstGeom prst="downArrow">
            <a:avLst>
              <a:gd name="adj1" fmla="val 69121"/>
              <a:gd name="adj2" fmla="val 288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SPI, </a:t>
            </a:r>
            <a:r>
              <a:rPr lang="en-US" altLang="ko-KR" sz="900" b="1" dirty="0" err="1">
                <a:solidFill>
                  <a:schemeClr val="tx1"/>
                </a:solidFill>
              </a:rPr>
              <a:t>nINT</a:t>
            </a:r>
            <a:r>
              <a:rPr lang="en-US" altLang="ko-KR" sz="900" b="1" dirty="0">
                <a:solidFill>
                  <a:schemeClr val="tx1"/>
                </a:solidFill>
              </a:rPr>
              <a:t> x 4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MCLK, VSYNC, FLLSYNC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UART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5E348A-2E3C-5A93-EDA5-9EC640E8A918}"/>
              </a:ext>
            </a:extLst>
          </p:cNvPr>
          <p:cNvSpPr txBox="1"/>
          <p:nvPr/>
        </p:nvSpPr>
        <p:spPr>
          <a:xfrm>
            <a:off x="10174311" y="385157"/>
            <a:ext cx="1923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Control Jig Board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4794F8B3-5725-E796-C393-D4BEBCD5A10B}"/>
              </a:ext>
            </a:extLst>
          </p:cNvPr>
          <p:cNvSpPr/>
          <p:nvPr/>
        </p:nvSpPr>
        <p:spPr>
          <a:xfrm>
            <a:off x="6229249" y="334502"/>
            <a:ext cx="1079400" cy="1151894"/>
          </a:xfrm>
          <a:prstGeom prst="rightArrow">
            <a:avLst>
              <a:gd name="adj1" fmla="val 74144"/>
              <a:gd name="adj2" fmla="val 31909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Serial Out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Serial In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SVSYNC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3A8DA6-4268-F3D9-A950-01CE79BC4984}"/>
              </a:ext>
            </a:extLst>
          </p:cNvPr>
          <p:cNvSpPr/>
          <p:nvPr/>
        </p:nvSpPr>
        <p:spPr>
          <a:xfrm>
            <a:off x="8779924" y="2391141"/>
            <a:ext cx="2788774" cy="8427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LED display (R,G,B chip) 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Module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36 channels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2B385DB-F704-8629-8D2B-87F1FCED4548}"/>
              </a:ext>
            </a:extLst>
          </p:cNvPr>
          <p:cNvSpPr/>
          <p:nvPr/>
        </p:nvSpPr>
        <p:spPr>
          <a:xfrm rot="16200000">
            <a:off x="8956671" y="3307167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D1C876C-150A-3345-883C-D3488079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865798" y="2695187"/>
            <a:ext cx="362625" cy="332820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340F8703-3C5B-EF75-52A0-783442DF1228}"/>
              </a:ext>
            </a:extLst>
          </p:cNvPr>
          <p:cNvGrpSpPr/>
          <p:nvPr/>
        </p:nvGrpSpPr>
        <p:grpSpPr>
          <a:xfrm>
            <a:off x="3485458" y="4452757"/>
            <a:ext cx="2020147" cy="351198"/>
            <a:chOff x="2503883" y="4439245"/>
            <a:chExt cx="2133065" cy="459029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931CCAD-6FEE-91C4-DF39-FD8EF390ADA8}"/>
                </a:ext>
              </a:extLst>
            </p:cNvPr>
            <p:cNvGrpSpPr/>
            <p:nvPr/>
          </p:nvGrpSpPr>
          <p:grpSpPr>
            <a:xfrm>
              <a:off x="3085508" y="4496785"/>
              <a:ext cx="155608" cy="401485"/>
              <a:chOff x="2714983" y="4981074"/>
              <a:chExt cx="155608" cy="401485"/>
            </a:xfrm>
          </p:grpSpPr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CDE1020-9740-7C49-9BBE-7ABEF2160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40148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6732F205-BD85-BE1E-4C21-AD3176FE6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983" y="5052739"/>
                <a:ext cx="155608" cy="217006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787577-676B-F1A2-9AC2-2F5D41D73EA3}"/>
                </a:ext>
              </a:extLst>
            </p:cNvPr>
            <p:cNvSpPr txBox="1"/>
            <p:nvPr/>
          </p:nvSpPr>
          <p:spPr>
            <a:xfrm>
              <a:off x="2503883" y="4439245"/>
              <a:ext cx="638822" cy="400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12bits </a:t>
              </a:r>
            </a:p>
            <a:p>
              <a:pPr algn="ctr"/>
              <a:r>
                <a:rPr lang="en-US" altLang="ko-KR" sz="1000" dirty="0"/>
                <a:t>Parallel 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38B710BA-E158-67D2-12B0-48A553B5F1F8}"/>
                </a:ext>
              </a:extLst>
            </p:cNvPr>
            <p:cNvGrpSpPr/>
            <p:nvPr/>
          </p:nvGrpSpPr>
          <p:grpSpPr>
            <a:xfrm>
              <a:off x="3798713" y="4502606"/>
              <a:ext cx="132284" cy="395663"/>
              <a:chOff x="2740336" y="4981074"/>
              <a:chExt cx="132284" cy="395663"/>
            </a:xfrm>
          </p:grpSpPr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3F2D2FA1-C476-BD46-3D8C-0B0C7C342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39566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E18565FC-E1C9-5BF1-8B4A-351E268A1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0336" y="5065322"/>
                <a:ext cx="132284" cy="19962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0587ABA-938A-363F-D177-3F395BD7EC7A}"/>
                </a:ext>
              </a:extLst>
            </p:cNvPr>
            <p:cNvGrpSpPr/>
            <p:nvPr/>
          </p:nvGrpSpPr>
          <p:grpSpPr>
            <a:xfrm>
              <a:off x="4481340" y="4502606"/>
              <a:ext cx="155608" cy="395668"/>
              <a:chOff x="2727498" y="4981074"/>
              <a:chExt cx="155608" cy="395668"/>
            </a:xfrm>
          </p:grpSpPr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77118C41-E03F-D1D5-6023-AA49AACFC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1326" y="4981074"/>
                <a:ext cx="0" cy="39566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>
                <a:extLst>
                  <a:ext uri="{FF2B5EF4-FFF2-40B4-BE49-F238E27FC236}">
                    <a16:creationId xmlns:a16="http://schemas.microsoft.com/office/drawing/2014/main" id="{CFD35157-6DD0-D94D-5F67-E804AD7407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98" y="5061693"/>
                <a:ext cx="155608" cy="217006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8B84B18-BC90-003F-755D-6284597D47CD}"/>
              </a:ext>
            </a:extLst>
          </p:cNvPr>
          <p:cNvSpPr/>
          <p:nvPr/>
        </p:nvSpPr>
        <p:spPr>
          <a:xfrm>
            <a:off x="6189209" y="5808065"/>
            <a:ext cx="2033955" cy="6015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RGB LED Power DC/DC, Input : 12V,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VLED : 6V or 9V or 12V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75" name="그림 74" descr="전자제품, 텍스트, 전자 공학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2801A-A3B1-1E08-C817-DB23A75D4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293" y="3255000"/>
            <a:ext cx="1208858" cy="1206302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2FAE2B04-AEE9-0657-EAE2-B4D7348EC195}"/>
              </a:ext>
            </a:extLst>
          </p:cNvPr>
          <p:cNvSpPr txBox="1"/>
          <p:nvPr/>
        </p:nvSpPr>
        <p:spPr>
          <a:xfrm>
            <a:off x="5754626" y="4726974"/>
            <a:ext cx="1070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Feed back</a:t>
            </a:r>
          </a:p>
          <a:p>
            <a:pPr algn="ctr"/>
            <a:r>
              <a:rPr lang="en-US" altLang="ko-KR" sz="1000" dirty="0"/>
              <a:t> (FBO1, 2, 3)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1817B1D-1D2F-27B9-331B-A49B0BCF93B1}"/>
              </a:ext>
            </a:extLst>
          </p:cNvPr>
          <p:cNvCxnSpPr>
            <a:cxnSpLocks/>
          </p:cNvCxnSpPr>
          <p:nvPr/>
        </p:nvCxnSpPr>
        <p:spPr>
          <a:xfrm>
            <a:off x="9444043" y="4083783"/>
            <a:ext cx="602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597CAAE-4BF0-A4AA-E9C6-9850FD3A5CC2}"/>
              </a:ext>
            </a:extLst>
          </p:cNvPr>
          <p:cNvCxnSpPr>
            <a:cxnSpLocks/>
          </p:cNvCxnSpPr>
          <p:nvPr/>
        </p:nvCxnSpPr>
        <p:spPr>
          <a:xfrm>
            <a:off x="10665835" y="4076426"/>
            <a:ext cx="328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994B3A3-4664-E9AC-B7CD-9A385364DD71}"/>
              </a:ext>
            </a:extLst>
          </p:cNvPr>
          <p:cNvSpPr txBox="1"/>
          <p:nvPr/>
        </p:nvSpPr>
        <p:spPr>
          <a:xfrm>
            <a:off x="7064450" y="3725976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0B0BEA2-5A58-C65B-88C8-FBCF014C9346}"/>
              </a:ext>
            </a:extLst>
          </p:cNvPr>
          <p:cNvSpPr txBox="1"/>
          <p:nvPr/>
        </p:nvSpPr>
        <p:spPr>
          <a:xfrm>
            <a:off x="6825301" y="3468194"/>
            <a:ext cx="1043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E74D296D-08D6-A530-B9C6-0FE8D5831BED}"/>
              </a:ext>
            </a:extLst>
          </p:cNvPr>
          <p:cNvCxnSpPr>
            <a:cxnSpLocks/>
          </p:cNvCxnSpPr>
          <p:nvPr/>
        </p:nvCxnSpPr>
        <p:spPr>
          <a:xfrm>
            <a:off x="9444043" y="3800619"/>
            <a:ext cx="602936" cy="50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6CC786E-890F-CF53-8D1C-8570B047017B}"/>
              </a:ext>
            </a:extLst>
          </p:cNvPr>
          <p:cNvCxnSpPr>
            <a:cxnSpLocks/>
          </p:cNvCxnSpPr>
          <p:nvPr/>
        </p:nvCxnSpPr>
        <p:spPr>
          <a:xfrm>
            <a:off x="10663037" y="3757429"/>
            <a:ext cx="3288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B8F0BAD-07B7-AAEB-8ED0-F4B1B4E09DAA}"/>
              </a:ext>
            </a:extLst>
          </p:cNvPr>
          <p:cNvSpPr txBox="1"/>
          <p:nvPr/>
        </p:nvSpPr>
        <p:spPr>
          <a:xfrm>
            <a:off x="9534869" y="3597192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B4A798D-46D5-550E-8CC7-4C832AEF020A}"/>
              </a:ext>
            </a:extLst>
          </p:cNvPr>
          <p:cNvSpPr txBox="1"/>
          <p:nvPr/>
        </p:nvSpPr>
        <p:spPr>
          <a:xfrm>
            <a:off x="10565606" y="3530779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DIO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54EA29-7882-0392-FFC8-CE1BC45600F6}"/>
              </a:ext>
            </a:extLst>
          </p:cNvPr>
          <p:cNvSpPr txBox="1"/>
          <p:nvPr/>
        </p:nvSpPr>
        <p:spPr>
          <a:xfrm>
            <a:off x="9534868" y="3906301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024BF6-7F4E-5F67-7A80-6E2EC2F8AB1E}"/>
              </a:ext>
            </a:extLst>
          </p:cNvPr>
          <p:cNvSpPr txBox="1"/>
          <p:nvPr/>
        </p:nvSpPr>
        <p:spPr>
          <a:xfrm>
            <a:off x="10554030" y="3876368"/>
            <a:ext cx="5663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SV</a:t>
            </a:r>
          </a:p>
        </p:txBody>
      </p: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79962DA4-8AA1-8ABE-2CC0-57529A66B07F}"/>
              </a:ext>
            </a:extLst>
          </p:cNvPr>
          <p:cNvCxnSpPr>
            <a:cxnSpLocks/>
          </p:cNvCxnSpPr>
          <p:nvPr/>
        </p:nvCxnSpPr>
        <p:spPr>
          <a:xfrm>
            <a:off x="6699820" y="5157075"/>
            <a:ext cx="0" cy="6618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직사각형 1067">
            <a:extLst>
              <a:ext uri="{FF2B5EF4-FFF2-40B4-BE49-F238E27FC236}">
                <a16:creationId xmlns:a16="http://schemas.microsoft.com/office/drawing/2014/main" id="{2701056D-A736-7687-6CAE-8B9C64B800FB}"/>
              </a:ext>
            </a:extLst>
          </p:cNvPr>
          <p:cNvSpPr/>
          <p:nvPr/>
        </p:nvSpPr>
        <p:spPr>
          <a:xfrm>
            <a:off x="3926981" y="4801247"/>
            <a:ext cx="1658214" cy="10532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DAC x 3</a:t>
            </a:r>
          </a:p>
        </p:txBody>
      </p:sp>
      <p:sp>
        <p:nvSpPr>
          <p:cNvPr id="1069" name="직사각형 1068">
            <a:extLst>
              <a:ext uri="{FF2B5EF4-FFF2-40B4-BE49-F238E27FC236}">
                <a16:creationId xmlns:a16="http://schemas.microsoft.com/office/drawing/2014/main" id="{F02A43C0-0261-D291-49C3-0D70C7AE295E}"/>
              </a:ext>
            </a:extLst>
          </p:cNvPr>
          <p:cNvSpPr/>
          <p:nvPr/>
        </p:nvSpPr>
        <p:spPr>
          <a:xfrm>
            <a:off x="3952036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1" name="직사각형 1070">
            <a:extLst>
              <a:ext uri="{FF2B5EF4-FFF2-40B4-BE49-F238E27FC236}">
                <a16:creationId xmlns:a16="http://schemas.microsoft.com/office/drawing/2014/main" id="{DCF79051-968D-8C1D-23E5-744981A2B611}"/>
              </a:ext>
            </a:extLst>
          </p:cNvPr>
          <p:cNvSpPr/>
          <p:nvPr/>
        </p:nvSpPr>
        <p:spPr>
          <a:xfrm>
            <a:off x="4498118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2" name="직사각형 1071">
            <a:extLst>
              <a:ext uri="{FF2B5EF4-FFF2-40B4-BE49-F238E27FC236}">
                <a16:creationId xmlns:a16="http://schemas.microsoft.com/office/drawing/2014/main" id="{ADE1620E-1A4A-2C49-595D-1F90EAF0C355}"/>
              </a:ext>
            </a:extLst>
          </p:cNvPr>
          <p:cNvSpPr/>
          <p:nvPr/>
        </p:nvSpPr>
        <p:spPr>
          <a:xfrm>
            <a:off x="5049319" y="5097093"/>
            <a:ext cx="487062" cy="324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83" name="직선 화살표 연결선 1082">
            <a:extLst>
              <a:ext uri="{FF2B5EF4-FFF2-40B4-BE49-F238E27FC236}">
                <a16:creationId xmlns:a16="http://schemas.microsoft.com/office/drawing/2014/main" id="{9EA1E5C3-4C50-40E3-6F82-FFBFFC2E83EB}"/>
              </a:ext>
            </a:extLst>
          </p:cNvPr>
          <p:cNvCxnSpPr>
            <a:cxnSpLocks/>
          </p:cNvCxnSpPr>
          <p:nvPr/>
        </p:nvCxnSpPr>
        <p:spPr>
          <a:xfrm>
            <a:off x="5401407" y="5157075"/>
            <a:ext cx="1298413" cy="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D7915352-B5F8-B258-8233-93EE0E384B9C}"/>
              </a:ext>
            </a:extLst>
          </p:cNvPr>
          <p:cNvCxnSpPr>
            <a:cxnSpLocks/>
          </p:cNvCxnSpPr>
          <p:nvPr/>
        </p:nvCxnSpPr>
        <p:spPr>
          <a:xfrm>
            <a:off x="6115367" y="5104680"/>
            <a:ext cx="83932" cy="11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화살표: 오른쪽 1095">
            <a:extLst>
              <a:ext uri="{FF2B5EF4-FFF2-40B4-BE49-F238E27FC236}">
                <a16:creationId xmlns:a16="http://schemas.microsoft.com/office/drawing/2014/main" id="{D95F8B8D-43F6-818D-1892-286C0AC74DB0}"/>
              </a:ext>
            </a:extLst>
          </p:cNvPr>
          <p:cNvSpPr/>
          <p:nvPr/>
        </p:nvSpPr>
        <p:spPr>
          <a:xfrm rot="16200000">
            <a:off x="10157167" y="3345915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7" name="화살표: 오른쪽 1096">
            <a:extLst>
              <a:ext uri="{FF2B5EF4-FFF2-40B4-BE49-F238E27FC236}">
                <a16:creationId xmlns:a16="http://schemas.microsoft.com/office/drawing/2014/main" id="{7F2FCF5F-37A7-9263-B0F2-FCA48C739937}"/>
              </a:ext>
            </a:extLst>
          </p:cNvPr>
          <p:cNvSpPr/>
          <p:nvPr/>
        </p:nvSpPr>
        <p:spPr>
          <a:xfrm rot="16200000">
            <a:off x="11174680" y="3345915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43" name="그룹 1142">
            <a:extLst>
              <a:ext uri="{FF2B5EF4-FFF2-40B4-BE49-F238E27FC236}">
                <a16:creationId xmlns:a16="http://schemas.microsoft.com/office/drawing/2014/main" id="{EA667D86-7BDA-D225-40CA-A49DFA839594}"/>
              </a:ext>
            </a:extLst>
          </p:cNvPr>
          <p:cNvGrpSpPr/>
          <p:nvPr/>
        </p:nvGrpSpPr>
        <p:grpSpPr>
          <a:xfrm>
            <a:off x="7783838" y="5214225"/>
            <a:ext cx="312803" cy="593840"/>
            <a:chOff x="6802264" y="4998701"/>
            <a:chExt cx="312803" cy="571090"/>
          </a:xfrm>
        </p:grpSpPr>
        <p:cxnSp>
          <p:nvCxnSpPr>
            <p:cNvPr id="1099" name="직선 화살표 연결선 1098">
              <a:extLst>
                <a:ext uri="{FF2B5EF4-FFF2-40B4-BE49-F238E27FC236}">
                  <a16:creationId xmlns:a16="http://schemas.microsoft.com/office/drawing/2014/main" id="{36D7033C-CE77-D539-A91E-8054CBD49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2264" y="5005392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직선 화살표 연결선 1110">
              <a:extLst>
                <a:ext uri="{FF2B5EF4-FFF2-40B4-BE49-F238E27FC236}">
                  <a16:creationId xmlns:a16="http://schemas.microsoft.com/office/drawing/2014/main" id="{0495BE0D-A778-6155-BFE1-CE1EAA4AA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2667" y="4998701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직선 화살표 연결선 1113">
              <a:extLst>
                <a:ext uri="{FF2B5EF4-FFF2-40B4-BE49-F238E27FC236}">
                  <a16:creationId xmlns:a16="http://schemas.microsoft.com/office/drawing/2014/main" id="{6FD8785C-2520-4208-7359-EE8F47988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5067" y="5005392"/>
              <a:ext cx="0" cy="564399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5" name="TextBox 1114">
            <a:extLst>
              <a:ext uri="{FF2B5EF4-FFF2-40B4-BE49-F238E27FC236}">
                <a16:creationId xmlns:a16="http://schemas.microsoft.com/office/drawing/2014/main" id="{7903945F-3AB1-05BB-15B4-19CA4E531341}"/>
              </a:ext>
            </a:extLst>
          </p:cNvPr>
          <p:cNvSpPr txBox="1"/>
          <p:nvPr/>
        </p:nvSpPr>
        <p:spPr>
          <a:xfrm>
            <a:off x="7932541" y="5416281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VLED R,G,B</a:t>
            </a:r>
          </a:p>
        </p:txBody>
      </p:sp>
      <p:cxnSp>
        <p:nvCxnSpPr>
          <p:cNvPr id="1116" name="직선 화살표 연결선 1115">
            <a:extLst>
              <a:ext uri="{FF2B5EF4-FFF2-40B4-BE49-F238E27FC236}">
                <a16:creationId xmlns:a16="http://schemas.microsoft.com/office/drawing/2014/main" id="{21604475-F51A-6D06-8A34-D93AB5E067DC}"/>
              </a:ext>
            </a:extLst>
          </p:cNvPr>
          <p:cNvCxnSpPr>
            <a:cxnSpLocks/>
          </p:cNvCxnSpPr>
          <p:nvPr/>
        </p:nvCxnSpPr>
        <p:spPr>
          <a:xfrm>
            <a:off x="7812103" y="4267776"/>
            <a:ext cx="0" cy="22901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C8C11B4-59ED-3DD4-1109-5E734B0DD8DF}"/>
              </a:ext>
            </a:extLst>
          </p:cNvPr>
          <p:cNvGrpSpPr/>
          <p:nvPr/>
        </p:nvGrpSpPr>
        <p:grpSpPr>
          <a:xfrm>
            <a:off x="6105258" y="4206342"/>
            <a:ext cx="1721852" cy="138447"/>
            <a:chOff x="5490897" y="3643231"/>
            <a:chExt cx="991248" cy="138447"/>
          </a:xfrm>
        </p:grpSpPr>
        <p:cxnSp>
          <p:nvCxnSpPr>
            <p:cNvPr id="1120" name="직선 화살표 연결선 1119">
              <a:extLst>
                <a:ext uri="{FF2B5EF4-FFF2-40B4-BE49-F238E27FC236}">
                  <a16:creationId xmlns:a16="http://schemas.microsoft.com/office/drawing/2014/main" id="{84AB5D83-4D28-67AE-2096-0231E33E759C}"/>
                </a:ext>
              </a:extLst>
            </p:cNvPr>
            <p:cNvCxnSpPr>
              <a:cxnSpLocks/>
            </p:cNvCxnSpPr>
            <p:nvPr/>
          </p:nvCxnSpPr>
          <p:spPr>
            <a:xfrm>
              <a:off x="5490897" y="3704665"/>
              <a:ext cx="991248" cy="0"/>
            </a:xfrm>
            <a:prstGeom prst="straightConnector1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직선 연결선 1125">
              <a:extLst>
                <a:ext uri="{FF2B5EF4-FFF2-40B4-BE49-F238E27FC236}">
                  <a16:creationId xmlns:a16="http://schemas.microsoft.com/office/drawing/2014/main" id="{12878466-4BD6-86D9-024E-6A29B281320C}"/>
                </a:ext>
              </a:extLst>
            </p:cNvPr>
            <p:cNvCxnSpPr>
              <a:cxnSpLocks/>
            </p:cNvCxnSpPr>
            <p:nvPr/>
          </p:nvCxnSpPr>
          <p:spPr>
            <a:xfrm>
              <a:off x="6064001" y="3643231"/>
              <a:ext cx="110736" cy="138447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4" name="연결선: 꺾임 1133">
            <a:extLst>
              <a:ext uri="{FF2B5EF4-FFF2-40B4-BE49-F238E27FC236}">
                <a16:creationId xmlns:a16="http://schemas.microsoft.com/office/drawing/2014/main" id="{66ADC00C-BD89-672A-0D5B-ADBA8B1CBA9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01699" y="3424025"/>
            <a:ext cx="1522248" cy="1154979"/>
          </a:xfrm>
          <a:prstGeom prst="bentConnector3">
            <a:avLst>
              <a:gd name="adj1" fmla="val -3327"/>
            </a:avLst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6" name="TextBox 1135">
            <a:extLst>
              <a:ext uri="{FF2B5EF4-FFF2-40B4-BE49-F238E27FC236}">
                <a16:creationId xmlns:a16="http://schemas.microsoft.com/office/drawing/2014/main" id="{D399B4CC-CA92-72F5-0E1F-A51A2FD3D0CB}"/>
              </a:ext>
            </a:extLst>
          </p:cNvPr>
          <p:cNvSpPr txBox="1"/>
          <p:nvPr/>
        </p:nvSpPr>
        <p:spPr>
          <a:xfrm>
            <a:off x="9578345" y="4154765"/>
            <a:ext cx="8735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VLED</a:t>
            </a:r>
          </a:p>
        </p:txBody>
      </p:sp>
      <p:sp>
        <p:nvSpPr>
          <p:cNvPr id="1102" name="직사각형 1101">
            <a:extLst>
              <a:ext uri="{FF2B5EF4-FFF2-40B4-BE49-F238E27FC236}">
                <a16:creationId xmlns:a16="http://schemas.microsoft.com/office/drawing/2014/main" id="{3E97E50F-0D01-4210-49AB-73DCDFCAE4A2}"/>
              </a:ext>
            </a:extLst>
          </p:cNvPr>
          <p:cNvSpPr/>
          <p:nvPr/>
        </p:nvSpPr>
        <p:spPr>
          <a:xfrm>
            <a:off x="7278699" y="4519885"/>
            <a:ext cx="2091411" cy="7160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Power Switch Module(</a:t>
            </a:r>
            <a:r>
              <a:rPr lang="ko-KR" altLang="en-US" sz="1100" dirty="0">
                <a:solidFill>
                  <a:schemeClr val="tx1"/>
                </a:solidFill>
              </a:rPr>
              <a:t>시분할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- Gate Driver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&amp; FET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25B06159-9BAA-CFDC-53AD-68891A3997CB}"/>
              </a:ext>
            </a:extLst>
          </p:cNvPr>
          <p:cNvSpPr txBox="1"/>
          <p:nvPr/>
        </p:nvSpPr>
        <p:spPr>
          <a:xfrm>
            <a:off x="4209289" y="5421883"/>
            <a:ext cx="1070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Feed back</a:t>
            </a:r>
          </a:p>
          <a:p>
            <a:pPr algn="ctr"/>
            <a:r>
              <a:rPr lang="en-US" altLang="ko-KR" sz="1000" dirty="0"/>
              <a:t> (FBO1, 2, 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2A087F-83CB-48F4-5D2B-A56BB43A2797}"/>
              </a:ext>
            </a:extLst>
          </p:cNvPr>
          <p:cNvSpPr txBox="1"/>
          <p:nvPr/>
        </p:nvSpPr>
        <p:spPr>
          <a:xfrm>
            <a:off x="3504179" y="2811390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ⓓ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35F78C-7FFD-1B1C-450E-27B8EFEDD589}"/>
              </a:ext>
            </a:extLst>
          </p:cNvPr>
          <p:cNvSpPr txBox="1"/>
          <p:nvPr/>
        </p:nvSpPr>
        <p:spPr>
          <a:xfrm>
            <a:off x="6992514" y="466562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ⓐ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22DFB1-721D-7D03-12B6-26FEDA4620D3}"/>
              </a:ext>
            </a:extLst>
          </p:cNvPr>
          <p:cNvSpPr txBox="1"/>
          <p:nvPr/>
        </p:nvSpPr>
        <p:spPr>
          <a:xfrm>
            <a:off x="8604965" y="2449782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ⓑ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4ECAEB9-8F66-B53E-91C1-307197CD8795}"/>
              </a:ext>
            </a:extLst>
          </p:cNvPr>
          <p:cNvSpPr/>
          <p:nvPr/>
        </p:nvSpPr>
        <p:spPr>
          <a:xfrm>
            <a:off x="10289776" y="5704711"/>
            <a:ext cx="1366119" cy="6978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Control Switch &amp; LED Indication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064550-0FEB-A107-7930-057DE77E8494}"/>
              </a:ext>
            </a:extLst>
          </p:cNvPr>
          <p:cNvSpPr txBox="1"/>
          <p:nvPr/>
        </p:nvSpPr>
        <p:spPr>
          <a:xfrm>
            <a:off x="6620707" y="3991878"/>
            <a:ext cx="1070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Gate 1,2,3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D7CD8D-4268-FDFF-8149-B72DAE52211B}"/>
              </a:ext>
            </a:extLst>
          </p:cNvPr>
          <p:cNvSpPr txBox="1"/>
          <p:nvPr/>
        </p:nvSpPr>
        <p:spPr>
          <a:xfrm>
            <a:off x="7365618" y="4419950"/>
            <a:ext cx="3809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ⓕ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0891A9B-F5DC-D41F-0D08-E52D30AA9A50}"/>
              </a:ext>
            </a:extLst>
          </p:cNvPr>
          <p:cNvCxnSpPr>
            <a:cxnSpLocks/>
          </p:cNvCxnSpPr>
          <p:nvPr/>
        </p:nvCxnSpPr>
        <p:spPr>
          <a:xfrm>
            <a:off x="2124183" y="5157075"/>
            <a:ext cx="1912110" cy="0"/>
          </a:xfrm>
          <a:prstGeom prst="straightConnector1">
            <a:avLst/>
          </a:prstGeom>
          <a:ln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5A1C2C-9621-2EEC-8DA2-2B6B21757EF3}"/>
              </a:ext>
            </a:extLst>
          </p:cNvPr>
          <p:cNvSpPr/>
          <p:nvPr/>
        </p:nvSpPr>
        <p:spPr>
          <a:xfrm>
            <a:off x="10060700" y="3568337"/>
            <a:ext cx="616057" cy="81639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#2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상용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FA2D931-7DCD-CA24-8560-8485F0F8A00F}"/>
              </a:ext>
            </a:extLst>
          </p:cNvPr>
          <p:cNvSpPr/>
          <p:nvPr/>
        </p:nvSpPr>
        <p:spPr>
          <a:xfrm>
            <a:off x="11008126" y="3568541"/>
            <a:ext cx="612822" cy="8073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#3</a:t>
            </a: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상용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98FE24-9044-C28A-D514-14F5323BC068}"/>
              </a:ext>
            </a:extLst>
          </p:cNvPr>
          <p:cNvSpPr/>
          <p:nvPr/>
        </p:nvSpPr>
        <p:spPr>
          <a:xfrm>
            <a:off x="7325694" y="469169"/>
            <a:ext cx="1426201" cy="1593124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주문제작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996722-C9D3-BEDF-D267-5741E2365F69}"/>
              </a:ext>
            </a:extLst>
          </p:cNvPr>
          <p:cNvSpPr/>
          <p:nvPr/>
        </p:nvSpPr>
        <p:spPr>
          <a:xfrm>
            <a:off x="8791434" y="3520786"/>
            <a:ext cx="616057" cy="81639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#1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상용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6ECEED-5AEF-2CBA-E747-01161E5125DE}"/>
              </a:ext>
            </a:extLst>
          </p:cNvPr>
          <p:cNvSpPr/>
          <p:nvPr/>
        </p:nvSpPr>
        <p:spPr>
          <a:xfrm>
            <a:off x="9332585" y="1385066"/>
            <a:ext cx="811913" cy="491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Channel</a:t>
            </a:r>
            <a:br>
              <a:rPr lang="en-US" altLang="ko-KR" sz="900" dirty="0"/>
            </a:br>
            <a:r>
              <a:rPr lang="en-US" altLang="ko-KR" sz="900" dirty="0"/>
              <a:t>Selection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DAD37-587F-5E24-2AC6-8064C86DADE1}"/>
              </a:ext>
            </a:extLst>
          </p:cNvPr>
          <p:cNvSpPr txBox="1"/>
          <p:nvPr/>
        </p:nvSpPr>
        <p:spPr>
          <a:xfrm>
            <a:off x="8867708" y="539045"/>
            <a:ext cx="434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SVO</a:t>
            </a:r>
            <a:endParaRPr lang="ko-KR" altLang="en-US"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1B0501-4271-DCA3-0FBD-24E50FB517DA}"/>
              </a:ext>
            </a:extLst>
          </p:cNvPr>
          <p:cNvSpPr/>
          <p:nvPr/>
        </p:nvSpPr>
        <p:spPr>
          <a:xfrm>
            <a:off x="9336533" y="516272"/>
            <a:ext cx="811913" cy="491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Frequency</a:t>
            </a:r>
          </a:p>
          <a:p>
            <a:pPr algn="ctr"/>
            <a:r>
              <a:rPr lang="en-US" altLang="ko-KR" sz="900" dirty="0"/>
              <a:t>Measure</a:t>
            </a:r>
            <a:endParaRPr lang="ko-KR" alt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6B8333-4870-8633-7BD0-8D286B829DE5}"/>
              </a:ext>
            </a:extLst>
          </p:cNvPr>
          <p:cNvSpPr txBox="1"/>
          <p:nvPr/>
        </p:nvSpPr>
        <p:spPr>
          <a:xfrm>
            <a:off x="8253469" y="651100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Pin. 13</a:t>
            </a:r>
            <a:endParaRPr lang="ko-KR" altLang="en-US" sz="8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1814E39-5E27-CCC9-7C04-B66054102B80}"/>
              </a:ext>
            </a:extLst>
          </p:cNvPr>
          <p:cNvSpPr/>
          <p:nvPr/>
        </p:nvSpPr>
        <p:spPr>
          <a:xfrm>
            <a:off x="10584854" y="1379644"/>
            <a:ext cx="811913" cy="491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Current Measure</a:t>
            </a:r>
            <a:endParaRPr lang="ko-KR" alt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13F027-CC0A-3EE1-C133-B64F5429C2EB}"/>
              </a:ext>
            </a:extLst>
          </p:cNvPr>
          <p:cNvSpPr txBox="1"/>
          <p:nvPr/>
        </p:nvSpPr>
        <p:spPr>
          <a:xfrm>
            <a:off x="8474496" y="1297837"/>
            <a:ext cx="320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O1</a:t>
            </a:r>
            <a:endParaRPr lang="ko-KR" altLang="en-US" sz="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6502A9-5BE8-1C39-E345-CDA38DBE6471}"/>
              </a:ext>
            </a:extLst>
          </p:cNvPr>
          <p:cNvSpPr txBox="1"/>
          <p:nvPr/>
        </p:nvSpPr>
        <p:spPr>
          <a:xfrm>
            <a:off x="8463621" y="1849686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O12</a:t>
            </a:r>
            <a:endParaRPr lang="ko-KR" altLang="en-US" sz="800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C320E12-982C-5B9A-124C-469B42E924AD}"/>
              </a:ext>
            </a:extLst>
          </p:cNvPr>
          <p:cNvCxnSpPr>
            <a:cxnSpLocks/>
          </p:cNvCxnSpPr>
          <p:nvPr/>
        </p:nvCxnSpPr>
        <p:spPr>
          <a:xfrm>
            <a:off x="8751895" y="1394082"/>
            <a:ext cx="655596" cy="1191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CEAFDCE-0DE1-25C9-DD8B-D8BC504319FB}"/>
              </a:ext>
            </a:extLst>
          </p:cNvPr>
          <p:cNvCxnSpPr>
            <a:cxnSpLocks/>
          </p:cNvCxnSpPr>
          <p:nvPr/>
        </p:nvCxnSpPr>
        <p:spPr>
          <a:xfrm>
            <a:off x="9808411" y="1625413"/>
            <a:ext cx="90445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AA6B3E9-9BE6-3466-D4E0-291F1D6FCBB7}"/>
              </a:ext>
            </a:extLst>
          </p:cNvPr>
          <p:cNvSpPr txBox="1"/>
          <p:nvPr/>
        </p:nvSpPr>
        <p:spPr>
          <a:xfrm>
            <a:off x="8533045" y="1380582"/>
            <a:ext cx="21512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.</a:t>
            </a:r>
          </a:p>
          <a:p>
            <a:r>
              <a:rPr lang="en-US" altLang="ko-KR" sz="900" b="1" dirty="0"/>
              <a:t>.</a:t>
            </a:r>
          </a:p>
          <a:p>
            <a:r>
              <a:rPr lang="en-US" altLang="ko-KR" sz="900" b="1" dirty="0"/>
              <a:t>.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E6DB0A-D526-30C8-137E-6F2A8E05AF77}"/>
              </a:ext>
            </a:extLst>
          </p:cNvPr>
          <p:cNvSpPr txBox="1"/>
          <p:nvPr/>
        </p:nvSpPr>
        <p:spPr>
          <a:xfrm>
            <a:off x="8937360" y="1383328"/>
            <a:ext cx="21512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.</a:t>
            </a:r>
          </a:p>
          <a:p>
            <a:r>
              <a:rPr lang="en-US" altLang="ko-KR" sz="900" b="1" dirty="0"/>
              <a:t>.</a:t>
            </a:r>
          </a:p>
          <a:p>
            <a:r>
              <a:rPr lang="en-US" altLang="ko-KR" sz="900" b="1" dirty="0"/>
              <a:t>.</a:t>
            </a:r>
            <a:endParaRPr lang="ko-KR" altLang="en-US" sz="9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FB8187-D85D-84A6-FE6D-9ABACB7E59FB}"/>
              </a:ext>
            </a:extLst>
          </p:cNvPr>
          <p:cNvSpPr txBox="1"/>
          <p:nvPr/>
        </p:nvSpPr>
        <p:spPr>
          <a:xfrm>
            <a:off x="7305843" y="1793555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Pin. 17</a:t>
            </a:r>
            <a:endParaRPr lang="ko-KR" altLang="en-US" sz="800" dirty="0"/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F43E54DB-34B7-3AD1-1C91-CFF02105FD65}"/>
              </a:ext>
            </a:extLst>
          </p:cNvPr>
          <p:cNvSpPr/>
          <p:nvPr/>
        </p:nvSpPr>
        <p:spPr>
          <a:xfrm flipH="1">
            <a:off x="6199299" y="1588168"/>
            <a:ext cx="1079400" cy="665221"/>
          </a:xfrm>
          <a:prstGeom prst="rightArrow">
            <a:avLst>
              <a:gd name="adj1" fmla="val 33643"/>
              <a:gd name="adj2" fmla="val 31045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TEST (V)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3C71D4-9FC0-1F61-6FEC-29257AC361B6}"/>
              </a:ext>
            </a:extLst>
          </p:cNvPr>
          <p:cNvSpPr txBox="1"/>
          <p:nvPr/>
        </p:nvSpPr>
        <p:spPr>
          <a:xfrm>
            <a:off x="5508632" y="1832362"/>
            <a:ext cx="667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ADC (PB0)</a:t>
            </a:r>
            <a:endParaRPr lang="ko-KR" altLang="en-US" sz="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E3BB83-6215-2B8A-CC46-CDDF2CF5D62F}"/>
              </a:ext>
            </a:extLst>
          </p:cNvPr>
          <p:cNvSpPr txBox="1"/>
          <p:nvPr/>
        </p:nvSpPr>
        <p:spPr>
          <a:xfrm>
            <a:off x="5559278" y="473880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TIM1 (PA8)</a:t>
            </a:r>
            <a:endParaRPr lang="ko-KR" altLang="en-US" sz="8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95A75E-7DB2-3646-4536-FCC92F72B4A5}"/>
              </a:ext>
            </a:extLst>
          </p:cNvPr>
          <p:cNvSpPr txBox="1"/>
          <p:nvPr/>
        </p:nvSpPr>
        <p:spPr>
          <a:xfrm>
            <a:off x="5559278" y="805045"/>
            <a:ext cx="692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TIM2 (PB3)</a:t>
            </a:r>
            <a:endParaRPr lang="ko-KR" altLang="en-US" sz="8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0BC6F3-50F3-94AF-EFA5-53620FD54067}"/>
              </a:ext>
            </a:extLst>
          </p:cNvPr>
          <p:cNvSpPr txBox="1"/>
          <p:nvPr/>
        </p:nvSpPr>
        <p:spPr>
          <a:xfrm>
            <a:off x="5559278" y="1134588"/>
            <a:ext cx="699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TIM3 (PC6)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68945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096CA-0E8C-9ACC-1750-AB990FC3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24B7ED5-BF8E-AC60-1065-153DC47D4A47}"/>
              </a:ext>
            </a:extLst>
          </p:cNvPr>
          <p:cNvSpPr txBox="1"/>
          <p:nvPr/>
        </p:nvSpPr>
        <p:spPr>
          <a:xfrm>
            <a:off x="248536" y="385221"/>
            <a:ext cx="1985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ALINX AC7200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B3DDA1-2D6E-83E9-586A-ADFD0617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E24B56-F6FF-4C23-20E7-F83E63E42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713ED-6D7B-5CF9-995B-1F5A2ACB1B51}"/>
              </a:ext>
            </a:extLst>
          </p:cNvPr>
          <p:cNvSpPr txBox="1"/>
          <p:nvPr/>
        </p:nvSpPr>
        <p:spPr>
          <a:xfrm>
            <a:off x="10402432" y="27719"/>
            <a:ext cx="1602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2025.12.15 update</a:t>
            </a:r>
            <a:endParaRPr lang="ko-KR" altLang="en-US" sz="1200" dirty="0"/>
          </a:p>
        </p:txBody>
      </p:sp>
      <p:pic>
        <p:nvPicPr>
          <p:cNvPr id="1028" name="Picture 4" descr="ALINX AMD Xilinx Artix 7 XC7A200T SoM system-on-module AC7200 7A200T">
            <a:extLst>
              <a:ext uri="{FF2B5EF4-FFF2-40B4-BE49-F238E27FC236}">
                <a16:creationId xmlns:a16="http://schemas.microsoft.com/office/drawing/2014/main" id="{D3707075-5591-86CE-6C99-9D09A9831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16" y="2717831"/>
            <a:ext cx="3406039" cy="208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4CAD968-F89A-59D9-2D63-AA399A872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64" y="754553"/>
            <a:ext cx="3393344" cy="207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A072EB-6CBD-803F-0672-8DA18AE36C57}"/>
              </a:ext>
            </a:extLst>
          </p:cNvPr>
          <p:cNvSpPr txBox="1"/>
          <p:nvPr/>
        </p:nvSpPr>
        <p:spPr>
          <a:xfrm>
            <a:off x="248536" y="5550897"/>
            <a:ext cx="35819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effectLst/>
                <a:latin typeface="Roboto" panose="02000000000000000000" pitchFamily="2" charset="0"/>
              </a:rPr>
              <a:t>Control Jig  Board </a:t>
            </a:r>
            <a:r>
              <a:rPr lang="ko-KR" altLang="en-US" sz="1400" b="1" i="0" dirty="0">
                <a:effectLst/>
                <a:latin typeface="Roboto" panose="02000000000000000000" pitchFamily="2" charset="0"/>
              </a:rPr>
              <a:t>에 적용 부품</a:t>
            </a:r>
            <a:endParaRPr lang="en-US" altLang="ko-KR" sz="1400" b="1" i="0" dirty="0">
              <a:effectLst/>
              <a:latin typeface="Roboto" panose="02000000000000000000" pitchFamily="2" charset="0"/>
            </a:endParaRPr>
          </a:p>
          <a:p>
            <a:r>
              <a:rPr lang="en-US" altLang="ko-KR" sz="1400" b="1" dirty="0">
                <a:latin typeface="Roboto" panose="02000000000000000000" pitchFamily="2" charset="0"/>
              </a:rPr>
              <a:t>Board to Board Header</a:t>
            </a:r>
            <a:endParaRPr lang="en-US" altLang="ko-KR" sz="1400" b="1" i="0" dirty="0">
              <a:effectLst/>
              <a:latin typeface="Roboto" panose="02000000000000000000" pitchFamily="2" charset="0"/>
            </a:endParaRPr>
          </a:p>
          <a:p>
            <a:r>
              <a:rPr lang="en-US" altLang="ko-KR" sz="1400" dirty="0">
                <a:latin typeface="Roboto" panose="02000000000000000000" pitchFamily="2" charset="0"/>
              </a:rPr>
              <a:t>- </a:t>
            </a:r>
            <a:r>
              <a:rPr lang="en-US" altLang="ko-KR" sz="1400" i="0" dirty="0">
                <a:effectLst/>
                <a:latin typeface="Roboto" panose="02000000000000000000" pitchFamily="2" charset="0"/>
              </a:rPr>
              <a:t>Panasonic </a:t>
            </a:r>
            <a:r>
              <a:rPr lang="en-US" altLang="ko-KR" sz="1400" i="0" u="none" strike="noStrike" dirty="0">
                <a:effectLst/>
                <a:latin typeface="Roboto" panose="02000000000000000000" pitchFamily="2" charset="0"/>
              </a:rPr>
              <a:t>AXK680337YG</a:t>
            </a:r>
            <a:endParaRPr lang="ko-KR" altLang="en-US" sz="14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CAFD4AC-413B-F11F-45A5-B82DA0C1574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358189" y="3810683"/>
            <a:ext cx="450095" cy="984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D9DC9E-BDDB-4CC6-2A0F-52D8FFE2BCBB}"/>
              </a:ext>
            </a:extLst>
          </p:cNvPr>
          <p:cNvSpPr txBox="1"/>
          <p:nvPr/>
        </p:nvSpPr>
        <p:spPr>
          <a:xfrm>
            <a:off x="1870735" y="4794710"/>
            <a:ext cx="1875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Board to Board Socket </a:t>
            </a:r>
            <a:endParaRPr lang="ko-KR" altLang="en-US" sz="1200" dirty="0"/>
          </a:p>
        </p:txBody>
      </p:sp>
      <p:pic>
        <p:nvPicPr>
          <p:cNvPr id="17" name="그림 16" descr="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BECC7D-2D85-830C-E8C2-BEFEE82F7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863" y="666440"/>
            <a:ext cx="7582326" cy="54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8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도표, 라인, 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C30F0-73AD-012E-08FD-3D8480743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769" y="4515703"/>
            <a:ext cx="3000794" cy="18766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F522D43-6F05-B78A-0BCC-F6F63570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9" y="4894"/>
            <a:ext cx="7936419" cy="322650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 – FPGA JTAG, UART Connector, Control Switch, LED Indication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B0B50F-3258-ED57-426C-E198F8EAF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A4D411-AF77-52E4-ABB0-70EB577F7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7" t="8993" r="5911" b="4445"/>
          <a:stretch>
            <a:fillRect/>
          </a:stretch>
        </p:blipFill>
        <p:spPr>
          <a:xfrm>
            <a:off x="256816" y="425153"/>
            <a:ext cx="4800600" cy="2409826"/>
          </a:xfrm>
          <a:prstGeom prst="rect">
            <a:avLst/>
          </a:prstGeom>
        </p:spPr>
      </p:pic>
      <p:pic>
        <p:nvPicPr>
          <p:cNvPr id="11" name="그림 10" descr="텍스트, 도표, 기술 도면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92AD56-2B5A-D1F8-6547-CFC176005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46" y="383671"/>
            <a:ext cx="4177679" cy="2734084"/>
          </a:xfrm>
          <a:prstGeom prst="rect">
            <a:avLst/>
          </a:prstGeom>
        </p:spPr>
      </p:pic>
      <p:pic>
        <p:nvPicPr>
          <p:cNvPr id="4" name="그림 3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69BDA8-5290-7EC5-686C-29BA3F7CF9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605" b="19581"/>
          <a:stretch>
            <a:fillRect/>
          </a:stretch>
        </p:blipFill>
        <p:spPr>
          <a:xfrm>
            <a:off x="10761169" y="2624907"/>
            <a:ext cx="954484" cy="1547521"/>
          </a:xfrm>
          <a:prstGeom prst="rect">
            <a:avLst/>
          </a:prstGeom>
        </p:spPr>
      </p:pic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60239D52-F012-4BBC-2A59-BA0A603CFECD}"/>
              </a:ext>
            </a:extLst>
          </p:cNvPr>
          <p:cNvSpPr/>
          <p:nvPr/>
        </p:nvSpPr>
        <p:spPr>
          <a:xfrm rot="10800000">
            <a:off x="11027868" y="4141196"/>
            <a:ext cx="238125" cy="186288"/>
          </a:xfrm>
          <a:prstGeom prst="triangl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DCB50-F8B4-8FB8-29CD-A69CA5D8EF26}"/>
              </a:ext>
            </a:extLst>
          </p:cNvPr>
          <p:cNvSpPr txBox="1"/>
          <p:nvPr/>
        </p:nvSpPr>
        <p:spPr>
          <a:xfrm>
            <a:off x="9709809" y="3241702"/>
            <a:ext cx="1258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3.3V </a:t>
            </a:r>
            <a:r>
              <a:rPr lang="ko-KR" altLang="en-US" sz="1200" dirty="0"/>
              <a:t>전원 상태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C0D376-62D0-8502-2BEC-9BCBFEA8A92A}"/>
              </a:ext>
            </a:extLst>
          </p:cNvPr>
          <p:cNvSpPr/>
          <p:nvPr/>
        </p:nvSpPr>
        <p:spPr>
          <a:xfrm>
            <a:off x="11272079" y="3138361"/>
            <a:ext cx="870215" cy="406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LED10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RED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9ED539-9100-9802-AEC3-F61607EA8006}"/>
              </a:ext>
            </a:extLst>
          </p:cNvPr>
          <p:cNvSpPr/>
          <p:nvPr/>
        </p:nvSpPr>
        <p:spPr>
          <a:xfrm>
            <a:off x="11394827" y="5047196"/>
            <a:ext cx="747467" cy="406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LED2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GREEN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80BF6A-2616-9056-26DF-51643E767C54}"/>
              </a:ext>
            </a:extLst>
          </p:cNvPr>
          <p:cNvSpPr/>
          <p:nvPr/>
        </p:nvSpPr>
        <p:spPr>
          <a:xfrm>
            <a:off x="10207362" y="5047196"/>
            <a:ext cx="747467" cy="406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LED1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GREEN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8EBA01-6AE4-0246-2B8F-1CF8756ADFED}"/>
              </a:ext>
            </a:extLst>
          </p:cNvPr>
          <p:cNvSpPr txBox="1"/>
          <p:nvPr/>
        </p:nvSpPr>
        <p:spPr>
          <a:xfrm>
            <a:off x="6889775" y="1113280"/>
            <a:ext cx="142253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12507WR-H08G</a:t>
            </a:r>
            <a:endParaRPr lang="ko-KR" altLang="en-US" sz="1200" dirty="0"/>
          </a:p>
        </p:txBody>
      </p:sp>
      <p:pic>
        <p:nvPicPr>
          <p:cNvPr id="6" name="그림 5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A25885-D405-CE49-21C9-987DBC3B30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16" y="4885585"/>
            <a:ext cx="2558285" cy="1588744"/>
          </a:xfrm>
          <a:prstGeom prst="rect">
            <a:avLst/>
          </a:prstGeom>
        </p:spPr>
      </p:pic>
      <p:pic>
        <p:nvPicPr>
          <p:cNvPr id="20" name="그림 19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6F3104-6A61-B567-85D2-40E9F3635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788" y="5026327"/>
            <a:ext cx="5153744" cy="1448002"/>
          </a:xfrm>
          <a:prstGeom prst="rect">
            <a:avLst/>
          </a:prstGeom>
        </p:spPr>
      </p:pic>
      <p:pic>
        <p:nvPicPr>
          <p:cNvPr id="26" name="그림 2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02EE3D-8A68-D202-815C-926FF8C82F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6873" y="3069704"/>
            <a:ext cx="1489548" cy="17956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560F38-4982-CBFE-424D-C44F9A0627C9}"/>
              </a:ext>
            </a:extLst>
          </p:cNvPr>
          <p:cNvSpPr txBox="1"/>
          <p:nvPr/>
        </p:nvSpPr>
        <p:spPr>
          <a:xfrm>
            <a:off x="1773244" y="5177048"/>
            <a:ext cx="1258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RESET Switch</a:t>
            </a:r>
            <a:endParaRPr lang="ko-KR" altLang="en-US" sz="1200" dirty="0"/>
          </a:p>
        </p:txBody>
      </p:sp>
      <p:pic>
        <p:nvPicPr>
          <p:cNvPr id="28" name="그림 27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CB8BFB-ED21-E4B4-A30F-9E19350FDC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399" y="3518701"/>
            <a:ext cx="4429743" cy="110505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B78403E-5EB6-92A1-4A16-1B577315FC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4824413" y="3346271"/>
            <a:ext cx="952633" cy="10479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8414693-B6EF-C123-5A87-5F9419B8B4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5416946" y="3430522"/>
            <a:ext cx="905001" cy="7621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4107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4BCE-5A70-E7A3-7ED3-15886385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CD308-DBF7-B414-BBC0-253E7C7D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0" rIns="91440" bIns="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ko-KR" sz="2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FPGA </a:t>
            </a:r>
            <a:r>
              <a:rPr lang="ko-KR" altLang="en-US" sz="2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검증방안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DCFACF2-399C-F065-8CC6-EAA526E1F6D8}"/>
              </a:ext>
            </a:extLst>
          </p:cNvPr>
          <p:cNvGrpSpPr/>
          <p:nvPr/>
        </p:nvGrpSpPr>
        <p:grpSpPr>
          <a:xfrm>
            <a:off x="4196268" y="2040983"/>
            <a:ext cx="7483054" cy="3410884"/>
            <a:chOff x="722779" y="1848970"/>
            <a:chExt cx="10531909" cy="480059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D9F6019-AF0B-2428-6D65-4C3C20231A3C}"/>
                </a:ext>
              </a:extLst>
            </p:cNvPr>
            <p:cNvSpPr/>
            <p:nvPr/>
          </p:nvSpPr>
          <p:spPr>
            <a:xfrm>
              <a:off x="2998694" y="3489511"/>
              <a:ext cx="2736476" cy="2238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XC24R</a:t>
              </a:r>
            </a:p>
            <a:p>
              <a:pPr algn="ctr"/>
              <a:r>
                <a:rPr lang="en-US" altLang="ko-KR" sz="1400" dirty="0"/>
                <a:t>FPGA</a:t>
              </a:r>
              <a:endParaRPr lang="ko-KR" altLang="en-US" sz="1400" dirty="0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AEA121F-4FDE-80F5-E8E8-203A92C5FD46}"/>
                </a:ext>
              </a:extLst>
            </p:cNvPr>
            <p:cNvCxnSpPr/>
            <p:nvPr/>
          </p:nvCxnSpPr>
          <p:spPr>
            <a:xfrm>
              <a:off x="2507877" y="3879477"/>
              <a:ext cx="4908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순서도: 다른 페이지 연결선 6">
              <a:extLst>
                <a:ext uri="{FF2B5EF4-FFF2-40B4-BE49-F238E27FC236}">
                  <a16:creationId xmlns:a16="http://schemas.microsoft.com/office/drawing/2014/main" id="{63C4C18F-1D03-15EB-C8F7-B456A1041124}"/>
                </a:ext>
              </a:extLst>
            </p:cNvPr>
            <p:cNvSpPr/>
            <p:nvPr/>
          </p:nvSpPr>
          <p:spPr>
            <a:xfrm rot="5400000">
              <a:off x="1743914" y="3444971"/>
              <a:ext cx="653866" cy="874058"/>
            </a:xfrm>
            <a:prstGeom prst="flowChartOffpage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00CBC0-871F-301B-6189-2B003E84318B}"/>
                </a:ext>
              </a:extLst>
            </p:cNvPr>
            <p:cNvSpPr txBox="1"/>
            <p:nvPr/>
          </p:nvSpPr>
          <p:spPr>
            <a:xfrm>
              <a:off x="1740615" y="3694811"/>
              <a:ext cx="899380" cy="43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DAC1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21C2708-2583-914B-FC93-757A0027BD44}"/>
                </a:ext>
              </a:extLst>
            </p:cNvPr>
            <p:cNvCxnSpPr/>
            <p:nvPr/>
          </p:nvCxnSpPr>
          <p:spPr>
            <a:xfrm>
              <a:off x="2507877" y="4593854"/>
              <a:ext cx="4908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순서도: 다른 페이지 연결선 9">
              <a:extLst>
                <a:ext uri="{FF2B5EF4-FFF2-40B4-BE49-F238E27FC236}">
                  <a16:creationId xmlns:a16="http://schemas.microsoft.com/office/drawing/2014/main" id="{99A3E3F9-339E-47BC-9536-EDB3F60267C3}"/>
                </a:ext>
              </a:extLst>
            </p:cNvPr>
            <p:cNvSpPr/>
            <p:nvPr/>
          </p:nvSpPr>
          <p:spPr>
            <a:xfrm rot="5400000">
              <a:off x="1743914" y="4159348"/>
              <a:ext cx="653866" cy="874058"/>
            </a:xfrm>
            <a:prstGeom prst="flowChartOffpage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7B3EF2-6A17-81AA-DAC7-B49500AA1ED8}"/>
                </a:ext>
              </a:extLst>
            </p:cNvPr>
            <p:cNvSpPr txBox="1"/>
            <p:nvPr/>
          </p:nvSpPr>
          <p:spPr>
            <a:xfrm>
              <a:off x="1740615" y="4409188"/>
              <a:ext cx="899380" cy="43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DAC2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6505D1A-F6A6-57CE-A723-D98582F86398}"/>
                </a:ext>
              </a:extLst>
            </p:cNvPr>
            <p:cNvCxnSpPr/>
            <p:nvPr/>
          </p:nvCxnSpPr>
          <p:spPr>
            <a:xfrm>
              <a:off x="2507877" y="5305708"/>
              <a:ext cx="4908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순서도: 다른 페이지 연결선 12">
              <a:extLst>
                <a:ext uri="{FF2B5EF4-FFF2-40B4-BE49-F238E27FC236}">
                  <a16:creationId xmlns:a16="http://schemas.microsoft.com/office/drawing/2014/main" id="{CD896369-2BF5-6EC6-5D15-2AAA489F4CBA}"/>
                </a:ext>
              </a:extLst>
            </p:cNvPr>
            <p:cNvSpPr/>
            <p:nvPr/>
          </p:nvSpPr>
          <p:spPr>
            <a:xfrm rot="5400000">
              <a:off x="1743914" y="4871202"/>
              <a:ext cx="653866" cy="874058"/>
            </a:xfrm>
            <a:prstGeom prst="flowChartOffpage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9492C2-C7B6-C451-08B6-4FA9A0452094}"/>
                </a:ext>
              </a:extLst>
            </p:cNvPr>
            <p:cNvSpPr txBox="1"/>
            <p:nvPr/>
          </p:nvSpPr>
          <p:spPr>
            <a:xfrm>
              <a:off x="1740615" y="5121041"/>
              <a:ext cx="899380" cy="43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DAC3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A68D6C1-6C08-032A-3427-82D5DBEB61A5}"/>
                </a:ext>
              </a:extLst>
            </p:cNvPr>
            <p:cNvCxnSpPr/>
            <p:nvPr/>
          </p:nvCxnSpPr>
          <p:spPr>
            <a:xfrm>
              <a:off x="2689415" y="3818968"/>
              <a:ext cx="107577" cy="114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4F7F9A6-9ED1-92ED-0A1E-EA09E58FDEF0}"/>
                </a:ext>
              </a:extLst>
            </p:cNvPr>
            <p:cNvCxnSpPr/>
            <p:nvPr/>
          </p:nvCxnSpPr>
          <p:spPr>
            <a:xfrm>
              <a:off x="2689415" y="4533646"/>
              <a:ext cx="107577" cy="114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00494CF-6779-9A61-20DE-3229D767AC68}"/>
                </a:ext>
              </a:extLst>
            </p:cNvPr>
            <p:cNvCxnSpPr/>
            <p:nvPr/>
          </p:nvCxnSpPr>
          <p:spPr>
            <a:xfrm>
              <a:off x="2689415" y="5248022"/>
              <a:ext cx="107577" cy="114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67808D-67F5-E9AE-C541-4921C118E90E}"/>
                </a:ext>
              </a:extLst>
            </p:cNvPr>
            <p:cNvSpPr txBox="1"/>
            <p:nvPr/>
          </p:nvSpPr>
          <p:spPr>
            <a:xfrm>
              <a:off x="2507876" y="3599191"/>
              <a:ext cx="634421" cy="324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12bit</a:t>
              </a:r>
              <a:endParaRPr lang="ko-KR" altLang="en-US" sz="900" dirty="0"/>
            </a:p>
          </p:txBody>
        </p:sp>
        <p:sp>
          <p:nvSpPr>
            <p:cNvPr id="19" name="순서도: 연결자 18">
              <a:extLst>
                <a:ext uri="{FF2B5EF4-FFF2-40B4-BE49-F238E27FC236}">
                  <a16:creationId xmlns:a16="http://schemas.microsoft.com/office/drawing/2014/main" id="{7AE31335-64E4-38E4-5582-1E940A557D81}"/>
                </a:ext>
              </a:extLst>
            </p:cNvPr>
            <p:cNvSpPr/>
            <p:nvPr/>
          </p:nvSpPr>
          <p:spPr>
            <a:xfrm>
              <a:off x="722779" y="6015784"/>
              <a:ext cx="463923" cy="463923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FE1716CD-499B-F117-DB18-BB3EDBA60EDC}"/>
                </a:ext>
              </a:extLst>
            </p:cNvPr>
            <p:cNvSpPr/>
            <p:nvPr/>
          </p:nvSpPr>
          <p:spPr>
            <a:xfrm>
              <a:off x="1358153" y="3294529"/>
              <a:ext cx="262218" cy="591671"/>
            </a:xfrm>
            <a:custGeom>
              <a:avLst/>
              <a:gdLst>
                <a:gd name="csX0" fmla="*/ 262218 w 262218"/>
                <a:gd name="csY0" fmla="*/ 591671 h 591671"/>
                <a:gd name="csX1" fmla="*/ 0 w 262218"/>
                <a:gd name="csY1" fmla="*/ 591671 h 591671"/>
                <a:gd name="csX2" fmla="*/ 0 w 262218"/>
                <a:gd name="csY2" fmla="*/ 0 h 591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2218" h="591671">
                  <a:moveTo>
                    <a:pt x="262218" y="591671"/>
                  </a:moveTo>
                  <a:lnTo>
                    <a:pt x="0" y="591671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1AF81B90-9325-E23C-0283-06AAB437D204}"/>
                </a:ext>
              </a:extLst>
            </p:cNvPr>
            <p:cNvSpPr/>
            <p:nvPr/>
          </p:nvSpPr>
          <p:spPr>
            <a:xfrm>
              <a:off x="1163171" y="3072653"/>
              <a:ext cx="470647" cy="1519518"/>
            </a:xfrm>
            <a:custGeom>
              <a:avLst/>
              <a:gdLst>
                <a:gd name="csX0" fmla="*/ 470647 w 470647"/>
                <a:gd name="csY0" fmla="*/ 1519518 h 1519518"/>
                <a:gd name="csX1" fmla="*/ 0 w 470647"/>
                <a:gd name="csY1" fmla="*/ 1519518 h 1519518"/>
                <a:gd name="csX2" fmla="*/ 0 w 470647"/>
                <a:gd name="csY2" fmla="*/ 0 h 1519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0647" h="1519518">
                  <a:moveTo>
                    <a:pt x="470647" y="1519518"/>
                  </a:moveTo>
                  <a:lnTo>
                    <a:pt x="0" y="1519518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ADD7F009-0720-F385-6A9A-4A31EA6B847C}"/>
                </a:ext>
              </a:extLst>
            </p:cNvPr>
            <p:cNvSpPr/>
            <p:nvPr/>
          </p:nvSpPr>
          <p:spPr>
            <a:xfrm>
              <a:off x="954741" y="2756647"/>
              <a:ext cx="665630" cy="2548218"/>
            </a:xfrm>
            <a:custGeom>
              <a:avLst/>
              <a:gdLst>
                <a:gd name="csX0" fmla="*/ 665630 w 665630"/>
                <a:gd name="csY0" fmla="*/ 2548218 h 2548218"/>
                <a:gd name="csX1" fmla="*/ 0 w 665630"/>
                <a:gd name="csY1" fmla="*/ 2548218 h 2548218"/>
                <a:gd name="csX2" fmla="*/ 0 w 665630"/>
                <a:gd name="csY2" fmla="*/ 0 h 2548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5630" h="2548218">
                  <a:moveTo>
                    <a:pt x="665630" y="2548218"/>
                  </a:moveTo>
                  <a:lnTo>
                    <a:pt x="0" y="2548218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26F1457-073E-8C49-3DD7-B4F73370FA75}"/>
                </a:ext>
              </a:extLst>
            </p:cNvPr>
            <p:cNvCxnSpPr>
              <a:stCxn id="22" idx="1"/>
            </p:cNvCxnSpPr>
            <p:nvPr/>
          </p:nvCxnSpPr>
          <p:spPr>
            <a:xfrm>
              <a:off x="954741" y="5304865"/>
              <a:ext cx="0" cy="9345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순서도: 연결자 23">
              <a:extLst>
                <a:ext uri="{FF2B5EF4-FFF2-40B4-BE49-F238E27FC236}">
                  <a16:creationId xmlns:a16="http://schemas.microsoft.com/office/drawing/2014/main" id="{8C546DE3-2528-6235-123A-1B4B3FCA1464}"/>
                </a:ext>
              </a:extLst>
            </p:cNvPr>
            <p:cNvSpPr/>
            <p:nvPr/>
          </p:nvSpPr>
          <p:spPr>
            <a:xfrm>
              <a:off x="927837" y="6239435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DF4B4EE-F24C-9C84-9EEE-C327AC7A3E5E}"/>
                </a:ext>
              </a:extLst>
            </p:cNvPr>
            <p:cNvSpPr txBox="1"/>
            <p:nvPr/>
          </p:nvSpPr>
          <p:spPr>
            <a:xfrm>
              <a:off x="1248170" y="6087218"/>
              <a:ext cx="1751202" cy="43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BNC : </a:t>
              </a:r>
              <a:r>
                <a:rPr lang="ko-KR" altLang="en-US" sz="1400" dirty="0"/>
                <a:t>측정용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14EB84C-C44F-E27D-BF34-A65052AD5497}"/>
                </a:ext>
              </a:extLst>
            </p:cNvPr>
            <p:cNvCxnSpPr/>
            <p:nvPr/>
          </p:nvCxnSpPr>
          <p:spPr>
            <a:xfrm flipV="1">
              <a:off x="1358153" y="2756647"/>
              <a:ext cx="0" cy="47064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9EC259C-4A50-1DBD-E415-EDE7D798B5CF}"/>
                </a:ext>
              </a:extLst>
            </p:cNvPr>
            <p:cNvCxnSpPr/>
            <p:nvPr/>
          </p:nvCxnSpPr>
          <p:spPr>
            <a:xfrm flipV="1">
              <a:off x="1163171" y="2602006"/>
              <a:ext cx="0" cy="47064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E41E7B4-5B17-1632-85B3-BDEBE82B6E95}"/>
                </a:ext>
              </a:extLst>
            </p:cNvPr>
            <p:cNvCxnSpPr/>
            <p:nvPr/>
          </p:nvCxnSpPr>
          <p:spPr>
            <a:xfrm flipV="1">
              <a:off x="954732" y="2238935"/>
              <a:ext cx="0" cy="47064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CC64656-228E-ED78-C52C-DC7F25F363FD}"/>
                </a:ext>
              </a:extLst>
            </p:cNvPr>
            <p:cNvSpPr/>
            <p:nvPr/>
          </p:nvSpPr>
          <p:spPr>
            <a:xfrm>
              <a:off x="4706471" y="1848970"/>
              <a:ext cx="1028699" cy="9076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XC24R</a:t>
              </a:r>
            </a:p>
            <a:p>
              <a:pPr algn="ctr"/>
              <a:r>
                <a:rPr lang="en-US" altLang="ko-KR" sz="1400" dirty="0"/>
                <a:t>chip</a:t>
              </a:r>
              <a:endParaRPr lang="ko-KR" altLang="en-US" sz="1400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219B90F-A4D7-82FF-9A25-86594BBA2119}"/>
                </a:ext>
              </a:extLst>
            </p:cNvPr>
            <p:cNvSpPr/>
            <p:nvPr/>
          </p:nvSpPr>
          <p:spPr>
            <a:xfrm>
              <a:off x="8417858" y="2517682"/>
              <a:ext cx="1039543" cy="1048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XDR</a:t>
              </a:r>
            </a:p>
            <a:p>
              <a:pPr algn="ctr"/>
              <a:r>
                <a:rPr lang="en-US" altLang="ko-KR" sz="1400" dirty="0"/>
                <a:t>chip</a:t>
              </a:r>
              <a:endParaRPr lang="ko-KR" altLang="en-US" sz="14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CB9A5E5-A492-397B-74A2-1E67C83FB075}"/>
                </a:ext>
              </a:extLst>
            </p:cNvPr>
            <p:cNvSpPr/>
            <p:nvPr/>
          </p:nvSpPr>
          <p:spPr>
            <a:xfrm>
              <a:off x="9193306" y="4391539"/>
              <a:ext cx="1156449" cy="14590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외부</a:t>
              </a:r>
              <a:endParaRPr lang="en-US" altLang="ko-KR" sz="1400" dirty="0"/>
            </a:p>
            <a:p>
              <a:pPr algn="ctr"/>
              <a:r>
                <a:rPr lang="en-US" altLang="ko-KR" sz="1400" dirty="0"/>
                <a:t>XDR</a:t>
              </a:r>
            </a:p>
            <a:p>
              <a:pPr algn="ctr"/>
              <a:r>
                <a:rPr lang="en-US" altLang="ko-KR" sz="1400" dirty="0"/>
                <a:t>Conn.</a:t>
              </a:r>
              <a:endParaRPr lang="ko-KR" altLang="en-US" sz="1400" dirty="0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A7EBEE94-CB57-74F8-195B-786C9EF85770}"/>
                </a:ext>
              </a:extLst>
            </p:cNvPr>
            <p:cNvSpPr/>
            <p:nvPr/>
          </p:nvSpPr>
          <p:spPr>
            <a:xfrm>
              <a:off x="7648013" y="5156942"/>
              <a:ext cx="154641" cy="605118"/>
            </a:xfrm>
            <a:custGeom>
              <a:avLst/>
              <a:gdLst>
                <a:gd name="csX0" fmla="*/ 154641 w 154641"/>
                <a:gd name="csY0" fmla="*/ 0 h 605118"/>
                <a:gd name="csX1" fmla="*/ 154641 w 154641"/>
                <a:gd name="csY1" fmla="*/ 410136 h 605118"/>
                <a:gd name="csX2" fmla="*/ 0 w 154641"/>
                <a:gd name="csY2" fmla="*/ 605118 h 6051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4641" h="605118">
                  <a:moveTo>
                    <a:pt x="154641" y="0"/>
                  </a:moveTo>
                  <a:lnTo>
                    <a:pt x="154641" y="410136"/>
                  </a:lnTo>
                  <a:lnTo>
                    <a:pt x="0" y="60511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8186D0A4-5312-3A61-826C-C683667DE3E0}"/>
                </a:ext>
              </a:extLst>
            </p:cNvPr>
            <p:cNvSpPr/>
            <p:nvPr/>
          </p:nvSpPr>
          <p:spPr>
            <a:xfrm>
              <a:off x="7695078" y="5755336"/>
              <a:ext cx="168088" cy="833718"/>
            </a:xfrm>
            <a:custGeom>
              <a:avLst/>
              <a:gdLst>
                <a:gd name="csX0" fmla="*/ 94129 w 168088"/>
                <a:gd name="csY0" fmla="*/ 0 h 833718"/>
                <a:gd name="csX1" fmla="*/ 94129 w 168088"/>
                <a:gd name="csY1" fmla="*/ 147918 h 833718"/>
                <a:gd name="csX2" fmla="*/ 0 w 168088"/>
                <a:gd name="csY2" fmla="*/ 235324 h 833718"/>
                <a:gd name="csX3" fmla="*/ 168088 w 168088"/>
                <a:gd name="csY3" fmla="*/ 316006 h 833718"/>
                <a:gd name="csX4" fmla="*/ 6723 w 168088"/>
                <a:gd name="csY4" fmla="*/ 416859 h 833718"/>
                <a:gd name="csX5" fmla="*/ 168088 w 168088"/>
                <a:gd name="csY5" fmla="*/ 490818 h 833718"/>
                <a:gd name="csX6" fmla="*/ 0 w 168088"/>
                <a:gd name="csY6" fmla="*/ 605118 h 833718"/>
                <a:gd name="csX7" fmla="*/ 107576 w 168088"/>
                <a:gd name="csY7" fmla="*/ 665630 h 833718"/>
                <a:gd name="csX8" fmla="*/ 107576 w 168088"/>
                <a:gd name="csY8" fmla="*/ 833718 h 833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088" h="833718">
                  <a:moveTo>
                    <a:pt x="94129" y="0"/>
                  </a:moveTo>
                  <a:lnTo>
                    <a:pt x="94129" y="147918"/>
                  </a:lnTo>
                  <a:lnTo>
                    <a:pt x="0" y="235324"/>
                  </a:lnTo>
                  <a:lnTo>
                    <a:pt x="168088" y="316006"/>
                  </a:lnTo>
                  <a:lnTo>
                    <a:pt x="6723" y="416859"/>
                  </a:lnTo>
                  <a:lnTo>
                    <a:pt x="168088" y="490818"/>
                  </a:lnTo>
                  <a:lnTo>
                    <a:pt x="0" y="605118"/>
                  </a:lnTo>
                  <a:lnTo>
                    <a:pt x="107576" y="665630"/>
                  </a:lnTo>
                  <a:lnTo>
                    <a:pt x="107576" y="83371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79E870F-B230-6EE9-A1C0-EA6F539140D9}"/>
                </a:ext>
              </a:extLst>
            </p:cNvPr>
            <p:cNvCxnSpPr/>
            <p:nvPr/>
          </p:nvCxnSpPr>
          <p:spPr>
            <a:xfrm>
              <a:off x="7648013" y="6589054"/>
              <a:ext cx="312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D0C900D-20E8-B303-FBB1-69E091B1F162}"/>
                </a:ext>
              </a:extLst>
            </p:cNvPr>
            <p:cNvCxnSpPr>
              <a:cxnSpLocks/>
            </p:cNvCxnSpPr>
            <p:nvPr/>
          </p:nvCxnSpPr>
          <p:spPr>
            <a:xfrm>
              <a:off x="7695078" y="6649566"/>
              <a:ext cx="2185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18866DE2-CEB5-8B8C-E7A2-6A8623AEEC1C}"/>
                </a:ext>
              </a:extLst>
            </p:cNvPr>
            <p:cNvSpPr/>
            <p:nvPr/>
          </p:nvSpPr>
          <p:spPr>
            <a:xfrm>
              <a:off x="8081682" y="5156942"/>
              <a:ext cx="154641" cy="605118"/>
            </a:xfrm>
            <a:custGeom>
              <a:avLst/>
              <a:gdLst>
                <a:gd name="csX0" fmla="*/ 154641 w 154641"/>
                <a:gd name="csY0" fmla="*/ 0 h 605118"/>
                <a:gd name="csX1" fmla="*/ 154641 w 154641"/>
                <a:gd name="csY1" fmla="*/ 410136 h 605118"/>
                <a:gd name="csX2" fmla="*/ 0 w 154641"/>
                <a:gd name="csY2" fmla="*/ 605118 h 6051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4641" h="605118">
                  <a:moveTo>
                    <a:pt x="154641" y="0"/>
                  </a:moveTo>
                  <a:lnTo>
                    <a:pt x="154641" y="410136"/>
                  </a:lnTo>
                  <a:lnTo>
                    <a:pt x="0" y="60511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2F570925-CE75-DD46-B0EB-27BCD83FD77A}"/>
                </a:ext>
              </a:extLst>
            </p:cNvPr>
            <p:cNvSpPr/>
            <p:nvPr/>
          </p:nvSpPr>
          <p:spPr>
            <a:xfrm>
              <a:off x="8128747" y="5755336"/>
              <a:ext cx="168088" cy="833718"/>
            </a:xfrm>
            <a:custGeom>
              <a:avLst/>
              <a:gdLst>
                <a:gd name="csX0" fmla="*/ 94129 w 168088"/>
                <a:gd name="csY0" fmla="*/ 0 h 833718"/>
                <a:gd name="csX1" fmla="*/ 94129 w 168088"/>
                <a:gd name="csY1" fmla="*/ 147918 h 833718"/>
                <a:gd name="csX2" fmla="*/ 0 w 168088"/>
                <a:gd name="csY2" fmla="*/ 235324 h 833718"/>
                <a:gd name="csX3" fmla="*/ 168088 w 168088"/>
                <a:gd name="csY3" fmla="*/ 316006 h 833718"/>
                <a:gd name="csX4" fmla="*/ 6723 w 168088"/>
                <a:gd name="csY4" fmla="*/ 416859 h 833718"/>
                <a:gd name="csX5" fmla="*/ 168088 w 168088"/>
                <a:gd name="csY5" fmla="*/ 490818 h 833718"/>
                <a:gd name="csX6" fmla="*/ 0 w 168088"/>
                <a:gd name="csY6" fmla="*/ 605118 h 833718"/>
                <a:gd name="csX7" fmla="*/ 107576 w 168088"/>
                <a:gd name="csY7" fmla="*/ 665630 h 833718"/>
                <a:gd name="csX8" fmla="*/ 107576 w 168088"/>
                <a:gd name="csY8" fmla="*/ 833718 h 833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088" h="833718">
                  <a:moveTo>
                    <a:pt x="94129" y="0"/>
                  </a:moveTo>
                  <a:lnTo>
                    <a:pt x="94129" y="147918"/>
                  </a:lnTo>
                  <a:lnTo>
                    <a:pt x="0" y="235324"/>
                  </a:lnTo>
                  <a:lnTo>
                    <a:pt x="168088" y="316006"/>
                  </a:lnTo>
                  <a:lnTo>
                    <a:pt x="6723" y="416859"/>
                  </a:lnTo>
                  <a:lnTo>
                    <a:pt x="168088" y="490818"/>
                  </a:lnTo>
                  <a:lnTo>
                    <a:pt x="0" y="605118"/>
                  </a:lnTo>
                  <a:lnTo>
                    <a:pt x="107576" y="665630"/>
                  </a:lnTo>
                  <a:lnTo>
                    <a:pt x="107576" y="83371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A9FDA084-D1BB-ABA5-C22E-63DFE0EEFCBB}"/>
                </a:ext>
              </a:extLst>
            </p:cNvPr>
            <p:cNvCxnSpPr/>
            <p:nvPr/>
          </p:nvCxnSpPr>
          <p:spPr>
            <a:xfrm>
              <a:off x="8081682" y="6589054"/>
              <a:ext cx="312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0ACA2018-85C0-2992-3165-803E3BC65F43}"/>
                </a:ext>
              </a:extLst>
            </p:cNvPr>
            <p:cNvCxnSpPr>
              <a:cxnSpLocks/>
            </p:cNvCxnSpPr>
            <p:nvPr/>
          </p:nvCxnSpPr>
          <p:spPr>
            <a:xfrm>
              <a:off x="8128747" y="6649566"/>
              <a:ext cx="2185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순서도: 연결자 39">
              <a:extLst>
                <a:ext uri="{FF2B5EF4-FFF2-40B4-BE49-F238E27FC236}">
                  <a16:creationId xmlns:a16="http://schemas.microsoft.com/office/drawing/2014/main" id="{EE8748B4-A4AA-7822-B8E9-F9EB679CB4CB}"/>
                </a:ext>
              </a:extLst>
            </p:cNvPr>
            <p:cNvSpPr/>
            <p:nvPr/>
          </p:nvSpPr>
          <p:spPr>
            <a:xfrm>
              <a:off x="6736976" y="3886200"/>
              <a:ext cx="47065" cy="4706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E368FD30-FC37-9D52-AA6D-0D10A3D761F5}"/>
                </a:ext>
              </a:extLst>
            </p:cNvPr>
            <p:cNvSpPr/>
            <p:nvPr/>
          </p:nvSpPr>
          <p:spPr>
            <a:xfrm>
              <a:off x="6741456" y="4260469"/>
              <a:ext cx="47065" cy="47069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BBDC2E1-FA91-CA6B-2133-8F4565550A64}"/>
                </a:ext>
              </a:extLst>
            </p:cNvPr>
            <p:cNvCxnSpPr/>
            <p:nvPr/>
          </p:nvCxnSpPr>
          <p:spPr>
            <a:xfrm>
              <a:off x="5735170" y="4287366"/>
              <a:ext cx="10018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B9AABFA0-6FB5-20DA-9671-DEE75B2D9DC1}"/>
                </a:ext>
              </a:extLst>
            </p:cNvPr>
            <p:cNvSpPr/>
            <p:nvPr/>
          </p:nvSpPr>
          <p:spPr>
            <a:xfrm>
              <a:off x="5708276" y="2306171"/>
              <a:ext cx="1055595" cy="1606923"/>
            </a:xfrm>
            <a:custGeom>
              <a:avLst/>
              <a:gdLst>
                <a:gd name="csX0" fmla="*/ 1055595 w 1055595"/>
                <a:gd name="csY0" fmla="*/ 1606923 h 1606923"/>
                <a:gd name="csX1" fmla="*/ 544606 w 1055595"/>
                <a:gd name="csY1" fmla="*/ 1606923 h 1606923"/>
                <a:gd name="csX2" fmla="*/ 544606 w 1055595"/>
                <a:gd name="csY2" fmla="*/ 0 h 1606923"/>
                <a:gd name="csX3" fmla="*/ 0 w 1055595"/>
                <a:gd name="csY3" fmla="*/ 0 h 1606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5595" h="1606923">
                  <a:moveTo>
                    <a:pt x="1055595" y="1606923"/>
                  </a:moveTo>
                  <a:lnTo>
                    <a:pt x="544606" y="1606923"/>
                  </a:lnTo>
                  <a:lnTo>
                    <a:pt x="544606" y="0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7589C5B8-B602-E959-BB10-0427ACBBDD0A}"/>
                </a:ext>
              </a:extLst>
            </p:cNvPr>
            <p:cNvSpPr/>
            <p:nvPr/>
          </p:nvSpPr>
          <p:spPr>
            <a:xfrm>
              <a:off x="6810935" y="3966881"/>
              <a:ext cx="652183" cy="134471"/>
            </a:xfrm>
            <a:custGeom>
              <a:avLst/>
              <a:gdLst>
                <a:gd name="csX0" fmla="*/ 652183 w 652183"/>
                <a:gd name="csY0" fmla="*/ 134471 h 134471"/>
                <a:gd name="csX1" fmla="*/ 134471 w 652183"/>
                <a:gd name="csY1" fmla="*/ 134471 h 134471"/>
                <a:gd name="csX2" fmla="*/ 0 w 652183"/>
                <a:gd name="csY2" fmla="*/ 0 h 134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2183" h="134471">
                  <a:moveTo>
                    <a:pt x="652183" y="134471"/>
                  </a:moveTo>
                  <a:lnTo>
                    <a:pt x="134471" y="134471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203BD4B9-21DB-040D-F22D-0343D165134A}"/>
                </a:ext>
              </a:extLst>
            </p:cNvPr>
            <p:cNvSpPr/>
            <p:nvPr/>
          </p:nvSpPr>
          <p:spPr>
            <a:xfrm>
              <a:off x="7483288" y="3052482"/>
              <a:ext cx="1701053" cy="2084294"/>
            </a:xfrm>
            <a:custGeom>
              <a:avLst/>
              <a:gdLst>
                <a:gd name="csX0" fmla="*/ 1701053 w 1701053"/>
                <a:gd name="csY0" fmla="*/ 2037229 h 2037229"/>
                <a:gd name="csX1" fmla="*/ 0 w 1701053"/>
                <a:gd name="csY1" fmla="*/ 2037229 h 2037229"/>
                <a:gd name="csX2" fmla="*/ 0 w 1701053"/>
                <a:gd name="csY2" fmla="*/ 0 h 2037229"/>
                <a:gd name="csX3" fmla="*/ 921124 w 1701053"/>
                <a:gd name="csY3" fmla="*/ 0 h 20372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1053" h="2037229">
                  <a:moveTo>
                    <a:pt x="1701053" y="2037229"/>
                  </a:moveTo>
                  <a:lnTo>
                    <a:pt x="0" y="2037229"/>
                  </a:lnTo>
                  <a:lnTo>
                    <a:pt x="0" y="0"/>
                  </a:lnTo>
                  <a:lnTo>
                    <a:pt x="921124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EE89BC1-5149-2256-A1F6-4D1579074383}"/>
                </a:ext>
              </a:extLst>
            </p:cNvPr>
            <p:cNvCxnSpPr/>
            <p:nvPr/>
          </p:nvCxnSpPr>
          <p:spPr>
            <a:xfrm>
              <a:off x="6125134" y="4232775"/>
              <a:ext cx="107577" cy="114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CB137B4B-56F4-4C2B-4D51-E5EAE2CD58E6}"/>
                </a:ext>
              </a:extLst>
            </p:cNvPr>
            <p:cNvCxnSpPr/>
            <p:nvPr/>
          </p:nvCxnSpPr>
          <p:spPr>
            <a:xfrm>
              <a:off x="5933513" y="2246462"/>
              <a:ext cx="107577" cy="114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601508D-D8A7-7BAE-7DC4-635F6BE50991}"/>
                </a:ext>
              </a:extLst>
            </p:cNvPr>
            <p:cNvSpPr txBox="1"/>
            <p:nvPr/>
          </p:nvSpPr>
          <p:spPr>
            <a:xfrm>
              <a:off x="6429037" y="2945863"/>
              <a:ext cx="1036011" cy="10396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Driving</a:t>
              </a:r>
            </a:p>
            <a:p>
              <a:r>
                <a:rPr lang="en-US" altLang="ko-KR" sz="1100" dirty="0"/>
                <a:t>Signals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:</a:t>
              </a:r>
            </a:p>
            <a:p>
              <a:r>
                <a:rPr lang="en-US" altLang="ko-KR" sz="1000" dirty="0"/>
                <a:t>D1~24</a:t>
              </a:r>
            </a:p>
            <a:p>
              <a:r>
                <a:rPr lang="en-US" altLang="ko-KR" sz="1000" dirty="0"/>
                <a:t>SVO1~12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5214D29-1A20-0E8C-5DE9-A5A6E7206351}"/>
                </a:ext>
              </a:extLst>
            </p:cNvPr>
            <p:cNvSpPr txBox="1"/>
            <p:nvPr/>
          </p:nvSpPr>
          <p:spPr>
            <a:xfrm>
              <a:off x="1430178" y="1954754"/>
              <a:ext cx="2563406" cy="60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DAC </a:t>
              </a:r>
              <a:r>
                <a:rPr lang="ko-KR" altLang="en-US" sz="1100" dirty="0"/>
                <a:t>신호와 </a:t>
              </a:r>
              <a:r>
                <a:rPr lang="en-US" altLang="ko-KR" sz="1100" dirty="0"/>
                <a:t>Gate </a:t>
              </a:r>
              <a:r>
                <a:rPr lang="ko-KR" altLang="en-US" sz="1100" dirty="0"/>
                <a:t>신호는</a:t>
              </a:r>
              <a:endParaRPr lang="en-US" altLang="ko-KR" sz="1100" dirty="0"/>
            </a:p>
            <a:p>
              <a:r>
                <a:rPr lang="en-US" altLang="ko-KR" sz="1100" dirty="0"/>
                <a:t>Chip/FPGA </a:t>
              </a:r>
              <a:r>
                <a:rPr lang="ko-KR" altLang="en-US" sz="1100" dirty="0"/>
                <a:t>간에 선택출력</a:t>
              </a:r>
              <a:endParaRPr lang="en-US" altLang="ko-KR" sz="1100" dirty="0"/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854703A-3CAA-8F70-1C0E-45506AABC3F6}"/>
                </a:ext>
              </a:extLst>
            </p:cNvPr>
            <p:cNvCxnSpPr/>
            <p:nvPr/>
          </p:nvCxnSpPr>
          <p:spPr>
            <a:xfrm>
              <a:off x="4296335" y="2238935"/>
              <a:ext cx="41013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A41EA3B3-29B3-E583-E37F-83F3D57D8516}"/>
                </a:ext>
              </a:extLst>
            </p:cNvPr>
            <p:cNvCxnSpPr/>
            <p:nvPr/>
          </p:nvCxnSpPr>
          <p:spPr>
            <a:xfrm>
              <a:off x="3892923" y="2238935"/>
              <a:ext cx="41013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C7A0E26-F07D-62BA-BE56-6C08FD42A285}"/>
                </a:ext>
              </a:extLst>
            </p:cNvPr>
            <p:cNvSpPr txBox="1"/>
            <p:nvPr/>
          </p:nvSpPr>
          <p:spPr>
            <a:xfrm>
              <a:off x="6407289" y="5963768"/>
              <a:ext cx="1336076" cy="368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Termination</a:t>
              </a:r>
              <a:endParaRPr lang="en-US" altLang="ko-KR" sz="1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13B3E1-FB80-2610-1A7A-6246E4324766}"/>
                </a:ext>
              </a:extLst>
            </p:cNvPr>
            <p:cNvSpPr txBox="1"/>
            <p:nvPr/>
          </p:nvSpPr>
          <p:spPr>
            <a:xfrm>
              <a:off x="9029700" y="5931658"/>
              <a:ext cx="2224988" cy="368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TV </a:t>
              </a:r>
              <a:r>
                <a:rPr lang="en-US" altLang="ko-KR" sz="1100" dirty="0" err="1"/>
                <a:t>pannel</a:t>
              </a:r>
              <a:r>
                <a:rPr lang="en-US" altLang="ko-KR" sz="1100" dirty="0"/>
                <a:t> / BAR</a:t>
              </a:r>
              <a:r>
                <a:rPr lang="ko-KR" altLang="en-US" sz="1100" dirty="0"/>
                <a:t> 연결</a:t>
              </a:r>
              <a:endParaRPr lang="en-US" altLang="ko-KR" sz="1000" dirty="0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0EBFB39-D104-9308-93ED-00A8C4E8074F}"/>
              </a:ext>
            </a:extLst>
          </p:cNvPr>
          <p:cNvSpPr/>
          <p:nvPr/>
        </p:nvSpPr>
        <p:spPr>
          <a:xfrm>
            <a:off x="1042459" y="1044236"/>
            <a:ext cx="1171253" cy="2013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MCU</a:t>
            </a:r>
            <a:endParaRPr lang="ko-KR" altLang="en-US" dirty="0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B4C48784-D5F7-0447-FF76-9CC99F8273E8}"/>
              </a:ext>
            </a:extLst>
          </p:cNvPr>
          <p:cNvSpPr/>
          <p:nvPr/>
        </p:nvSpPr>
        <p:spPr>
          <a:xfrm>
            <a:off x="2214594" y="1287103"/>
            <a:ext cx="591671" cy="121024"/>
          </a:xfrm>
          <a:custGeom>
            <a:avLst/>
            <a:gdLst>
              <a:gd name="csX0" fmla="*/ 0 w 591671"/>
              <a:gd name="csY0" fmla="*/ 121024 h 121024"/>
              <a:gd name="csX1" fmla="*/ 403412 w 591671"/>
              <a:gd name="csY1" fmla="*/ 121024 h 121024"/>
              <a:gd name="csX2" fmla="*/ 591671 w 591671"/>
              <a:gd name="csY2" fmla="*/ 0 h 12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1671" h="121024">
                <a:moveTo>
                  <a:pt x="0" y="121024"/>
                </a:moveTo>
                <a:lnTo>
                  <a:pt x="403412" y="121024"/>
                </a:lnTo>
                <a:lnTo>
                  <a:pt x="591671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85C2C81A-1774-ACF1-BA99-C4F8703064FA}"/>
              </a:ext>
            </a:extLst>
          </p:cNvPr>
          <p:cNvSpPr/>
          <p:nvPr/>
        </p:nvSpPr>
        <p:spPr>
          <a:xfrm>
            <a:off x="2214594" y="1577110"/>
            <a:ext cx="591671" cy="121024"/>
          </a:xfrm>
          <a:custGeom>
            <a:avLst/>
            <a:gdLst>
              <a:gd name="csX0" fmla="*/ 0 w 591671"/>
              <a:gd name="csY0" fmla="*/ 121024 h 121024"/>
              <a:gd name="csX1" fmla="*/ 403412 w 591671"/>
              <a:gd name="csY1" fmla="*/ 121024 h 121024"/>
              <a:gd name="csX2" fmla="*/ 591671 w 591671"/>
              <a:gd name="csY2" fmla="*/ 0 h 12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1671" h="121024">
                <a:moveTo>
                  <a:pt x="0" y="121024"/>
                </a:moveTo>
                <a:lnTo>
                  <a:pt x="403412" y="121024"/>
                </a:lnTo>
                <a:lnTo>
                  <a:pt x="591671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D3A1E560-18D8-2B34-9207-A5AFC0395CDD}"/>
              </a:ext>
            </a:extLst>
          </p:cNvPr>
          <p:cNvSpPr/>
          <p:nvPr/>
        </p:nvSpPr>
        <p:spPr>
          <a:xfrm>
            <a:off x="2214594" y="1869863"/>
            <a:ext cx="591671" cy="121024"/>
          </a:xfrm>
          <a:custGeom>
            <a:avLst/>
            <a:gdLst>
              <a:gd name="csX0" fmla="*/ 0 w 591671"/>
              <a:gd name="csY0" fmla="*/ 121024 h 121024"/>
              <a:gd name="csX1" fmla="*/ 403412 w 591671"/>
              <a:gd name="csY1" fmla="*/ 121024 h 121024"/>
              <a:gd name="csX2" fmla="*/ 591671 w 591671"/>
              <a:gd name="csY2" fmla="*/ 0 h 12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1671" h="121024">
                <a:moveTo>
                  <a:pt x="0" y="121024"/>
                </a:moveTo>
                <a:lnTo>
                  <a:pt x="403412" y="121024"/>
                </a:lnTo>
                <a:lnTo>
                  <a:pt x="591671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A9411C-BB7E-98B2-A286-F13E2E6AD72E}"/>
              </a:ext>
            </a:extLst>
          </p:cNvPr>
          <p:cNvSpPr txBox="1"/>
          <p:nvPr/>
        </p:nvSpPr>
        <p:spPr>
          <a:xfrm>
            <a:off x="2153567" y="1957267"/>
            <a:ext cx="1119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FLL </a:t>
            </a:r>
            <a:r>
              <a:rPr lang="en-US" altLang="ko-KR" sz="1100" dirty="0" err="1"/>
              <a:t>Vsync</a:t>
            </a:r>
            <a:endParaRPr lang="en-US" altLang="ko-KR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F4EEA8-CB17-4B1F-D22D-A73905289F55}"/>
              </a:ext>
            </a:extLst>
          </p:cNvPr>
          <p:cNvSpPr txBox="1"/>
          <p:nvPr/>
        </p:nvSpPr>
        <p:spPr>
          <a:xfrm>
            <a:off x="2160291" y="1655530"/>
            <a:ext cx="1119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Vsync</a:t>
            </a:r>
            <a:endParaRPr lang="en-US" altLang="ko-KR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02340D-C6E2-CC47-116E-002D18B0E615}"/>
              </a:ext>
            </a:extLst>
          </p:cNvPr>
          <p:cNvSpPr txBox="1"/>
          <p:nvPr/>
        </p:nvSpPr>
        <p:spPr>
          <a:xfrm>
            <a:off x="2160291" y="1360441"/>
            <a:ext cx="1119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MCLK</a:t>
            </a:r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29B98A7A-68D5-8507-CED6-DC28DCED1E73}"/>
              </a:ext>
            </a:extLst>
          </p:cNvPr>
          <p:cNvSpPr/>
          <p:nvPr/>
        </p:nvSpPr>
        <p:spPr>
          <a:xfrm>
            <a:off x="2214594" y="2411437"/>
            <a:ext cx="591671" cy="121024"/>
          </a:xfrm>
          <a:custGeom>
            <a:avLst/>
            <a:gdLst>
              <a:gd name="csX0" fmla="*/ 0 w 591671"/>
              <a:gd name="csY0" fmla="*/ 121024 h 121024"/>
              <a:gd name="csX1" fmla="*/ 403412 w 591671"/>
              <a:gd name="csY1" fmla="*/ 121024 h 121024"/>
              <a:gd name="csX2" fmla="*/ 591671 w 591671"/>
              <a:gd name="csY2" fmla="*/ 0 h 12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1671" h="121024">
                <a:moveTo>
                  <a:pt x="0" y="121024"/>
                </a:moveTo>
                <a:lnTo>
                  <a:pt x="403412" y="121024"/>
                </a:lnTo>
                <a:lnTo>
                  <a:pt x="591671" y="0"/>
                </a:ln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47994C-21B3-BAE1-77BA-B0CEF5A6AC77}"/>
              </a:ext>
            </a:extLst>
          </p:cNvPr>
          <p:cNvSpPr txBox="1"/>
          <p:nvPr/>
        </p:nvSpPr>
        <p:spPr>
          <a:xfrm>
            <a:off x="2153567" y="2498841"/>
            <a:ext cx="1119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SPI</a:t>
            </a: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D1B9194B-2F09-49D5-7960-D212240E8174}"/>
              </a:ext>
            </a:extLst>
          </p:cNvPr>
          <p:cNvSpPr/>
          <p:nvPr/>
        </p:nvSpPr>
        <p:spPr>
          <a:xfrm>
            <a:off x="2214594" y="2674203"/>
            <a:ext cx="591671" cy="121024"/>
          </a:xfrm>
          <a:custGeom>
            <a:avLst/>
            <a:gdLst>
              <a:gd name="csX0" fmla="*/ 0 w 591671"/>
              <a:gd name="csY0" fmla="*/ 121024 h 121024"/>
              <a:gd name="csX1" fmla="*/ 403412 w 591671"/>
              <a:gd name="csY1" fmla="*/ 121024 h 121024"/>
              <a:gd name="csX2" fmla="*/ 591671 w 591671"/>
              <a:gd name="csY2" fmla="*/ 0 h 12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1671" h="121024">
                <a:moveTo>
                  <a:pt x="0" y="121024"/>
                </a:moveTo>
                <a:lnTo>
                  <a:pt x="403412" y="121024"/>
                </a:lnTo>
                <a:lnTo>
                  <a:pt x="591671" y="0"/>
                </a:ln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485CC7-5D90-A4ED-362E-B4156517F5DD}"/>
              </a:ext>
            </a:extLst>
          </p:cNvPr>
          <p:cNvSpPr txBox="1"/>
          <p:nvPr/>
        </p:nvSpPr>
        <p:spPr>
          <a:xfrm>
            <a:off x="2153567" y="2761607"/>
            <a:ext cx="1119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INTn</a:t>
            </a:r>
            <a:endParaRPr lang="en-US" altLang="ko-KR" sz="1100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52B66F9-7AEC-9048-E42E-38EA798AADCB}"/>
              </a:ext>
            </a:extLst>
          </p:cNvPr>
          <p:cNvCxnSpPr/>
          <p:nvPr/>
        </p:nvCxnSpPr>
        <p:spPr>
          <a:xfrm>
            <a:off x="2475442" y="2492490"/>
            <a:ext cx="80434" cy="85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7C21361-AFEF-4265-29F7-BFCFC031FFBD}"/>
              </a:ext>
            </a:extLst>
          </p:cNvPr>
          <p:cNvCxnSpPr/>
          <p:nvPr/>
        </p:nvCxnSpPr>
        <p:spPr>
          <a:xfrm>
            <a:off x="2475442" y="2752411"/>
            <a:ext cx="80434" cy="85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9AE29AB-47EB-07BF-2817-86798BF61B0E}"/>
              </a:ext>
            </a:extLst>
          </p:cNvPr>
          <p:cNvSpPr txBox="1"/>
          <p:nvPr/>
        </p:nvSpPr>
        <p:spPr>
          <a:xfrm>
            <a:off x="526083" y="3493857"/>
            <a:ext cx="303961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MCU </a:t>
            </a:r>
            <a:r>
              <a:rPr lang="ko-KR" altLang="en-US" sz="1600" dirty="0"/>
              <a:t>는 </a:t>
            </a:r>
            <a:r>
              <a:rPr lang="en-US" altLang="ko-KR" sz="1600" dirty="0"/>
              <a:t>command </a:t>
            </a:r>
            <a:r>
              <a:rPr lang="ko-KR" altLang="en-US" sz="1600" dirty="0"/>
              <a:t>와</a:t>
            </a:r>
            <a:endParaRPr lang="en-US" altLang="ko-KR" sz="1600" dirty="0"/>
          </a:p>
          <a:p>
            <a:r>
              <a:rPr lang="ko-KR" altLang="en-US" sz="1600" dirty="0"/>
              <a:t>관련된 신호를 </a:t>
            </a:r>
            <a:r>
              <a:rPr lang="en-US" altLang="ko-KR" sz="1600" dirty="0"/>
              <a:t>chip </a:t>
            </a:r>
            <a:r>
              <a:rPr lang="ko-KR" altLang="en-US" sz="1600" dirty="0"/>
              <a:t>과</a:t>
            </a:r>
            <a:endParaRPr lang="en-US" altLang="ko-KR" sz="1600" dirty="0"/>
          </a:p>
          <a:p>
            <a:r>
              <a:rPr lang="en-US" altLang="ko-KR" sz="1600" dirty="0"/>
              <a:t>FPGA </a:t>
            </a:r>
            <a:r>
              <a:rPr lang="ko-KR" altLang="en-US" sz="1600" dirty="0"/>
              <a:t>에 모두 제공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검증대상을 선택하는 </a:t>
            </a:r>
            <a:r>
              <a:rPr lang="en-US" altLang="ko-KR" sz="1600" dirty="0"/>
              <a:t>S/W</a:t>
            </a:r>
          </a:p>
          <a:p>
            <a:r>
              <a:rPr lang="ko-KR" altLang="en-US" sz="1600" dirty="0"/>
              <a:t>설정을 </a:t>
            </a:r>
            <a:r>
              <a:rPr lang="en-US" altLang="ko-KR" sz="1600" dirty="0"/>
              <a:t>MCU </a:t>
            </a:r>
            <a:r>
              <a:rPr lang="ko-KR" altLang="en-US" sz="1600" dirty="0"/>
              <a:t>가 출력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혹은 수동으로 전체 </a:t>
            </a:r>
            <a:r>
              <a:rPr lang="en-US" altLang="ko-KR" sz="1600" dirty="0"/>
              <a:t>S/W </a:t>
            </a:r>
            <a:r>
              <a:rPr lang="ko-KR" altLang="en-US" sz="1600" dirty="0"/>
              <a:t>선택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885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B6DA2-E5EA-5934-247E-7115A141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 – Connector Pin description (CON1)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9377B0-AEC7-951D-43B5-1F8281D26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07A6B8-B63D-25E4-10D7-958C900E6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978431"/>
              </p:ext>
            </p:extLst>
          </p:nvPr>
        </p:nvGraphicFramePr>
        <p:xfrm>
          <a:off x="904875" y="327543"/>
          <a:ext cx="10515601" cy="6266904"/>
        </p:xfrm>
        <a:graphic>
          <a:graphicData uri="http://schemas.openxmlformats.org/drawingml/2006/table">
            <a:tbl>
              <a:tblPr/>
              <a:tblGrid>
                <a:gridCol w="500522">
                  <a:extLst>
                    <a:ext uri="{9D8B030D-6E8A-4147-A177-3AD203B41FA5}">
                      <a16:colId xmlns:a16="http://schemas.microsoft.com/office/drawing/2014/main" val="2653331833"/>
                    </a:ext>
                  </a:extLst>
                </a:gridCol>
                <a:gridCol w="1075195">
                  <a:extLst>
                    <a:ext uri="{9D8B030D-6E8A-4147-A177-3AD203B41FA5}">
                      <a16:colId xmlns:a16="http://schemas.microsoft.com/office/drawing/2014/main" val="1681240767"/>
                    </a:ext>
                  </a:extLst>
                </a:gridCol>
                <a:gridCol w="454177">
                  <a:extLst>
                    <a:ext uri="{9D8B030D-6E8A-4147-A177-3AD203B41FA5}">
                      <a16:colId xmlns:a16="http://schemas.microsoft.com/office/drawing/2014/main" val="3779595134"/>
                    </a:ext>
                  </a:extLst>
                </a:gridCol>
                <a:gridCol w="991777">
                  <a:extLst>
                    <a:ext uri="{9D8B030D-6E8A-4147-A177-3AD203B41FA5}">
                      <a16:colId xmlns:a16="http://schemas.microsoft.com/office/drawing/2014/main" val="1811666596"/>
                    </a:ext>
                  </a:extLst>
                </a:gridCol>
                <a:gridCol w="1204960">
                  <a:extLst>
                    <a:ext uri="{9D8B030D-6E8A-4147-A177-3AD203B41FA5}">
                      <a16:colId xmlns:a16="http://schemas.microsoft.com/office/drawing/2014/main" val="3220931623"/>
                    </a:ext>
                  </a:extLst>
                </a:gridCol>
                <a:gridCol w="407834">
                  <a:extLst>
                    <a:ext uri="{9D8B030D-6E8A-4147-A177-3AD203B41FA5}">
                      <a16:colId xmlns:a16="http://schemas.microsoft.com/office/drawing/2014/main" val="466452767"/>
                    </a:ext>
                  </a:extLst>
                </a:gridCol>
                <a:gridCol w="910673">
                  <a:extLst>
                    <a:ext uri="{9D8B030D-6E8A-4147-A177-3AD203B41FA5}">
                      <a16:colId xmlns:a16="http://schemas.microsoft.com/office/drawing/2014/main" val="1216914578"/>
                    </a:ext>
                  </a:extLst>
                </a:gridCol>
                <a:gridCol w="111226">
                  <a:extLst>
                    <a:ext uri="{9D8B030D-6E8A-4147-A177-3AD203B41FA5}">
                      <a16:colId xmlns:a16="http://schemas.microsoft.com/office/drawing/2014/main" val="3440891610"/>
                    </a:ext>
                  </a:extLst>
                </a:gridCol>
                <a:gridCol w="500522">
                  <a:extLst>
                    <a:ext uri="{9D8B030D-6E8A-4147-A177-3AD203B41FA5}">
                      <a16:colId xmlns:a16="http://schemas.microsoft.com/office/drawing/2014/main" val="1808694853"/>
                    </a:ext>
                  </a:extLst>
                </a:gridCol>
                <a:gridCol w="750784">
                  <a:extLst>
                    <a:ext uri="{9D8B030D-6E8A-4147-A177-3AD203B41FA5}">
                      <a16:colId xmlns:a16="http://schemas.microsoft.com/office/drawing/2014/main" val="2852174451"/>
                    </a:ext>
                  </a:extLst>
                </a:gridCol>
                <a:gridCol w="435639">
                  <a:extLst>
                    <a:ext uri="{9D8B030D-6E8A-4147-A177-3AD203B41FA5}">
                      <a16:colId xmlns:a16="http://schemas.microsoft.com/office/drawing/2014/main" val="2970810661"/>
                    </a:ext>
                  </a:extLst>
                </a:gridCol>
                <a:gridCol w="966285">
                  <a:extLst>
                    <a:ext uri="{9D8B030D-6E8A-4147-A177-3AD203B41FA5}">
                      <a16:colId xmlns:a16="http://schemas.microsoft.com/office/drawing/2014/main" val="1398442426"/>
                    </a:ext>
                  </a:extLst>
                </a:gridCol>
                <a:gridCol w="1019583">
                  <a:extLst>
                    <a:ext uri="{9D8B030D-6E8A-4147-A177-3AD203B41FA5}">
                      <a16:colId xmlns:a16="http://schemas.microsoft.com/office/drawing/2014/main" val="1071976947"/>
                    </a:ext>
                  </a:extLst>
                </a:gridCol>
                <a:gridCol w="342951">
                  <a:extLst>
                    <a:ext uri="{9D8B030D-6E8A-4147-A177-3AD203B41FA5}">
                      <a16:colId xmlns:a16="http://schemas.microsoft.com/office/drawing/2014/main" val="4141634079"/>
                    </a:ext>
                  </a:extLst>
                </a:gridCol>
                <a:gridCol w="843473">
                  <a:extLst>
                    <a:ext uri="{9D8B030D-6E8A-4147-A177-3AD203B41FA5}">
                      <a16:colId xmlns:a16="http://schemas.microsoft.com/office/drawing/2014/main" val="3642599598"/>
                    </a:ext>
                  </a:extLst>
                </a:gridCol>
              </a:tblGrid>
              <a:tr h="2984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8342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97491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90619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28812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VCCIN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41403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826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15078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17240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8569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7357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56791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B13_L5_P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71049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B13_L5_N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9449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B13_L7_P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B13_L2_P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28282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B13_L7_P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B13_L2_N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50729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2554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B13_L6_P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36908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B13_L6_N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8339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B34_L20_P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73378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B34_L20_N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20381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50232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B34_L18_N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0068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B34_L18_P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4548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B34_L19_P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B34_L22_P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38321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B34_L19_N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B34_L22_N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1.5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90554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46840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XADC_VN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Analog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2454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XADC_VP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Analog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34784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46544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B34_L24_N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4997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68191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68548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3282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O_inter_sig_N[31]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O_inter_sig_N[31]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21071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O_inter_sig_N[30]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O_inter_sig_N[30]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52718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35969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B16_L6_N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953761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B16_L6_P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17655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B16_L8_P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829506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B16_L8_N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86667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166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05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8CE37-41F8-981D-F488-221F17C2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 – Connector Pin description (CON2)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1D7D50-C9E8-EAE7-FD23-06DFF1C5A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50F3429-E305-4574-7730-AD524F876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61733"/>
              </p:ext>
            </p:extLst>
          </p:nvPr>
        </p:nvGraphicFramePr>
        <p:xfrm>
          <a:off x="533400" y="295547"/>
          <a:ext cx="10868027" cy="6298908"/>
        </p:xfrm>
        <a:graphic>
          <a:graphicData uri="http://schemas.openxmlformats.org/drawingml/2006/table">
            <a:tbl>
              <a:tblPr/>
              <a:tblGrid>
                <a:gridCol w="517297">
                  <a:extLst>
                    <a:ext uri="{9D8B030D-6E8A-4147-A177-3AD203B41FA5}">
                      <a16:colId xmlns:a16="http://schemas.microsoft.com/office/drawing/2014/main" val="1281285665"/>
                    </a:ext>
                  </a:extLst>
                </a:gridCol>
                <a:gridCol w="1111230">
                  <a:extLst>
                    <a:ext uri="{9D8B030D-6E8A-4147-A177-3AD203B41FA5}">
                      <a16:colId xmlns:a16="http://schemas.microsoft.com/office/drawing/2014/main" val="1789509525"/>
                    </a:ext>
                  </a:extLst>
                </a:gridCol>
                <a:gridCol w="469400">
                  <a:extLst>
                    <a:ext uri="{9D8B030D-6E8A-4147-A177-3AD203B41FA5}">
                      <a16:colId xmlns:a16="http://schemas.microsoft.com/office/drawing/2014/main" val="1923844250"/>
                    </a:ext>
                  </a:extLst>
                </a:gridCol>
                <a:gridCol w="1025015">
                  <a:extLst>
                    <a:ext uri="{9D8B030D-6E8A-4147-A177-3AD203B41FA5}">
                      <a16:colId xmlns:a16="http://schemas.microsoft.com/office/drawing/2014/main" val="1773393643"/>
                    </a:ext>
                  </a:extLst>
                </a:gridCol>
                <a:gridCol w="1245345">
                  <a:extLst>
                    <a:ext uri="{9D8B030D-6E8A-4147-A177-3AD203B41FA5}">
                      <a16:colId xmlns:a16="http://schemas.microsoft.com/office/drawing/2014/main" val="1188603173"/>
                    </a:ext>
                  </a:extLst>
                </a:gridCol>
                <a:gridCol w="421502">
                  <a:extLst>
                    <a:ext uri="{9D8B030D-6E8A-4147-A177-3AD203B41FA5}">
                      <a16:colId xmlns:a16="http://schemas.microsoft.com/office/drawing/2014/main" val="2368127220"/>
                    </a:ext>
                  </a:extLst>
                </a:gridCol>
                <a:gridCol w="941193">
                  <a:extLst>
                    <a:ext uri="{9D8B030D-6E8A-4147-A177-3AD203B41FA5}">
                      <a16:colId xmlns:a16="http://schemas.microsoft.com/office/drawing/2014/main" val="273058963"/>
                    </a:ext>
                  </a:extLst>
                </a:gridCol>
                <a:gridCol w="114955">
                  <a:extLst>
                    <a:ext uri="{9D8B030D-6E8A-4147-A177-3AD203B41FA5}">
                      <a16:colId xmlns:a16="http://schemas.microsoft.com/office/drawing/2014/main" val="2868741723"/>
                    </a:ext>
                  </a:extLst>
                </a:gridCol>
                <a:gridCol w="517297">
                  <a:extLst>
                    <a:ext uri="{9D8B030D-6E8A-4147-A177-3AD203B41FA5}">
                      <a16:colId xmlns:a16="http://schemas.microsoft.com/office/drawing/2014/main" val="3453796325"/>
                    </a:ext>
                  </a:extLst>
                </a:gridCol>
                <a:gridCol w="775945">
                  <a:extLst>
                    <a:ext uri="{9D8B030D-6E8A-4147-A177-3AD203B41FA5}">
                      <a16:colId xmlns:a16="http://schemas.microsoft.com/office/drawing/2014/main" val="76431919"/>
                    </a:ext>
                  </a:extLst>
                </a:gridCol>
                <a:gridCol w="450240">
                  <a:extLst>
                    <a:ext uri="{9D8B030D-6E8A-4147-A177-3AD203B41FA5}">
                      <a16:colId xmlns:a16="http://schemas.microsoft.com/office/drawing/2014/main" val="392794230"/>
                    </a:ext>
                  </a:extLst>
                </a:gridCol>
                <a:gridCol w="998669">
                  <a:extLst>
                    <a:ext uri="{9D8B030D-6E8A-4147-A177-3AD203B41FA5}">
                      <a16:colId xmlns:a16="http://schemas.microsoft.com/office/drawing/2014/main" val="1825300902"/>
                    </a:ext>
                  </a:extLst>
                </a:gridCol>
                <a:gridCol w="1053754">
                  <a:extLst>
                    <a:ext uri="{9D8B030D-6E8A-4147-A177-3AD203B41FA5}">
                      <a16:colId xmlns:a16="http://schemas.microsoft.com/office/drawing/2014/main" val="2487431837"/>
                    </a:ext>
                  </a:extLst>
                </a:gridCol>
                <a:gridCol w="354444">
                  <a:extLst>
                    <a:ext uri="{9D8B030D-6E8A-4147-A177-3AD203B41FA5}">
                      <a16:colId xmlns:a16="http://schemas.microsoft.com/office/drawing/2014/main" val="758700288"/>
                    </a:ext>
                  </a:extLst>
                </a:gridCol>
                <a:gridCol w="871741">
                  <a:extLst>
                    <a:ext uri="{9D8B030D-6E8A-4147-A177-3AD203B41FA5}">
                      <a16:colId xmlns:a16="http://schemas.microsoft.com/office/drawing/2014/main" val="1589545551"/>
                    </a:ext>
                  </a:extLst>
                </a:gridCol>
              </a:tblGrid>
              <a:tr h="2999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635461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B13_L16_P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B14_L16_P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12507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B13_L16_N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B14_L16_N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817503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B13_L15_P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820949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B13_L15_N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453681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05857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B14_L10_P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242979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B14_L10_N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84662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B13_L12_P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B14_L8_N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894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B13_L12_N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B14_L8_P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44801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5243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B14_L15_N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073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B14_L15_P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91942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B13_L10_P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B14_L17_P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843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B13_L10_N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B14_L17_N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66339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38052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B13_L9_N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B14_L6_N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65745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B13_L9_P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B13_IO0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10471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B13_L8_N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AB10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B14_L7_N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04269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B13_L8_P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B14_L7_P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179409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64629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585247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9972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IO_CH[23]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B14_L9_P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Y21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IO_CH[22]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812474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IO_CH[21]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B14_L9_N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IO_CH[20]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47728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964186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B14_L5_N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B14_L12_N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12061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B14_L5_P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B14_L12_P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6272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B14_L18_N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088092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B14_L18_P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509079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5832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B13_L17_P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421638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B13_L17_N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IO_CH[9]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IO_CH[8]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992343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B14_L21_N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IO_CH[7]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B14_L20_N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IO_CH[6]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50348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B14_L21_P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IO_CH[5]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B14_L20_P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IO_CH[4]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87243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228173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B14_L22_P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IO_CH[3]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B14_L19_N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IO_CH[2]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77578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B14_L22_N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IO_CH[1]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B14_L19_P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IO_CH[0]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79825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B14_L24_N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I_FBI1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 /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B14_L23_P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I_FBI2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 /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340890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PIN77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B14_L24_P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P16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I_FBI3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 /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PIN78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B14_L23_N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N14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I_FLLSYNC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6785"/>
                  </a:ext>
                </a:extLst>
              </a:tr>
              <a:tr h="149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PIN79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B14_IO0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O_SPI_MISO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PIN80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B14_IO25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N15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69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76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4DCC4-CD28-72C9-2469-649B48A3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 – Connector Pin description (CON3)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388FA8-50AB-E374-A1FE-3DD6FAFF7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F0A074-C2F8-9E2C-D79B-B93433833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02248"/>
              </p:ext>
            </p:extLst>
          </p:nvPr>
        </p:nvGraphicFramePr>
        <p:xfrm>
          <a:off x="456233" y="327544"/>
          <a:ext cx="10983290" cy="6164972"/>
        </p:xfrm>
        <a:graphic>
          <a:graphicData uri="http://schemas.openxmlformats.org/drawingml/2006/table">
            <a:tbl>
              <a:tblPr/>
              <a:tblGrid>
                <a:gridCol w="522783">
                  <a:extLst>
                    <a:ext uri="{9D8B030D-6E8A-4147-A177-3AD203B41FA5}">
                      <a16:colId xmlns:a16="http://schemas.microsoft.com/office/drawing/2014/main" val="615616447"/>
                    </a:ext>
                  </a:extLst>
                </a:gridCol>
                <a:gridCol w="1123015">
                  <a:extLst>
                    <a:ext uri="{9D8B030D-6E8A-4147-A177-3AD203B41FA5}">
                      <a16:colId xmlns:a16="http://schemas.microsoft.com/office/drawing/2014/main" val="1227100962"/>
                    </a:ext>
                  </a:extLst>
                </a:gridCol>
                <a:gridCol w="474378">
                  <a:extLst>
                    <a:ext uri="{9D8B030D-6E8A-4147-A177-3AD203B41FA5}">
                      <a16:colId xmlns:a16="http://schemas.microsoft.com/office/drawing/2014/main" val="3902908653"/>
                    </a:ext>
                  </a:extLst>
                </a:gridCol>
                <a:gridCol w="1035885">
                  <a:extLst>
                    <a:ext uri="{9D8B030D-6E8A-4147-A177-3AD203B41FA5}">
                      <a16:colId xmlns:a16="http://schemas.microsoft.com/office/drawing/2014/main" val="3550072405"/>
                    </a:ext>
                  </a:extLst>
                </a:gridCol>
                <a:gridCol w="1258551">
                  <a:extLst>
                    <a:ext uri="{9D8B030D-6E8A-4147-A177-3AD203B41FA5}">
                      <a16:colId xmlns:a16="http://schemas.microsoft.com/office/drawing/2014/main" val="655633300"/>
                    </a:ext>
                  </a:extLst>
                </a:gridCol>
                <a:gridCol w="425972">
                  <a:extLst>
                    <a:ext uri="{9D8B030D-6E8A-4147-A177-3AD203B41FA5}">
                      <a16:colId xmlns:a16="http://schemas.microsoft.com/office/drawing/2014/main" val="1554179653"/>
                    </a:ext>
                  </a:extLst>
                </a:gridCol>
                <a:gridCol w="951175">
                  <a:extLst>
                    <a:ext uri="{9D8B030D-6E8A-4147-A177-3AD203B41FA5}">
                      <a16:colId xmlns:a16="http://schemas.microsoft.com/office/drawing/2014/main" val="2293390189"/>
                    </a:ext>
                  </a:extLst>
                </a:gridCol>
                <a:gridCol w="116174">
                  <a:extLst>
                    <a:ext uri="{9D8B030D-6E8A-4147-A177-3AD203B41FA5}">
                      <a16:colId xmlns:a16="http://schemas.microsoft.com/office/drawing/2014/main" val="714994917"/>
                    </a:ext>
                  </a:extLst>
                </a:gridCol>
                <a:gridCol w="522783">
                  <a:extLst>
                    <a:ext uri="{9D8B030D-6E8A-4147-A177-3AD203B41FA5}">
                      <a16:colId xmlns:a16="http://schemas.microsoft.com/office/drawing/2014/main" val="2821129470"/>
                    </a:ext>
                  </a:extLst>
                </a:gridCol>
                <a:gridCol w="784176">
                  <a:extLst>
                    <a:ext uri="{9D8B030D-6E8A-4147-A177-3AD203B41FA5}">
                      <a16:colId xmlns:a16="http://schemas.microsoft.com/office/drawing/2014/main" val="2936535918"/>
                    </a:ext>
                  </a:extLst>
                </a:gridCol>
                <a:gridCol w="455016">
                  <a:extLst>
                    <a:ext uri="{9D8B030D-6E8A-4147-A177-3AD203B41FA5}">
                      <a16:colId xmlns:a16="http://schemas.microsoft.com/office/drawing/2014/main" val="3721944312"/>
                    </a:ext>
                  </a:extLst>
                </a:gridCol>
                <a:gridCol w="1009263">
                  <a:extLst>
                    <a:ext uri="{9D8B030D-6E8A-4147-A177-3AD203B41FA5}">
                      <a16:colId xmlns:a16="http://schemas.microsoft.com/office/drawing/2014/main" val="927623965"/>
                    </a:ext>
                  </a:extLst>
                </a:gridCol>
                <a:gridCol w="1064929">
                  <a:extLst>
                    <a:ext uri="{9D8B030D-6E8A-4147-A177-3AD203B41FA5}">
                      <a16:colId xmlns:a16="http://schemas.microsoft.com/office/drawing/2014/main" val="1466069325"/>
                    </a:ext>
                  </a:extLst>
                </a:gridCol>
                <a:gridCol w="358203">
                  <a:extLst>
                    <a:ext uri="{9D8B030D-6E8A-4147-A177-3AD203B41FA5}">
                      <a16:colId xmlns:a16="http://schemas.microsoft.com/office/drawing/2014/main" val="3588696643"/>
                    </a:ext>
                  </a:extLst>
                </a:gridCol>
                <a:gridCol w="880987">
                  <a:extLst>
                    <a:ext uri="{9D8B030D-6E8A-4147-A177-3AD203B41FA5}">
                      <a16:colId xmlns:a16="http://schemas.microsoft.com/office/drawing/2014/main" val="2949987398"/>
                    </a:ext>
                  </a:extLst>
                </a:gridCol>
              </a:tblGrid>
              <a:tr h="2939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06533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B15_IO0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B15_IO25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1963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B16_IO0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B16_IO25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20862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B15_L4_P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B16_L21_N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676924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B15_L4_N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B16_L21_P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426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102897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B16_L23_P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O_SVO10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5816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O_SVO11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B16_L23_N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O_SVO12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DATA&amp;SV MUX</a:t>
                      </a:r>
                    </a:p>
                  </a:txBody>
                  <a:tcPr marL="4600" marR="4600" marT="46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11036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B15_L12_P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O_FB1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Mux Switch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B16_L22_P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O_FB2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Mux Switch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28415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B15_L12_N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O_FB3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 Mux Switch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B16_L22_N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O_GATE1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LED_ON/OFF_MUX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123248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101387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B15_L11_P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O_GATE2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LED_ON/OFF_MUX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B16_L24_P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O_GATE3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LED_ON/OFF_MUX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921638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B15_L11_N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O_INT_FAULT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B16_L24_N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O_INT_LD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4416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B15_L8_N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40795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I_SPI_CLK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B15_L8_P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I_SPI_CS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362937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38917"/>
                  </a:ext>
                </a:extLst>
              </a:tr>
              <a:tr h="1398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B15_L5_P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I_SPI_MOSI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B15_L7_N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I_TEST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Pull down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70214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B15_L5_N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I_VSYNC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B15_L7_P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DAC_0_clk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5211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B15_L3_N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DAC_1_clk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B15_L9_P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DAC_2_clk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9333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B15_L3_P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J14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conn_in_N[5]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B15_L9_N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conn_in_N[4]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638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5557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B15_L19_P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conn_in_N[3]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B15_L15_N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conn_in_N[2]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21345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B15_L19_N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conn_in_N[1]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B15_L15_P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N22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conn_in_N[0]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496233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B15_L20_P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conn_in_P[5]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B15_L6_N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conn_in_P[4]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214916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B15_L20_N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conn_in_P[3]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B15_L6_P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conn_in_P[2]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353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433716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B15_L14_P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conn_in_P[1]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B15_L13_N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conn_in_P[0]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51474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B15_L14_N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O_inter_sig_P[31]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B15_L13_P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O_inter_sig_P[30]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57233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B15_L21_P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O_inter_sig_P[29]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B15_L10_P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O_inter_sig_P[28]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575117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B15_L21_N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J17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O_inter_sig_P[27]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B15_L10_N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L21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O_inter_sig_P[26]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247156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671243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B15_L23_P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O_inter_sig_P[25]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B15_L18_P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O_inter_sig_P[24]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66588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B15_L23_N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O_inter_sig_P[23]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B15_L18_N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M20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O_inter_sig_P[22]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40161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B15_L22_P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O_inter_sig_P[21]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B15_L17_N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O_inter_sig_P[20]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90425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B15_L22_N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O_inter_sig_P[19]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B15_L17_P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O_inter_sig_P[18]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1672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48142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PIN71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B15_L24_P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O_inter_sig_P[17]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B15_L16_P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O_inter_sig_P[16]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54768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B15_L24_N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M16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O_inter_sig_P[15]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PIN74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B15_L16_N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O_inter_sig_P[14]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178697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PIN75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PIN76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65590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PIN77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FPGA_TCK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V12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FPGA_TCK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PIN78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FPGA_TDI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FPGA_TDI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33260"/>
                  </a:ext>
                </a:extLst>
              </a:tr>
              <a:tr h="1469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PIN79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FPGA_TDO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FPGA_TDO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PIN80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FPGA_TMS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T13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FPGA_TMS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638" marR="4638" marT="46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147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4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DE56D-0A26-418E-27EC-16C36FA78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ⓓ </a:t>
            </a:r>
            <a:r>
              <a:rPr lang="en-US" altLang="ko-KR" dirty="0"/>
              <a:t>FPGA Module – Connector Pin description (CON4)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A07A7E-7694-9BDA-2683-C964F9C9B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0C505E3-9D94-772C-41F7-9445683F3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0971"/>
              </p:ext>
            </p:extLst>
          </p:nvPr>
        </p:nvGraphicFramePr>
        <p:xfrm>
          <a:off x="733424" y="327544"/>
          <a:ext cx="10991852" cy="6266905"/>
        </p:xfrm>
        <a:graphic>
          <a:graphicData uri="http://schemas.openxmlformats.org/drawingml/2006/table">
            <a:tbl>
              <a:tblPr/>
              <a:tblGrid>
                <a:gridCol w="523191">
                  <a:extLst>
                    <a:ext uri="{9D8B030D-6E8A-4147-A177-3AD203B41FA5}">
                      <a16:colId xmlns:a16="http://schemas.microsoft.com/office/drawing/2014/main" val="1059801247"/>
                    </a:ext>
                  </a:extLst>
                </a:gridCol>
                <a:gridCol w="1123891">
                  <a:extLst>
                    <a:ext uri="{9D8B030D-6E8A-4147-A177-3AD203B41FA5}">
                      <a16:colId xmlns:a16="http://schemas.microsoft.com/office/drawing/2014/main" val="1119520872"/>
                    </a:ext>
                  </a:extLst>
                </a:gridCol>
                <a:gridCol w="474747">
                  <a:extLst>
                    <a:ext uri="{9D8B030D-6E8A-4147-A177-3AD203B41FA5}">
                      <a16:colId xmlns:a16="http://schemas.microsoft.com/office/drawing/2014/main" val="1093692514"/>
                    </a:ext>
                  </a:extLst>
                </a:gridCol>
                <a:gridCol w="1036692">
                  <a:extLst>
                    <a:ext uri="{9D8B030D-6E8A-4147-A177-3AD203B41FA5}">
                      <a16:colId xmlns:a16="http://schemas.microsoft.com/office/drawing/2014/main" val="3928714234"/>
                    </a:ext>
                  </a:extLst>
                </a:gridCol>
                <a:gridCol w="1259533">
                  <a:extLst>
                    <a:ext uri="{9D8B030D-6E8A-4147-A177-3AD203B41FA5}">
                      <a16:colId xmlns:a16="http://schemas.microsoft.com/office/drawing/2014/main" val="2795094425"/>
                    </a:ext>
                  </a:extLst>
                </a:gridCol>
                <a:gridCol w="426304">
                  <a:extLst>
                    <a:ext uri="{9D8B030D-6E8A-4147-A177-3AD203B41FA5}">
                      <a16:colId xmlns:a16="http://schemas.microsoft.com/office/drawing/2014/main" val="2238187142"/>
                    </a:ext>
                  </a:extLst>
                </a:gridCol>
                <a:gridCol w="951917">
                  <a:extLst>
                    <a:ext uri="{9D8B030D-6E8A-4147-A177-3AD203B41FA5}">
                      <a16:colId xmlns:a16="http://schemas.microsoft.com/office/drawing/2014/main" val="470450947"/>
                    </a:ext>
                  </a:extLst>
                </a:gridCol>
                <a:gridCol w="116266">
                  <a:extLst>
                    <a:ext uri="{9D8B030D-6E8A-4147-A177-3AD203B41FA5}">
                      <a16:colId xmlns:a16="http://schemas.microsoft.com/office/drawing/2014/main" val="1149903262"/>
                    </a:ext>
                  </a:extLst>
                </a:gridCol>
                <a:gridCol w="523191">
                  <a:extLst>
                    <a:ext uri="{9D8B030D-6E8A-4147-A177-3AD203B41FA5}">
                      <a16:colId xmlns:a16="http://schemas.microsoft.com/office/drawing/2014/main" val="3263223678"/>
                    </a:ext>
                  </a:extLst>
                </a:gridCol>
                <a:gridCol w="784787">
                  <a:extLst>
                    <a:ext uri="{9D8B030D-6E8A-4147-A177-3AD203B41FA5}">
                      <a16:colId xmlns:a16="http://schemas.microsoft.com/office/drawing/2014/main" val="3245220683"/>
                    </a:ext>
                  </a:extLst>
                </a:gridCol>
                <a:gridCol w="455369">
                  <a:extLst>
                    <a:ext uri="{9D8B030D-6E8A-4147-A177-3AD203B41FA5}">
                      <a16:colId xmlns:a16="http://schemas.microsoft.com/office/drawing/2014/main" val="1823161518"/>
                    </a:ext>
                  </a:extLst>
                </a:gridCol>
                <a:gridCol w="1010050">
                  <a:extLst>
                    <a:ext uri="{9D8B030D-6E8A-4147-A177-3AD203B41FA5}">
                      <a16:colId xmlns:a16="http://schemas.microsoft.com/office/drawing/2014/main" val="2963157503"/>
                    </a:ext>
                  </a:extLst>
                </a:gridCol>
                <a:gridCol w="1065759">
                  <a:extLst>
                    <a:ext uri="{9D8B030D-6E8A-4147-A177-3AD203B41FA5}">
                      <a16:colId xmlns:a16="http://schemas.microsoft.com/office/drawing/2014/main" val="2593547387"/>
                    </a:ext>
                  </a:extLst>
                </a:gridCol>
                <a:gridCol w="358482">
                  <a:extLst>
                    <a:ext uri="{9D8B030D-6E8A-4147-A177-3AD203B41FA5}">
                      <a16:colId xmlns:a16="http://schemas.microsoft.com/office/drawing/2014/main" val="3133938619"/>
                    </a:ext>
                  </a:extLst>
                </a:gridCol>
                <a:gridCol w="881673">
                  <a:extLst>
                    <a:ext uri="{9D8B030D-6E8A-4147-A177-3AD203B41FA5}">
                      <a16:colId xmlns:a16="http://schemas.microsoft.com/office/drawing/2014/main" val="1042125834"/>
                    </a:ext>
                  </a:extLst>
                </a:gridCol>
              </a:tblGrid>
              <a:tr h="29842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I/O Config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board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 name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I/O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58927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26646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86365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97612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37299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0106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MGT_TX2_P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conn_clk_P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6002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MGT_TX2_N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conn_clk_N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28865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5911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MGT_TX3_P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MGT_RX2_P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24147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MGT_TX3_N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MGT_RX2_N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89276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09244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MGT_RX3_P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MGT_TX0_P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991797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MGT_RX3_N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MGT_TX0_N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53533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58384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PIN29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MGT_TX1_P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MGT_RX0_P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67133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MGT_TX1_N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MGT_RX0_N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44056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22270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MGT_RX1_P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MGT_CLK1_P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3625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MGT_RX1_N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MGT_CLK1_N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사용불가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62251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PIN39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0348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B16_L5_P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O_inter_sig_N[25]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O_inter_sig_N[24]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6555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B16_L5_N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O_inter_sig_N[23]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O_inter_sig_N[22]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54292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B16_L7_P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O_inter_sig_N[21]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B16_L3_P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O_inter_sig_N[20]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0751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B16_L7_N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O_inter_sig_N[19]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B16_L3_N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O_inter_sig_N[18]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28906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PIN49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15049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B16_L9_P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O_inter_sig_N[17]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B16_L10_P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O_inter_sig_N[16]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8242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B16_L9_N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O_inter_sig_N[15]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B16_L10_N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O_inter_sig_N[14]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41685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B16_L11_P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O_inter_sig_N[13]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B16_L12_P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O_inter_sig_N[12]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172995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B16_L11_N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O_inter_sig_N[11]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B16_L12_N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O_inter_sig_N[10]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44558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PIN59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66787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B16_L13_P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O_inter_sig_N[9]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B16_L14_N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O_inter_sig_N[8]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33317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B16_L13_N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O_inter_sig_N[7]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B16_L14_P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O_inter_sig_N[6]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03262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B16_L15_P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O_inter_sig_N[5]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B16_L16_N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O_inter_sig_N[4]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21637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B16_L15_N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O_inter_sig_N[3]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B16_L16_P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O_inter_sig_N[2]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53425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PIN69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GND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20772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B16_L17_P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O_inter_sig_N[1]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B16_L18_N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O_inter_sig_N[0]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095140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B16_L17_N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PIN74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B16_L18_P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540689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PIN75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B16_L19_P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O_LED_OFF1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LED_ON/OFF_MUX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PIN76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B16_L20_N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O_LED_OFF2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LED_ON/OFF_MUX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286468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PIN77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B16_L19_N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O_LED_OFF3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LED_ON/OFF_MUX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PIN78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B16_L20_P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B22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206594"/>
                  </a:ext>
                </a:extLst>
              </a:tr>
              <a:tr h="1492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PIN79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PIN80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09" marR="4709" marT="47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167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0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99FEA-0EB6-5E23-B013-03A2D7ED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ⓒ MCU</a:t>
            </a:r>
            <a:r>
              <a:rPr lang="ko-KR" altLang="en-US" b="1" dirty="0"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</a:rPr>
              <a:t>board</a:t>
            </a:r>
            <a:r>
              <a:rPr lang="ko-KR" altLang="en-US" b="1" dirty="0"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</a:rPr>
              <a:t>(STM32F446RE)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70CF15-9E9B-B53D-ED8D-9CF5531C8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91D265-8C3C-D6AC-357C-89E24C4FE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1" r="2496"/>
          <a:stretch>
            <a:fillRect/>
          </a:stretch>
        </p:blipFill>
        <p:spPr>
          <a:xfrm>
            <a:off x="298681" y="865744"/>
            <a:ext cx="3009112" cy="363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283B6A-FEF5-071F-056C-C3745C411F27}"/>
              </a:ext>
            </a:extLst>
          </p:cNvPr>
          <p:cNvSpPr txBox="1"/>
          <p:nvPr/>
        </p:nvSpPr>
        <p:spPr>
          <a:xfrm>
            <a:off x="391880" y="411978"/>
            <a:ext cx="141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Dimension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B2B5CF-ADFE-0308-0446-AC111D092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862" y="1397341"/>
            <a:ext cx="3253678" cy="28634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1C2ACC-3925-D3D0-6738-7C0826D3D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773" y="510068"/>
            <a:ext cx="4546589" cy="522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2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CBDE4-D374-B77C-C3A3-FAFE859C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ⓒ MCU</a:t>
            </a:r>
            <a:r>
              <a:rPr lang="ko-KR" altLang="en-US" b="1" dirty="0"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</a:rPr>
              <a:t>board</a:t>
            </a:r>
            <a:r>
              <a:rPr lang="ko-KR" altLang="en-US" b="1" dirty="0">
                <a:latin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</a:rPr>
              <a:t>(STM32F446RE) – Connector Pin Descriptions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C53B82A-11FF-14E5-4611-286E28EE7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97D76153-B358-07C1-9B18-7852968DC5C5}"/>
              </a:ext>
            </a:extLst>
          </p:cNvPr>
          <p:cNvSpPr txBox="1">
            <a:spLocks/>
          </p:cNvSpPr>
          <p:nvPr/>
        </p:nvSpPr>
        <p:spPr>
          <a:xfrm>
            <a:off x="5737846" y="6594445"/>
            <a:ext cx="709684" cy="2440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D7C3DD-38B7-4D6D-B394-0849C77A12E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6BACB-43C1-B542-4885-43EFC77A99C1}"/>
              </a:ext>
            </a:extLst>
          </p:cNvPr>
          <p:cNvSpPr txBox="1"/>
          <p:nvPr/>
        </p:nvSpPr>
        <p:spPr>
          <a:xfrm>
            <a:off x="4334653" y="1805223"/>
            <a:ext cx="352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첨부 엑셀 자료 참조</a:t>
            </a:r>
            <a:endParaRPr lang="ko-KR" altLang="en-US" b="1" dirty="0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D0BCCEE8-BF0E-158D-9675-D368A8DA1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105567"/>
              </p:ext>
            </p:extLst>
          </p:nvPr>
        </p:nvGraphicFramePr>
        <p:xfrm>
          <a:off x="5638800" y="3024188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806480" progId="Excel.Sheet.12">
                  <p:embed/>
                </p:oleObj>
              </mc:Choice>
              <mc:Fallback>
                <p:oleObj name="Worksheet" showAsIcon="1" r:id="rId2" imgW="914400" imgH="806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24188"/>
                        <a:ext cx="914400" cy="80645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355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2B4DDC06-B4C7-7441-91B1-71843830D891}"/>
              </a:ext>
            </a:extLst>
          </p:cNvPr>
          <p:cNvSpPr/>
          <p:nvPr/>
        </p:nvSpPr>
        <p:spPr>
          <a:xfrm>
            <a:off x="2277517" y="563019"/>
            <a:ext cx="7315200" cy="57319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LED Power Switch Module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pic>
        <p:nvPicPr>
          <p:cNvPr id="22" name="그림 21" descr="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34EAC1-3926-ECFC-C713-8F33B534ED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1754" y="845327"/>
            <a:ext cx="1247949" cy="171473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559B15-4D8E-B325-9A19-90AD8F94D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25433" y="6569039"/>
            <a:ext cx="709684" cy="244025"/>
          </a:xfrm>
        </p:spPr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9F76EC5-39C6-F98A-BA56-1625DD8F6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5" y="55094"/>
            <a:ext cx="6804025" cy="22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</a:rPr>
              <a:t>ⓕ LED Power Switch Module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9FD7629-429B-DDF3-E157-C7F49AB4A6FF}"/>
              </a:ext>
            </a:extLst>
          </p:cNvPr>
          <p:cNvCxnSpPr>
            <a:cxnSpLocks/>
          </p:cNvCxnSpPr>
          <p:nvPr/>
        </p:nvCxnSpPr>
        <p:spPr>
          <a:xfrm>
            <a:off x="4182517" y="813430"/>
            <a:ext cx="24764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A802C5-551E-CD77-199A-C8D966C3DDDD}"/>
              </a:ext>
            </a:extLst>
          </p:cNvPr>
          <p:cNvSpPr txBox="1"/>
          <p:nvPr/>
        </p:nvSpPr>
        <p:spPr>
          <a:xfrm>
            <a:off x="3708074" y="567209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VLED_1_SMPS</a:t>
            </a:r>
            <a:endParaRPr lang="ko-KR" altLang="en-US" sz="1000" b="1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7728C9-3EE5-B61A-F484-0553860C3EC5}"/>
              </a:ext>
            </a:extLst>
          </p:cNvPr>
          <p:cNvCxnSpPr>
            <a:cxnSpLocks/>
          </p:cNvCxnSpPr>
          <p:nvPr/>
        </p:nvCxnSpPr>
        <p:spPr>
          <a:xfrm>
            <a:off x="4466679" y="1756263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79C3EC6-B3BF-490C-8874-5F3523FC90B0}"/>
              </a:ext>
            </a:extLst>
          </p:cNvPr>
          <p:cNvSpPr txBox="1"/>
          <p:nvPr/>
        </p:nvSpPr>
        <p:spPr>
          <a:xfrm>
            <a:off x="4919506" y="1604577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VLED_1_LED</a:t>
            </a:r>
            <a:endParaRPr lang="ko-KR" altLang="en-US" sz="1000" b="1" dirty="0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91CB7CD6-F407-22CB-BCA8-009B1BD8488D}"/>
              </a:ext>
            </a:extLst>
          </p:cNvPr>
          <p:cNvSpPr/>
          <p:nvPr/>
        </p:nvSpPr>
        <p:spPr>
          <a:xfrm rot="10800000">
            <a:off x="4191251" y="2821494"/>
            <a:ext cx="265903" cy="180976"/>
          </a:xfrm>
          <a:prstGeom prst="triangl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F6B9BD0-A34B-AD62-55C9-56BD9D09F8C2}"/>
              </a:ext>
            </a:extLst>
          </p:cNvPr>
          <p:cNvCxnSpPr>
            <a:cxnSpLocks/>
          </p:cNvCxnSpPr>
          <p:nvPr/>
        </p:nvCxnSpPr>
        <p:spPr>
          <a:xfrm flipV="1">
            <a:off x="4318686" y="2536528"/>
            <a:ext cx="0" cy="2849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20A1A7-04C5-3BA8-B10A-78F67BF4F8B2}"/>
              </a:ext>
            </a:extLst>
          </p:cNvPr>
          <p:cNvSpPr/>
          <p:nvPr/>
        </p:nvSpPr>
        <p:spPr>
          <a:xfrm>
            <a:off x="3182973" y="1279409"/>
            <a:ext cx="685898" cy="12806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Driver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E0FCC18-5AAC-C1F9-5446-66C43297DD46}"/>
              </a:ext>
            </a:extLst>
          </p:cNvPr>
          <p:cNvCxnSpPr>
            <a:cxnSpLocks/>
          </p:cNvCxnSpPr>
          <p:nvPr/>
        </p:nvCxnSpPr>
        <p:spPr>
          <a:xfrm>
            <a:off x="2608474" y="1756263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372DEC-4C64-4996-5138-BE4A63C18372}"/>
              </a:ext>
            </a:extLst>
          </p:cNvPr>
          <p:cNvCxnSpPr>
            <a:cxnSpLocks/>
          </p:cNvCxnSpPr>
          <p:nvPr/>
        </p:nvCxnSpPr>
        <p:spPr>
          <a:xfrm>
            <a:off x="2608474" y="2022963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10ACC4-9D82-1498-8135-2217134B9076}"/>
              </a:ext>
            </a:extLst>
          </p:cNvPr>
          <p:cNvSpPr txBox="1"/>
          <p:nvPr/>
        </p:nvSpPr>
        <p:spPr>
          <a:xfrm>
            <a:off x="2187964" y="1510042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HIGH_1</a:t>
            </a:r>
            <a:endParaRPr lang="ko-KR" altLang="en-US" sz="1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EA0B16-5176-572F-F8E3-C175AC75AF36}"/>
              </a:ext>
            </a:extLst>
          </p:cNvPr>
          <p:cNvSpPr txBox="1"/>
          <p:nvPr/>
        </p:nvSpPr>
        <p:spPr>
          <a:xfrm>
            <a:off x="2163674" y="1800998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LOW_1</a:t>
            </a:r>
            <a:endParaRPr lang="ko-KR" altLang="en-US" sz="1000" b="1" dirty="0"/>
          </a:p>
        </p:txBody>
      </p:sp>
      <p:pic>
        <p:nvPicPr>
          <p:cNvPr id="30" name="그림 29" descr="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FE595F-7C1F-8C80-E950-F14771B68BB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5535" y="2480819"/>
            <a:ext cx="1247949" cy="1714739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180B303-FE79-BDD1-8C00-56503BC4A71C}"/>
              </a:ext>
            </a:extLst>
          </p:cNvPr>
          <p:cNvCxnSpPr>
            <a:cxnSpLocks/>
          </p:cNvCxnSpPr>
          <p:nvPr/>
        </p:nvCxnSpPr>
        <p:spPr>
          <a:xfrm>
            <a:off x="5766298" y="2448922"/>
            <a:ext cx="24764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BD00B92-8937-2863-028B-1255DCED1A93}"/>
              </a:ext>
            </a:extLst>
          </p:cNvPr>
          <p:cNvSpPr txBox="1"/>
          <p:nvPr/>
        </p:nvSpPr>
        <p:spPr>
          <a:xfrm>
            <a:off x="5291855" y="2202701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VLED_1_SMPS</a:t>
            </a:r>
            <a:endParaRPr lang="ko-KR" altLang="en-US" sz="1000" b="1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5CA5152-C6DD-34B5-5FFC-ED6A63C82E3B}"/>
              </a:ext>
            </a:extLst>
          </p:cNvPr>
          <p:cNvCxnSpPr>
            <a:cxnSpLocks/>
          </p:cNvCxnSpPr>
          <p:nvPr/>
        </p:nvCxnSpPr>
        <p:spPr>
          <a:xfrm>
            <a:off x="6050460" y="3391755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A5FB362-A871-6C15-B348-BAA1F8D21891}"/>
              </a:ext>
            </a:extLst>
          </p:cNvPr>
          <p:cNvSpPr txBox="1"/>
          <p:nvPr/>
        </p:nvSpPr>
        <p:spPr>
          <a:xfrm>
            <a:off x="6503287" y="3240069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VLED_2_LED</a:t>
            </a:r>
            <a:endParaRPr lang="ko-KR" altLang="en-US" sz="1000" b="1" dirty="0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1A5EF9DF-2117-3486-7535-B5048B778722}"/>
              </a:ext>
            </a:extLst>
          </p:cNvPr>
          <p:cNvSpPr/>
          <p:nvPr/>
        </p:nvSpPr>
        <p:spPr>
          <a:xfrm rot="10800000">
            <a:off x="5775032" y="4456986"/>
            <a:ext cx="265903" cy="180976"/>
          </a:xfrm>
          <a:prstGeom prst="triangl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AEA586A-DE37-A4AC-D74C-CFCA52CF3868}"/>
              </a:ext>
            </a:extLst>
          </p:cNvPr>
          <p:cNvCxnSpPr>
            <a:cxnSpLocks/>
          </p:cNvCxnSpPr>
          <p:nvPr/>
        </p:nvCxnSpPr>
        <p:spPr>
          <a:xfrm flipV="1">
            <a:off x="5902467" y="4172020"/>
            <a:ext cx="0" cy="2849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13956E-130D-EACD-DB30-10C0D2425B91}"/>
              </a:ext>
            </a:extLst>
          </p:cNvPr>
          <p:cNvSpPr/>
          <p:nvPr/>
        </p:nvSpPr>
        <p:spPr>
          <a:xfrm>
            <a:off x="4766754" y="2914901"/>
            <a:ext cx="685898" cy="12806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Driver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FEF0A78-08A6-E2B8-73D0-ABC6184BA159}"/>
              </a:ext>
            </a:extLst>
          </p:cNvPr>
          <p:cNvCxnSpPr>
            <a:cxnSpLocks/>
          </p:cNvCxnSpPr>
          <p:nvPr/>
        </p:nvCxnSpPr>
        <p:spPr>
          <a:xfrm>
            <a:off x="4192255" y="3391755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8409D36-1E98-DD04-D10E-EC90E4E84113}"/>
              </a:ext>
            </a:extLst>
          </p:cNvPr>
          <p:cNvCxnSpPr>
            <a:cxnSpLocks/>
          </p:cNvCxnSpPr>
          <p:nvPr/>
        </p:nvCxnSpPr>
        <p:spPr>
          <a:xfrm>
            <a:off x="4192255" y="3658455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861AA80-CB43-1F53-FE17-A5792556B369}"/>
              </a:ext>
            </a:extLst>
          </p:cNvPr>
          <p:cNvSpPr txBox="1"/>
          <p:nvPr/>
        </p:nvSpPr>
        <p:spPr>
          <a:xfrm>
            <a:off x="3771745" y="3145534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HIGH_2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722490-FD59-E1BE-E5CB-7098192CCE47}"/>
              </a:ext>
            </a:extLst>
          </p:cNvPr>
          <p:cNvSpPr txBox="1"/>
          <p:nvPr/>
        </p:nvSpPr>
        <p:spPr>
          <a:xfrm>
            <a:off x="3747455" y="3436490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LOW_2</a:t>
            </a:r>
            <a:endParaRPr lang="ko-KR" altLang="en-US" sz="1000" b="1" dirty="0"/>
          </a:p>
        </p:txBody>
      </p:sp>
      <p:pic>
        <p:nvPicPr>
          <p:cNvPr id="42" name="그림 41" descr="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7E5778-3223-914D-F94B-B6FAB14B189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01310" y="4032083"/>
            <a:ext cx="1247949" cy="1714739"/>
          </a:xfrm>
          <a:prstGeom prst="rect">
            <a:avLst/>
          </a:prstGeom>
        </p:spPr>
      </p:pic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69E0D0D-5118-608B-DF6F-923F0BD80D2A}"/>
              </a:ext>
            </a:extLst>
          </p:cNvPr>
          <p:cNvCxnSpPr>
            <a:cxnSpLocks/>
          </p:cNvCxnSpPr>
          <p:nvPr/>
        </p:nvCxnSpPr>
        <p:spPr>
          <a:xfrm>
            <a:off x="7722073" y="4000186"/>
            <a:ext cx="24764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CE1A815-51EB-BD7D-A752-0E17A79F4836}"/>
              </a:ext>
            </a:extLst>
          </p:cNvPr>
          <p:cNvSpPr txBox="1"/>
          <p:nvPr/>
        </p:nvSpPr>
        <p:spPr>
          <a:xfrm>
            <a:off x="7247630" y="3753965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VLED_1_SMPS</a:t>
            </a:r>
            <a:endParaRPr lang="ko-KR" altLang="en-US" sz="1000" b="1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E0CE9DC-59F7-E3B2-CCF0-922835F4B03D}"/>
              </a:ext>
            </a:extLst>
          </p:cNvPr>
          <p:cNvCxnSpPr>
            <a:cxnSpLocks/>
          </p:cNvCxnSpPr>
          <p:nvPr/>
        </p:nvCxnSpPr>
        <p:spPr>
          <a:xfrm>
            <a:off x="8006235" y="4943019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B315376-82C4-86DB-05B3-FFF7C79F3A6D}"/>
              </a:ext>
            </a:extLst>
          </p:cNvPr>
          <p:cNvSpPr txBox="1"/>
          <p:nvPr/>
        </p:nvSpPr>
        <p:spPr>
          <a:xfrm>
            <a:off x="8459062" y="4791333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VLED_3_LED</a:t>
            </a:r>
            <a:endParaRPr lang="ko-KR" altLang="en-US" sz="1000" b="1" dirty="0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8D95F1DE-763C-90C0-0F1A-85124DCA2778}"/>
              </a:ext>
            </a:extLst>
          </p:cNvPr>
          <p:cNvSpPr/>
          <p:nvPr/>
        </p:nvSpPr>
        <p:spPr>
          <a:xfrm rot="10800000">
            <a:off x="7730807" y="6008250"/>
            <a:ext cx="265903" cy="180976"/>
          </a:xfrm>
          <a:prstGeom prst="triangl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13FA435-79FD-F2CD-F444-C52C912E93D6}"/>
              </a:ext>
            </a:extLst>
          </p:cNvPr>
          <p:cNvCxnSpPr>
            <a:cxnSpLocks/>
          </p:cNvCxnSpPr>
          <p:nvPr/>
        </p:nvCxnSpPr>
        <p:spPr>
          <a:xfrm flipV="1">
            <a:off x="7858242" y="5723284"/>
            <a:ext cx="0" cy="2849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39ADDE0-61B3-D158-F40E-85CBD430A1CE}"/>
              </a:ext>
            </a:extLst>
          </p:cNvPr>
          <p:cNvSpPr/>
          <p:nvPr/>
        </p:nvSpPr>
        <p:spPr>
          <a:xfrm>
            <a:off x="6722529" y="4466165"/>
            <a:ext cx="685898" cy="12806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Driver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9BF7D31-539B-57D5-A2D4-3D3D6E372F1D}"/>
              </a:ext>
            </a:extLst>
          </p:cNvPr>
          <p:cNvCxnSpPr>
            <a:cxnSpLocks/>
          </p:cNvCxnSpPr>
          <p:nvPr/>
        </p:nvCxnSpPr>
        <p:spPr>
          <a:xfrm>
            <a:off x="6148030" y="4943019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8EB6D29-ED24-009E-B42A-B1A9E9200FCE}"/>
              </a:ext>
            </a:extLst>
          </p:cNvPr>
          <p:cNvCxnSpPr>
            <a:cxnSpLocks/>
          </p:cNvCxnSpPr>
          <p:nvPr/>
        </p:nvCxnSpPr>
        <p:spPr>
          <a:xfrm>
            <a:off x="6148030" y="5209719"/>
            <a:ext cx="5744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6E972C2-40FF-2499-F02D-5B0EFAF6A64C}"/>
              </a:ext>
            </a:extLst>
          </p:cNvPr>
          <p:cNvSpPr txBox="1"/>
          <p:nvPr/>
        </p:nvSpPr>
        <p:spPr>
          <a:xfrm>
            <a:off x="5727520" y="4696798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HIGH_3</a:t>
            </a:r>
            <a:endParaRPr lang="ko-KR" altLang="en-US" sz="10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2081A7-393A-01C2-8CCB-C61AA9336FA6}"/>
              </a:ext>
            </a:extLst>
          </p:cNvPr>
          <p:cNvSpPr txBox="1"/>
          <p:nvPr/>
        </p:nvSpPr>
        <p:spPr>
          <a:xfrm>
            <a:off x="5703230" y="4987754"/>
            <a:ext cx="88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LOW_3</a:t>
            </a:r>
            <a:endParaRPr lang="ko-KR" altLang="en-US" sz="1000" b="1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A5774E0-DAD9-1D21-8CA6-6BF9895A50E1}"/>
              </a:ext>
            </a:extLst>
          </p:cNvPr>
          <p:cNvSpPr/>
          <p:nvPr/>
        </p:nvSpPr>
        <p:spPr>
          <a:xfrm>
            <a:off x="10521625" y="2594323"/>
            <a:ext cx="1306796" cy="12806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LED Module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6CB27E1-2619-2F9C-9944-1F7F74B6ED30}"/>
              </a:ext>
            </a:extLst>
          </p:cNvPr>
          <p:cNvCxnSpPr/>
          <p:nvPr/>
        </p:nvCxnSpPr>
        <p:spPr>
          <a:xfrm>
            <a:off x="9544051" y="2819399"/>
            <a:ext cx="96202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26D8494-AF2B-6DDF-7B26-F2BB8915FA85}"/>
              </a:ext>
            </a:extLst>
          </p:cNvPr>
          <p:cNvCxnSpPr/>
          <p:nvPr/>
        </p:nvCxnSpPr>
        <p:spPr>
          <a:xfrm>
            <a:off x="9544051" y="3124388"/>
            <a:ext cx="96202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2EF7CCF-9B61-58F9-70A0-B5B5FC9C4C08}"/>
              </a:ext>
            </a:extLst>
          </p:cNvPr>
          <p:cNvCxnSpPr/>
          <p:nvPr/>
        </p:nvCxnSpPr>
        <p:spPr>
          <a:xfrm>
            <a:off x="9544051" y="3465333"/>
            <a:ext cx="96202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8DEC6E0-07BE-3F34-2D87-18376C397E86}"/>
              </a:ext>
            </a:extLst>
          </p:cNvPr>
          <p:cNvSpPr txBox="1"/>
          <p:nvPr/>
        </p:nvSpPr>
        <p:spPr>
          <a:xfrm>
            <a:off x="9337795" y="3226800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VLED_3</a:t>
            </a:r>
            <a:endParaRPr lang="ko-KR" altLang="en-US" sz="10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371B7C-197E-B478-7B53-61CB7B5EAFB3}"/>
              </a:ext>
            </a:extLst>
          </p:cNvPr>
          <p:cNvSpPr txBox="1"/>
          <p:nvPr/>
        </p:nvSpPr>
        <p:spPr>
          <a:xfrm>
            <a:off x="9337795" y="2895094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VLED_2</a:t>
            </a:r>
            <a:endParaRPr lang="ko-KR" altLang="en-US" sz="10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9D2E9A-C8A3-BBFF-0EF2-4A5F9681A9D9}"/>
              </a:ext>
            </a:extLst>
          </p:cNvPr>
          <p:cNvSpPr txBox="1"/>
          <p:nvPr/>
        </p:nvSpPr>
        <p:spPr>
          <a:xfrm>
            <a:off x="9348986" y="2563388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VLED_1</a:t>
            </a:r>
            <a:endParaRPr lang="ko-KR" altLang="en-US" sz="1000" b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4762202-41B1-809D-EA25-D86FBE9A8D2E}"/>
              </a:ext>
            </a:extLst>
          </p:cNvPr>
          <p:cNvSpPr/>
          <p:nvPr/>
        </p:nvSpPr>
        <p:spPr>
          <a:xfrm>
            <a:off x="320807" y="2484059"/>
            <a:ext cx="1200293" cy="21539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LED ON/OFF MUX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73AE6723-D799-E3E8-88E3-C0FDD2579063}"/>
              </a:ext>
            </a:extLst>
          </p:cNvPr>
          <p:cNvCxnSpPr/>
          <p:nvPr/>
        </p:nvCxnSpPr>
        <p:spPr>
          <a:xfrm>
            <a:off x="1371443" y="2727223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929AFF9-D542-F34E-33F1-86E41DB4D20B}"/>
              </a:ext>
            </a:extLst>
          </p:cNvPr>
          <p:cNvSpPr txBox="1"/>
          <p:nvPr/>
        </p:nvSpPr>
        <p:spPr>
          <a:xfrm>
            <a:off x="1217443" y="2522316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HIGH_1</a:t>
            </a:r>
            <a:endParaRPr lang="ko-KR" altLang="en-US" sz="1000" b="1" dirty="0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47188B4-6C31-D65B-8FB3-95C3CA77F59C}"/>
              </a:ext>
            </a:extLst>
          </p:cNvPr>
          <p:cNvCxnSpPr/>
          <p:nvPr/>
        </p:nvCxnSpPr>
        <p:spPr>
          <a:xfrm>
            <a:off x="1394051" y="3047801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A953271-14BB-5DAC-9B08-738CA24897FC}"/>
              </a:ext>
            </a:extLst>
          </p:cNvPr>
          <p:cNvSpPr txBox="1"/>
          <p:nvPr/>
        </p:nvSpPr>
        <p:spPr>
          <a:xfrm>
            <a:off x="1208511" y="2837918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HIGH_2</a:t>
            </a:r>
            <a:endParaRPr lang="ko-KR" altLang="en-US" sz="1000" b="1" dirty="0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A7EE718-5C63-71CE-4332-2FBA660054BA}"/>
              </a:ext>
            </a:extLst>
          </p:cNvPr>
          <p:cNvCxnSpPr/>
          <p:nvPr/>
        </p:nvCxnSpPr>
        <p:spPr>
          <a:xfrm>
            <a:off x="1394051" y="3372506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0D8492F-17B6-3FA5-EBE3-30010D03DB83}"/>
              </a:ext>
            </a:extLst>
          </p:cNvPr>
          <p:cNvSpPr txBox="1"/>
          <p:nvPr/>
        </p:nvSpPr>
        <p:spPr>
          <a:xfrm>
            <a:off x="1208511" y="3162623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HIGH_3</a:t>
            </a:r>
            <a:endParaRPr lang="ko-KR" altLang="en-US" sz="1000" b="1" dirty="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73DE0E4-4E12-74F7-1216-FA8F975611F4}"/>
              </a:ext>
            </a:extLst>
          </p:cNvPr>
          <p:cNvCxnSpPr/>
          <p:nvPr/>
        </p:nvCxnSpPr>
        <p:spPr>
          <a:xfrm>
            <a:off x="1371443" y="3764941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E119DA9-E004-FCF3-752C-5B05C57EC2A0}"/>
              </a:ext>
            </a:extLst>
          </p:cNvPr>
          <p:cNvCxnSpPr/>
          <p:nvPr/>
        </p:nvCxnSpPr>
        <p:spPr>
          <a:xfrm>
            <a:off x="1394051" y="4085519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3A9AF15-8ED9-07A7-8820-0D522CD9E383}"/>
              </a:ext>
            </a:extLst>
          </p:cNvPr>
          <p:cNvSpPr txBox="1"/>
          <p:nvPr/>
        </p:nvSpPr>
        <p:spPr>
          <a:xfrm>
            <a:off x="1208511" y="3875636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LOW_2</a:t>
            </a:r>
            <a:endParaRPr lang="ko-KR" altLang="en-US" sz="1000" b="1" dirty="0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7CEF239-F440-B4DA-A832-00118037CF47}"/>
              </a:ext>
            </a:extLst>
          </p:cNvPr>
          <p:cNvCxnSpPr/>
          <p:nvPr/>
        </p:nvCxnSpPr>
        <p:spPr>
          <a:xfrm>
            <a:off x="1394051" y="4410224"/>
            <a:ext cx="962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F7E94C7-2D37-EA8E-DDD8-5F770D92F9E2}"/>
              </a:ext>
            </a:extLst>
          </p:cNvPr>
          <p:cNvSpPr txBox="1"/>
          <p:nvPr/>
        </p:nvSpPr>
        <p:spPr>
          <a:xfrm>
            <a:off x="1208511" y="4200341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LOW_3</a:t>
            </a:r>
            <a:endParaRPr lang="ko-KR" altLang="en-US" sz="10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9FF43E-FAAF-0F88-3391-C602FFBBF24F}"/>
              </a:ext>
            </a:extLst>
          </p:cNvPr>
          <p:cNvSpPr txBox="1"/>
          <p:nvPr/>
        </p:nvSpPr>
        <p:spPr>
          <a:xfrm>
            <a:off x="1217443" y="3561645"/>
            <a:ext cx="133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LOW_1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474920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599C9-7C67-CE8D-4E3C-C3949C1B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8B68-C74C-EA26-F1A9-7CEC5A5D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XC24 vs XC24R </a:t>
            </a:r>
            <a:r>
              <a:rPr lang="ko-KR" altLang="en-US" b="1" dirty="0"/>
              <a:t>칩 </a:t>
            </a:r>
            <a:r>
              <a:rPr lang="en-US" altLang="ko-KR" b="1" dirty="0"/>
              <a:t>PIN out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B4043F-4CF5-A632-BA86-A035DC19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55" y="1506473"/>
            <a:ext cx="5270751" cy="457801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D318ABE-585F-45F3-48F7-1A4E16BEA8E2}"/>
              </a:ext>
            </a:extLst>
          </p:cNvPr>
          <p:cNvSpPr/>
          <p:nvPr/>
        </p:nvSpPr>
        <p:spPr>
          <a:xfrm>
            <a:off x="5945153" y="2231017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36554D0-FC9A-7222-A939-BE943F738B31}"/>
              </a:ext>
            </a:extLst>
          </p:cNvPr>
          <p:cNvSpPr/>
          <p:nvPr/>
        </p:nvSpPr>
        <p:spPr>
          <a:xfrm>
            <a:off x="5945152" y="2444599"/>
            <a:ext cx="726873" cy="191844"/>
          </a:xfrm>
          <a:prstGeom prst="round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994375-8D0B-F8B5-60BC-6A688C19B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04" y="1987399"/>
            <a:ext cx="4828450" cy="378594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2811037-9443-C4A4-27B4-D944AF1BD773}"/>
              </a:ext>
            </a:extLst>
          </p:cNvPr>
          <p:cNvSpPr/>
          <p:nvPr/>
        </p:nvSpPr>
        <p:spPr>
          <a:xfrm>
            <a:off x="573054" y="447659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0E42304-64A5-7900-CAAC-E61C1694425C}"/>
              </a:ext>
            </a:extLst>
          </p:cNvPr>
          <p:cNvSpPr/>
          <p:nvPr/>
        </p:nvSpPr>
        <p:spPr>
          <a:xfrm>
            <a:off x="573054" y="428475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3043CE-A24B-F7AF-5F78-3F4A191B1C4D}"/>
              </a:ext>
            </a:extLst>
          </p:cNvPr>
          <p:cNvSpPr/>
          <p:nvPr/>
        </p:nvSpPr>
        <p:spPr>
          <a:xfrm>
            <a:off x="5945153" y="265818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B06998D-D8B2-A3D0-48F4-3D05C475A7B7}"/>
              </a:ext>
            </a:extLst>
          </p:cNvPr>
          <p:cNvSpPr/>
          <p:nvPr/>
        </p:nvSpPr>
        <p:spPr>
          <a:xfrm>
            <a:off x="5945151" y="2871763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EE59A6-8288-81F2-A2EB-2E614CE16866}"/>
              </a:ext>
            </a:extLst>
          </p:cNvPr>
          <p:cNvSpPr/>
          <p:nvPr/>
        </p:nvSpPr>
        <p:spPr>
          <a:xfrm>
            <a:off x="573053" y="304186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BF8A594-074C-D508-C6D3-D62C864240F5}"/>
              </a:ext>
            </a:extLst>
          </p:cNvPr>
          <p:cNvSpPr/>
          <p:nvPr/>
        </p:nvSpPr>
        <p:spPr>
          <a:xfrm>
            <a:off x="573052" y="3880371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4F06D6-3AA0-55A0-9CBB-958BC6A79ED4}"/>
              </a:ext>
            </a:extLst>
          </p:cNvPr>
          <p:cNvSpPr/>
          <p:nvPr/>
        </p:nvSpPr>
        <p:spPr>
          <a:xfrm>
            <a:off x="5945151" y="307802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D56A6D6-7BF8-CEB1-ACFF-6A7B195081EF}"/>
              </a:ext>
            </a:extLst>
          </p:cNvPr>
          <p:cNvSpPr/>
          <p:nvPr/>
        </p:nvSpPr>
        <p:spPr>
          <a:xfrm>
            <a:off x="5945151" y="328905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DEEBA2D-FABD-CCAF-4894-FD97DADE2BA1}"/>
              </a:ext>
            </a:extLst>
          </p:cNvPr>
          <p:cNvSpPr/>
          <p:nvPr/>
        </p:nvSpPr>
        <p:spPr>
          <a:xfrm>
            <a:off x="573051" y="32395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E86F573-A0EB-79F2-19F0-83281D67D375}"/>
              </a:ext>
            </a:extLst>
          </p:cNvPr>
          <p:cNvSpPr/>
          <p:nvPr/>
        </p:nvSpPr>
        <p:spPr>
          <a:xfrm>
            <a:off x="572800" y="3441787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4421A02-7797-7B8A-3EFF-16C0A78E8835}"/>
              </a:ext>
            </a:extLst>
          </p:cNvPr>
          <p:cNvSpPr/>
          <p:nvPr/>
        </p:nvSpPr>
        <p:spPr>
          <a:xfrm>
            <a:off x="572800" y="3663267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0917B65-D98A-A218-A9F7-38492AB516EC}"/>
              </a:ext>
            </a:extLst>
          </p:cNvPr>
          <p:cNvSpPr/>
          <p:nvPr/>
        </p:nvSpPr>
        <p:spPr>
          <a:xfrm>
            <a:off x="5945151" y="350008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1E9848D-B916-AB45-6C3F-74B7B70594CB}"/>
              </a:ext>
            </a:extLst>
          </p:cNvPr>
          <p:cNvSpPr/>
          <p:nvPr/>
        </p:nvSpPr>
        <p:spPr>
          <a:xfrm>
            <a:off x="5945151" y="371111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93ED2B-2BEE-B9B2-00FF-EE6108D29C91}"/>
              </a:ext>
            </a:extLst>
          </p:cNvPr>
          <p:cNvSpPr/>
          <p:nvPr/>
        </p:nvSpPr>
        <p:spPr>
          <a:xfrm>
            <a:off x="5945150" y="3931353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96E947D-0D4D-25C3-F06B-BB80CE4FFE67}"/>
              </a:ext>
            </a:extLst>
          </p:cNvPr>
          <p:cNvSpPr/>
          <p:nvPr/>
        </p:nvSpPr>
        <p:spPr>
          <a:xfrm>
            <a:off x="5945149" y="4113940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C7B2DA3-F86C-6CED-5CB8-8FD3398851C6}"/>
              </a:ext>
            </a:extLst>
          </p:cNvPr>
          <p:cNvSpPr/>
          <p:nvPr/>
        </p:nvSpPr>
        <p:spPr>
          <a:xfrm>
            <a:off x="4176128" y="3688527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6D0174-B99D-92BB-ACF2-BDFA15B77ECA}"/>
              </a:ext>
            </a:extLst>
          </p:cNvPr>
          <p:cNvSpPr/>
          <p:nvPr/>
        </p:nvSpPr>
        <p:spPr>
          <a:xfrm>
            <a:off x="4176127" y="3871114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592868-FDFD-48E4-D9BF-9F4CB3E6D1BA}"/>
              </a:ext>
            </a:extLst>
          </p:cNvPr>
          <p:cNvSpPr/>
          <p:nvPr/>
        </p:nvSpPr>
        <p:spPr>
          <a:xfrm>
            <a:off x="5945149" y="4324925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297E566-AA5C-B200-BCB9-A1D208D56B9B}"/>
              </a:ext>
            </a:extLst>
          </p:cNvPr>
          <p:cNvSpPr/>
          <p:nvPr/>
        </p:nvSpPr>
        <p:spPr>
          <a:xfrm>
            <a:off x="572799" y="2835211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C413DEC-3F50-C9C5-5B5B-8FEA8C8D0639}"/>
              </a:ext>
            </a:extLst>
          </p:cNvPr>
          <p:cNvSpPr/>
          <p:nvPr/>
        </p:nvSpPr>
        <p:spPr>
          <a:xfrm>
            <a:off x="5945149" y="4566747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DD40FF-737A-8392-9FFC-AFB1921C6388}"/>
              </a:ext>
            </a:extLst>
          </p:cNvPr>
          <p:cNvSpPr/>
          <p:nvPr/>
        </p:nvSpPr>
        <p:spPr>
          <a:xfrm>
            <a:off x="572798" y="4083881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58154D-0D22-7DAB-A445-5892656147FF}"/>
              </a:ext>
            </a:extLst>
          </p:cNvPr>
          <p:cNvSpPr/>
          <p:nvPr/>
        </p:nvSpPr>
        <p:spPr>
          <a:xfrm>
            <a:off x="5945148" y="4783048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166127C-2AF3-7F16-DF5B-3453D9CC8FF6}"/>
              </a:ext>
            </a:extLst>
          </p:cNvPr>
          <p:cNvSpPr/>
          <p:nvPr/>
        </p:nvSpPr>
        <p:spPr>
          <a:xfrm>
            <a:off x="5945148" y="4987875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A08666-32D3-35CE-619D-5EDB6D7A7AF1}"/>
              </a:ext>
            </a:extLst>
          </p:cNvPr>
          <p:cNvSpPr/>
          <p:nvPr/>
        </p:nvSpPr>
        <p:spPr>
          <a:xfrm>
            <a:off x="572798" y="490173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530FADA-975F-B181-F381-1D3E0E0B1FD9}"/>
              </a:ext>
            </a:extLst>
          </p:cNvPr>
          <p:cNvSpPr/>
          <p:nvPr/>
        </p:nvSpPr>
        <p:spPr>
          <a:xfrm rot="5400000">
            <a:off x="1125248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CE63F3-6E93-F33E-3E88-AA17AE157B2B}"/>
              </a:ext>
            </a:extLst>
          </p:cNvPr>
          <p:cNvSpPr/>
          <p:nvPr/>
        </p:nvSpPr>
        <p:spPr>
          <a:xfrm rot="5400000">
            <a:off x="1317092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216E846-3621-0AC4-F665-E8EFCB3A4306}"/>
              </a:ext>
            </a:extLst>
          </p:cNvPr>
          <p:cNvSpPr/>
          <p:nvPr/>
        </p:nvSpPr>
        <p:spPr>
          <a:xfrm>
            <a:off x="5951498" y="5425350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A635185-04FA-50FE-36A6-E723DBA25DEB}"/>
              </a:ext>
            </a:extLst>
          </p:cNvPr>
          <p:cNvSpPr/>
          <p:nvPr/>
        </p:nvSpPr>
        <p:spPr>
          <a:xfrm rot="5400000">
            <a:off x="1563328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03FEE6A-BDFD-806A-0358-EFF1CDCECE95}"/>
              </a:ext>
            </a:extLst>
          </p:cNvPr>
          <p:cNvSpPr/>
          <p:nvPr/>
        </p:nvSpPr>
        <p:spPr>
          <a:xfrm rot="5400000">
            <a:off x="6359723" y="591299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90CE6E8-3BB5-7300-0089-9E0FF226CFF5}"/>
              </a:ext>
            </a:extLst>
          </p:cNvPr>
          <p:cNvSpPr/>
          <p:nvPr/>
        </p:nvSpPr>
        <p:spPr>
          <a:xfrm rot="5400000">
            <a:off x="6797802" y="591299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D797828-1313-32FD-41CF-2D8B11FEBA64}"/>
              </a:ext>
            </a:extLst>
          </p:cNvPr>
          <p:cNvSpPr/>
          <p:nvPr/>
        </p:nvSpPr>
        <p:spPr>
          <a:xfrm rot="5400000">
            <a:off x="2005629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5232D08-53F9-5E51-1295-82648579377D}"/>
              </a:ext>
            </a:extLst>
          </p:cNvPr>
          <p:cNvSpPr/>
          <p:nvPr/>
        </p:nvSpPr>
        <p:spPr>
          <a:xfrm rot="5400000">
            <a:off x="2251863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E61A3C4-6097-A683-4FE9-772EE2D35A90}"/>
              </a:ext>
            </a:extLst>
          </p:cNvPr>
          <p:cNvSpPr/>
          <p:nvPr/>
        </p:nvSpPr>
        <p:spPr>
          <a:xfrm rot="5400000">
            <a:off x="7028000" y="591299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FCBCD68-01B2-C1A2-76EF-847A6295C33C}"/>
              </a:ext>
            </a:extLst>
          </p:cNvPr>
          <p:cNvSpPr/>
          <p:nvPr/>
        </p:nvSpPr>
        <p:spPr>
          <a:xfrm rot="5400000">
            <a:off x="7702119" y="591656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E05ED7D-A57F-9826-C137-95FBE375E382}"/>
              </a:ext>
            </a:extLst>
          </p:cNvPr>
          <p:cNvSpPr/>
          <p:nvPr/>
        </p:nvSpPr>
        <p:spPr>
          <a:xfrm rot="5400000">
            <a:off x="2467643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48C100F-E28C-B9CF-E105-B44A7408E9EC}"/>
              </a:ext>
            </a:extLst>
          </p:cNvPr>
          <p:cNvSpPr/>
          <p:nvPr/>
        </p:nvSpPr>
        <p:spPr>
          <a:xfrm rot="5400000">
            <a:off x="2697840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1927A9-BD85-8FCD-0313-AE742D7F569E}"/>
              </a:ext>
            </a:extLst>
          </p:cNvPr>
          <p:cNvSpPr/>
          <p:nvPr/>
        </p:nvSpPr>
        <p:spPr>
          <a:xfrm rot="5400000">
            <a:off x="7926476" y="591656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0488D04-91C9-A3A1-862F-D47D867CCD1B}"/>
              </a:ext>
            </a:extLst>
          </p:cNvPr>
          <p:cNvSpPr/>
          <p:nvPr/>
        </p:nvSpPr>
        <p:spPr>
          <a:xfrm rot="5400000">
            <a:off x="8812520" y="5892848"/>
            <a:ext cx="816451" cy="239282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B9E1770-C7CF-07C6-2A5E-AC7AD2E0ECA8}"/>
              </a:ext>
            </a:extLst>
          </p:cNvPr>
          <p:cNvSpPr/>
          <p:nvPr/>
        </p:nvSpPr>
        <p:spPr>
          <a:xfrm rot="5400000">
            <a:off x="1789846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0481B4F-649F-61B5-BF98-EDDAD820F81D}"/>
              </a:ext>
            </a:extLst>
          </p:cNvPr>
          <p:cNvSpPr/>
          <p:nvPr/>
        </p:nvSpPr>
        <p:spPr>
          <a:xfrm rot="5400000">
            <a:off x="2926035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9B3050B-BD39-316E-FCB1-6C09E324EFBE}"/>
              </a:ext>
            </a:extLst>
          </p:cNvPr>
          <p:cNvSpPr/>
          <p:nvPr/>
        </p:nvSpPr>
        <p:spPr>
          <a:xfrm rot="5400000">
            <a:off x="7252882" y="5913000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2BBCE39-5EF4-3197-1721-83739023B26F}"/>
              </a:ext>
            </a:extLst>
          </p:cNvPr>
          <p:cNvSpPr/>
          <p:nvPr/>
        </p:nvSpPr>
        <p:spPr>
          <a:xfrm rot="5400000">
            <a:off x="3153677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0E8174A-04AD-D1FC-A847-2FCF2C126E59}"/>
              </a:ext>
            </a:extLst>
          </p:cNvPr>
          <p:cNvSpPr/>
          <p:nvPr/>
        </p:nvSpPr>
        <p:spPr>
          <a:xfrm rot="5400000">
            <a:off x="3383874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7E71F98-1BBC-A63D-BD58-0515DF90B957}"/>
              </a:ext>
            </a:extLst>
          </p:cNvPr>
          <p:cNvSpPr/>
          <p:nvPr/>
        </p:nvSpPr>
        <p:spPr>
          <a:xfrm rot="5400000">
            <a:off x="3612069" y="558034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86F9DB3-701C-B5F6-DF44-55419657CA0E}"/>
              </a:ext>
            </a:extLst>
          </p:cNvPr>
          <p:cNvSpPr/>
          <p:nvPr/>
        </p:nvSpPr>
        <p:spPr>
          <a:xfrm rot="5400000">
            <a:off x="8370920" y="591656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CF13EA8-2CCE-335F-4E22-EFD6B951F17F}"/>
              </a:ext>
            </a:extLst>
          </p:cNvPr>
          <p:cNvSpPr/>
          <p:nvPr/>
        </p:nvSpPr>
        <p:spPr>
          <a:xfrm rot="5400000">
            <a:off x="8595277" y="591656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4082FBB-5540-D2EF-0FF1-3BFCF69686C6}"/>
              </a:ext>
            </a:extLst>
          </p:cNvPr>
          <p:cNvSpPr/>
          <p:nvPr/>
        </p:nvSpPr>
        <p:spPr>
          <a:xfrm rot="5400000">
            <a:off x="9255337" y="591299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838B738-103E-952D-9767-F18DBB12BD2E}"/>
              </a:ext>
            </a:extLst>
          </p:cNvPr>
          <p:cNvSpPr/>
          <p:nvPr/>
        </p:nvSpPr>
        <p:spPr>
          <a:xfrm>
            <a:off x="4176128" y="488943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CF0DABB-E29A-EBFF-EFF7-8D203D0FD453}"/>
              </a:ext>
            </a:extLst>
          </p:cNvPr>
          <p:cNvSpPr/>
          <p:nvPr/>
        </p:nvSpPr>
        <p:spPr>
          <a:xfrm rot="5400000">
            <a:off x="9471323" y="591299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27598A51-3437-2998-13B2-11D0E374DC18}"/>
              </a:ext>
            </a:extLst>
          </p:cNvPr>
          <p:cNvSpPr/>
          <p:nvPr/>
        </p:nvSpPr>
        <p:spPr>
          <a:xfrm>
            <a:off x="4176129" y="4480082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7598427-AA7F-D903-3C53-AA76A716ADF9}"/>
              </a:ext>
            </a:extLst>
          </p:cNvPr>
          <p:cNvSpPr/>
          <p:nvPr/>
        </p:nvSpPr>
        <p:spPr>
          <a:xfrm>
            <a:off x="4176128" y="466266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54FF43BA-A711-E9D6-FCE5-7BB2D35565D1}"/>
              </a:ext>
            </a:extLst>
          </p:cNvPr>
          <p:cNvSpPr/>
          <p:nvPr/>
        </p:nvSpPr>
        <p:spPr>
          <a:xfrm>
            <a:off x="10424529" y="4796324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2749C23-66CE-B16F-34E8-116435E2991F}"/>
              </a:ext>
            </a:extLst>
          </p:cNvPr>
          <p:cNvSpPr/>
          <p:nvPr/>
        </p:nvSpPr>
        <p:spPr>
          <a:xfrm>
            <a:off x="10424528" y="4978911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BA7015D-359C-CE52-8F96-95311E9C3FDE}"/>
              </a:ext>
            </a:extLst>
          </p:cNvPr>
          <p:cNvSpPr/>
          <p:nvPr/>
        </p:nvSpPr>
        <p:spPr>
          <a:xfrm>
            <a:off x="4176128" y="427572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4FF3FE9-C162-AEA8-0B32-19929C14EB91}"/>
              </a:ext>
            </a:extLst>
          </p:cNvPr>
          <p:cNvSpPr/>
          <p:nvPr/>
        </p:nvSpPr>
        <p:spPr>
          <a:xfrm>
            <a:off x="10424527" y="2429516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6B1304E-4A44-DE53-BA9B-DC1CC5E87CB0}"/>
              </a:ext>
            </a:extLst>
          </p:cNvPr>
          <p:cNvSpPr/>
          <p:nvPr/>
        </p:nvSpPr>
        <p:spPr>
          <a:xfrm>
            <a:off x="10424527" y="3295401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BE061CD-35C9-5CCF-326D-15EC118D0B6C}"/>
              </a:ext>
            </a:extLst>
          </p:cNvPr>
          <p:cNvSpPr/>
          <p:nvPr/>
        </p:nvSpPr>
        <p:spPr>
          <a:xfrm>
            <a:off x="10424526" y="3930439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C1A3362-9260-E50A-E10A-A05B7AB2E7DC}"/>
              </a:ext>
            </a:extLst>
          </p:cNvPr>
          <p:cNvSpPr/>
          <p:nvPr/>
        </p:nvSpPr>
        <p:spPr>
          <a:xfrm>
            <a:off x="4176126" y="4066214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764A845-4CF9-33AD-D2E2-05177362C732}"/>
              </a:ext>
            </a:extLst>
          </p:cNvPr>
          <p:cNvSpPr/>
          <p:nvPr/>
        </p:nvSpPr>
        <p:spPr>
          <a:xfrm>
            <a:off x="10424525" y="4343873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033658E3-879F-26D9-03AB-7B0AB2D8A5E6}"/>
              </a:ext>
            </a:extLst>
          </p:cNvPr>
          <p:cNvSpPr/>
          <p:nvPr/>
        </p:nvSpPr>
        <p:spPr>
          <a:xfrm>
            <a:off x="4176125" y="324392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4BDBB6F-73E4-B292-7857-75E8375F087A}"/>
              </a:ext>
            </a:extLst>
          </p:cNvPr>
          <p:cNvSpPr/>
          <p:nvPr/>
        </p:nvSpPr>
        <p:spPr>
          <a:xfrm>
            <a:off x="10424525" y="3073600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4C311928-A8C2-1AAE-699D-97AE22712B07}"/>
              </a:ext>
            </a:extLst>
          </p:cNvPr>
          <p:cNvSpPr/>
          <p:nvPr/>
        </p:nvSpPr>
        <p:spPr>
          <a:xfrm>
            <a:off x="4176125" y="2849780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93437C5-A9D0-90D7-D415-BE46064AE3FA}"/>
              </a:ext>
            </a:extLst>
          </p:cNvPr>
          <p:cNvSpPr/>
          <p:nvPr/>
        </p:nvSpPr>
        <p:spPr>
          <a:xfrm>
            <a:off x="10424524" y="2863961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7FCD1C6-37C7-CFB5-7321-467C1F5709B0}"/>
              </a:ext>
            </a:extLst>
          </p:cNvPr>
          <p:cNvSpPr/>
          <p:nvPr/>
        </p:nvSpPr>
        <p:spPr>
          <a:xfrm>
            <a:off x="10424524" y="2636233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161C059-19F4-250B-78DD-3BDB61A7E861}"/>
              </a:ext>
            </a:extLst>
          </p:cNvPr>
          <p:cNvSpPr/>
          <p:nvPr/>
        </p:nvSpPr>
        <p:spPr>
          <a:xfrm>
            <a:off x="10424524" y="3497490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D3C8E773-E63B-222A-5A8F-FD8A09199AA4}"/>
              </a:ext>
            </a:extLst>
          </p:cNvPr>
          <p:cNvSpPr/>
          <p:nvPr/>
        </p:nvSpPr>
        <p:spPr>
          <a:xfrm>
            <a:off x="10424523" y="4142278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64F24F8-052E-9461-69C9-80B892233A74}"/>
              </a:ext>
            </a:extLst>
          </p:cNvPr>
          <p:cNvSpPr/>
          <p:nvPr/>
        </p:nvSpPr>
        <p:spPr>
          <a:xfrm>
            <a:off x="572798" y="4688381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4B4AA3-AF5D-00E5-1B82-69AB0B935A1B}"/>
              </a:ext>
            </a:extLst>
          </p:cNvPr>
          <p:cNvSpPr/>
          <p:nvPr/>
        </p:nvSpPr>
        <p:spPr>
          <a:xfrm>
            <a:off x="4176125" y="2628029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6285F4E4-32FE-333E-D173-846C9D3C56D0}"/>
              </a:ext>
            </a:extLst>
          </p:cNvPr>
          <p:cNvSpPr/>
          <p:nvPr/>
        </p:nvSpPr>
        <p:spPr>
          <a:xfrm>
            <a:off x="10424523" y="2236377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420497C-27E7-1E57-7D38-B6F6DC09A15F}"/>
              </a:ext>
            </a:extLst>
          </p:cNvPr>
          <p:cNvSpPr/>
          <p:nvPr/>
        </p:nvSpPr>
        <p:spPr>
          <a:xfrm>
            <a:off x="10424523" y="2030242"/>
            <a:ext cx="726873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8D7954B-02E0-3022-9542-ADE7E221F7D0}"/>
              </a:ext>
            </a:extLst>
          </p:cNvPr>
          <p:cNvSpPr/>
          <p:nvPr/>
        </p:nvSpPr>
        <p:spPr>
          <a:xfrm rot="5400000">
            <a:off x="3612069" y="189147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A329B5D9-FFCF-D2CD-51C6-91DD29AF1B58}"/>
              </a:ext>
            </a:extLst>
          </p:cNvPr>
          <p:cNvSpPr/>
          <p:nvPr/>
        </p:nvSpPr>
        <p:spPr>
          <a:xfrm rot="5400000">
            <a:off x="3382121" y="189147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CED0AF2-BA37-99A8-A8D1-53B418225BC4}"/>
              </a:ext>
            </a:extLst>
          </p:cNvPr>
          <p:cNvSpPr/>
          <p:nvPr/>
        </p:nvSpPr>
        <p:spPr>
          <a:xfrm rot="5400000">
            <a:off x="3159810" y="1891477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1EAE2DE-2317-407F-4096-5AAA5C1BD381}"/>
              </a:ext>
            </a:extLst>
          </p:cNvPr>
          <p:cNvSpPr/>
          <p:nvPr/>
        </p:nvSpPr>
        <p:spPr>
          <a:xfrm rot="5400000">
            <a:off x="9471168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31F3CE93-AB73-296E-0E29-403C8D65B535}"/>
              </a:ext>
            </a:extLst>
          </p:cNvPr>
          <p:cNvSpPr/>
          <p:nvPr/>
        </p:nvSpPr>
        <p:spPr>
          <a:xfrm rot="5400000">
            <a:off x="9687154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2CD3BB1-318C-0BE5-3E92-1B68D88E32A7}"/>
              </a:ext>
            </a:extLst>
          </p:cNvPr>
          <p:cNvSpPr/>
          <p:nvPr/>
        </p:nvSpPr>
        <p:spPr>
          <a:xfrm rot="5400000">
            <a:off x="7466801" y="1504021"/>
            <a:ext cx="816451" cy="23599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3C57C71-6E7E-E4B5-A363-5C14A4A97452}"/>
              </a:ext>
            </a:extLst>
          </p:cNvPr>
          <p:cNvSpPr/>
          <p:nvPr/>
        </p:nvSpPr>
        <p:spPr>
          <a:xfrm rot="5400000">
            <a:off x="2929862" y="189147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A71D761-3979-24ED-2463-495AC1ED6B38}"/>
              </a:ext>
            </a:extLst>
          </p:cNvPr>
          <p:cNvSpPr/>
          <p:nvPr/>
        </p:nvSpPr>
        <p:spPr>
          <a:xfrm rot="5400000">
            <a:off x="2705834" y="189147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263FE9D-0DD7-BF9C-F71C-76322DCFDCF3}"/>
              </a:ext>
            </a:extLst>
          </p:cNvPr>
          <p:cNvSpPr/>
          <p:nvPr/>
        </p:nvSpPr>
        <p:spPr>
          <a:xfrm rot="5400000">
            <a:off x="2475886" y="1891477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85B6FBA-F7CF-2633-C582-D63450C54367}"/>
              </a:ext>
            </a:extLst>
          </p:cNvPr>
          <p:cNvSpPr/>
          <p:nvPr/>
        </p:nvSpPr>
        <p:spPr>
          <a:xfrm rot="5400000">
            <a:off x="2253575" y="189147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261848B-C1D5-DC61-3242-C26A3264D78D}"/>
              </a:ext>
            </a:extLst>
          </p:cNvPr>
          <p:cNvSpPr/>
          <p:nvPr/>
        </p:nvSpPr>
        <p:spPr>
          <a:xfrm rot="5400000">
            <a:off x="2023627" y="189147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D211B5E0-8895-07B5-EFE8-8308B2C93388}"/>
              </a:ext>
            </a:extLst>
          </p:cNvPr>
          <p:cNvSpPr/>
          <p:nvPr/>
        </p:nvSpPr>
        <p:spPr>
          <a:xfrm rot="5400000">
            <a:off x="8578004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0CFBF4D6-DB08-8EDC-6021-34299961E081}"/>
              </a:ext>
            </a:extLst>
          </p:cNvPr>
          <p:cNvSpPr/>
          <p:nvPr/>
        </p:nvSpPr>
        <p:spPr>
          <a:xfrm rot="5400000">
            <a:off x="8793990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3D95F39-403A-41FD-B510-058E75419F06}"/>
              </a:ext>
            </a:extLst>
          </p:cNvPr>
          <p:cNvSpPr/>
          <p:nvPr/>
        </p:nvSpPr>
        <p:spPr>
          <a:xfrm rot="5400000">
            <a:off x="7902334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7DE3701C-693F-14AA-A3C6-CEF5FEDFA822}"/>
              </a:ext>
            </a:extLst>
          </p:cNvPr>
          <p:cNvSpPr/>
          <p:nvPr/>
        </p:nvSpPr>
        <p:spPr>
          <a:xfrm rot="5400000">
            <a:off x="8133560" y="1526095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45E37CE-98EB-E2BA-4846-11EFC9B49D6D}"/>
              </a:ext>
            </a:extLst>
          </p:cNvPr>
          <p:cNvSpPr/>
          <p:nvPr/>
        </p:nvSpPr>
        <p:spPr>
          <a:xfrm rot="5400000">
            <a:off x="9041418" y="1504019"/>
            <a:ext cx="816451" cy="23599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0E0530C6-BE70-7559-6E98-C62FBAEF05AE}"/>
              </a:ext>
            </a:extLst>
          </p:cNvPr>
          <p:cNvSpPr/>
          <p:nvPr/>
        </p:nvSpPr>
        <p:spPr>
          <a:xfrm rot="5400000">
            <a:off x="1791325" y="189147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14383F7-757E-6C28-5EF4-49D07442EC80}"/>
              </a:ext>
            </a:extLst>
          </p:cNvPr>
          <p:cNvSpPr/>
          <p:nvPr/>
        </p:nvSpPr>
        <p:spPr>
          <a:xfrm rot="5400000">
            <a:off x="1553182" y="1900562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86737FE7-72C8-D412-A592-9C0FF62B5D02}"/>
              </a:ext>
            </a:extLst>
          </p:cNvPr>
          <p:cNvSpPr/>
          <p:nvPr/>
        </p:nvSpPr>
        <p:spPr>
          <a:xfrm rot="5400000">
            <a:off x="1323234" y="1900561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D2324463-31C9-265D-3415-E1B48AC92729}"/>
              </a:ext>
            </a:extLst>
          </p:cNvPr>
          <p:cNvSpPr/>
          <p:nvPr/>
        </p:nvSpPr>
        <p:spPr>
          <a:xfrm rot="5400000">
            <a:off x="1090932" y="1900562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63623F53-6103-7A41-A850-B3AA221EA3C4}"/>
              </a:ext>
            </a:extLst>
          </p:cNvPr>
          <p:cNvSpPr/>
          <p:nvPr/>
        </p:nvSpPr>
        <p:spPr>
          <a:xfrm rot="5400000">
            <a:off x="6590717" y="152609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5EF80607-EB7A-751B-81BF-C61470EC2AC5}"/>
              </a:ext>
            </a:extLst>
          </p:cNvPr>
          <p:cNvSpPr/>
          <p:nvPr/>
        </p:nvSpPr>
        <p:spPr>
          <a:xfrm rot="5400000">
            <a:off x="7042329" y="1526094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DCD72F69-4920-D5E7-31D2-5A1F21D46971}"/>
              </a:ext>
            </a:extLst>
          </p:cNvPr>
          <p:cNvSpPr/>
          <p:nvPr/>
        </p:nvSpPr>
        <p:spPr>
          <a:xfrm rot="5400000">
            <a:off x="7267211" y="1526096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ABF633D-7A90-86F8-EA19-F122691E75A5}"/>
              </a:ext>
            </a:extLst>
          </p:cNvPr>
          <p:cNvSpPr/>
          <p:nvPr/>
        </p:nvSpPr>
        <p:spPr>
          <a:xfrm>
            <a:off x="572798" y="2630504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9493838B-B98B-A200-58D2-D3991CFA5288}"/>
              </a:ext>
            </a:extLst>
          </p:cNvPr>
          <p:cNvSpPr/>
          <p:nvPr/>
        </p:nvSpPr>
        <p:spPr>
          <a:xfrm rot="5400000">
            <a:off x="6359723" y="1524688"/>
            <a:ext cx="816451" cy="19184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CE0162D-463E-4A01-8843-8D9186465BFE}"/>
              </a:ext>
            </a:extLst>
          </p:cNvPr>
          <p:cNvSpPr/>
          <p:nvPr/>
        </p:nvSpPr>
        <p:spPr>
          <a:xfrm>
            <a:off x="10424523" y="3710133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AF3D02B-C967-06E3-F4EF-4F57D0519C71}"/>
              </a:ext>
            </a:extLst>
          </p:cNvPr>
          <p:cNvSpPr/>
          <p:nvPr/>
        </p:nvSpPr>
        <p:spPr>
          <a:xfrm>
            <a:off x="10424523" y="4555712"/>
            <a:ext cx="726873" cy="1918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C1B10DA-E01A-BEA3-2D5B-9552BB1E323F}"/>
              </a:ext>
            </a:extLst>
          </p:cNvPr>
          <p:cNvSpPr txBox="1"/>
          <p:nvPr/>
        </p:nvSpPr>
        <p:spPr>
          <a:xfrm>
            <a:off x="1725580" y="719373"/>
            <a:ext cx="196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XC24 (</a:t>
            </a:r>
            <a:r>
              <a:rPr lang="ko-KR" altLang="en-US" b="1" dirty="0" err="1"/>
              <a:t>기존칩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0600A-3159-3194-49E5-420F184278FF}"/>
              </a:ext>
            </a:extLst>
          </p:cNvPr>
          <p:cNvSpPr txBox="1"/>
          <p:nvPr/>
        </p:nvSpPr>
        <p:spPr>
          <a:xfrm>
            <a:off x="7446202" y="710835"/>
            <a:ext cx="19688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XC24R (New</a:t>
            </a:r>
            <a:r>
              <a:rPr lang="ko-KR" altLang="en-US" b="1" dirty="0"/>
              <a:t> 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50704A-4C21-062C-C39F-91453F4E88D8}"/>
              </a:ext>
            </a:extLst>
          </p:cNvPr>
          <p:cNvSpPr txBox="1"/>
          <p:nvPr/>
        </p:nvSpPr>
        <p:spPr>
          <a:xfrm>
            <a:off x="7526613" y="2133597"/>
            <a:ext cx="1869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QFN 68-PIN</a:t>
            </a:r>
          </a:p>
          <a:p>
            <a:pPr algn="ctr"/>
            <a:r>
              <a:rPr lang="en-US" altLang="ko-KR" sz="1400" b="1" dirty="0"/>
              <a:t>8mm x 8mm</a:t>
            </a:r>
          </a:p>
          <a:p>
            <a:pPr algn="ctr"/>
            <a:r>
              <a:rPr lang="en-US" altLang="ko-KR" sz="1400" b="1" dirty="0"/>
              <a:t>(TBD)</a:t>
            </a:r>
          </a:p>
          <a:p>
            <a:pPr algn="ctr"/>
            <a:r>
              <a:rPr lang="en-US" altLang="ko-KR" sz="1400" b="1" dirty="0"/>
              <a:t>(TOP View)</a:t>
            </a:r>
            <a:endParaRPr lang="ko-KR" altLang="en-US" sz="14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6BAF9B4-D19E-0B85-F9DE-D2BCC8C0D9A5}"/>
              </a:ext>
            </a:extLst>
          </p:cNvPr>
          <p:cNvSpPr/>
          <p:nvPr/>
        </p:nvSpPr>
        <p:spPr>
          <a:xfrm>
            <a:off x="838002" y="3014973"/>
            <a:ext cx="3452327" cy="1684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참조용 칩임</a:t>
            </a:r>
            <a:endParaRPr lang="en-US" altLang="ko-KR" sz="3200" dirty="0"/>
          </a:p>
          <a:p>
            <a:pPr algn="ctr"/>
            <a:r>
              <a:rPr lang="en-US" altLang="ko-KR" sz="3200" dirty="0"/>
              <a:t>(</a:t>
            </a:r>
            <a:r>
              <a:rPr lang="ko-KR" altLang="en-US" sz="3200" dirty="0"/>
              <a:t>기존 칩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11E766F-C572-79C5-CC00-A14E99F983BD}"/>
              </a:ext>
            </a:extLst>
          </p:cNvPr>
          <p:cNvSpPr/>
          <p:nvPr/>
        </p:nvSpPr>
        <p:spPr>
          <a:xfrm>
            <a:off x="6781396" y="3087943"/>
            <a:ext cx="3452327" cy="1684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Pin Assign</a:t>
            </a:r>
          </a:p>
          <a:p>
            <a:pPr algn="ctr"/>
            <a:r>
              <a:rPr lang="ko-KR" altLang="en-US" sz="3200" dirty="0" err="1"/>
              <a:t>미확정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8171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18EE-8300-1FD1-3E57-2C9655D6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61DA9-1531-DC33-8AAA-B9F4822E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XD12P vs XD12R </a:t>
            </a:r>
            <a:r>
              <a:rPr lang="ko-KR" altLang="en-US" b="1" dirty="0"/>
              <a:t>칩 </a:t>
            </a:r>
            <a:r>
              <a:rPr lang="en-US" altLang="ko-KR" b="1" dirty="0"/>
              <a:t>PIN out</a:t>
            </a:r>
            <a:endParaRPr lang="ko-KR" altLang="en-US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46E962-4213-D32B-D7CC-552A372A3140}"/>
              </a:ext>
            </a:extLst>
          </p:cNvPr>
          <p:cNvSpPr txBox="1"/>
          <p:nvPr/>
        </p:nvSpPr>
        <p:spPr>
          <a:xfrm>
            <a:off x="2414621" y="1010493"/>
            <a:ext cx="196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XD12 (</a:t>
            </a:r>
            <a:r>
              <a:rPr lang="ko-KR" altLang="en-US" b="1" dirty="0" err="1"/>
              <a:t>기존칩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B21F421-2728-E043-BC18-0DF8B0AF4BB2}"/>
              </a:ext>
            </a:extLst>
          </p:cNvPr>
          <p:cNvSpPr txBox="1"/>
          <p:nvPr/>
        </p:nvSpPr>
        <p:spPr>
          <a:xfrm>
            <a:off x="8092179" y="1056659"/>
            <a:ext cx="196884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XD12R</a:t>
            </a:r>
          </a:p>
          <a:p>
            <a:pPr algn="ctr"/>
            <a:r>
              <a:rPr lang="en-US" altLang="ko-KR" b="1" dirty="0"/>
              <a:t> (New</a:t>
            </a:r>
            <a:r>
              <a:rPr lang="ko-KR" altLang="en-US" b="1" dirty="0"/>
              <a:t> 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94087BB-5623-FD7C-A155-8AEE83958933}"/>
              </a:ext>
            </a:extLst>
          </p:cNvPr>
          <p:cNvSpPr/>
          <p:nvPr/>
        </p:nvSpPr>
        <p:spPr>
          <a:xfrm>
            <a:off x="2497150" y="1415873"/>
            <a:ext cx="1968844" cy="449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참조용 칩임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기존 보드 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54EC9FD-624C-49BC-615C-37A26D10C3FB}"/>
              </a:ext>
            </a:extLst>
          </p:cNvPr>
          <p:cNvGrpSpPr/>
          <p:nvPr/>
        </p:nvGrpSpPr>
        <p:grpSpPr>
          <a:xfrm>
            <a:off x="5935491" y="1892994"/>
            <a:ext cx="5484646" cy="3620422"/>
            <a:chOff x="5460994" y="1390493"/>
            <a:chExt cx="6676685" cy="4486275"/>
          </a:xfrm>
        </p:grpSpPr>
        <p:pic>
          <p:nvPicPr>
            <p:cNvPr id="109" name="그림 108" descr="텍스트, 스크린샷, 도표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23714F6-250B-D7B4-6310-E314E7B6B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994" y="1390493"/>
              <a:ext cx="6134100" cy="4486275"/>
            </a:xfrm>
            <a:prstGeom prst="rect">
              <a:avLst/>
            </a:prstGeom>
          </p:spPr>
        </p:pic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7CE616DC-4D90-A198-400A-BE8287964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1976" y="3151320"/>
              <a:ext cx="497941" cy="0"/>
            </a:xfrm>
            <a:prstGeom prst="straightConnector1">
              <a:avLst/>
            </a:prstGeom>
            <a:ln w="57150">
              <a:solidFill>
                <a:srgbClr val="FF33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EEE6B68-F3CD-B473-9862-CA8080B078AE}"/>
                </a:ext>
              </a:extLst>
            </p:cNvPr>
            <p:cNvSpPr txBox="1"/>
            <p:nvPr/>
          </p:nvSpPr>
          <p:spPr>
            <a:xfrm>
              <a:off x="11350150" y="2820021"/>
              <a:ext cx="7875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highlight>
                    <a:srgbClr val="FFFF00"/>
                  </a:highlight>
                </a:rPr>
                <a:t>Test pin</a:t>
              </a:r>
              <a:endParaRPr lang="ko-KR" altLang="en-US" sz="1200" b="1" dirty="0">
                <a:highlight>
                  <a:srgbClr val="FFFF00"/>
                </a:highlight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2277180-651A-74C6-1472-D4276C9D1780}"/>
                </a:ext>
              </a:extLst>
            </p:cNvPr>
            <p:cNvSpPr txBox="1"/>
            <p:nvPr/>
          </p:nvSpPr>
          <p:spPr>
            <a:xfrm>
              <a:off x="10072198" y="2999291"/>
              <a:ext cx="659946" cy="34324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highlight>
                    <a:srgbClr val="FFFF00"/>
                  </a:highlight>
                </a:rPr>
                <a:t>Test </a:t>
              </a:r>
              <a:endParaRPr lang="ko-KR" altLang="en-US" sz="1200" b="1" dirty="0">
                <a:highlight>
                  <a:srgbClr val="FFFF00"/>
                </a:highlight>
              </a:endParaRPr>
            </a:p>
          </p:txBody>
        </p:sp>
      </p:grpSp>
      <p:pic>
        <p:nvPicPr>
          <p:cNvPr id="116" name="그림 115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1219D-BA7B-16EA-E3EA-E9AA17E40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44" y="1901532"/>
            <a:ext cx="5147115" cy="3719395"/>
          </a:xfrm>
          <a:prstGeom prst="rect">
            <a:avLst/>
          </a:prstGeom>
        </p:spPr>
      </p:pic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F47690C-5A16-117E-220C-17133A0523C9}"/>
              </a:ext>
            </a:extLst>
          </p:cNvPr>
          <p:cNvSpPr/>
          <p:nvPr/>
        </p:nvSpPr>
        <p:spPr>
          <a:xfrm>
            <a:off x="1725580" y="4110274"/>
            <a:ext cx="1298277" cy="688063"/>
          </a:xfrm>
          <a:prstGeom prst="roundRect">
            <a:avLst/>
          </a:prstGeom>
          <a:noFill/>
          <a:ln w="19050"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4A74A657-CB05-F2F1-4BB5-7FD0A8A10DA7}"/>
              </a:ext>
            </a:extLst>
          </p:cNvPr>
          <p:cNvSpPr/>
          <p:nvPr/>
        </p:nvSpPr>
        <p:spPr>
          <a:xfrm>
            <a:off x="4465994" y="4128381"/>
            <a:ext cx="1167935" cy="688063"/>
          </a:xfrm>
          <a:prstGeom prst="roundRect">
            <a:avLst/>
          </a:prstGeom>
          <a:noFill/>
          <a:ln w="19050"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10B7CBE6-863E-BCC8-A8BF-385F4AF31673}"/>
              </a:ext>
            </a:extLst>
          </p:cNvPr>
          <p:cNvSpPr/>
          <p:nvPr/>
        </p:nvSpPr>
        <p:spPr>
          <a:xfrm>
            <a:off x="7206408" y="4128381"/>
            <a:ext cx="1298277" cy="688063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1C37C3A4-E24E-9EFC-1F96-2EF1ED75D8D3}"/>
              </a:ext>
            </a:extLst>
          </p:cNvPr>
          <p:cNvSpPr/>
          <p:nvPr/>
        </p:nvSpPr>
        <p:spPr>
          <a:xfrm>
            <a:off x="9977709" y="4128381"/>
            <a:ext cx="1298277" cy="688063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27D43B3-AB43-4E4F-8CC8-AB7F3CAB115C}"/>
              </a:ext>
            </a:extLst>
          </p:cNvPr>
          <p:cNvSpPr/>
          <p:nvPr/>
        </p:nvSpPr>
        <p:spPr>
          <a:xfrm>
            <a:off x="4838961" y="5573354"/>
            <a:ext cx="5222062" cy="899629"/>
          </a:xfrm>
          <a:prstGeom prst="rect">
            <a:avLst/>
          </a:prstGeom>
          <a:solidFill>
            <a:srgbClr val="00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[XD12R New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칩 차이점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가지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]</a:t>
            </a:r>
          </a:p>
          <a:p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기존 칩의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Pin out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에서 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5, 6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번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pin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위치가 서로 바뀜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(13,14 pin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도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swap)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   (Data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신호선을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PKG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안쪽으로 배치해서 외부 노이즈 덜 받게 하기 위함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2) 17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번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pin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Test mode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진입용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pin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으로 지그 보드에서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MCU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로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control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해야 함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5F06DE5-B27E-2F7E-86AF-9F46A29C9765}"/>
              </a:ext>
            </a:extLst>
          </p:cNvPr>
          <p:cNvCxnSpPr>
            <a:cxnSpLocks/>
          </p:cNvCxnSpPr>
          <p:nvPr/>
        </p:nvCxnSpPr>
        <p:spPr>
          <a:xfrm>
            <a:off x="10626848" y="4601761"/>
            <a:ext cx="409040" cy="0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1D6F8A-856D-B50B-61F6-4894A4AED47E}"/>
              </a:ext>
            </a:extLst>
          </p:cNvPr>
          <p:cNvSpPr txBox="1"/>
          <p:nvPr/>
        </p:nvSpPr>
        <p:spPr>
          <a:xfrm>
            <a:off x="10873258" y="4278595"/>
            <a:ext cx="1093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highlight>
                  <a:srgbClr val="FFFF00"/>
                </a:highlight>
              </a:rPr>
              <a:t>주파수 출력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 algn="ctr"/>
            <a:r>
              <a:rPr lang="en-US" altLang="ko-KR" sz="1200" b="1" dirty="0">
                <a:highlight>
                  <a:srgbClr val="FFFF00"/>
                </a:highlight>
              </a:rPr>
              <a:t>@</a:t>
            </a:r>
          </a:p>
          <a:p>
            <a:pPr algn="ctr"/>
            <a:r>
              <a:rPr lang="en-US" altLang="ko-KR" sz="1200" b="1" dirty="0">
                <a:highlight>
                  <a:srgbClr val="FFFF00"/>
                </a:highlight>
              </a:rPr>
              <a:t>Trim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8158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XCR-XDR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연결도</a:t>
            </a:r>
            <a:endParaRPr lang="ko-KR" alt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E8EF66-6AA4-E482-41D4-B622070CB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86" y="1381613"/>
            <a:ext cx="4945517" cy="425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43BC67D-0AB3-BE74-1116-EC1E6CE80C8B}"/>
              </a:ext>
            </a:extLst>
          </p:cNvPr>
          <p:cNvCxnSpPr/>
          <p:nvPr/>
        </p:nvCxnSpPr>
        <p:spPr>
          <a:xfrm>
            <a:off x="2767743" y="5158107"/>
            <a:ext cx="1358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127AA8-F187-57A3-F261-2160FC4E9545}"/>
              </a:ext>
            </a:extLst>
          </p:cNvPr>
          <p:cNvSpPr txBox="1"/>
          <p:nvPr/>
        </p:nvSpPr>
        <p:spPr>
          <a:xfrm>
            <a:off x="3105403" y="4910809"/>
            <a:ext cx="573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SVOn</a:t>
            </a:r>
            <a:endParaRPr lang="ko-KR" altLang="en-US" sz="1200" dirty="0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70C9DECD-F2E6-27AE-4364-05BFBBA85417}"/>
              </a:ext>
            </a:extLst>
          </p:cNvPr>
          <p:cNvSpPr/>
          <p:nvPr/>
        </p:nvSpPr>
        <p:spPr>
          <a:xfrm>
            <a:off x="820272" y="2674318"/>
            <a:ext cx="316006" cy="1089212"/>
          </a:xfrm>
          <a:custGeom>
            <a:avLst/>
            <a:gdLst>
              <a:gd name="csX0" fmla="*/ 262218 w 316006"/>
              <a:gd name="csY0" fmla="*/ 1089212 h 1089212"/>
              <a:gd name="csX1" fmla="*/ 0 w 316006"/>
              <a:gd name="csY1" fmla="*/ 1089212 h 1089212"/>
              <a:gd name="csX2" fmla="*/ 0 w 316006"/>
              <a:gd name="csY2" fmla="*/ 0 h 1089212"/>
              <a:gd name="csX3" fmla="*/ 316006 w 316006"/>
              <a:gd name="csY3" fmla="*/ 0 h 1089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6006" h="1089212">
                <a:moveTo>
                  <a:pt x="262218" y="1089212"/>
                </a:moveTo>
                <a:lnTo>
                  <a:pt x="0" y="1089212"/>
                </a:lnTo>
                <a:lnTo>
                  <a:pt x="0" y="0"/>
                </a:lnTo>
                <a:lnTo>
                  <a:pt x="316006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9FC0C-544F-480C-C619-09EE4AC9257C}"/>
              </a:ext>
            </a:extLst>
          </p:cNvPr>
          <p:cNvSpPr txBox="1"/>
          <p:nvPr/>
        </p:nvSpPr>
        <p:spPr>
          <a:xfrm>
            <a:off x="210059" y="3011245"/>
            <a:ext cx="643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DACn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1DCD3-2AC7-C7EB-9D94-825C4C2D7087}"/>
              </a:ext>
            </a:extLst>
          </p:cNvPr>
          <p:cNvSpPr txBox="1"/>
          <p:nvPr/>
        </p:nvSpPr>
        <p:spPr>
          <a:xfrm>
            <a:off x="6439556" y="3618148"/>
            <a:ext cx="52020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/>
              <a:t>XCR </a:t>
            </a:r>
            <a:r>
              <a:rPr lang="ko-KR" altLang="en-US" sz="1600" dirty="0"/>
              <a:t>에 추가된 </a:t>
            </a:r>
            <a:r>
              <a:rPr lang="en-US" altLang="ko-KR" sz="1600" dirty="0"/>
              <a:t>G1,G2,G3 </a:t>
            </a:r>
            <a:r>
              <a:rPr lang="ko-KR" altLang="en-US" sz="1600" dirty="0"/>
              <a:t>는 </a:t>
            </a:r>
            <a:r>
              <a:rPr lang="en-US" altLang="ko-KR" sz="1600" dirty="0"/>
              <a:t>VLED </a:t>
            </a:r>
            <a:r>
              <a:rPr lang="ko-KR" altLang="en-US" sz="1600" dirty="0"/>
              <a:t>를 </a:t>
            </a:r>
            <a:r>
              <a:rPr lang="en-US" altLang="ko-KR" sz="1600" dirty="0"/>
              <a:t>on/off </a:t>
            </a:r>
            <a:r>
              <a:rPr lang="ko-KR" altLang="en-US" sz="1600" dirty="0"/>
              <a:t>하는</a:t>
            </a:r>
            <a:endParaRPr lang="en-US" altLang="ko-KR" sz="1600" dirty="0"/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TR gate </a:t>
            </a:r>
            <a:r>
              <a:rPr lang="ko-KR" altLang="en-US" sz="1600" dirty="0"/>
              <a:t>를 </a:t>
            </a:r>
            <a:r>
              <a:rPr lang="en-US" altLang="ko-KR" sz="1600" dirty="0"/>
              <a:t>control </a:t>
            </a:r>
            <a:r>
              <a:rPr lang="ko-KR" altLang="en-US" sz="1600" dirty="0"/>
              <a:t>하는 신호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2. SVO1~12 </a:t>
            </a:r>
            <a:r>
              <a:rPr lang="ko-KR" altLang="en-US" sz="1600" dirty="0"/>
              <a:t>는 </a:t>
            </a:r>
            <a:r>
              <a:rPr lang="en-US" altLang="ko-KR" sz="1600" dirty="0"/>
              <a:t>XDR </a:t>
            </a:r>
            <a:r>
              <a:rPr lang="ko-KR" altLang="en-US" sz="1600" dirty="0"/>
              <a:t>에 연결되는 신호이며</a:t>
            </a:r>
            <a:r>
              <a:rPr lang="en-US" altLang="ko-KR" sz="1600" dirty="0"/>
              <a:t>, </a:t>
            </a:r>
            <a:r>
              <a:rPr lang="ko-KR" altLang="en-US" sz="1600" dirty="0"/>
              <a:t>동일한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신호가 중복 출력하는 방식임</a:t>
            </a:r>
            <a:r>
              <a:rPr lang="en-US" altLang="ko-KR" sz="1600" dirty="0"/>
              <a:t>. </a:t>
            </a:r>
            <a:r>
              <a:rPr lang="ko-KR" altLang="en-US" sz="1600" dirty="0"/>
              <a:t>여러 </a:t>
            </a:r>
            <a:r>
              <a:rPr lang="en-US" altLang="ko-KR" sz="1600" dirty="0"/>
              <a:t>XDR</a:t>
            </a:r>
            <a:r>
              <a:rPr lang="ko-KR" altLang="en-US" sz="1600" dirty="0"/>
              <a:t>이 공유 할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수도 있음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3. DAC1~3 </a:t>
            </a:r>
            <a:r>
              <a:rPr lang="ko-KR" altLang="en-US" sz="1600" dirty="0"/>
              <a:t>은 </a:t>
            </a:r>
            <a:r>
              <a:rPr lang="en-US" altLang="ko-KR" sz="1600" dirty="0"/>
              <a:t>G1~3 </a:t>
            </a:r>
            <a:r>
              <a:rPr lang="ko-KR" altLang="en-US" sz="1600" dirty="0"/>
              <a:t>에 대응하는 </a:t>
            </a:r>
            <a:r>
              <a:rPr lang="en-US" altLang="ko-KR" sz="1600" dirty="0"/>
              <a:t>VLED </a:t>
            </a:r>
            <a:r>
              <a:rPr lang="ko-KR" altLang="en-US" sz="1600" dirty="0"/>
              <a:t>전압 조절신호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8DA626-C135-3408-4A20-B2BB44ECD120}"/>
              </a:ext>
            </a:extLst>
          </p:cNvPr>
          <p:cNvSpPr/>
          <p:nvPr/>
        </p:nvSpPr>
        <p:spPr>
          <a:xfrm>
            <a:off x="1606924" y="3790425"/>
            <a:ext cx="605118" cy="302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XC24R</a:t>
            </a:r>
            <a:endParaRPr lang="ko-KR" altLang="en-US" sz="1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CDD5-3B11-5785-CA56-1965E056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65ECF-5EEB-769C-82B0-DFB66375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XD12R  RGB PWM Dimming </a:t>
            </a:r>
          </a:p>
        </p:txBody>
      </p:sp>
      <p:pic>
        <p:nvPicPr>
          <p:cNvPr id="11" name="그림 10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0B110D-068D-AA09-8DA3-6B9B58090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7" y="1142682"/>
            <a:ext cx="5934853" cy="4572635"/>
          </a:xfrm>
          <a:prstGeom prst="rect">
            <a:avLst/>
          </a:prstGeom>
        </p:spPr>
      </p:pic>
      <p:pic>
        <p:nvPicPr>
          <p:cNvPr id="13" name="그림 12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BFDE25-1154-78DD-2EE3-87020621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82670"/>
            <a:ext cx="5934853" cy="23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22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FF571-B67C-05C9-F3F1-8EB730C4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5D85A-A3E3-BFF5-0BA1-20DAA409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XD12R  RGB PWM Dimming </a:t>
            </a:r>
          </a:p>
        </p:txBody>
      </p:sp>
      <p:pic>
        <p:nvPicPr>
          <p:cNvPr id="4" name="그림 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CCD7B4-5AFE-B900-3E28-60B0D687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04913"/>
            <a:ext cx="6096000" cy="3510274"/>
          </a:xfrm>
          <a:prstGeom prst="rect">
            <a:avLst/>
          </a:prstGeom>
        </p:spPr>
      </p:pic>
      <p:pic>
        <p:nvPicPr>
          <p:cNvPr id="6" name="그림 5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765CAD-AEC3-BE84-8777-C22D8F8E5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6710"/>
            <a:ext cx="5862456" cy="31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23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9DA4-767F-5F97-8C21-F98473D4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6D702-2BC6-3FF4-E736-C028DBF2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XD12R  RGB PWM Dimming </a:t>
            </a:r>
          </a:p>
        </p:txBody>
      </p: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EF3CA8-83C5-4AF4-3D5E-F6CE6A30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4" y="1463605"/>
            <a:ext cx="5747657" cy="3794486"/>
          </a:xfrm>
          <a:prstGeom prst="rect">
            <a:avLst/>
          </a:prstGeom>
        </p:spPr>
      </p:pic>
      <p:pic>
        <p:nvPicPr>
          <p:cNvPr id="8" name="그림 7" descr="스크린샷, 도표, 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530AFA-997D-3DB8-7EFC-C2F1D0035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343" y="2475135"/>
            <a:ext cx="6355410" cy="236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52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774C-2099-EE15-5FE9-FB667C24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BB7A5-2D2E-1DF4-B0CD-BD031BC4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-13768"/>
            <a:ext cx="6804182" cy="322650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XCR-XDR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Application Circuit </a:t>
            </a:r>
            <a:r>
              <a:rPr lang="ko-KR" altLang="en-US" sz="2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+mn-cs"/>
              </a:rPr>
              <a:t>연결도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F0A1F8-813D-16D8-E8D0-132E0A55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81" y="1575708"/>
            <a:ext cx="10829638" cy="39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16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20CD-2563-627A-A7B0-EAC6AAB6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CB3F4-70C9-593E-FE41-C209F8C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XD12R Pin out</a:t>
            </a:r>
            <a:endParaRPr lang="ko-KR" altLang="en-US" b="1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DC34075-EEAA-0E9F-46DA-D88F71369C4C}"/>
              </a:ext>
            </a:extLst>
          </p:cNvPr>
          <p:cNvGrpSpPr/>
          <p:nvPr/>
        </p:nvGrpSpPr>
        <p:grpSpPr>
          <a:xfrm>
            <a:off x="2171805" y="1281348"/>
            <a:ext cx="5000519" cy="4985305"/>
            <a:chOff x="2171806" y="1281348"/>
            <a:chExt cx="2616094" cy="2884449"/>
          </a:xfrm>
        </p:grpSpPr>
        <p:sp>
          <p:nvSpPr>
            <p:cNvPr id="5" name="object 84">
              <a:extLst>
                <a:ext uri="{FF2B5EF4-FFF2-40B4-BE49-F238E27FC236}">
                  <a16:creationId xmlns:a16="http://schemas.microsoft.com/office/drawing/2014/main" id="{A9C65894-124F-889F-66F7-FB77B4BDE19B}"/>
                </a:ext>
              </a:extLst>
            </p:cNvPr>
            <p:cNvSpPr txBox="1"/>
            <p:nvPr/>
          </p:nvSpPr>
          <p:spPr>
            <a:xfrm>
              <a:off x="2777556" y="4072307"/>
              <a:ext cx="782949" cy="93490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spAutoFit/>
            </a:bodyPr>
            <a:lstStyle/>
            <a:p>
              <a:pPr marL="12435" defTabSz="895327" fontAlgn="auto">
                <a:spcBef>
                  <a:spcPts val="118"/>
                </a:spcBef>
                <a:spcAft>
                  <a:spcPts val="0"/>
                </a:spcAft>
              </a:pPr>
              <a:r>
                <a:rPr kumimoji="0" lang="en-US" sz="1050" b="1" spc="15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Figure 3.  Pin diagram 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BC933A6-FDAD-CA9F-414D-DC4E015C1F71}"/>
                </a:ext>
              </a:extLst>
            </p:cNvPr>
            <p:cNvGrpSpPr/>
            <p:nvPr/>
          </p:nvGrpSpPr>
          <p:grpSpPr>
            <a:xfrm>
              <a:off x="2171806" y="1281348"/>
              <a:ext cx="2616094" cy="2681051"/>
              <a:chOff x="2171806" y="1309289"/>
              <a:chExt cx="2434199" cy="246795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9CCB30A-BB53-F4B7-2970-F72E77F40A83}"/>
                  </a:ext>
                </a:extLst>
              </p:cNvPr>
              <p:cNvSpPr/>
              <p:nvPr/>
            </p:nvSpPr>
            <p:spPr>
              <a:xfrm rot="5400000">
                <a:off x="2155660" y="1325931"/>
                <a:ext cx="2466976" cy="2433714"/>
              </a:xfrm>
              <a:prstGeom prst="rect">
                <a:avLst/>
              </a:prstGeom>
              <a:solidFill>
                <a:schemeClr val="accent1">
                  <a:alpha val="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C734478-A8A0-503A-ABB6-4C0373549CBF}"/>
                  </a:ext>
                </a:extLst>
              </p:cNvPr>
              <p:cNvSpPr/>
              <p:nvPr/>
            </p:nvSpPr>
            <p:spPr>
              <a:xfrm rot="5400000">
                <a:off x="4356202" y="1954037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88B532E-D08E-FCBB-CA2D-EDCEFA77A8BD}"/>
                  </a:ext>
                </a:extLst>
              </p:cNvPr>
              <p:cNvSpPr/>
              <p:nvPr/>
            </p:nvSpPr>
            <p:spPr>
              <a:xfrm rot="5400000">
                <a:off x="4356202" y="2243994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73857FC-57AC-092D-AF73-A239457DB9CE}"/>
                  </a:ext>
                </a:extLst>
              </p:cNvPr>
              <p:cNvSpPr/>
              <p:nvPr/>
            </p:nvSpPr>
            <p:spPr>
              <a:xfrm rot="5400000">
                <a:off x="4356202" y="2533951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21737B1-0EA0-7AEF-3991-C1FF95DFFF72}"/>
                  </a:ext>
                </a:extLst>
              </p:cNvPr>
              <p:cNvSpPr/>
              <p:nvPr/>
            </p:nvSpPr>
            <p:spPr>
              <a:xfrm rot="5400000">
                <a:off x="4356202" y="282390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순서도: 카드 11">
                <a:extLst>
                  <a:ext uri="{FF2B5EF4-FFF2-40B4-BE49-F238E27FC236}">
                    <a16:creationId xmlns:a16="http://schemas.microsoft.com/office/drawing/2014/main" id="{798DD390-A2DC-8A1A-6AC3-8E335B9501D2}"/>
                  </a:ext>
                </a:extLst>
              </p:cNvPr>
              <p:cNvSpPr/>
              <p:nvPr/>
            </p:nvSpPr>
            <p:spPr>
              <a:xfrm>
                <a:off x="2760341" y="1900239"/>
                <a:ext cx="1247715" cy="1269722"/>
              </a:xfrm>
              <a:prstGeom prst="flowChartPunchedCard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5185CD-1D58-8DD1-18E6-847FE4ABEFFE}"/>
                  </a:ext>
                </a:extLst>
              </p:cNvPr>
              <p:cNvSpPr txBox="1"/>
              <p:nvPr/>
            </p:nvSpPr>
            <p:spPr>
              <a:xfrm>
                <a:off x="3155950" y="2328318"/>
                <a:ext cx="263126" cy="1352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T-Pad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4C712E-356B-5BF2-F82C-747AD109C6CC}"/>
                  </a:ext>
                </a:extLst>
              </p:cNvPr>
              <p:cNvSpPr txBox="1"/>
              <p:nvPr/>
            </p:nvSpPr>
            <p:spPr>
              <a:xfrm>
                <a:off x="2500821" y="1788727"/>
                <a:ext cx="99102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DD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06A833-9009-03F9-E19C-46A4D6F34DB2}"/>
                  </a:ext>
                </a:extLst>
              </p:cNvPr>
              <p:cNvSpPr txBox="1"/>
              <p:nvPr/>
            </p:nvSpPr>
            <p:spPr>
              <a:xfrm>
                <a:off x="2505554" y="2054057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lang="en-US" altLang="ko-KR" sz="1000" baseline="-25000" dirty="0">
                    <a:latin typeface="맑은 고딕" panose="020F0502020204030204"/>
                    <a:ea typeface="맑은 고딕" panose="020B0503020000020004" pitchFamily="50" charset="-127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8FE496-E912-1C47-E18E-A9DCF6D5C73F}"/>
                  </a:ext>
                </a:extLst>
              </p:cNvPr>
              <p:cNvSpPr txBox="1"/>
              <p:nvPr/>
            </p:nvSpPr>
            <p:spPr>
              <a:xfrm>
                <a:off x="2505554" y="2621656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CA1181-960F-6059-E37E-9C112E56B094}"/>
                  </a:ext>
                </a:extLst>
              </p:cNvPr>
              <p:cNvSpPr txBox="1"/>
              <p:nvPr/>
            </p:nvSpPr>
            <p:spPr>
              <a:xfrm>
                <a:off x="3985164" y="3314227"/>
                <a:ext cx="117048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O12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1C9BE9-DB2B-D8D6-A125-0D1B1A2DAC14}"/>
                  </a:ext>
                </a:extLst>
              </p:cNvPr>
              <p:cNvSpPr txBox="1"/>
              <p:nvPr/>
            </p:nvSpPr>
            <p:spPr>
              <a:xfrm>
                <a:off x="3723966" y="3317402"/>
                <a:ext cx="117048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O11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9A4012-2066-623D-F46C-F4617CE4C31A}"/>
                  </a:ext>
                </a:extLst>
              </p:cNvPr>
              <p:cNvSpPr txBox="1"/>
              <p:nvPr/>
            </p:nvSpPr>
            <p:spPr>
              <a:xfrm>
                <a:off x="3471851" y="3315744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O8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E73739-37B3-F3A9-24D3-3BB730EF7F4E}"/>
                  </a:ext>
                </a:extLst>
              </p:cNvPr>
              <p:cNvSpPr txBox="1"/>
              <p:nvPr/>
            </p:nvSpPr>
            <p:spPr>
              <a:xfrm>
                <a:off x="2896894" y="3328632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O4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DEF3B00-B6B0-DB33-AD59-E02FBD2BA9E6}"/>
                  </a:ext>
                </a:extLst>
              </p:cNvPr>
              <p:cNvSpPr txBox="1"/>
              <p:nvPr/>
            </p:nvSpPr>
            <p:spPr>
              <a:xfrm>
                <a:off x="2595356" y="1640683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O1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CA5C0A-09A7-5D14-5BC8-F35782715C82}"/>
                  </a:ext>
                </a:extLst>
              </p:cNvPr>
              <p:cNvSpPr txBox="1"/>
              <p:nvPr/>
            </p:nvSpPr>
            <p:spPr>
              <a:xfrm>
                <a:off x="2886669" y="1644409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>
                    <a:latin typeface="맑은 고딕" panose="020F0502020204030204"/>
                    <a:ea typeface="맑은 고딕" panose="020B0503020000020004" pitchFamily="50" charset="-127"/>
                  </a:rPr>
                  <a:t>O2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C20619-C713-9F13-0583-71FB7B72C4F1}"/>
                  </a:ext>
                </a:extLst>
              </p:cNvPr>
              <p:cNvSpPr txBox="1"/>
              <p:nvPr/>
            </p:nvSpPr>
            <p:spPr>
              <a:xfrm>
                <a:off x="3175554" y="1637951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>
                    <a:latin typeface="맑은 고딕" panose="020F0502020204030204"/>
                    <a:ea typeface="맑은 고딕" panose="020B0503020000020004" pitchFamily="50" charset="-127"/>
                  </a:rPr>
                  <a:t>O5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96A356-E82A-4FC4-933D-FEBBC7934AF0}"/>
                  </a:ext>
                </a:extLst>
              </p:cNvPr>
              <p:cNvSpPr txBox="1"/>
              <p:nvPr/>
            </p:nvSpPr>
            <p:spPr>
              <a:xfrm>
                <a:off x="3746653" y="1644469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O9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3BA56B-2650-012C-19BA-9C669C1C66CB}"/>
                  </a:ext>
                </a:extLst>
              </p:cNvPr>
              <p:cNvSpPr txBox="1"/>
              <p:nvPr/>
            </p:nvSpPr>
            <p:spPr>
              <a:xfrm>
                <a:off x="4136459" y="1767396"/>
                <a:ext cx="99102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DD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4858B9-1EE5-0B9F-EC73-573C878118F6}"/>
                  </a:ext>
                </a:extLst>
              </p:cNvPr>
              <p:cNvSpPr txBox="1"/>
              <p:nvPr/>
            </p:nvSpPr>
            <p:spPr>
              <a:xfrm>
                <a:off x="4136459" y="2045550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lang="en-US" altLang="ko-KR" sz="1000" baseline="-25000" dirty="0">
                    <a:latin typeface="맑은 고딕" panose="020F0502020204030204"/>
                    <a:ea typeface="맑은 고딕" panose="020B0503020000020004" pitchFamily="50" charset="-127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1D921C-47BE-D20D-CAE3-D9CA5FB4B0AF}"/>
                  </a:ext>
                </a:extLst>
              </p:cNvPr>
              <p:cNvSpPr txBox="1"/>
              <p:nvPr/>
            </p:nvSpPr>
            <p:spPr>
              <a:xfrm>
                <a:off x="4140315" y="2612661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B3FA14-5A44-EE6F-11AC-16AF643A940B}"/>
                  </a:ext>
                </a:extLst>
              </p:cNvPr>
              <p:cNvSpPr txBox="1"/>
              <p:nvPr/>
            </p:nvSpPr>
            <p:spPr>
              <a:xfrm>
                <a:off x="4129505" y="2897602"/>
                <a:ext cx="117048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D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DIO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D4BE65-E5D2-B8EB-19CD-26DA4AEA344D}"/>
                  </a:ext>
                </a:extLst>
              </p:cNvPr>
              <p:cNvSpPr txBox="1"/>
              <p:nvPr/>
            </p:nvSpPr>
            <p:spPr>
              <a:xfrm>
                <a:off x="3443662" y="1638801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O6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E1DED6-D55D-67DF-6DD4-D9A39A1FEF06}"/>
                  </a:ext>
                </a:extLst>
              </p:cNvPr>
              <p:cNvSpPr txBox="1"/>
              <p:nvPr/>
            </p:nvSpPr>
            <p:spPr>
              <a:xfrm>
                <a:off x="3991514" y="1643588"/>
                <a:ext cx="117048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O10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434096-52E6-69F9-E504-C4C4BDC638B0}"/>
                  </a:ext>
                </a:extLst>
              </p:cNvPr>
              <p:cNvSpPr txBox="1"/>
              <p:nvPr/>
            </p:nvSpPr>
            <p:spPr>
              <a:xfrm>
                <a:off x="4140315" y="2330476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3D8A24-9003-6E98-932A-5BE8184CB8BF}"/>
                  </a:ext>
                </a:extLst>
              </p:cNvPr>
              <p:cNvSpPr txBox="1"/>
              <p:nvPr/>
            </p:nvSpPr>
            <p:spPr>
              <a:xfrm>
                <a:off x="3179429" y="3321059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O7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6D67E3-A8CA-C8B6-9F27-AA5735E9525B}"/>
                  </a:ext>
                </a:extLst>
              </p:cNvPr>
              <p:cNvSpPr txBox="1"/>
              <p:nvPr/>
            </p:nvSpPr>
            <p:spPr>
              <a:xfrm>
                <a:off x="2633269" y="3324761"/>
                <a:ext cx="82714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O3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3920D2-8EE9-1576-6425-8F84E360E7C9}"/>
                  </a:ext>
                </a:extLst>
              </p:cNvPr>
              <p:cNvSpPr txBox="1"/>
              <p:nvPr/>
            </p:nvSpPr>
            <p:spPr>
              <a:xfrm>
                <a:off x="2505554" y="2338020"/>
                <a:ext cx="8505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  <a:r>
                  <a:rPr kumimoji="0" lang="en-US" altLang="ko-KR" sz="1000" b="0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SS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ABEFA1-C24C-B358-0130-9E3D7D43DD42}"/>
                  </a:ext>
                </a:extLst>
              </p:cNvPr>
              <p:cNvSpPr txBox="1"/>
              <p:nvPr/>
            </p:nvSpPr>
            <p:spPr>
              <a:xfrm>
                <a:off x="2499306" y="2922330"/>
                <a:ext cx="87396" cy="81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>
                    <a:latin typeface="맑은 고딕" panose="020F0502020204030204"/>
                    <a:ea typeface="맑은 고딕" panose="020B0503020000020004" pitchFamily="50" charset="-127"/>
                  </a:rPr>
                  <a:t>D</a:t>
                </a:r>
                <a:r>
                  <a:rPr lang="en-US" altLang="ko-KR" sz="1000" baseline="-25000" dirty="0">
                    <a:latin typeface="맑은 고딕" panose="020F0502020204030204"/>
                    <a:ea typeface="맑은 고딕" panose="020B0503020000020004" pitchFamily="50" charset="-127"/>
                  </a:rPr>
                  <a:t>IO</a:t>
                </a:r>
                <a:endParaRPr kumimoji="0" lang="ko-KR" altLang="en-US" sz="1000" b="0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9212AAF1-7743-C88B-C7D0-36EF2DBE5025}"/>
                  </a:ext>
                </a:extLst>
              </p:cNvPr>
              <p:cNvSpPr/>
              <p:nvPr/>
            </p:nvSpPr>
            <p:spPr>
              <a:xfrm rot="5400000">
                <a:off x="2232514" y="1954037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2DD6D59-D40C-B773-DEC8-B6D430256FE8}"/>
                  </a:ext>
                </a:extLst>
              </p:cNvPr>
              <p:cNvSpPr/>
              <p:nvPr/>
            </p:nvSpPr>
            <p:spPr>
              <a:xfrm rot="5400000">
                <a:off x="2232514" y="2243994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CE6C936-D3A6-E8F7-78EA-8F12ADA74587}"/>
                  </a:ext>
                </a:extLst>
              </p:cNvPr>
              <p:cNvSpPr/>
              <p:nvPr/>
            </p:nvSpPr>
            <p:spPr>
              <a:xfrm rot="5400000">
                <a:off x="2232514" y="2533951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6E8948B-2527-2CF6-F4D7-F6A645028A09}"/>
                  </a:ext>
                </a:extLst>
              </p:cNvPr>
              <p:cNvSpPr/>
              <p:nvPr/>
            </p:nvSpPr>
            <p:spPr>
              <a:xfrm rot="5400000">
                <a:off x="2232514" y="282390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0" name="사각형: 잘린 한쪽 모서리 39">
                <a:extLst>
                  <a:ext uri="{FF2B5EF4-FFF2-40B4-BE49-F238E27FC236}">
                    <a16:creationId xmlns:a16="http://schemas.microsoft.com/office/drawing/2014/main" id="{A01AB6CC-DF33-8C6B-7AA7-30016940DCDB}"/>
                  </a:ext>
                </a:extLst>
              </p:cNvPr>
              <p:cNvSpPr/>
              <p:nvPr/>
            </p:nvSpPr>
            <p:spPr>
              <a:xfrm>
                <a:off x="2172769" y="1723703"/>
                <a:ext cx="306640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AB1D36-0CA7-FC9E-4391-77A481AEFA2E}"/>
                  </a:ext>
                </a:extLst>
              </p:cNvPr>
              <p:cNvSpPr txBox="1"/>
              <p:nvPr/>
            </p:nvSpPr>
            <p:spPr>
              <a:xfrm>
                <a:off x="2213198" y="1701985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2" name="사각형: 잘린 한쪽 모서리 41">
                <a:extLst>
                  <a:ext uri="{FF2B5EF4-FFF2-40B4-BE49-F238E27FC236}">
                    <a16:creationId xmlns:a16="http://schemas.microsoft.com/office/drawing/2014/main" id="{9FA7577D-0875-665E-2054-D2BE5292D898}"/>
                  </a:ext>
                </a:extLst>
              </p:cNvPr>
              <p:cNvSpPr/>
              <p:nvPr/>
            </p:nvSpPr>
            <p:spPr>
              <a:xfrm rot="10800000" flipH="1">
                <a:off x="2171806" y="3169960"/>
                <a:ext cx="307601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A7074AD-9215-3B34-2E81-CA1FE00BA163}"/>
                  </a:ext>
                </a:extLst>
              </p:cNvPr>
              <p:cNvSpPr txBox="1"/>
              <p:nvPr/>
            </p:nvSpPr>
            <p:spPr>
              <a:xfrm>
                <a:off x="2213199" y="3144125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6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B3ECE60D-7A2E-0722-FD5B-30950D66E390}"/>
                  </a:ext>
                </a:extLst>
              </p:cNvPr>
              <p:cNvSpPr/>
              <p:nvPr/>
            </p:nvSpPr>
            <p:spPr>
              <a:xfrm>
                <a:off x="2868198" y="346963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8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A12E015F-0661-C13B-0A0D-856C7DE20F13}"/>
                  </a:ext>
                </a:extLst>
              </p:cNvPr>
              <p:cNvSpPr/>
              <p:nvPr/>
            </p:nvSpPr>
            <p:spPr>
              <a:xfrm>
                <a:off x="3158155" y="346963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9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FCECE416-1249-ACBF-1D1F-96FD89991C9A}"/>
                  </a:ext>
                </a:extLst>
              </p:cNvPr>
              <p:cNvSpPr/>
              <p:nvPr/>
            </p:nvSpPr>
            <p:spPr>
              <a:xfrm>
                <a:off x="3448112" y="346963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10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ECD786AA-7F8C-F503-688B-52C1719A83A1}"/>
                  </a:ext>
                </a:extLst>
              </p:cNvPr>
              <p:cNvSpPr/>
              <p:nvPr/>
            </p:nvSpPr>
            <p:spPr>
              <a:xfrm>
                <a:off x="3738069" y="3469638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11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CB8DBA0F-8EB1-FB64-F2D4-1259C007832E}"/>
                  </a:ext>
                </a:extLst>
              </p:cNvPr>
              <p:cNvGrpSpPr/>
              <p:nvPr/>
            </p:nvGrpSpPr>
            <p:grpSpPr>
              <a:xfrm>
                <a:off x="2559894" y="3469636"/>
                <a:ext cx="223838" cy="306640"/>
                <a:chOff x="2608988" y="3515561"/>
                <a:chExt cx="223838" cy="306640"/>
              </a:xfrm>
            </p:grpSpPr>
            <p:sp>
              <p:nvSpPr>
                <p:cNvPr id="74" name="사각형: 잘린 한쪽 모서리 73">
                  <a:extLst>
                    <a:ext uri="{FF2B5EF4-FFF2-40B4-BE49-F238E27FC236}">
                      <a16:creationId xmlns:a16="http://schemas.microsoft.com/office/drawing/2014/main" id="{D2F69F78-8382-91AD-E1EE-2CC37C422B1D}"/>
                    </a:ext>
                  </a:extLst>
                </p:cNvPr>
                <p:cNvSpPr/>
                <p:nvPr/>
              </p:nvSpPr>
              <p:spPr>
                <a:xfrm rot="16200000">
                  <a:off x="2568033" y="3574736"/>
                  <a:ext cx="306640" cy="188289"/>
                </a:xfrm>
                <a:prstGeom prst="snip1Rect">
                  <a:avLst>
                    <a:gd name="adj" fmla="val 50000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18D4939-FAE3-7B83-50DA-1551DFB0F872}"/>
                    </a:ext>
                  </a:extLst>
                </p:cNvPr>
                <p:cNvSpPr txBox="1"/>
                <p:nvPr/>
              </p:nvSpPr>
              <p:spPr>
                <a:xfrm>
                  <a:off x="2608988" y="3554436"/>
                  <a:ext cx="223838" cy="1352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7</a:t>
                  </a:r>
                  <a:endParaRPr kumimoji="0" lang="ko-KR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74F58C72-B988-FBD5-C714-E7ED4BD94668}"/>
                  </a:ext>
                </a:extLst>
              </p:cNvPr>
              <p:cNvGrpSpPr/>
              <p:nvPr/>
            </p:nvGrpSpPr>
            <p:grpSpPr>
              <a:xfrm>
                <a:off x="4002033" y="3469638"/>
                <a:ext cx="223838" cy="307601"/>
                <a:chOff x="4051127" y="3515563"/>
                <a:chExt cx="223838" cy="307601"/>
              </a:xfrm>
            </p:grpSpPr>
            <p:sp>
              <p:nvSpPr>
                <p:cNvPr id="72" name="사각형: 잘린 한쪽 모서리 71">
                  <a:extLst>
                    <a:ext uri="{FF2B5EF4-FFF2-40B4-BE49-F238E27FC236}">
                      <a16:creationId xmlns:a16="http://schemas.microsoft.com/office/drawing/2014/main" id="{E1720F6A-5DE7-37F2-15FD-282C14C79097}"/>
                    </a:ext>
                  </a:extLst>
                </p:cNvPr>
                <p:cNvSpPr/>
                <p:nvPr/>
              </p:nvSpPr>
              <p:spPr>
                <a:xfrm rot="5400000" flipH="1">
                  <a:off x="4013809" y="3575219"/>
                  <a:ext cx="307601" cy="188289"/>
                </a:xfrm>
                <a:prstGeom prst="snip1Rect">
                  <a:avLst>
                    <a:gd name="adj" fmla="val 50000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A9B3CCA-E504-D363-308F-B49EA838ED72}"/>
                    </a:ext>
                  </a:extLst>
                </p:cNvPr>
                <p:cNvSpPr txBox="1"/>
                <p:nvPr/>
              </p:nvSpPr>
              <p:spPr>
                <a:xfrm>
                  <a:off x="4051127" y="3554437"/>
                  <a:ext cx="223838" cy="135236"/>
                </a:xfrm>
                <a:prstGeom prst="rect">
                  <a:avLst/>
                </a:prstGeom>
                <a:noFill/>
              </p:spPr>
              <p:txBody>
                <a:bodyPr wrap="square" lIns="0" rIns="0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12</a:t>
                  </a:r>
                  <a:endParaRPr kumimoji="0" lang="ko-KR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E0B7E524-5FEB-7266-BFE4-18CF99E135D5}"/>
                  </a:ext>
                </a:extLst>
              </p:cNvPr>
              <p:cNvSpPr/>
              <p:nvPr/>
            </p:nvSpPr>
            <p:spPr>
              <a:xfrm>
                <a:off x="3714806" y="1310249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20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81AD1B2-8CCD-3B9F-EDD6-81DF012A5767}"/>
                  </a:ext>
                </a:extLst>
              </p:cNvPr>
              <p:cNvSpPr/>
              <p:nvPr/>
            </p:nvSpPr>
            <p:spPr>
              <a:xfrm>
                <a:off x="3424849" y="1310249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21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157D8D7-E98C-10E1-67C1-56E86E56AFC5}"/>
                  </a:ext>
                </a:extLst>
              </p:cNvPr>
              <p:cNvSpPr/>
              <p:nvPr/>
            </p:nvSpPr>
            <p:spPr>
              <a:xfrm>
                <a:off x="3134892" y="1310249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22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B0AA082-45C4-77E3-017E-6A118F59683B}"/>
                  </a:ext>
                </a:extLst>
              </p:cNvPr>
              <p:cNvSpPr/>
              <p:nvPr/>
            </p:nvSpPr>
            <p:spPr>
              <a:xfrm>
                <a:off x="2844935" y="1310249"/>
                <a:ext cx="187143" cy="3066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23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4" name="사각형: 잘린 한쪽 모서리 53">
                <a:extLst>
                  <a:ext uri="{FF2B5EF4-FFF2-40B4-BE49-F238E27FC236}">
                    <a16:creationId xmlns:a16="http://schemas.microsoft.com/office/drawing/2014/main" id="{EB28B43E-6BAC-EBC7-CB6C-561AB73BDEE3}"/>
                  </a:ext>
                </a:extLst>
              </p:cNvPr>
              <p:cNvSpPr/>
              <p:nvPr/>
            </p:nvSpPr>
            <p:spPr>
              <a:xfrm rot="5400000">
                <a:off x="3944568" y="1369428"/>
                <a:ext cx="306640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36B3228-96D8-EE85-5B76-AFC97D5228DB}"/>
                  </a:ext>
                </a:extLst>
              </p:cNvPr>
              <p:cNvSpPr txBox="1"/>
              <p:nvPr/>
            </p:nvSpPr>
            <p:spPr>
              <a:xfrm>
                <a:off x="3986415" y="1349566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19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6" name="사각형: 잘린 한쪽 모서리 55">
                <a:extLst>
                  <a:ext uri="{FF2B5EF4-FFF2-40B4-BE49-F238E27FC236}">
                    <a16:creationId xmlns:a16="http://schemas.microsoft.com/office/drawing/2014/main" id="{B9AE28DE-C5D4-F45B-3231-DB4D95988983}"/>
                  </a:ext>
                </a:extLst>
              </p:cNvPr>
              <p:cNvSpPr/>
              <p:nvPr/>
            </p:nvSpPr>
            <p:spPr>
              <a:xfrm rot="16200000" flipH="1">
                <a:off x="2497831" y="1368945"/>
                <a:ext cx="307601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363D979-714C-1E7B-E057-34774AB447DB}"/>
                  </a:ext>
                </a:extLst>
              </p:cNvPr>
              <p:cNvSpPr txBox="1"/>
              <p:nvPr/>
            </p:nvSpPr>
            <p:spPr>
              <a:xfrm>
                <a:off x="2544276" y="1349565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24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사각형: 잘린 한쪽 모서리 57">
                <a:extLst>
                  <a:ext uri="{FF2B5EF4-FFF2-40B4-BE49-F238E27FC236}">
                    <a16:creationId xmlns:a16="http://schemas.microsoft.com/office/drawing/2014/main" id="{6895E5CB-1955-A5D9-6A07-E6269FA5F50C}"/>
                  </a:ext>
                </a:extLst>
              </p:cNvPr>
              <p:cNvSpPr/>
              <p:nvPr/>
            </p:nvSpPr>
            <p:spPr>
              <a:xfrm rot="10800000" flipV="1">
                <a:off x="4294445" y="1719788"/>
                <a:ext cx="307601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11DEF4D-2D9A-9F86-13A1-686A01279C36}"/>
                  </a:ext>
                </a:extLst>
              </p:cNvPr>
              <p:cNvSpPr txBox="1"/>
              <p:nvPr/>
            </p:nvSpPr>
            <p:spPr>
              <a:xfrm>
                <a:off x="4343266" y="1701985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18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0" name="사각형: 잘린 한쪽 모서리 59">
                <a:extLst>
                  <a:ext uri="{FF2B5EF4-FFF2-40B4-BE49-F238E27FC236}">
                    <a16:creationId xmlns:a16="http://schemas.microsoft.com/office/drawing/2014/main" id="{2BAD71D6-FC51-CB0C-8743-2EDFF161BF7F}"/>
                  </a:ext>
                </a:extLst>
              </p:cNvPr>
              <p:cNvSpPr/>
              <p:nvPr/>
            </p:nvSpPr>
            <p:spPr>
              <a:xfrm flipH="1" flipV="1">
                <a:off x="4297917" y="3173265"/>
                <a:ext cx="307601" cy="188289"/>
              </a:xfrm>
              <a:prstGeom prst="snip1Rect">
                <a:avLst>
                  <a:gd name="adj" fmla="val 5000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9252E1-357D-B717-405F-D4C86C6C9E7C}"/>
                  </a:ext>
                </a:extLst>
              </p:cNvPr>
              <p:cNvSpPr txBox="1"/>
              <p:nvPr/>
            </p:nvSpPr>
            <p:spPr>
              <a:xfrm>
                <a:off x="4340885" y="3144124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</a:t>
                </a:r>
                <a:r>
                  <a:rPr lang="en-US" altLang="ko-KR" sz="1050" dirty="0">
                    <a:latin typeface="맑은 고딕" panose="020F0502020204030204"/>
                    <a:ea typeface="맑은 고딕" panose="020B0503020000020004" pitchFamily="50" charset="-127"/>
                  </a:rPr>
                  <a:t>3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34AABD-F13B-6507-85FE-9593B34FF02B}"/>
                  </a:ext>
                </a:extLst>
              </p:cNvPr>
              <p:cNvSpPr txBox="1"/>
              <p:nvPr/>
            </p:nvSpPr>
            <p:spPr>
              <a:xfrm>
                <a:off x="4158149" y="3213795"/>
                <a:ext cx="121731" cy="5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latinLnBrk="1">
                  <a:lnSpc>
                    <a:spcPts val="700"/>
                  </a:lnSpc>
                  <a:defRPr/>
                </a:pPr>
                <a:r>
                  <a:rPr lang="en-US" altLang="ko-KR" sz="1000" dirty="0">
                    <a:latin typeface="+mn-ea"/>
                  </a:rPr>
                  <a:t>SVO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E3B9336-9C24-2CF1-7D74-30849EE6A462}"/>
                  </a:ext>
                </a:extLst>
              </p:cNvPr>
              <p:cNvSpPr txBox="1"/>
              <p:nvPr/>
            </p:nvSpPr>
            <p:spPr>
              <a:xfrm>
                <a:off x="2522392" y="3216065"/>
                <a:ext cx="90518" cy="5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latinLnBrk="1">
                  <a:lnSpc>
                    <a:spcPts val="700"/>
                  </a:lnSpc>
                  <a:defRPr/>
                </a:pPr>
                <a:r>
                  <a:rPr lang="en-US" altLang="ko-KR" sz="1000" dirty="0">
                    <a:latin typeface="+mn-ea"/>
                  </a:rPr>
                  <a:t>SVI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94AE8D-4A7A-0F75-7DFA-7E9C0D663551}"/>
                  </a:ext>
                </a:extLst>
              </p:cNvPr>
              <p:cNvSpPr txBox="1"/>
              <p:nvPr/>
            </p:nvSpPr>
            <p:spPr>
              <a:xfrm>
                <a:off x="2212632" y="1991841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2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788BC18-CCCD-3863-BB1F-9F77C0DF9CC4}"/>
                  </a:ext>
                </a:extLst>
              </p:cNvPr>
              <p:cNvSpPr txBox="1"/>
              <p:nvPr/>
            </p:nvSpPr>
            <p:spPr>
              <a:xfrm>
                <a:off x="2207171" y="2280726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3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8866DC1-72BD-6253-8A1D-93634E9A1960}"/>
                  </a:ext>
                </a:extLst>
              </p:cNvPr>
              <p:cNvSpPr txBox="1"/>
              <p:nvPr/>
            </p:nvSpPr>
            <p:spPr>
              <a:xfrm>
                <a:off x="2207171" y="2564517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4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5416467-D637-6AA4-AFCC-BC639B25BB1F}"/>
                  </a:ext>
                </a:extLst>
              </p:cNvPr>
              <p:cNvSpPr txBox="1"/>
              <p:nvPr/>
            </p:nvSpPr>
            <p:spPr>
              <a:xfrm>
                <a:off x="2207171" y="2858880"/>
                <a:ext cx="223838" cy="13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5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8236544-16EC-5F8A-095E-2696426D9312}"/>
                  </a:ext>
                </a:extLst>
              </p:cNvPr>
              <p:cNvSpPr txBox="1"/>
              <p:nvPr/>
            </p:nvSpPr>
            <p:spPr>
              <a:xfrm>
                <a:off x="4343266" y="1991841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17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ACBFD25-F96B-1613-CEC1-C5F16A30411A}"/>
                  </a:ext>
                </a:extLst>
              </p:cNvPr>
              <p:cNvSpPr txBox="1"/>
              <p:nvPr/>
            </p:nvSpPr>
            <p:spPr>
              <a:xfrm>
                <a:off x="4343266" y="2286173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16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78B8B71-BE97-D09E-C88D-B806E28A5FBA}"/>
                  </a:ext>
                </a:extLst>
              </p:cNvPr>
              <p:cNvSpPr txBox="1"/>
              <p:nvPr/>
            </p:nvSpPr>
            <p:spPr>
              <a:xfrm>
                <a:off x="4343266" y="2564394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15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14CE95-39B2-361D-2018-66B82B24F42D}"/>
                  </a:ext>
                </a:extLst>
              </p:cNvPr>
              <p:cNvSpPr txBox="1"/>
              <p:nvPr/>
            </p:nvSpPr>
            <p:spPr>
              <a:xfrm>
                <a:off x="4343266" y="2858880"/>
                <a:ext cx="223838" cy="135236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14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3863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DA6E-BA37-AB09-6E10-C72A8214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9F60E-5588-68B6-5236-E2A5DBB3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XD12R Layout for Power Lane for single-layer PCB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01D341-55C7-A8AA-E3B0-429B37249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68" y="1372054"/>
            <a:ext cx="10077561" cy="387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33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65633-5868-57B9-D455-C685F02A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③ </a:t>
            </a:r>
            <a:r>
              <a:rPr lang="en-US" altLang="ko-KR" dirty="0"/>
              <a:t>Display BLU Module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3E1FE79-F487-637C-8615-74234829C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A31F7F-E327-FF6F-7891-CEE6A005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90" y="606056"/>
            <a:ext cx="4631713" cy="56777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E91236-C8CE-C0FA-569F-291EFEE4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88" y="606056"/>
            <a:ext cx="4598387" cy="37361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F4693EE-90BD-22C1-6CDD-FD22CD16F06B}"/>
              </a:ext>
            </a:extLst>
          </p:cNvPr>
          <p:cNvSpPr/>
          <p:nvPr/>
        </p:nvSpPr>
        <p:spPr>
          <a:xfrm>
            <a:off x="2352076" y="2272348"/>
            <a:ext cx="3517564" cy="2313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Connector Pin assign</a:t>
            </a:r>
          </a:p>
          <a:p>
            <a:pPr algn="ctr"/>
            <a:r>
              <a:rPr lang="en-US" altLang="ko-KR" dirty="0"/>
              <a:t>TBD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049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7D238-13C0-D37A-6F89-0435ED07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F281406-8A95-F86C-54AF-A5D193D89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그림 4" descr="텍스트, 스크린샷, 번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2A069A-CF30-3376-AAF2-9861496F4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115"/>
            <a:ext cx="8033657" cy="4492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AE5F73-79A8-1112-C045-C0DC206CA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294" y="149889"/>
            <a:ext cx="3866904" cy="634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81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1B4A8-EDC7-294C-E298-E9845672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5A1E1F-19DC-8292-E19B-0967B324E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E550132-8227-E36F-889F-BDCAB0B7F656}"/>
              </a:ext>
            </a:extLst>
          </p:cNvPr>
          <p:cNvSpPr txBox="1">
            <a:spLocks/>
          </p:cNvSpPr>
          <p:nvPr/>
        </p:nvSpPr>
        <p:spPr>
          <a:xfrm>
            <a:off x="2626738" y="2419350"/>
            <a:ext cx="6804182" cy="100965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b="1" dirty="0"/>
              <a:t>XD12R Trimming</a:t>
            </a:r>
            <a:r>
              <a:rPr lang="ko-KR" altLang="en-US" sz="3600" b="1" dirty="0"/>
              <a:t>을 위한 요청</a:t>
            </a:r>
            <a:br>
              <a:rPr lang="en-US" altLang="ko-KR" sz="36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0065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F6757-650B-1BE1-00ED-970685AB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XD12R Trim</a:t>
            </a:r>
            <a:r>
              <a:rPr lang="ko-KR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을 위해 갖춰야</a:t>
            </a:r>
            <a:r>
              <a:rPr lang="en-US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할 지그</a:t>
            </a:r>
            <a:r>
              <a:rPr lang="en-US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 H/W </a:t>
            </a:r>
            <a:r>
              <a:rPr lang="ko-KR" altLang="ko-KR" dirty="0">
                <a:latin typeface="맑은 고딕" panose="020B0503020000020004" pitchFamily="50" charset="-127"/>
                <a:cs typeface="굴림" panose="020B0600000101010101" pitchFamily="50" charset="-127"/>
              </a:rPr>
              <a:t>요구사항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5096F4-9CD7-C85E-29C6-7215BC0C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C06CF-1C4C-2388-F600-8C9C5D8064DB}"/>
              </a:ext>
            </a:extLst>
          </p:cNvPr>
          <p:cNvSpPr txBox="1"/>
          <p:nvPr/>
        </p:nvSpPr>
        <p:spPr>
          <a:xfrm>
            <a:off x="323461" y="360973"/>
            <a:ext cx="8792024" cy="156966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XD12R Trim</a:t>
            </a:r>
            <a:r>
              <a:rPr lang="ko-KR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을 위해 갖춰야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할 지그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H/W </a:t>
            </a:r>
            <a:r>
              <a:rPr lang="ko-KR" altLang="ko-KR" sz="12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요구사항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 (</a:t>
            </a:r>
            <a:r>
              <a:rPr lang="ko-KR" altLang="en-US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이준영대리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) </a:t>
            </a:r>
            <a:endParaRPr lang="ko-KR" altLang="ko-KR" sz="1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marL="342900" lvl="0" indent="-342900" algn="l" latinLnBrk="1">
              <a:buFont typeface="+mj-lt"/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전원 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VDD :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3.3V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&lt;-&gt; </a:t>
            </a:r>
            <a:r>
              <a:rPr lang="en-US" altLang="ko-KR" sz="12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5.5V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(Normal : 3.3V /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eFuse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5.5V) ;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Trimming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5.5V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전원 입력해야 함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algn="l" latinLnBrk="1">
              <a:buFont typeface="+mj-lt"/>
              <a:buAutoNum type="arabicPeriod"/>
            </a:pP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Test (Pin 17):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전류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(1 ~ 10uA, Source)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및 전압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(0.1 ~ 1.5V)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측정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;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Jig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보드내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ADC chip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전류 값 측정해야 합니다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algn="l" latinLnBrk="1">
              <a:buFont typeface="+mj-lt"/>
              <a:buAutoNum type="arabicPeriod"/>
            </a:pP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SVO (Pin 13): OSC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출력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(500 ~ 800kHz)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측정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; </a:t>
            </a:r>
            <a:r>
              <a:rPr lang="en-US" altLang="ko-KR" sz="12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Nucleo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MCU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주파수 </a:t>
            </a:r>
            <a:r>
              <a:rPr lang="ko-KR" altLang="en-US" sz="12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센싱함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센싱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pin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지정은 </a:t>
            </a:r>
            <a:r>
              <a:rPr lang="ko-KR" altLang="en-US" sz="12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이준영대리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선정예정</a:t>
            </a:r>
            <a:endParaRPr lang="ko-KR" altLang="ko-KR" sz="12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algn="l" latinLnBrk="1">
              <a:buFont typeface="+mj-lt"/>
              <a:buAutoNum type="arabicPeriod"/>
            </a:pP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O1 ~ 12 :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Iout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전류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(0 ~ </a:t>
            </a:r>
            <a:r>
              <a:rPr lang="en-US" altLang="ko-KR" sz="1200" strike="sngStrike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40mA</a:t>
            </a:r>
            <a:r>
              <a:rPr lang="en-US" altLang="ko-KR" sz="12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-&gt;128mA, sink) ; 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XD04R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용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Max 128 mA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전류 측정할 수 있게 회로 설계함</a:t>
            </a:r>
            <a:endParaRPr lang="en-US" altLang="ko-KR" sz="12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 algn="l" latinLnBrk="1"/>
            <a:endParaRPr lang="en-US" altLang="ko-KR" sz="12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 algn="l" latinLnBrk="1"/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☞  </a:t>
            </a:r>
            <a:r>
              <a:rPr lang="en-US" altLang="ko-KR" sz="120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Necleo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MCU </a:t>
            </a:r>
            <a:r>
              <a:rPr lang="ko-KR" altLang="en-US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지그 프로그램 수정 최소화를 위해 </a:t>
            </a:r>
            <a:r>
              <a:rPr lang="en-US" altLang="ko-KR" sz="12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Necleo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보드 커넥터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pin </a:t>
            </a:r>
            <a:r>
              <a:rPr lang="ko-KR" altLang="en-US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 지정 바람 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이준영대리</a:t>
            </a:r>
            <a:r>
              <a:rPr lang="ko-KR" altLang="en-US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~2/25)</a:t>
            </a:r>
          </a:p>
          <a:p>
            <a:pPr lvl="0" algn="l" latinLnBrk="1"/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전류 센싱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ADC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칩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IC Part number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data sheet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공유바람 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; </a:t>
            </a:r>
            <a:r>
              <a:rPr lang="ko-KR" altLang="en-US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이준영 대리</a:t>
            </a:r>
            <a:r>
              <a:rPr lang="en-US" altLang="ko-KR" sz="12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dirty="0" err="1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박찬근</a:t>
            </a:r>
            <a:endParaRPr lang="ko-KR" altLang="ko-KR" sz="12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BE7E8C-839C-BE4B-1B5F-0BEC1887E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EC1EB4-2AD2-E164-DFF9-85BA9B930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8658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682659-AE1B-4B6C-77D1-0BCC1AB1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1" y="1930633"/>
            <a:ext cx="9067080" cy="4653985"/>
          </a:xfrm>
          <a:prstGeom prst="rect">
            <a:avLst/>
          </a:prstGeom>
        </p:spPr>
      </p:pic>
      <p:pic>
        <p:nvPicPr>
          <p:cNvPr id="10" name="그림 9" descr="도표, 텍스트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D962C5-861C-0466-1E34-30D389144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900" y="634804"/>
            <a:ext cx="2198662" cy="2238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EF8BEF-BF58-613A-BAC7-180374B49B27}"/>
              </a:ext>
            </a:extLst>
          </p:cNvPr>
          <p:cNvSpPr txBox="1"/>
          <p:nvPr/>
        </p:nvSpPr>
        <p:spPr>
          <a:xfrm>
            <a:off x="9862457" y="83974"/>
            <a:ext cx="2006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Update</a:t>
            </a:r>
            <a:r>
              <a:rPr lang="ko-KR" altLang="en-US" sz="1200" dirty="0"/>
              <a:t> </a:t>
            </a:r>
            <a:r>
              <a:rPr lang="en-US" altLang="ko-KR" sz="1200" dirty="0"/>
              <a:t>2026.02.24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51007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F453B8-C82C-5042-A077-F1BE7BE7D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E0B2C92-F20F-60EE-D094-0AA6ED9EBC56}"/>
              </a:ext>
            </a:extLst>
          </p:cNvPr>
          <p:cNvSpPr txBox="1">
            <a:spLocks/>
          </p:cNvSpPr>
          <p:nvPr/>
        </p:nvSpPr>
        <p:spPr>
          <a:xfrm>
            <a:off x="2626738" y="2419350"/>
            <a:ext cx="6804182" cy="100965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600" b="1" dirty="0"/>
              <a:t>별  첨</a:t>
            </a:r>
          </a:p>
        </p:txBody>
      </p:sp>
    </p:spTree>
    <p:extLst>
      <p:ext uri="{BB962C8B-B14F-4D97-AF65-F5344CB8AC3E}">
        <p14:creationId xmlns:p14="http://schemas.microsoft.com/office/powerpoint/2010/main" val="276764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CE931D-BAC4-092B-5F09-CC07E06E78FA}"/>
              </a:ext>
            </a:extLst>
          </p:cNvPr>
          <p:cNvSpPr/>
          <p:nvPr/>
        </p:nvSpPr>
        <p:spPr>
          <a:xfrm>
            <a:off x="2854436" y="678412"/>
            <a:ext cx="8655902" cy="58953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2E4432-755C-3737-0B49-0BC2F7AF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Block diagram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830C8-6329-AECC-E27A-165BA7B53223}"/>
              </a:ext>
            </a:extLst>
          </p:cNvPr>
          <p:cNvSpPr txBox="1"/>
          <p:nvPr/>
        </p:nvSpPr>
        <p:spPr>
          <a:xfrm>
            <a:off x="836384" y="890729"/>
            <a:ext cx="995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PC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EF75D1-F24F-D251-2BE8-D517D8F34EAA}"/>
              </a:ext>
            </a:extLst>
          </p:cNvPr>
          <p:cNvSpPr/>
          <p:nvPr/>
        </p:nvSpPr>
        <p:spPr>
          <a:xfrm>
            <a:off x="648478" y="1278041"/>
            <a:ext cx="1371600" cy="10270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43E48E-6EB9-D483-AB06-643C0A3630A3}"/>
              </a:ext>
            </a:extLst>
          </p:cNvPr>
          <p:cNvSpPr/>
          <p:nvPr/>
        </p:nvSpPr>
        <p:spPr>
          <a:xfrm>
            <a:off x="3386516" y="970264"/>
            <a:ext cx="1906555" cy="12759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MCU</a:t>
            </a:r>
          </a:p>
          <a:p>
            <a:pPr algn="ctr"/>
            <a:r>
              <a:rPr lang="en-US" altLang="ko-KR" sz="1200" b="1" dirty="0" err="1">
                <a:solidFill>
                  <a:schemeClr val="tx1"/>
                </a:solidFill>
              </a:rPr>
              <a:t>Nucleo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화살표: 왼쪽/오른쪽 13">
            <a:extLst>
              <a:ext uri="{FF2B5EF4-FFF2-40B4-BE49-F238E27FC236}">
                <a16:creationId xmlns:a16="http://schemas.microsoft.com/office/drawing/2014/main" id="{2DE81A89-0DCC-7D92-013B-4B237FB9F588}"/>
              </a:ext>
            </a:extLst>
          </p:cNvPr>
          <p:cNvSpPr/>
          <p:nvPr/>
        </p:nvSpPr>
        <p:spPr>
          <a:xfrm>
            <a:off x="2020078" y="1632856"/>
            <a:ext cx="1371600" cy="27699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0DD9BB-A01D-34EC-8CD5-C1DCC75AE4A4}"/>
              </a:ext>
            </a:extLst>
          </p:cNvPr>
          <p:cNvSpPr/>
          <p:nvPr/>
        </p:nvSpPr>
        <p:spPr>
          <a:xfrm>
            <a:off x="3743330" y="2620609"/>
            <a:ext cx="1549742" cy="990662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FPGA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Module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97791D-B8C2-6731-D754-6A7AD50D8699}"/>
              </a:ext>
            </a:extLst>
          </p:cNvPr>
          <p:cNvSpPr/>
          <p:nvPr/>
        </p:nvSpPr>
        <p:spPr>
          <a:xfrm>
            <a:off x="6568036" y="1165289"/>
            <a:ext cx="1119337" cy="7099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#1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8F6522-0FB9-FBD6-E05C-8BA12F903475}"/>
              </a:ext>
            </a:extLst>
          </p:cNvPr>
          <p:cNvSpPr/>
          <p:nvPr/>
        </p:nvSpPr>
        <p:spPr>
          <a:xfrm>
            <a:off x="6931165" y="2901336"/>
            <a:ext cx="766270" cy="70993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#1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DE9842-F45C-96C2-E6F8-67E4F0931175}"/>
              </a:ext>
            </a:extLst>
          </p:cNvPr>
          <p:cNvSpPr/>
          <p:nvPr/>
        </p:nvSpPr>
        <p:spPr>
          <a:xfrm>
            <a:off x="8026334" y="2910415"/>
            <a:ext cx="766270" cy="709935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#2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7BD052E-DBE5-FC9F-092B-7A689F7A295C}"/>
              </a:ext>
            </a:extLst>
          </p:cNvPr>
          <p:cNvSpPr/>
          <p:nvPr/>
        </p:nvSpPr>
        <p:spPr>
          <a:xfrm>
            <a:off x="7697435" y="3179209"/>
            <a:ext cx="328899" cy="177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D5F6F6-6860-449D-E1B9-D940B494BFEC}"/>
              </a:ext>
            </a:extLst>
          </p:cNvPr>
          <p:cNvSpPr/>
          <p:nvPr/>
        </p:nvSpPr>
        <p:spPr>
          <a:xfrm>
            <a:off x="9139063" y="2901336"/>
            <a:ext cx="766270" cy="709935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XD12R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#3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FA4DF9E4-4988-F453-47B3-3113D70D6F06}"/>
              </a:ext>
            </a:extLst>
          </p:cNvPr>
          <p:cNvSpPr/>
          <p:nvPr/>
        </p:nvSpPr>
        <p:spPr>
          <a:xfrm>
            <a:off x="8810164" y="3170130"/>
            <a:ext cx="328899" cy="177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E789869B-AAC0-12E6-94B4-F7525AF9335B}"/>
              </a:ext>
            </a:extLst>
          </p:cNvPr>
          <p:cNvSpPr/>
          <p:nvPr/>
        </p:nvSpPr>
        <p:spPr>
          <a:xfrm rot="5400000">
            <a:off x="3911506" y="2289212"/>
            <a:ext cx="361197" cy="28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D5ED383B-4072-B8EC-1E44-3E9D0EA4AA68}"/>
              </a:ext>
            </a:extLst>
          </p:cNvPr>
          <p:cNvSpPr/>
          <p:nvPr/>
        </p:nvSpPr>
        <p:spPr>
          <a:xfrm>
            <a:off x="5293689" y="1497722"/>
            <a:ext cx="1274347" cy="269005"/>
          </a:xfrm>
          <a:prstGeom prst="rightArrow">
            <a:avLst>
              <a:gd name="adj1" fmla="val 33487"/>
              <a:gd name="adj2" fmla="val 599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1E71EA60-0252-C158-0557-11C1AB9489CF}"/>
              </a:ext>
            </a:extLst>
          </p:cNvPr>
          <p:cNvSpPr/>
          <p:nvPr/>
        </p:nvSpPr>
        <p:spPr>
          <a:xfrm>
            <a:off x="5293071" y="3059005"/>
            <a:ext cx="1638093" cy="28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C151E-DAA8-0CB8-C62F-D050B9BBF70C}"/>
              </a:ext>
            </a:extLst>
          </p:cNvPr>
          <p:cNvSpPr txBox="1"/>
          <p:nvPr/>
        </p:nvSpPr>
        <p:spPr>
          <a:xfrm>
            <a:off x="5888097" y="638083"/>
            <a:ext cx="1906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Control JIG B’D</a:t>
            </a:r>
          </a:p>
          <a:p>
            <a:pPr algn="ctr"/>
            <a:r>
              <a:rPr lang="en-US" altLang="ko-KR" sz="1400" b="1" dirty="0">
                <a:solidFill>
                  <a:srgbClr val="0070C0"/>
                </a:solidFill>
              </a:rPr>
              <a:t>(XD12R + XC24R)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6A650CD-7AAF-6C74-5141-BD36D0520B06}"/>
              </a:ext>
            </a:extLst>
          </p:cNvPr>
          <p:cNvSpPr/>
          <p:nvPr/>
        </p:nvSpPr>
        <p:spPr>
          <a:xfrm>
            <a:off x="3743331" y="5384762"/>
            <a:ext cx="1430334" cy="580066"/>
          </a:xfrm>
          <a:prstGeom prst="rect">
            <a:avLst/>
          </a:prstGeom>
          <a:solidFill>
            <a:srgbClr val="FF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PMIC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566248D-1EDF-1A15-AF24-08E9B06183F4}"/>
              </a:ext>
            </a:extLst>
          </p:cNvPr>
          <p:cNvSpPr/>
          <p:nvPr/>
        </p:nvSpPr>
        <p:spPr>
          <a:xfrm>
            <a:off x="6900938" y="3905830"/>
            <a:ext cx="3101691" cy="469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LED display (R,G,B chip)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BFEA9BEA-64C9-2CCB-3D58-25958A660D83}"/>
              </a:ext>
            </a:extLst>
          </p:cNvPr>
          <p:cNvSpPr/>
          <p:nvPr/>
        </p:nvSpPr>
        <p:spPr>
          <a:xfrm rot="16200000">
            <a:off x="7174341" y="3676422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7BF84EF1-3929-A274-F681-7525CAA8553D}"/>
              </a:ext>
            </a:extLst>
          </p:cNvPr>
          <p:cNvSpPr/>
          <p:nvPr/>
        </p:nvSpPr>
        <p:spPr>
          <a:xfrm rot="16200000">
            <a:off x="8269510" y="3676422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7C8B4C05-579D-DC5C-D32F-6173CEDA3E06}"/>
              </a:ext>
            </a:extLst>
          </p:cNvPr>
          <p:cNvSpPr/>
          <p:nvPr/>
        </p:nvSpPr>
        <p:spPr>
          <a:xfrm rot="16200000">
            <a:off x="9382239" y="3674664"/>
            <a:ext cx="279918" cy="16425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C165111-4E60-61B6-1361-B6F44EC21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2987" y="3939952"/>
            <a:ext cx="362625" cy="332820"/>
          </a:xfrm>
          <a:prstGeom prst="rect">
            <a:avLst/>
          </a:prstGeom>
        </p:spPr>
      </p:pic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DE0D1152-F067-C6C6-8B0A-229744337431}"/>
              </a:ext>
            </a:extLst>
          </p:cNvPr>
          <p:cNvCxnSpPr>
            <a:cxnSpLocks/>
            <a:stCxn id="81" idx="3"/>
            <a:endCxn id="40" idx="2"/>
          </p:cNvCxnSpPr>
          <p:nvPr/>
        </p:nvCxnSpPr>
        <p:spPr>
          <a:xfrm flipV="1">
            <a:off x="6599929" y="4375684"/>
            <a:ext cx="1851855" cy="95646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E4488CE-7A95-8BBC-81D5-2F20C1DE0DE1}"/>
              </a:ext>
            </a:extLst>
          </p:cNvPr>
          <p:cNvCxnSpPr/>
          <p:nvPr/>
        </p:nvCxnSpPr>
        <p:spPr>
          <a:xfrm flipH="1">
            <a:off x="7224573" y="5299037"/>
            <a:ext cx="82129" cy="85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029F131-6D73-2954-11CB-12015B721A6D}"/>
              </a:ext>
            </a:extLst>
          </p:cNvPr>
          <p:cNvSpPr txBox="1"/>
          <p:nvPr/>
        </p:nvSpPr>
        <p:spPr>
          <a:xfrm>
            <a:off x="9104236" y="4657104"/>
            <a:ext cx="67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;</a:t>
            </a:r>
            <a:endParaRPr lang="ko-KR" alt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624C31-6F56-05D0-D098-B802B25BC734}"/>
              </a:ext>
            </a:extLst>
          </p:cNvPr>
          <p:cNvSpPr txBox="1"/>
          <p:nvPr/>
        </p:nvSpPr>
        <p:spPr>
          <a:xfrm>
            <a:off x="7306702" y="5060744"/>
            <a:ext cx="647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VLEDn</a:t>
            </a:r>
            <a:endParaRPr lang="ko-KR" altLang="en-US" sz="12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AF11E95-D361-1B96-82D9-35E0DA8F31BE}"/>
              </a:ext>
            </a:extLst>
          </p:cNvPr>
          <p:cNvSpPr/>
          <p:nvPr/>
        </p:nvSpPr>
        <p:spPr>
          <a:xfrm>
            <a:off x="960657" y="5060744"/>
            <a:ext cx="1134462" cy="887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Power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Supply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3FFC64FA-792F-4688-8647-3A6AF0B9434B}"/>
              </a:ext>
            </a:extLst>
          </p:cNvPr>
          <p:cNvSpPr/>
          <p:nvPr/>
        </p:nvSpPr>
        <p:spPr>
          <a:xfrm>
            <a:off x="2095119" y="5504377"/>
            <a:ext cx="1627427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682609-A3CA-2446-AC93-7F9F53BFA22A}"/>
              </a:ext>
            </a:extLst>
          </p:cNvPr>
          <p:cNvSpPr/>
          <p:nvPr/>
        </p:nvSpPr>
        <p:spPr>
          <a:xfrm>
            <a:off x="3745866" y="3880354"/>
            <a:ext cx="766270" cy="469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DAC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C3BCAC4-0E78-A671-A541-5BFE021DBD14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4129001" y="4350208"/>
            <a:ext cx="0" cy="3395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7205BF5-165F-A4D6-C7FA-7F83227ABF02}"/>
              </a:ext>
            </a:extLst>
          </p:cNvPr>
          <p:cNvCxnSpPr/>
          <p:nvPr/>
        </p:nvCxnSpPr>
        <p:spPr>
          <a:xfrm flipH="1">
            <a:off x="4089558" y="4432330"/>
            <a:ext cx="82129" cy="85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2308CF5-F720-98E3-4758-79C646CF9950}"/>
              </a:ext>
            </a:extLst>
          </p:cNvPr>
          <p:cNvSpPr txBox="1"/>
          <p:nvPr/>
        </p:nvSpPr>
        <p:spPr>
          <a:xfrm>
            <a:off x="3500205" y="4350208"/>
            <a:ext cx="676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DACn</a:t>
            </a:r>
            <a:endParaRPr lang="ko-KR" altLang="en-US" sz="1200" dirty="0"/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62693471-2D2B-2729-0DB8-9ADD71B93DDA}"/>
              </a:ext>
            </a:extLst>
          </p:cNvPr>
          <p:cNvCxnSpPr>
            <a:cxnSpLocks/>
          </p:cNvCxnSpPr>
          <p:nvPr/>
        </p:nvCxnSpPr>
        <p:spPr>
          <a:xfrm flipV="1">
            <a:off x="4979927" y="2252813"/>
            <a:ext cx="0" cy="3611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B7FDAD2-7A78-27AC-C3C0-403D1E6EDE40}"/>
              </a:ext>
            </a:extLst>
          </p:cNvPr>
          <p:cNvSpPr/>
          <p:nvPr/>
        </p:nvSpPr>
        <p:spPr>
          <a:xfrm>
            <a:off x="5826116" y="4699466"/>
            <a:ext cx="773813" cy="1265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FET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Switching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88BDA6FC-FB42-D21A-EC74-44060F0EBD21}"/>
              </a:ext>
            </a:extLst>
          </p:cNvPr>
          <p:cNvCxnSpPr>
            <a:cxnSpLocks/>
          </p:cNvCxnSpPr>
          <p:nvPr/>
        </p:nvCxnSpPr>
        <p:spPr>
          <a:xfrm>
            <a:off x="4925001" y="4075930"/>
            <a:ext cx="1324704" cy="6326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49899CC-7ECD-8132-06CB-9734B9E814D1}"/>
              </a:ext>
            </a:extLst>
          </p:cNvPr>
          <p:cNvSpPr txBox="1"/>
          <p:nvPr/>
        </p:nvSpPr>
        <p:spPr>
          <a:xfrm>
            <a:off x="5859099" y="4181429"/>
            <a:ext cx="676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GATEn</a:t>
            </a:r>
            <a:endParaRPr lang="ko-KR" altLang="en-US" sz="1200" dirty="0"/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4086712-D2FE-44D2-E426-60A379C70223}"/>
              </a:ext>
            </a:extLst>
          </p:cNvPr>
          <p:cNvCxnSpPr/>
          <p:nvPr/>
        </p:nvCxnSpPr>
        <p:spPr>
          <a:xfrm flipH="1">
            <a:off x="5808232" y="4408988"/>
            <a:ext cx="82129" cy="85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72B4C19-AC22-78B6-FE7B-D3F91FAE88D2}"/>
              </a:ext>
            </a:extLst>
          </p:cNvPr>
          <p:cNvCxnSpPr>
            <a:cxnSpLocks/>
          </p:cNvCxnSpPr>
          <p:nvPr/>
        </p:nvCxnSpPr>
        <p:spPr>
          <a:xfrm>
            <a:off x="7693888" y="3484306"/>
            <a:ext cx="31601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8672540-FB91-2A81-C1D3-ED3B84960767}"/>
              </a:ext>
            </a:extLst>
          </p:cNvPr>
          <p:cNvCxnSpPr>
            <a:cxnSpLocks/>
          </p:cNvCxnSpPr>
          <p:nvPr/>
        </p:nvCxnSpPr>
        <p:spPr>
          <a:xfrm>
            <a:off x="8810164" y="3484306"/>
            <a:ext cx="31601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0B545A6-EE97-44B9-04F7-3E3EBD698355}"/>
              </a:ext>
            </a:extLst>
          </p:cNvPr>
          <p:cNvSpPr txBox="1"/>
          <p:nvPr/>
        </p:nvSpPr>
        <p:spPr>
          <a:xfrm>
            <a:off x="2968072" y="2283835"/>
            <a:ext cx="816859" cy="5539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1200" dirty="0"/>
              <a:t>MCLK</a:t>
            </a:r>
          </a:p>
          <a:p>
            <a:r>
              <a:rPr lang="en-US" altLang="ko-KR" sz="1200" dirty="0"/>
              <a:t>VSYNC</a:t>
            </a:r>
          </a:p>
          <a:p>
            <a:r>
              <a:rPr lang="en-US" altLang="ko-KR" sz="1200" dirty="0"/>
              <a:t>FLL SYNC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67F341C-4680-ADC1-8FFC-B833269A05AA}"/>
              </a:ext>
            </a:extLst>
          </p:cNvPr>
          <p:cNvSpPr txBox="1"/>
          <p:nvPr/>
        </p:nvSpPr>
        <p:spPr>
          <a:xfrm>
            <a:off x="4959771" y="2324109"/>
            <a:ext cx="496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INTn</a:t>
            </a:r>
            <a:endParaRPr lang="ko-KR" alt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5EBB37C-9185-8BFE-34B6-FA88319F3DBE}"/>
              </a:ext>
            </a:extLst>
          </p:cNvPr>
          <p:cNvSpPr txBox="1"/>
          <p:nvPr/>
        </p:nvSpPr>
        <p:spPr>
          <a:xfrm>
            <a:off x="4503319" y="2332917"/>
            <a:ext cx="388208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dirty="0" err="1"/>
              <a:t>SPIn</a:t>
            </a:r>
            <a:endParaRPr lang="ko-KR" altLang="en-US" sz="1200" dirty="0"/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AB2BB7B8-67AA-EB16-E48A-A30115B80935}"/>
              </a:ext>
            </a:extLst>
          </p:cNvPr>
          <p:cNvCxnSpPr>
            <a:cxnSpLocks/>
          </p:cNvCxnSpPr>
          <p:nvPr/>
        </p:nvCxnSpPr>
        <p:spPr>
          <a:xfrm flipV="1">
            <a:off x="4494508" y="2252813"/>
            <a:ext cx="0" cy="36119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A329ED99-77F5-8778-27B2-B7630E5B4862}"/>
              </a:ext>
            </a:extLst>
          </p:cNvPr>
          <p:cNvCxnSpPr>
            <a:cxnSpLocks/>
          </p:cNvCxnSpPr>
          <p:nvPr/>
        </p:nvCxnSpPr>
        <p:spPr>
          <a:xfrm>
            <a:off x="4263002" y="5199244"/>
            <a:ext cx="0" cy="1855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29BD07C2-1CC1-502E-C536-217197AE8809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173665" y="5674795"/>
            <a:ext cx="6292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A0773E4-7F3E-6946-93B3-FB8EB09266C8}"/>
              </a:ext>
            </a:extLst>
          </p:cNvPr>
          <p:cNvSpPr txBox="1"/>
          <p:nvPr/>
        </p:nvSpPr>
        <p:spPr>
          <a:xfrm>
            <a:off x="5483566" y="2681830"/>
            <a:ext cx="855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D1</a:t>
            </a:r>
          </a:p>
          <a:p>
            <a:r>
              <a:rPr lang="en-US" altLang="ko-KR" sz="1200" dirty="0"/>
              <a:t>SVO1</a:t>
            </a:r>
            <a:endParaRPr lang="ko-KR" altLang="en-US" sz="1200" dirty="0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868A05CD-3C7C-32B1-B0DD-342615E26C56}"/>
              </a:ext>
            </a:extLst>
          </p:cNvPr>
          <p:cNvGrpSpPr/>
          <p:nvPr/>
        </p:nvGrpSpPr>
        <p:grpSpPr>
          <a:xfrm>
            <a:off x="3978756" y="4677649"/>
            <a:ext cx="555654" cy="527988"/>
            <a:chOff x="5818436" y="2949185"/>
            <a:chExt cx="766270" cy="793793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D7475997-F080-9220-BED3-32F7E3FEFD88}"/>
                </a:ext>
              </a:extLst>
            </p:cNvPr>
            <p:cNvSpPr/>
            <p:nvPr/>
          </p:nvSpPr>
          <p:spPr>
            <a:xfrm>
              <a:off x="5818436" y="2955720"/>
              <a:ext cx="766270" cy="78725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MUX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78CA2F06-6AFC-86CE-CC25-6D2222E21B80}"/>
                </a:ext>
              </a:extLst>
            </p:cNvPr>
            <p:cNvCxnSpPr/>
            <p:nvPr/>
          </p:nvCxnSpPr>
          <p:spPr>
            <a:xfrm flipH="1">
              <a:off x="5821611" y="2955720"/>
              <a:ext cx="751596" cy="7863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823369EE-943C-5B02-4E9B-0BB6959EF375}"/>
                </a:ext>
              </a:extLst>
            </p:cNvPr>
            <p:cNvCxnSpPr>
              <a:cxnSpLocks/>
            </p:cNvCxnSpPr>
            <p:nvPr/>
          </p:nvCxnSpPr>
          <p:spPr>
            <a:xfrm>
              <a:off x="5823067" y="2949185"/>
              <a:ext cx="751596" cy="7863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23CD1CEA-615B-A2B6-EABC-BDC116D2812D}"/>
              </a:ext>
            </a:extLst>
          </p:cNvPr>
          <p:cNvCxnSpPr>
            <a:cxnSpLocks/>
          </p:cNvCxnSpPr>
          <p:nvPr/>
        </p:nvCxnSpPr>
        <p:spPr>
          <a:xfrm>
            <a:off x="4129001" y="3611271"/>
            <a:ext cx="0" cy="269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E3233B-AA27-C6CB-32EE-BF1A886A81E0}"/>
              </a:ext>
            </a:extLst>
          </p:cNvPr>
          <p:cNvSpPr/>
          <p:nvPr/>
        </p:nvSpPr>
        <p:spPr>
          <a:xfrm>
            <a:off x="10515600" y="166220"/>
            <a:ext cx="1515545" cy="636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미확정</a:t>
            </a:r>
            <a:endParaRPr lang="en-US" altLang="ko-KR" dirty="0"/>
          </a:p>
          <a:p>
            <a:pPr algn="ctr"/>
            <a:r>
              <a:rPr lang="ko-KR" altLang="en-US" dirty="0" err="1"/>
              <a:t>가안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0C8DCB-DCBA-CF0B-0247-9F5DEFBB056B}"/>
              </a:ext>
            </a:extLst>
          </p:cNvPr>
          <p:cNvSpPr/>
          <p:nvPr/>
        </p:nvSpPr>
        <p:spPr>
          <a:xfrm>
            <a:off x="7954205" y="2678016"/>
            <a:ext cx="2183892" cy="106498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32E5AC-F586-C1B9-7396-8A01B0E4DBE2}"/>
              </a:ext>
            </a:extLst>
          </p:cNvPr>
          <p:cNvSpPr/>
          <p:nvPr/>
        </p:nvSpPr>
        <p:spPr>
          <a:xfrm>
            <a:off x="8254333" y="2122144"/>
            <a:ext cx="2428755" cy="4341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FF"/>
                </a:solidFill>
                <a:latin typeface="+mn-ea"/>
              </a:rPr>
              <a:t>상용 소켓 부품 실장 </a:t>
            </a:r>
            <a:r>
              <a:rPr lang="en-US" altLang="ko-KR" sz="1200" dirty="0">
                <a:solidFill>
                  <a:srgbClr val="FF00FF"/>
                </a:solidFill>
                <a:latin typeface="+mn-ea"/>
              </a:rPr>
              <a:t>(2</a:t>
            </a:r>
            <a:r>
              <a:rPr lang="ko-KR" altLang="en-US" sz="1200" dirty="0">
                <a:solidFill>
                  <a:srgbClr val="FF00FF"/>
                </a:solidFill>
                <a:latin typeface="+mn-ea"/>
              </a:rPr>
              <a:t>개</a:t>
            </a:r>
            <a:r>
              <a:rPr lang="en-US" altLang="ko-KR" sz="1200" dirty="0">
                <a:solidFill>
                  <a:srgbClr val="FF00FF"/>
                </a:solidFill>
                <a:latin typeface="+mn-ea"/>
              </a:rPr>
              <a:t>)</a:t>
            </a:r>
          </a:p>
          <a:p>
            <a:r>
              <a:rPr lang="ko-KR" altLang="en-US" sz="1200" dirty="0">
                <a:solidFill>
                  <a:srgbClr val="FF00FF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rgbClr val="FF00FF"/>
                </a:solidFill>
                <a:latin typeface="+mn-ea"/>
              </a:rPr>
              <a:t>(QFN 3030 </a:t>
            </a:r>
            <a:r>
              <a:rPr lang="ko-KR" altLang="en-US" sz="1200" dirty="0">
                <a:solidFill>
                  <a:srgbClr val="FF00FF"/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rgbClr val="FF00FF"/>
                </a:solidFill>
                <a:latin typeface="+mn-ea"/>
              </a:rPr>
              <a:t>DIP </a:t>
            </a:r>
            <a:r>
              <a:rPr lang="ko-KR" altLang="en-US" sz="1200" dirty="0">
                <a:solidFill>
                  <a:srgbClr val="FF00FF"/>
                </a:solidFill>
                <a:latin typeface="+mn-ea"/>
              </a:rPr>
              <a:t>커넥터 </a:t>
            </a:r>
            <a:r>
              <a:rPr lang="en-US" altLang="ko-KR" sz="1200" dirty="0">
                <a:solidFill>
                  <a:srgbClr val="FF00FF"/>
                </a:solidFill>
                <a:latin typeface="+mn-ea"/>
              </a:rPr>
              <a:t>type)</a:t>
            </a:r>
            <a:endParaRPr lang="ko-KR" altLang="en-US" sz="1200" dirty="0">
              <a:solidFill>
                <a:srgbClr val="FF00FF"/>
              </a:solidFill>
              <a:latin typeface="+mn-ea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CCA64D7-3AF2-655B-B394-32D400946713}"/>
              </a:ext>
            </a:extLst>
          </p:cNvPr>
          <p:cNvCxnSpPr/>
          <p:nvPr/>
        </p:nvCxnSpPr>
        <p:spPr>
          <a:xfrm flipV="1">
            <a:off x="7613964" y="1278041"/>
            <a:ext cx="713377" cy="1623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167EE8-5B80-752D-C66D-B4C3F68C9380}"/>
              </a:ext>
            </a:extLst>
          </p:cNvPr>
          <p:cNvSpPr/>
          <p:nvPr/>
        </p:nvSpPr>
        <p:spPr>
          <a:xfrm>
            <a:off x="8389948" y="1090345"/>
            <a:ext cx="2600959" cy="4341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Custom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제작 소켓 부품 실장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(1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(QFN 3030)</a:t>
            </a: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AEC38DA-88ED-44E8-830E-F52E249FD60B}"/>
              </a:ext>
            </a:extLst>
          </p:cNvPr>
          <p:cNvCxnSpPr/>
          <p:nvPr/>
        </p:nvCxnSpPr>
        <p:spPr>
          <a:xfrm flipV="1">
            <a:off x="4947071" y="3618590"/>
            <a:ext cx="0" cy="469183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8349AE7-B8B2-BBA2-C5F6-A74C18C11329}"/>
              </a:ext>
            </a:extLst>
          </p:cNvPr>
          <p:cNvSpPr txBox="1"/>
          <p:nvPr/>
        </p:nvSpPr>
        <p:spPr>
          <a:xfrm>
            <a:off x="5277712" y="1008532"/>
            <a:ext cx="10225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Serial Out</a:t>
            </a:r>
          </a:p>
          <a:p>
            <a:pPr algn="ctr"/>
            <a:r>
              <a:rPr lang="en-US" altLang="ko-KR" sz="1100" dirty="0"/>
              <a:t>Serial In</a:t>
            </a:r>
          </a:p>
          <a:p>
            <a:pPr algn="ctr"/>
            <a:r>
              <a:rPr lang="en-US" altLang="ko-KR" sz="1100" dirty="0"/>
              <a:t>SVSYNC</a:t>
            </a:r>
          </a:p>
        </p:txBody>
      </p:sp>
    </p:spTree>
    <p:extLst>
      <p:ext uri="{BB962C8B-B14F-4D97-AF65-F5344CB8AC3E}">
        <p14:creationId xmlns:p14="http://schemas.microsoft.com/office/powerpoint/2010/main" val="14117554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19661</TotalTime>
  <Words>6071</Words>
  <Application>Microsoft Office PowerPoint</Application>
  <PresentationFormat>와이드스크린</PresentationFormat>
  <Paragraphs>2776</Paragraphs>
  <Slides>28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Roboto</vt:lpstr>
      <vt:lpstr>1_Office 테마</vt:lpstr>
      <vt:lpstr>Microsoft Excel 워크시트</vt:lpstr>
      <vt:lpstr>XD12R + FPGA (XC24R) 단품 Control Jig board</vt:lpstr>
      <vt:lpstr>Hardware 구성 (기존)</vt:lpstr>
      <vt:lpstr>Hardware 구성 (변경)</vt:lpstr>
      <vt:lpstr>ⓓ FPGA Module</vt:lpstr>
      <vt:lpstr>ⓓ FPGA Module – FPGA JTAG, UART Connector, Control Switch, LED Indication</vt:lpstr>
      <vt:lpstr>FPGA 검증방안</vt:lpstr>
      <vt:lpstr>ⓓ FPGA Module – Connector Pin description (CON1)</vt:lpstr>
      <vt:lpstr>ⓓ FPGA Module – Connector Pin description (CON2)</vt:lpstr>
      <vt:lpstr>ⓓ FPGA Module – Connector Pin description (CON3)</vt:lpstr>
      <vt:lpstr>ⓓ FPGA Module – Connector Pin description (CON4)</vt:lpstr>
      <vt:lpstr>ⓒ MCU board (STM32F446RE)</vt:lpstr>
      <vt:lpstr>ⓒ MCU board (STM32F446RE) – Connector Pin Descriptions</vt:lpstr>
      <vt:lpstr>ⓕ LED Power Switch Module</vt:lpstr>
      <vt:lpstr>XC24 vs XC24R 칩 PIN out</vt:lpstr>
      <vt:lpstr>XD12P vs XD12R 칩 PIN out</vt:lpstr>
      <vt:lpstr>XCR-XDR 연결도</vt:lpstr>
      <vt:lpstr>XD12R  RGB PWM Dimming </vt:lpstr>
      <vt:lpstr>XD12R  RGB PWM Dimming </vt:lpstr>
      <vt:lpstr>XD12R  RGB PWM Dimming </vt:lpstr>
      <vt:lpstr>XCR-XDR Application Circuit 연결도</vt:lpstr>
      <vt:lpstr>XD12R Pin out</vt:lpstr>
      <vt:lpstr>XD12R Layout for Power Lane for single-layer PCB</vt:lpstr>
      <vt:lpstr>③ Display BLU Module</vt:lpstr>
      <vt:lpstr>일정</vt:lpstr>
      <vt:lpstr>PowerPoint 프레젠테이션</vt:lpstr>
      <vt:lpstr>XD12R Trim을 위해 갖춰야 할 지그 H/W 요구사항</vt:lpstr>
      <vt:lpstr>PowerPoint 프레젠테이션</vt:lpstr>
      <vt:lpstr>System Block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Yongmin Jung</dc:creator>
  <cp:lastModifiedBy>이 준영</cp:lastModifiedBy>
  <cp:revision>492</cp:revision>
  <cp:lastPrinted>2025-04-09T02:49:49Z</cp:lastPrinted>
  <dcterms:created xsi:type="dcterms:W3CDTF">2023-02-16T02:16:29Z</dcterms:created>
  <dcterms:modified xsi:type="dcterms:W3CDTF">2026-02-26T05:12:52Z</dcterms:modified>
</cp:coreProperties>
</file>