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15_47193C8.xml" ContentType="application/vnd.ms-powerpoint.comments+xml"/>
  <Override PartName="/ppt/comments/modernComment_11F_6EF7015F.xml" ContentType="application/vnd.ms-powerpoint.comments+xml"/>
  <Override PartName="/ppt/comments/modernComment_1A3_7DF4D588.xml" ContentType="application/vnd.ms-powerpoint.comments+xml"/>
  <Override PartName="/ppt/comments/modernComment_19E_78698B3C.xml" ContentType="application/vnd.ms-powerpoint.comments+xml"/>
  <Override PartName="/ppt/comments/modernComment_19C_FFF69E12.xml" ContentType="application/vnd.ms-powerpoint.comments+xml"/>
  <Override PartName="/ppt/comments/modernComment_2D3_C78F73D2.xml" ContentType="application/vnd.ms-powerpoint.comments+xml"/>
  <Override PartName="/ppt/comments/modernComment_199_684568CD.xml" ContentType="application/vnd.ms-powerpoint.comments+xml"/>
  <Override PartName="/ppt/comments/modernComment_2D1_5829515B.xml" ContentType="application/vnd.ms-powerpoint.comments+xml"/>
  <Override PartName="/ppt/comments/modernComment_19A_86B16A0F.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164" userDrawn="1">
          <p15:clr>
            <a:srgbClr val="A4A3A4"/>
          </p15:clr>
        </p15:guide>
        <p15:guide id="14" pos="4065" userDrawn="1">
          <p15:clr>
            <a:srgbClr val="A4A3A4"/>
          </p15:clr>
        </p15:guide>
        <p15:guide id="20" orient="horz" pos="5229" userDrawn="1">
          <p15:clr>
            <a:srgbClr val="A4A3A4"/>
          </p15:clr>
        </p15:guide>
        <p15:guide id="22" orient="horz" pos="3211" userDrawn="1">
          <p15:clr>
            <a:srgbClr val="A4A3A4"/>
          </p15:clr>
        </p15:guide>
        <p15:guide id="25" pos="346" userDrawn="1">
          <p15:clr>
            <a:srgbClr val="A4A3A4"/>
          </p15:clr>
        </p15:guide>
        <p15:guide id="26" orient="horz" pos="466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D1D1"/>
    <a:srgbClr val="FF00FF"/>
    <a:srgbClr val="BDD8FF"/>
    <a:srgbClr val="B3FFB3"/>
    <a:srgbClr val="FFC5FF"/>
    <a:srgbClr val="0066FF"/>
    <a:srgbClr val="CCFFFF"/>
    <a:srgbClr val="E6E6E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varScale="1">
        <p:scale>
          <a:sx n="75" d="100"/>
          <a:sy n="75" d="100"/>
        </p:scale>
        <p:origin x="3570" y="54"/>
      </p:cViewPr>
      <p:guideLst>
        <p:guide pos="164"/>
        <p:guide pos="4065"/>
        <p:guide orient="horz" pos="5229"/>
        <p:guide orient="horz" pos="3211"/>
        <p:guide pos="346"/>
        <p:guide orient="horz" pos="466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omments/modernComment_1A3_7DF4D588.xml><?xml version="1.0" encoding="utf-8"?>
<p188:cmLst xmlns:a="http://schemas.openxmlformats.org/drawingml/2006/main" xmlns:r="http://schemas.openxmlformats.org/officeDocument/2006/relationships" xmlns:p188="http://schemas.microsoft.com/office/powerpoint/2018/8/main">
  <p188:cm id="{67DFB096-BCBF-438A-8A37-A68B03D6B449}" authorId="{5E03ACD7-6916-F275-5442-2DA38665A9F9}" created="2026-02-10T06:59:31.782">
    <pc:sldMkLst xmlns:pc="http://schemas.microsoft.com/office/powerpoint/2013/main/command">
      <pc:docMk/>
      <pc:sldMk cId="2113197448" sldId="419"/>
    </pc:sldMkLst>
    <p188:txBody>
      <a:bodyPr/>
      <a:lstStyle/>
      <a:p>
        <a:r>
          <a:rPr lang="ko-KR" altLang="en-US"/>
          <a:t>[2/10] 이준영 2’b10 channel 수정
    even ch. = (LED1)  → odd ch.
     odd ch. = (LED2/3) → even ch.</a:t>
        </a:r>
      </a:p>
    </p188:txBody>
  </p188:cm>
</p188:cmLst>
</file>

<file path=ppt/comments/modernComment_2D1_5829515B.xml><?xml version="1.0" encoding="utf-8"?>
<p188:cmLst xmlns:a="http://schemas.openxmlformats.org/drawingml/2006/main" xmlns:r="http://schemas.openxmlformats.org/officeDocument/2006/relationships" xmlns:p188="http://schemas.microsoft.com/office/powerpoint/2018/8/main">
  <p188:cm id="{2CFC5855-7FA5-4235-8B9E-3B601D22498C}" authorId="{5E03ACD7-6916-F275-5442-2DA38665A9F9}" created="2026-02-10T07:06:50.650">
    <pc:sldMkLst xmlns:pc="http://schemas.microsoft.com/office/powerpoint/2013/main/command">
      <pc:docMk/>
      <pc:sldMk cId="1479102811" sldId="721"/>
    </pc:sldMkLst>
    <p188:txBody>
      <a:bodyPr/>
      <a:lstStyle/>
      <a:p>
        <a:r>
          <a:rPr lang="ko-KR" altLang="en-US"/>
          <a:t>[1/14] 이준영 SPRD_GAIN 수정
        SPRD_GAIN[3:0] → SPRD_GAIN[2:0]</a:t>
        </a:r>
      </a:p>
    </p188:txBody>
  </p188:cm>
</p188:cmLst>
</file>

<file path=ppt/comments/modernComment_2D3_C78F73D2.xml><?xml version="1.0" encoding="utf-8"?>
<p188:cmLst xmlns:a="http://schemas.openxmlformats.org/drawingml/2006/main" xmlns:r="http://schemas.openxmlformats.org/officeDocument/2006/relationships" xmlns:p188="http://schemas.microsoft.com/office/powerpoint/2018/8/main">
  <p188:cm id="{E5EFAC96-263B-4EC4-9B17-3957879E00B5}" authorId="{5E03ACD7-6916-F275-5442-2DA38665A9F9}" created="2026-02-10T05:45:05.369">
    <pc:sldMkLst xmlns:pc="http://schemas.microsoft.com/office/powerpoint/2013/main/command">
      <pc:docMk/>
      <pc:sldMk cId="3348067282" sldId="723"/>
    </pc:sldMkLst>
    <p188:txBody>
      <a:bodyPr/>
      <a:lstStyle/>
      <a:p>
        <a:r>
          <a:rPr lang="ko-KR" altLang="en-US"/>
          <a:t>1/23 이준영 Serial Latency (0x15번지),
          default = 0x080 </a:t>
        </a:r>
      </a:p>
    </p188:txBody>
  </p188:cm>
</p188:cmLst>
</file>

<file path=ppt/comments/modernComment_11F_6EF7015F.xml><?xml version="1.0" encoding="utf-8"?>
<p188:cmLst xmlns:a="http://schemas.openxmlformats.org/drawingml/2006/main" xmlns:r="http://schemas.openxmlformats.org/officeDocument/2006/relationships" xmlns:p188="http://schemas.microsoft.com/office/powerpoint/2018/8/main">
  <p188:cm id="{5C260DF8-E288-48A7-9DEC-8FF6893AB58B}" authorId="{5E03ACD7-6916-F275-5442-2DA38665A9F9}" created="2026-02-10T07:43:33.152">
    <pc:sldMkLst xmlns:pc="http://schemas.microsoft.com/office/powerpoint/2013/main/command">
      <pc:docMk/>
      <pc:sldMk cId="1861681503" sldId="287"/>
    </pc:sldMkLst>
    <p188:txBody>
      <a:bodyPr/>
      <a:lstStyle/>
      <a:p>
        <a:r>
          <a:rPr lang="ko-KR" altLang="en-US"/>
          <a:t>[2/10] 엄윤섭 Initialization after VDD
   5V stable → 3.3V stable</a:t>
        </a:r>
      </a:p>
    </p188:txBody>
  </p188:cm>
</p188:cmLst>
</file>

<file path=ppt/comments/modernComment_19A_86B16A0F.xml><?xml version="1.0" encoding="utf-8"?>
<p188:cmLst xmlns:a="http://schemas.openxmlformats.org/drawingml/2006/main" xmlns:r="http://schemas.openxmlformats.org/officeDocument/2006/relationships" xmlns:p188="http://schemas.microsoft.com/office/powerpoint/2018/8/main">
  <p188:cm id="{14F3A4B8-C098-404B-9DDD-F44517D6316D}" authorId="{5E03ACD7-6916-F275-5442-2DA38665A9F9}" created="2026-02-10T07:11:29.625">
    <pc:sldMkLst xmlns:pc="http://schemas.microsoft.com/office/powerpoint/2013/main/command">
      <pc:docMk/>
      <pc:sldMk cId="2259773967" sldId="410"/>
    </pc:sldMkLst>
    <p188:txBody>
      <a:bodyPr/>
      <a:lstStyle/>
      <a:p>
        <a:r>
          <a:rPr lang="ko-KR" altLang="en-US"/>
          <a:t>[1/14] 조문기수석 0x01 DACB_OFS 수정
          DACB_OFS[4:0] → DACB_OFS[6:5]</a:t>
        </a:r>
      </a:p>
    </p188:txBody>
  </p188:cm>
</p188:cmLst>
</file>

<file path=ppt/comments/modernComment_19C_FFF69E12.xml><?xml version="1.0" encoding="utf-8"?>
<p188:cmLst xmlns:a="http://schemas.openxmlformats.org/drawingml/2006/main" xmlns:r="http://schemas.openxmlformats.org/officeDocument/2006/relationships" xmlns:p188="http://schemas.microsoft.com/office/powerpoint/2018/8/main">
  <p188:cm id="{D5120FA4-F18A-4401-BFF5-3AF9868563F8}" authorId="{5E03ACD7-6916-F275-5442-2DA38665A9F9}" created="2026-02-10T06:18:44.480">
    <pc:sldMkLst xmlns:pc="http://schemas.microsoft.com/office/powerpoint/2013/main/command">
      <pc:docMk/>
      <pc:sldMk cId="4294352402" sldId="412"/>
    </pc:sldMkLst>
    <p188:txBody>
      <a:bodyPr/>
      <a:lstStyle/>
      <a:p>
        <a:r>
          <a:rPr lang="ko-KR" altLang="en-US"/>
          <a:t>[2/10] 이준영 FAULT STATUS 수정 요청
  Data sheet와 Read out format 상이함
  -&gt; 칩설계팀 확인 후 수정요</a:t>
        </a:r>
      </a:p>
    </p188:txBody>
  </p188:cm>
</p188:cmLst>
</file>

<file path=ppt/comments/modernComment_19E_78698B3C.xml><?xml version="1.0" encoding="utf-8"?>
<p188:cmLst xmlns:a="http://schemas.openxmlformats.org/drawingml/2006/main" xmlns:r="http://schemas.openxmlformats.org/officeDocument/2006/relationships" xmlns:p188="http://schemas.microsoft.com/office/powerpoint/2018/8/main">
  <p188:cm id="{0A477B8D-4E4F-48F7-941C-A615354B244A}" authorId="{5E03ACD7-6916-F275-5442-2DA38665A9F9}" created="2026-02-10T05:55:09.836">
    <pc:sldMkLst xmlns:pc="http://schemas.microsoft.com/office/powerpoint/2013/main/command">
      <pc:docMk/>
      <pc:sldMk cId="2020182844" sldId="414"/>
    </pc:sldMkLst>
    <p188:txBody>
      <a:bodyPr/>
      <a:lstStyle/>
      <a:p>
        <a:r>
          <a:rPr lang="ko-KR" altLang="en-US"/>
          <a:t>[2/03] 이준영 O_DET_E 설명 수정
 PWM = 0일 때에만 OPEN 시그널이 발생할 수 있다고 되어있지만
실제는 PWM On -&gt; Off 시점에서 Open을 감지하는 구조이므로 해당 내용의 변경이 필요함</a:t>
        </a:r>
      </a:p>
    </p188:txBody>
  </p188:cm>
</p188:cmLst>
</file>

<file path=ppt/comments/modernComment_115_47193C8.xml><?xml version="1.0" encoding="utf-8"?>
<p188:cmLst xmlns:a="http://schemas.openxmlformats.org/drawingml/2006/main" xmlns:r="http://schemas.openxmlformats.org/officeDocument/2006/relationships" xmlns:p188="http://schemas.microsoft.com/office/powerpoint/2018/8/main">
  <p188:cm id="{86B49194-BF50-4F8D-9807-36E75A5E6582}" authorId="{5E03ACD7-6916-F275-5442-2DA38665A9F9}" created="2026-02-23T01:13:44.010">
    <pc:sldMkLst xmlns:pc="http://schemas.microsoft.com/office/powerpoint/2013/main/command">
      <pc:docMk/>
      <pc:sldMk cId="74552264" sldId="277"/>
    </pc:sldMkLst>
    <p188:txBody>
      <a:bodyPr/>
      <a:lstStyle/>
      <a:p>
        <a:r>
          <a:rPr lang="ko-KR" altLang="en-US"/>
          <a:t>[2/23] Application Circuit Block update</a:t>
        </a:r>
      </a:p>
    </p188:txBody>
  </p188:cm>
</p188:cmLst>
</file>

<file path=ppt/comments/modernComment_199_684568CD.xml><?xml version="1.0" encoding="utf-8"?>
<p188:cmLst xmlns:a="http://schemas.openxmlformats.org/drawingml/2006/main" xmlns:r="http://schemas.openxmlformats.org/officeDocument/2006/relationships" xmlns:p188="http://schemas.microsoft.com/office/powerpoint/2018/8/main">
  <p188:cm id="{779866BF-1395-4DAF-8F3F-10423EF37DD0}" authorId="{5E03ACD7-6916-F275-5442-2DA38665A9F9}" created="2026-02-10T05:44:03.710">
    <pc:sldMkLst xmlns:pc="http://schemas.microsoft.com/office/powerpoint/2013/main/command">
      <pc:docMk/>
      <pc:sldMk cId="1749379277" sldId="409"/>
    </pc:sldMkLst>
    <p188:txBody>
      <a:bodyPr/>
      <a:lstStyle/>
      <a:p>
        <a:r>
          <a:rPr lang="ko-KR" altLang="en-US"/>
          <a:t>1/23 이준영 TIMEOUT(0x19)
          default = 0x3FF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2026-02-23 (Mon)</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2026-02-23 (Mon)</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2026-02-23 (Mon)</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Jan. 2026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5_47193C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F_6EF7015F.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emf"/><Relationship Id="rId2" Type="http://schemas.microsoft.com/office/2018/10/relationships/comments" Target="../comments/modernComment_1A3_7DF4D588.xml"/><Relationship Id="rId1"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9E_78698B3C.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9C_FFF69E1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2D3_C78F73D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emf"/><Relationship Id="rId2" Type="http://schemas.microsoft.com/office/2018/10/relationships/comments" Target="../comments/modernComment_199_684568CD.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2D1_5829515B.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9A_86B16A0F.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34.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22179"/>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586066" y="7995807"/>
            <a:ext cx="3946113" cy="615553"/>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LED Backlight for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6488636"/>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Type-1(RGB, 12CH), Type-2(R/GB, 6CH), Type-3 (GB, 12CH)</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40mA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47883"/>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392" name="그림 391">
            <a:extLst>
              <a:ext uri="{FF2B5EF4-FFF2-40B4-BE49-F238E27FC236}">
                <a16:creationId xmlns:a16="http://schemas.microsoft.com/office/drawing/2014/main" id="{A3FF72A2-D2CA-84B7-D886-959B6F771B9F}"/>
              </a:ext>
            </a:extLst>
          </p:cNvPr>
          <p:cNvPicPr>
            <a:picLocks noChangeAspect="1"/>
          </p:cNvPicPr>
          <p:nvPr/>
        </p:nvPicPr>
        <p:blipFill>
          <a:blip r:embed="rId3"/>
          <a:stretch>
            <a:fillRect/>
          </a:stretch>
        </p:blipFill>
        <p:spPr>
          <a:xfrm>
            <a:off x="1504527" y="1088795"/>
            <a:ext cx="4190920" cy="3859088"/>
          </a:xfrm>
          <a:prstGeom prst="rect">
            <a:avLst/>
          </a:prstGeom>
        </p:spPr>
      </p:pic>
      <p:pic>
        <p:nvPicPr>
          <p:cNvPr id="25" name="그림 24" descr="도표, 평면도, 기술 도면, 개략도이(가) 표시된 사진&#10;&#10;AI 생성 콘텐츠는 정확하지 않을 수 있습니다.">
            <a:extLst>
              <a:ext uri="{FF2B5EF4-FFF2-40B4-BE49-F238E27FC236}">
                <a16:creationId xmlns:a16="http://schemas.microsoft.com/office/drawing/2014/main" id="{DCB56A53-1F83-2539-AFE2-C5F406CACE41}"/>
              </a:ext>
            </a:extLst>
          </p:cNvPr>
          <p:cNvPicPr>
            <a:picLocks noChangeAspect="1"/>
          </p:cNvPicPr>
          <p:nvPr/>
        </p:nvPicPr>
        <p:blipFill>
          <a:blip r:embed="rId4"/>
          <a:stretch>
            <a:fillRect/>
          </a:stretch>
        </p:blipFill>
        <p:spPr>
          <a:xfrm>
            <a:off x="260350" y="6032501"/>
            <a:ext cx="6229350" cy="2281302"/>
          </a:xfrm>
          <a:prstGeom prst="rect">
            <a:avLst/>
          </a:prstGeom>
        </p:spPr>
      </p:pic>
    </p:spTree>
    <p:extLst>
      <p:ext uri="{BB962C8B-B14F-4D97-AF65-F5344CB8AC3E}">
        <p14:creationId xmlns:p14="http://schemas.microsoft.com/office/powerpoint/2010/main" val="7455226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1497035304"/>
              </p:ext>
            </p:extLst>
          </p:nvPr>
        </p:nvGraphicFramePr>
        <p:xfrm>
          <a:off x="422353" y="4922162"/>
          <a:ext cx="6042618" cy="3771049"/>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22353" y="456173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77556" y="4049803"/>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281348"/>
            <a:ext cx="2616094" cy="2681051"/>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1900239"/>
              <a:ext cx="1247715" cy="1269722"/>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32831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059795855"/>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4" name="그림 3">
            <a:extLst>
              <a:ext uri="{FF2B5EF4-FFF2-40B4-BE49-F238E27FC236}">
                <a16:creationId xmlns:a16="http://schemas.microsoft.com/office/drawing/2014/main" id="{88E2C4E5-61F2-EC1A-2500-91514E7F5A0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88728685"/>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078263586"/>
              </p:ext>
            </p:extLst>
          </p:nvPr>
        </p:nvGraphicFramePr>
        <p:xfrm>
          <a:off x="333544" y="1136650"/>
          <a:ext cx="6169522" cy="664537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0.38V@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0.45V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3b’001=4.5V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6.5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9.0</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a:t>
                      </a:r>
                      <a:r>
                        <a:rPr sz="800" spc="-5" dirty="0">
                          <a:solidFill>
                            <a:schemeClr val="tx1"/>
                          </a:solidFill>
                          <a:latin typeface="Arial"/>
                          <a:cs typeface="Arial"/>
                        </a:rPr>
                        <a:t>=</a:t>
                      </a:r>
                      <a:r>
                        <a:rPr lang="en-US" sz="800" spc="-5" dirty="0">
                          <a:solidFill>
                            <a:schemeClr val="tx1"/>
                          </a:solidFill>
                          <a:latin typeface="Arial"/>
                          <a:cs typeface="Arial"/>
                        </a:rPr>
                        <a:t>13.5</a:t>
                      </a:r>
                      <a:r>
                        <a:rPr sz="800" spc="-5" dirty="0">
                          <a:solidFill>
                            <a:schemeClr val="tx1"/>
                          </a:solidFill>
                          <a:latin typeface="Arial"/>
                          <a:cs typeface="Arial"/>
                        </a:rPr>
                        <a:t>V,3b’1</a:t>
                      </a:r>
                      <a:r>
                        <a:rPr lang="en-US" sz="800" spc="-5" dirty="0">
                          <a:solidFill>
                            <a:schemeClr val="tx1"/>
                          </a:solidFill>
                          <a:latin typeface="Arial"/>
                          <a:cs typeface="Arial"/>
                        </a:rPr>
                        <a:t>01</a:t>
                      </a:r>
                      <a:r>
                        <a:rPr sz="800" spc="-5" dirty="0">
                          <a:solidFill>
                            <a:schemeClr val="tx1"/>
                          </a:solidFill>
                          <a:latin typeface="Arial"/>
                          <a:cs typeface="Arial"/>
                        </a:rPr>
                        <a:t>=</a:t>
                      </a:r>
                      <a:r>
                        <a:rPr lang="en-US" sz="800" spc="-5" dirty="0">
                          <a:solidFill>
                            <a:schemeClr val="tx1"/>
                          </a:solidFill>
                          <a:latin typeface="Arial"/>
                          <a:cs typeface="Arial"/>
                        </a:rPr>
                        <a:t>17.5</a:t>
                      </a:r>
                      <a:r>
                        <a:rPr sz="800" spc="-5" dirty="0">
                          <a:solidFill>
                            <a:schemeClr val="tx1"/>
                          </a:solidFill>
                          <a:latin typeface="Arial"/>
                          <a:cs typeface="Arial"/>
                        </a:rPr>
                        <a:t>V</a:t>
                      </a:r>
                      <a:endParaRPr sz="800" dirty="0">
                        <a:solidFill>
                          <a:schemeClr val="tx1"/>
                        </a:solidFill>
                        <a:latin typeface="Arial"/>
                        <a:cs typeface="Arial"/>
                      </a:endParaRPr>
                    </a:p>
                    <a:p>
                      <a:pPr marL="275590" algn="l">
                        <a:lnSpc>
                          <a:spcPct val="100000"/>
                        </a:lnSpc>
                        <a:spcBef>
                          <a:spcPts val="5"/>
                        </a:spcBef>
                      </a:pPr>
                      <a:r>
                        <a:rPr lang="en-US" sz="800"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110</a:t>
                      </a:r>
                      <a:r>
                        <a:rPr sz="800" dirty="0">
                          <a:solidFill>
                            <a:schemeClr val="tx1"/>
                          </a:solidFill>
                          <a:latin typeface="Arial"/>
                          <a:cs typeface="Arial"/>
                        </a:rPr>
                        <a:t>=</a:t>
                      </a:r>
                      <a:r>
                        <a:rPr lang="en-US" sz="800" dirty="0">
                          <a:solidFill>
                            <a:schemeClr val="tx1"/>
                          </a:solidFill>
                          <a:latin typeface="Arial"/>
                          <a:cs typeface="Arial"/>
                        </a:rPr>
                        <a:t>26</a:t>
                      </a:r>
                      <a:r>
                        <a:rPr sz="800" dirty="0">
                          <a:solidFill>
                            <a:schemeClr val="tx1"/>
                          </a:solidFill>
                          <a:latin typeface="Arial"/>
                          <a:cs typeface="Arial"/>
                        </a:rPr>
                        <a:t>V,</a:t>
                      </a:r>
                      <a:r>
                        <a:rPr lang="en-US" sz="800" dirty="0">
                          <a:solidFill>
                            <a:schemeClr val="tx1"/>
                          </a:solidFill>
                          <a:latin typeface="Arial"/>
                          <a:cs typeface="Arial"/>
                        </a:rPr>
                        <a:t> </a:t>
                      </a:r>
                      <a:r>
                        <a:rPr sz="800" spc="125" dirty="0">
                          <a:solidFill>
                            <a:schemeClr val="tx1"/>
                          </a:solidFill>
                          <a:latin typeface="Arial"/>
                          <a:cs typeface="Arial"/>
                        </a:rPr>
                        <a:t> </a:t>
                      </a:r>
                      <a:r>
                        <a:rPr sz="800" dirty="0">
                          <a:solidFill>
                            <a:schemeClr val="tx1"/>
                          </a:solidFill>
                          <a:latin typeface="Arial"/>
                          <a:cs typeface="Arial"/>
                        </a:rPr>
                        <a:t>3b’111=3</a:t>
                      </a:r>
                      <a:r>
                        <a:rPr lang="en-US" sz="800" dirty="0">
                          <a:solidFill>
                            <a:schemeClr val="tx1"/>
                          </a:solidFill>
                          <a:latin typeface="Arial"/>
                          <a:cs typeface="Arial"/>
                        </a:rPr>
                        <a:t>2</a:t>
                      </a:r>
                      <a:r>
                        <a:rPr sz="8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12mA, 4’b1001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20mA, 4’b1011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28mA, 4’b1101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36mA, 4’b1111 = 40mA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542403519"/>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3.3V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7" name="그림 6" descr="텍스트, 도표, 평면도, 스크린샷이(가) 표시된 사진&#10;&#10;AI 생성 콘텐츠는 정확하지 않을 수 있습니다.">
            <a:extLst>
              <a:ext uri="{FF2B5EF4-FFF2-40B4-BE49-F238E27FC236}">
                <a16:creationId xmlns:a16="http://schemas.microsoft.com/office/drawing/2014/main" id="{09C55B82-5296-E04D-A954-567B2F4A3CE2}"/>
              </a:ext>
            </a:extLst>
          </p:cNvPr>
          <p:cNvPicPr>
            <a:picLocks noChangeAspect="1"/>
          </p:cNvPicPr>
          <p:nvPr/>
        </p:nvPicPr>
        <p:blipFill>
          <a:blip r:embed="rId2"/>
          <a:stretch>
            <a:fillRect/>
          </a:stretch>
        </p:blipFill>
        <p:spPr>
          <a:xfrm>
            <a:off x="260350" y="5097463"/>
            <a:ext cx="6192838" cy="2357075"/>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41287EC4-54EE-5E4F-1ED3-9CE8DF4F3F37}"/>
              </a:ext>
            </a:extLst>
          </p:cNvPr>
          <p:cNvPicPr>
            <a:picLocks noChangeAspect="1"/>
          </p:cNvPicPr>
          <p:nvPr/>
        </p:nvPicPr>
        <p:blipFill>
          <a:blip r:embed="rId3"/>
          <a:stretch>
            <a:fillRect/>
          </a:stretch>
        </p:blipFill>
        <p:spPr>
          <a:xfrm>
            <a:off x="1368507" y="5753697"/>
            <a:ext cx="3882786" cy="833175"/>
          </a:xfrm>
          <a:prstGeom prst="rect">
            <a:avLst/>
          </a:prstGeom>
        </p:spPr>
      </p:pic>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MCU.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4"/>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5"/>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sp>
        <p:nvSpPr>
          <p:cNvPr id="7" name="TextBox 6">
            <a:extLst>
              <a:ext uri="{FF2B5EF4-FFF2-40B4-BE49-F238E27FC236}">
                <a16:creationId xmlns:a16="http://schemas.microsoft.com/office/drawing/2014/main" id="{CD831342-4F10-E99B-91E2-727BBD971028}"/>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7B8E68EA-FF68-5B99-4712-A6BFB6A98555}"/>
              </a:ext>
            </a:extLst>
          </p:cNvPr>
          <p:cNvPicPr>
            <a:picLocks noChangeAspect="1"/>
          </p:cNvPicPr>
          <p:nvPr/>
        </p:nvPicPr>
        <p:blipFill>
          <a:blip r:embed="rId6"/>
          <a:stretch>
            <a:fillRect/>
          </a:stretch>
        </p:blipFill>
        <p:spPr>
          <a:xfrm>
            <a:off x="3533775" y="4433254"/>
            <a:ext cx="3181350" cy="437084"/>
          </a:xfrm>
          <a:prstGeom prst="rect">
            <a:avLst/>
          </a:prstGeom>
        </p:spPr>
      </p:pic>
      <p:cxnSp>
        <p:nvCxnSpPr>
          <p:cNvPr id="12" name="직선 화살표 연결선 11">
            <a:extLst>
              <a:ext uri="{FF2B5EF4-FFF2-40B4-BE49-F238E27FC236}">
                <a16:creationId xmlns:a16="http://schemas.microsoft.com/office/drawing/2014/main" id="{DD434A09-EC0C-0E3A-98C2-CCDEF227CE0C}"/>
              </a:ext>
            </a:extLst>
          </p:cNvPr>
          <p:cNvCxnSpPr>
            <a:cxnSpLocks/>
          </p:cNvCxnSpPr>
          <p:nvPr/>
        </p:nvCxnSpPr>
        <p:spPr>
          <a:xfrm flipV="1">
            <a:off x="6167438" y="8376789"/>
            <a:ext cx="0" cy="2671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21B3EAB-5006-8E5F-8FBF-A729858C5FEC}"/>
              </a:ext>
            </a:extLst>
          </p:cNvPr>
          <p:cNvSpPr txBox="1"/>
          <p:nvPr/>
        </p:nvSpPr>
        <p:spPr>
          <a:xfrm>
            <a:off x="5494338" y="8659693"/>
            <a:ext cx="1254126" cy="553998"/>
          </a:xfrm>
          <a:prstGeom prst="rect">
            <a:avLst/>
          </a:prstGeom>
          <a:solidFill>
            <a:srgbClr val="FFFF00"/>
          </a:solidFill>
        </p:spPr>
        <p:txBody>
          <a:bodyPr wrap="square" rtlCol="0">
            <a:spAutoFit/>
          </a:bodyPr>
          <a:lstStyle/>
          <a:p>
            <a:r>
              <a:rPr lang="en-US" altLang="ko-KR" sz="1000" dirty="0"/>
              <a:t>28bit</a:t>
            </a:r>
            <a:r>
              <a:rPr lang="ko-KR" altLang="en-US" sz="1000" dirty="0"/>
              <a:t>로 되어있는데</a:t>
            </a:r>
            <a:endParaRPr lang="en-US" altLang="ko-KR" sz="1000" dirty="0"/>
          </a:p>
          <a:p>
            <a:r>
              <a:rPr lang="en-US" altLang="ko-KR" sz="1000" dirty="0"/>
              <a:t>24 bit</a:t>
            </a:r>
            <a:r>
              <a:rPr lang="ko-KR" altLang="en-US" sz="1000" dirty="0"/>
              <a:t>이 아닌지 확인요</a:t>
            </a:r>
            <a:r>
              <a:rPr lang="en-US" altLang="ko-KR" sz="1000" dirty="0"/>
              <a:t>?</a:t>
            </a:r>
            <a:endParaRPr lang="ko-KR" altLang="en-US" sz="1000" dirty="0"/>
          </a:p>
        </p:txBody>
      </p:sp>
      <p:pic>
        <p:nvPicPr>
          <p:cNvPr id="17" name="그림 16">
            <a:extLst>
              <a:ext uri="{FF2B5EF4-FFF2-40B4-BE49-F238E27FC236}">
                <a16:creationId xmlns:a16="http://schemas.microsoft.com/office/drawing/2014/main" id="{37474E23-B3E8-25A5-5F12-BC4605EAF485}"/>
              </a:ext>
            </a:extLst>
          </p:cNvPr>
          <p:cNvPicPr>
            <a:picLocks noChangeAspect="1"/>
          </p:cNvPicPr>
          <p:nvPr/>
        </p:nvPicPr>
        <p:blipFill>
          <a:blip r:embed="rId7"/>
          <a:stretch>
            <a:fillRect/>
          </a:stretch>
        </p:blipFill>
        <p:spPr>
          <a:xfrm>
            <a:off x="2965885" y="7945203"/>
            <a:ext cx="3379353" cy="428860"/>
          </a:xfrm>
          <a:prstGeom prst="rect">
            <a:avLst/>
          </a:prstGeom>
        </p:spPr>
      </p:pic>
    </p:spTree>
    <p:extLst>
      <p:ext uri="{BB962C8B-B14F-4D97-AF65-F5344CB8AC3E}">
        <p14:creationId xmlns:p14="http://schemas.microsoft.com/office/powerpoint/2010/main" val="211319744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LD_TYPE = 1,  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dirty="0">
                <a:latin typeface="Arial" panose="020B0604020202020204" pitchFamily="34" charset="0"/>
                <a:cs typeface="Arial" panose="020B0604020202020204" pitchFamily="34" charset="0"/>
              </a:rPr>
              <a:t>RED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a:t>
            </a:r>
          </a:p>
          <a:p>
            <a:pPr algn="r"/>
            <a:r>
              <a:rPr lang="en-US" altLang="ko-KR" sz="800" dirty="0">
                <a:latin typeface="Arial" panose="020B0604020202020204" pitchFamily="34" charset="0"/>
                <a:cs typeface="Arial" panose="020B0604020202020204" pitchFamily="34" charset="0"/>
              </a:rPr>
              <a:t>GREEN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2</a:t>
            </a:r>
          </a:p>
          <a:p>
            <a:pPr algn="r"/>
            <a:r>
              <a:rPr lang="en-US" altLang="ko-KR" sz="800" dirty="0">
                <a:latin typeface="Arial" panose="020B0604020202020204" pitchFamily="34" charset="0"/>
                <a:cs typeface="Arial" panose="020B0604020202020204" pitchFamily="34" charset="0"/>
              </a:rPr>
              <a:t>BLUE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1</a:t>
            </a:r>
            <a:endParaRPr lang="ko-KR" altLang="en-US" sz="8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
        <p:nvSpPr>
          <p:cNvPr id="2" name="TextBox 1">
            <a:extLst>
              <a:ext uri="{FF2B5EF4-FFF2-40B4-BE49-F238E27FC236}">
                <a16:creationId xmlns:a16="http://schemas.microsoft.com/office/drawing/2014/main" id="{40813B5E-1ABF-08AE-4567-5413471AC374}"/>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6" name="TextBox 5">
            <a:extLst>
              <a:ext uri="{FF2B5EF4-FFF2-40B4-BE49-F238E27FC236}">
                <a16:creationId xmlns:a16="http://schemas.microsoft.com/office/drawing/2014/main" id="{455D2AA4-C763-35CE-4F38-71A6F40B8E08}"/>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8" name="직사각형 7">
            <a:extLst>
              <a:ext uri="{FF2B5EF4-FFF2-40B4-BE49-F238E27FC236}">
                <a16:creationId xmlns:a16="http://schemas.microsoft.com/office/drawing/2014/main" id="{9F288DE1-C8AE-0AC4-FB4B-D120948A04F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0" name="직사각형 9">
            <a:extLst>
              <a:ext uri="{FF2B5EF4-FFF2-40B4-BE49-F238E27FC236}">
                <a16:creationId xmlns:a16="http://schemas.microsoft.com/office/drawing/2014/main" id="{28339E89-9DF1-E78C-2927-63B047DF21ED}"/>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2" name="TextBox 11">
            <a:extLst>
              <a:ext uri="{FF2B5EF4-FFF2-40B4-BE49-F238E27FC236}">
                <a16:creationId xmlns:a16="http://schemas.microsoft.com/office/drawing/2014/main" id="{10936B1B-C501-FF2F-E85C-A1619D75490C}"/>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3" name="직사각형 12">
            <a:extLst>
              <a:ext uri="{FF2B5EF4-FFF2-40B4-BE49-F238E27FC236}">
                <a16:creationId xmlns:a16="http://schemas.microsoft.com/office/drawing/2014/main" id="{AF6A32BA-2DE2-1412-AAB0-CF2DF25E910A}"/>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7" name="TextBox 16">
            <a:extLst>
              <a:ext uri="{FF2B5EF4-FFF2-40B4-BE49-F238E27FC236}">
                <a16:creationId xmlns:a16="http://schemas.microsoft.com/office/drawing/2014/main" id="{9C62585D-ED76-22E4-0954-486C060AAE4D}"/>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9" name="표 18">
            <a:extLst>
              <a:ext uri="{FF2B5EF4-FFF2-40B4-BE49-F238E27FC236}">
                <a16:creationId xmlns:a16="http://schemas.microsoft.com/office/drawing/2014/main" id="{9F863215-FB99-F4E9-2880-94439E2CEE38}"/>
              </a:ext>
            </a:extLst>
          </p:cNvPr>
          <p:cNvGraphicFramePr>
            <a:graphicFrameLocks noGrp="1"/>
          </p:cNvGraphicFramePr>
          <p:nvPr>
            <p:extLst>
              <p:ext uri="{D42A27DB-BD31-4B8C-83A1-F6EECF244321}">
                <p14:modId xmlns:p14="http://schemas.microsoft.com/office/powerpoint/2010/main" val="409788518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948587"/>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Type-1 allows for time-division drive of three LEDs(red, green, blue) per channel. The three LEDs can be configured for different RGB colors, and the XC24R sets the time-division drive times for each RGB LED within a frame and transmits them to the XD12R as SVI signals.</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61600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 SYNCMODE = 0</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3396957" y="4336684"/>
              <a:ext cx="618624" cy="14967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4075263" y="5941363"/>
              <a:ext cx="355867"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  or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  </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 B</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2"/>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In Type-2 mode, odd channels independently drive one LED(red), while even channels support brightness control by time-divisionally driving two LEDs(green, blue).</a:t>
            </a:r>
          </a:p>
          <a:p>
            <a:pPr algn="just"/>
            <a:r>
              <a:rPr lang="en-US" altLang="ko-KR" sz="1000" dirty="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 SYNC_MODE = 0</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3155032" y="3108794"/>
              <a:ext cx="617590" cy="14981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868361"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 SYNC_MODE = 0</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GATE3</a:t>
              </a:r>
              <a:endParaRPr lang="ko-KR" altLang="en-US" sz="900" i="0" dirty="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3174666" y="2622284"/>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dirty="0" err="1">
                  <a:solidFill>
                    <a:schemeClr val="tx1"/>
                  </a:solidFill>
                </a:rPr>
                <a:t>ld_type</a:t>
              </a:r>
              <a:r>
                <a:rPr lang="en-US" altLang="ko-KR" sz="1100" b="0" i="0" baseline="0" dirty="0">
                  <a:solidFill>
                    <a:schemeClr val="tx1"/>
                  </a:solidFill>
                </a:rPr>
                <a:t> = 11</a:t>
              </a:r>
              <a:endParaRPr lang="ko-KR" altLang="en-US" sz="1100" b="0" i="0" dirty="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70016"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2"/>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XD12R supports parity function for interface communication with XC24R.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058029774"/>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(GB,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006886003"/>
              </p:ext>
            </p:extLst>
          </p:nvPr>
        </p:nvGraphicFramePr>
        <p:xfrm>
          <a:off x="401292" y="1108857"/>
          <a:ext cx="6051895"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674715055"/>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931327812"/>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934519749"/>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Setting this bit will allow the OPEN event to be detected at the point where the PWM on that channel transitions from On to Off. This event will only be detected when the headroom for that channel is less than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928563338"/>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2356941242"/>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4151305400"/>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21496477"/>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LEVEL3/2/1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278744927"/>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41852551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pic>
        <p:nvPicPr>
          <p:cNvPr id="4" name="그림 3" descr="텍스트, 폰트, 스크린샷이(가) 표시된 사진&#10;&#10;AI 생성 콘텐츠는 정확하지 않을 수 있습니다.">
            <a:extLst>
              <a:ext uri="{FF2B5EF4-FFF2-40B4-BE49-F238E27FC236}">
                <a16:creationId xmlns:a16="http://schemas.microsoft.com/office/drawing/2014/main" id="{823AC6B9-7A36-3731-F0E7-08BC89E309A9}"/>
              </a:ext>
            </a:extLst>
          </p:cNvPr>
          <p:cNvPicPr>
            <a:picLocks noChangeAspect="1"/>
          </p:cNvPicPr>
          <p:nvPr/>
        </p:nvPicPr>
        <p:blipFill>
          <a:blip r:embed="rId3"/>
          <a:stretch>
            <a:fillRect/>
          </a:stretch>
        </p:blipFill>
        <p:spPr>
          <a:xfrm>
            <a:off x="1075765" y="2319694"/>
            <a:ext cx="5280212" cy="920306"/>
          </a:xfrm>
          <a:prstGeom prst="rect">
            <a:avLst/>
          </a:prstGeom>
        </p:spPr>
      </p:pic>
      <p:pic>
        <p:nvPicPr>
          <p:cNvPr id="6" name="그림 5" descr="텍스트, 스크린샷, 폰트, 번호이(가) 표시된 사진&#10;&#10;AI 생성 콘텐츠는 정확하지 않을 수 있습니다.">
            <a:extLst>
              <a:ext uri="{FF2B5EF4-FFF2-40B4-BE49-F238E27FC236}">
                <a16:creationId xmlns:a16="http://schemas.microsoft.com/office/drawing/2014/main" id="{7EB406E3-EDB0-65D6-51C9-13DC66A6DA64}"/>
              </a:ext>
            </a:extLst>
          </p:cNvPr>
          <p:cNvPicPr>
            <a:picLocks noChangeAspect="1"/>
          </p:cNvPicPr>
          <p:nvPr/>
        </p:nvPicPr>
        <p:blipFill>
          <a:blip r:embed="rId4"/>
          <a:stretch>
            <a:fillRect/>
          </a:stretch>
        </p:blipFill>
        <p:spPr>
          <a:xfrm>
            <a:off x="1100327" y="3271305"/>
            <a:ext cx="4648200" cy="1866900"/>
          </a:xfrm>
          <a:prstGeom prst="rect">
            <a:avLst/>
          </a:prstGeom>
        </p:spPr>
      </p:pic>
    </p:spTree>
    <p:extLst>
      <p:ext uri="{BB962C8B-B14F-4D97-AF65-F5344CB8AC3E}">
        <p14:creationId xmlns:p14="http://schemas.microsoft.com/office/powerpoint/2010/main" val="4294352402"/>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EF8D6D6-7AA3-CF7E-18EB-077CD9DAD2F8}"/>
              </a:ext>
            </a:extLst>
          </p:cNvPr>
          <p:cNvGraphicFramePr>
            <a:graphicFrameLocks noGrp="1"/>
          </p:cNvGraphicFramePr>
          <p:nvPr>
            <p:extLst>
              <p:ext uri="{D42A27DB-BD31-4B8C-83A1-F6EECF244321}">
                <p14:modId xmlns:p14="http://schemas.microsoft.com/office/powerpoint/2010/main" val="3187440062"/>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4547DBF1-4569-7689-F8E8-293FEAC6DE73}"/>
              </a:ext>
            </a:extLst>
          </p:cNvPr>
          <p:cNvGraphicFramePr>
            <a:graphicFrameLocks noGrp="1"/>
          </p:cNvGraphicFramePr>
          <p:nvPr>
            <p:extLst>
              <p:ext uri="{D42A27DB-BD31-4B8C-83A1-F6EECF244321}">
                <p14:modId xmlns:p14="http://schemas.microsoft.com/office/powerpoint/2010/main" val="1222187266"/>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68A2CD42-F248-9D87-E2DC-12E9625A197A}"/>
              </a:ext>
            </a:extLst>
          </p:cNvPr>
          <p:cNvGraphicFramePr>
            <a:graphicFrameLocks noGrp="1"/>
          </p:cNvGraphicFramePr>
          <p:nvPr>
            <p:extLst>
              <p:ext uri="{D42A27DB-BD31-4B8C-83A1-F6EECF244321}">
                <p14:modId xmlns:p14="http://schemas.microsoft.com/office/powerpoint/2010/main" val="32730793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6B7B6CEC-9EAF-318E-576A-08BA667B2AA9}"/>
              </a:ext>
            </a:extLst>
          </p:cNvPr>
          <p:cNvGraphicFramePr>
            <a:graphicFrameLocks noGrp="1"/>
          </p:cNvGraphicFramePr>
          <p:nvPr>
            <p:extLst>
              <p:ext uri="{D42A27DB-BD31-4B8C-83A1-F6EECF244321}">
                <p14:modId xmlns:p14="http://schemas.microsoft.com/office/powerpoint/2010/main" val="3782658382"/>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64CD34D6-5502-D355-C35F-3A07169C488C}"/>
              </a:ext>
            </a:extLst>
          </p:cNvPr>
          <p:cNvGraphicFramePr>
            <a:graphicFrameLocks noGrp="1"/>
          </p:cNvGraphicFramePr>
          <p:nvPr>
            <p:extLst>
              <p:ext uri="{D42A27DB-BD31-4B8C-83A1-F6EECF244321}">
                <p14:modId xmlns:p14="http://schemas.microsoft.com/office/powerpoint/2010/main" val="382832018"/>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F3B597C4-17A7-FCE1-9082-16CDDD4D9254}"/>
              </a:ext>
            </a:extLst>
          </p:cNvPr>
          <p:cNvGraphicFramePr>
            <a:graphicFrameLocks noGrp="1"/>
          </p:cNvGraphicFramePr>
          <p:nvPr>
            <p:extLst>
              <p:ext uri="{D42A27DB-BD31-4B8C-83A1-F6EECF244321}">
                <p14:modId xmlns:p14="http://schemas.microsoft.com/office/powerpoint/2010/main" val="1271380121"/>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1318449871"/>
              </p:ext>
            </p:extLst>
          </p:nvPr>
        </p:nvGraphicFramePr>
        <p:xfrm>
          <a:off x="399387" y="4397052"/>
          <a:ext cx="6048610" cy="174175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XC24R.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XC24R is sending to the daisied XD12R s. So, the proper value depends on the serial baudrate of the XC24R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XC24R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703868123"/>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4052160314"/>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12288218"/>
              </p:ext>
            </p:extLst>
          </p:nvPr>
        </p:nvGraphicFramePr>
        <p:xfrm>
          <a:off x="417695" y="6093062"/>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1041787088"/>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2606854954"/>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190954"/>
            <a:ext cx="4469172"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3"/>
          <a:stretch>
            <a:fillRect/>
          </a:stretch>
        </p:blipFill>
        <p:spPr>
          <a:xfrm>
            <a:off x="351365" y="2263734"/>
            <a:ext cx="6011335" cy="883775"/>
          </a:xfrm>
          <a:prstGeom prst="rect">
            <a:avLst/>
          </a:prstGeom>
        </p:spPr>
      </p:pic>
    </p:spTree>
    <p:extLst>
      <p:ext uri="{BB962C8B-B14F-4D97-AF65-F5344CB8AC3E}">
        <p14:creationId xmlns:p14="http://schemas.microsoft.com/office/powerpoint/2010/main" val="1749379277"/>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12342028"/>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05398074"/>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1344903724"/>
              </p:ext>
            </p:extLst>
          </p:nvPr>
        </p:nvGraphicFramePr>
        <p:xfrm>
          <a:off x="414077" y="1550702"/>
          <a:ext cx="6057234" cy="39130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is used to improve EMI by spreading the SVSYNC signal in 1-mclk unit.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442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493142034"/>
              </p:ext>
            </p:extLst>
          </p:nvPr>
        </p:nvGraphicFramePr>
        <p:xfrm>
          <a:off x="392113" y="6090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4129385919"/>
              </p:ext>
            </p:extLst>
          </p:nvPr>
        </p:nvGraphicFramePr>
        <p:xfrm>
          <a:off x="404984" y="5704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401150955"/>
              </p:ext>
            </p:extLst>
          </p:nvPr>
        </p:nvGraphicFramePr>
        <p:xfrm>
          <a:off x="404812" y="1090806"/>
          <a:ext cx="6048365" cy="37260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974553683"/>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883299375"/>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1764187110"/>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389723">
                  <a:extLst>
                    <a:ext uri="{9D8B030D-6E8A-4147-A177-3AD203B41FA5}">
                      <a16:colId xmlns:a16="http://schemas.microsoft.com/office/drawing/2014/main" val="4213315911"/>
                    </a:ext>
                  </a:extLst>
                </a:gridCol>
                <a:gridCol w="389211">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SPRD_GAIN[2:0]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0901949"/>
              </p:ext>
            </p:extLst>
          </p:nvPr>
        </p:nvGraphicFramePr>
        <p:xfrm>
          <a:off x="395875" y="1734018"/>
          <a:ext cx="6063640" cy="3538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43663239"/>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15769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1131873578"/>
              </p:ext>
            </p:extLst>
          </p:nvPr>
        </p:nvGraphicFramePr>
        <p:xfrm>
          <a:off x="408467" y="842430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extLst>
              <p:ext uri="{D42A27DB-BD31-4B8C-83A1-F6EECF244321}">
                <p14:modId xmlns:p14="http://schemas.microsoft.com/office/powerpoint/2010/main" val="2505574438"/>
              </p:ext>
            </p:extLst>
          </p:nvPr>
        </p:nvGraphicFramePr>
        <p:xfrm>
          <a:off x="415983" y="7573618"/>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218436217"/>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2538652734"/>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8990128"/>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629129117"/>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6059254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032488263"/>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230717669"/>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188258924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398507544"/>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41488442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99698270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28868768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81672026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2686772589"/>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134340210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207419133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79974252"/>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4100916725"/>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037846191"/>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0374792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2655313149"/>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6781498"/>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123554461"/>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75305747"/>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72956916"/>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133073760"/>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661640727"/>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485536487"/>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sp>
        <p:nvSpPr>
          <p:cNvPr id="6" name="object 3">
            <a:extLst>
              <a:ext uri="{FF2B5EF4-FFF2-40B4-BE49-F238E27FC236}">
                <a16:creationId xmlns:a16="http://schemas.microsoft.com/office/drawing/2014/main" id="{00880CD7-A534-CAB7-D5AF-BB9F79C36ED0}"/>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1" name="그림 30">
            <a:extLst>
              <a:ext uri="{FF2B5EF4-FFF2-40B4-BE49-F238E27FC236}">
                <a16:creationId xmlns:a16="http://schemas.microsoft.com/office/drawing/2014/main" id="{CE848123-CDDB-148B-28EA-F1DE3BA00A44}"/>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3"/>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grpSp>
        <p:nvGrpSpPr>
          <p:cNvPr id="34" name="그룹 33">
            <a:extLst>
              <a:ext uri="{FF2B5EF4-FFF2-40B4-BE49-F238E27FC236}">
                <a16:creationId xmlns:a16="http://schemas.microsoft.com/office/drawing/2014/main" id="{7412E709-CB2A-AF3A-D540-B8B4E561B6D7}"/>
              </a:ext>
            </a:extLst>
          </p:cNvPr>
          <p:cNvGrpSpPr/>
          <p:nvPr/>
        </p:nvGrpSpPr>
        <p:grpSpPr>
          <a:xfrm>
            <a:off x="3315903" y="1834545"/>
            <a:ext cx="3132000" cy="2399113"/>
            <a:chOff x="3315903" y="1796967"/>
            <a:chExt cx="3132000" cy="2399113"/>
          </a:xfrm>
        </p:grpSpPr>
        <p:pic>
          <p:nvPicPr>
            <p:cNvPr id="35" name="그림 34">
              <a:extLst>
                <a:ext uri="{FF2B5EF4-FFF2-40B4-BE49-F238E27FC236}">
                  <a16:creationId xmlns:a16="http://schemas.microsoft.com/office/drawing/2014/main" id="{9FD05F57-B000-1536-0305-2CF26A7E1507}"/>
                </a:ext>
              </a:extLst>
            </p:cNvPr>
            <p:cNvPicPr>
              <a:picLocks noChangeAspect="1"/>
            </p:cNvPicPr>
            <p:nvPr/>
          </p:nvPicPr>
          <p:blipFill>
            <a:blip r:embed="rId4"/>
            <a:stretch>
              <a:fillRect/>
            </a:stretch>
          </p:blipFill>
          <p:spPr>
            <a:xfrm>
              <a:off x="3315903" y="1796967"/>
              <a:ext cx="3132000" cy="2399113"/>
            </a:xfrm>
            <a:prstGeom prst="rect">
              <a:avLst/>
            </a:prstGeom>
          </p:spPr>
        </p:pic>
        <p:sp>
          <p:nvSpPr>
            <p:cNvPr id="36" name="직사각형 35">
              <a:extLst>
                <a:ext uri="{FF2B5EF4-FFF2-40B4-BE49-F238E27FC236}">
                  <a16:creationId xmlns:a16="http://schemas.microsoft.com/office/drawing/2014/main" id="{36DA337C-4792-15D4-6601-2B9125EAEF7A}"/>
                </a:ext>
              </a:extLst>
            </p:cNvPr>
            <p:cNvSpPr/>
            <p:nvPr/>
          </p:nvSpPr>
          <p:spPr>
            <a:xfrm>
              <a:off x="3334956" y="2185645"/>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43" name="그룹 42">
            <a:extLst>
              <a:ext uri="{FF2B5EF4-FFF2-40B4-BE49-F238E27FC236}">
                <a16:creationId xmlns:a16="http://schemas.microsoft.com/office/drawing/2014/main" id="{EDC1BE9C-278C-BE75-55F6-F3F84C1B49CB}"/>
              </a:ext>
            </a:extLst>
          </p:cNvPr>
          <p:cNvGrpSpPr/>
          <p:nvPr/>
        </p:nvGrpSpPr>
        <p:grpSpPr>
          <a:xfrm>
            <a:off x="413545" y="1321176"/>
            <a:ext cx="4099680" cy="3336424"/>
            <a:chOff x="413545" y="1321176"/>
            <a:chExt cx="4099680" cy="3336424"/>
          </a:xfrm>
        </p:grpSpPr>
        <p:grpSp>
          <p:nvGrpSpPr>
            <p:cNvPr id="15" name="그룹 14">
              <a:extLst>
                <a:ext uri="{FF2B5EF4-FFF2-40B4-BE49-F238E27FC236}">
                  <a16:creationId xmlns:a16="http://schemas.microsoft.com/office/drawing/2014/main" id="{861D8206-6FE4-0857-0DE6-EB5BDA749F8F}"/>
                </a:ext>
              </a:extLst>
            </p:cNvPr>
            <p:cNvGrpSpPr/>
            <p:nvPr/>
          </p:nvGrpSpPr>
          <p:grpSpPr>
            <a:xfrm>
              <a:off x="413545" y="1321176"/>
              <a:ext cx="4099680" cy="3336424"/>
              <a:chOff x="391389" y="1213424"/>
              <a:chExt cx="4099680" cy="3336424"/>
            </a:xfrm>
          </p:grpSpPr>
          <p:pic>
            <p:nvPicPr>
              <p:cNvPr id="37" name="그림 36">
                <a:extLst>
                  <a:ext uri="{FF2B5EF4-FFF2-40B4-BE49-F238E27FC236}">
                    <a16:creationId xmlns:a16="http://schemas.microsoft.com/office/drawing/2014/main" id="{8F29225A-8FE1-7FAF-0CEE-483BD4B6E71D}"/>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38" name="그림 37">
                <a:extLst>
                  <a:ext uri="{FF2B5EF4-FFF2-40B4-BE49-F238E27FC236}">
                    <a16:creationId xmlns:a16="http://schemas.microsoft.com/office/drawing/2014/main" id="{22358404-BB3E-E1A8-932F-37BD12E8BE5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17" name="그룹 16">
              <a:extLst>
                <a:ext uri="{FF2B5EF4-FFF2-40B4-BE49-F238E27FC236}">
                  <a16:creationId xmlns:a16="http://schemas.microsoft.com/office/drawing/2014/main" id="{8B145B3B-9EF0-E8D0-D705-5A9AF6CC4292}"/>
                </a:ext>
              </a:extLst>
            </p:cNvPr>
            <p:cNvGrpSpPr/>
            <p:nvPr/>
          </p:nvGrpSpPr>
          <p:grpSpPr>
            <a:xfrm>
              <a:off x="1490663" y="2286001"/>
              <a:ext cx="1462087" cy="1385887"/>
              <a:chOff x="1243842" y="4325498"/>
              <a:chExt cx="1308858" cy="1237043"/>
            </a:xfrm>
          </p:grpSpPr>
          <p:grpSp>
            <p:nvGrpSpPr>
              <p:cNvPr id="20" name="그룹 19">
                <a:extLst>
                  <a:ext uri="{FF2B5EF4-FFF2-40B4-BE49-F238E27FC236}">
                    <a16:creationId xmlns:a16="http://schemas.microsoft.com/office/drawing/2014/main" id="{21593A2A-95B2-FB41-3748-DEC4AE11C031}"/>
                  </a:ext>
                </a:extLst>
              </p:cNvPr>
              <p:cNvGrpSpPr/>
              <p:nvPr/>
            </p:nvGrpSpPr>
            <p:grpSpPr>
              <a:xfrm>
                <a:off x="1243842" y="4325498"/>
                <a:ext cx="1308858" cy="1237043"/>
                <a:chOff x="1320042" y="3820066"/>
                <a:chExt cx="1308858" cy="1237043"/>
              </a:xfrm>
            </p:grpSpPr>
            <p:grpSp>
              <p:nvGrpSpPr>
                <p:cNvPr id="25" name="그룹 24">
                  <a:extLst>
                    <a:ext uri="{FF2B5EF4-FFF2-40B4-BE49-F238E27FC236}">
                      <a16:creationId xmlns:a16="http://schemas.microsoft.com/office/drawing/2014/main" id="{FD7793CF-F480-B719-EA61-182B48A99050}"/>
                    </a:ext>
                  </a:extLst>
                </p:cNvPr>
                <p:cNvGrpSpPr/>
                <p:nvPr/>
              </p:nvGrpSpPr>
              <p:grpSpPr>
                <a:xfrm>
                  <a:off x="1320042" y="3820066"/>
                  <a:ext cx="1308858" cy="1237043"/>
                  <a:chOff x="1777242" y="3077349"/>
                  <a:chExt cx="1308858" cy="1237043"/>
                </a:xfrm>
              </p:grpSpPr>
              <p:sp>
                <p:nvSpPr>
                  <p:cNvPr id="34" name="직사각형 33">
                    <a:extLst>
                      <a:ext uri="{FF2B5EF4-FFF2-40B4-BE49-F238E27FC236}">
                        <a16:creationId xmlns:a16="http://schemas.microsoft.com/office/drawing/2014/main" id="{D0A28F9E-6DCF-14CF-B160-A03C47193EEA}"/>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5" name="그림 34">
                    <a:extLst>
                      <a:ext uri="{FF2B5EF4-FFF2-40B4-BE49-F238E27FC236}">
                        <a16:creationId xmlns:a16="http://schemas.microsoft.com/office/drawing/2014/main" id="{A119418E-FC8A-7282-C44D-1043A4D92BC5}"/>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36" name="직선 연결선 35">
                    <a:extLst>
                      <a:ext uri="{FF2B5EF4-FFF2-40B4-BE49-F238E27FC236}">
                        <a16:creationId xmlns:a16="http://schemas.microsoft.com/office/drawing/2014/main" id="{AE096F34-B2CE-B3C9-105F-1F1820B5B1FF}"/>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직선 화살표 연결선 25">
                  <a:extLst>
                    <a:ext uri="{FF2B5EF4-FFF2-40B4-BE49-F238E27FC236}">
                      <a16:creationId xmlns:a16="http://schemas.microsoft.com/office/drawing/2014/main" id="{1AEBF095-B47F-EF6B-3606-40846BBD6258}"/>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1F07DF72-A36C-4BD7-F019-4592BCCDE6DF}"/>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7F8F7C51-C8AB-4DA1-B794-A7838941C99A}"/>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29" name="직선 연결선 28">
                  <a:extLst>
                    <a:ext uri="{FF2B5EF4-FFF2-40B4-BE49-F238E27FC236}">
                      <a16:creationId xmlns:a16="http://schemas.microsoft.com/office/drawing/2014/main" id="{2CF90FDF-BEB9-142F-B894-B536A4BD373B}"/>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0" name="직선 연결선 29">
                  <a:extLst>
                    <a:ext uri="{FF2B5EF4-FFF2-40B4-BE49-F238E27FC236}">
                      <a16:creationId xmlns:a16="http://schemas.microsoft.com/office/drawing/2014/main" id="{7EB086AC-FB8A-844F-37CA-28B9CA784D0F}"/>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6312F6F2-2001-8F31-27A4-687CF65FC964}"/>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67C607FD-A224-F518-2601-77CEFA9A57E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909841EE-0BAB-051F-4F33-1C7F09D313C4}"/>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21CC4A99-EC97-F28B-B273-1178DACB9DCC}"/>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2" name="TextBox 21">
                <a:extLst>
                  <a:ext uri="{FF2B5EF4-FFF2-40B4-BE49-F238E27FC236}">
                    <a16:creationId xmlns:a16="http://schemas.microsoft.com/office/drawing/2014/main" id="{776D95CC-D74A-B3F0-6041-9746AC3060F7}"/>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3" name="TextBox 22">
                <a:extLst>
                  <a:ext uri="{FF2B5EF4-FFF2-40B4-BE49-F238E27FC236}">
                    <a16:creationId xmlns:a16="http://schemas.microsoft.com/office/drawing/2014/main" id="{BD230EB6-186D-E7FE-1BBA-C2BAD2AD7731}"/>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24" name="TextBox 23">
                <a:extLst>
                  <a:ext uri="{FF2B5EF4-FFF2-40B4-BE49-F238E27FC236}">
                    <a16:creationId xmlns:a16="http://schemas.microsoft.com/office/drawing/2014/main" id="{535F9D70-B12A-4AA2-584B-5B41B7834A3E}"/>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19" name="직선 화살표 연결선 18">
              <a:extLst>
                <a:ext uri="{FF2B5EF4-FFF2-40B4-BE49-F238E27FC236}">
                  <a16:creationId xmlns:a16="http://schemas.microsoft.com/office/drawing/2014/main" id="{2B3045D5-2112-ABC6-BC78-242C5324E251}"/>
                </a:ext>
              </a:extLst>
            </p:cNvPr>
            <p:cNvCxnSpPr>
              <a:cxnSpLocks/>
            </p:cNvCxnSpPr>
            <p:nvPr/>
          </p:nvCxnSpPr>
          <p:spPr>
            <a:xfrm flipV="1">
              <a:off x="1476375" y="3515805"/>
              <a:ext cx="224356" cy="10369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schemas.microsoft.com/office/infopath/2007/PartnerControls"/>
    <ds:schemaRef ds:uri="http://purl.org/dc/terms/"/>
    <ds:schemaRef ds:uri="http://schemas.microsoft.com/office/2006/documentManagement/types"/>
    <ds:schemaRef ds:uri="http://schemas.microsoft.com/office/2006/metadata/properties"/>
    <ds:schemaRef ds:uri="http://www.w3.org/XML/1998/namespace"/>
    <ds:schemaRef ds:uri="http://purl.org/dc/elements/1.1/"/>
    <ds:schemaRef ds:uri="http://schemas.openxmlformats.org/package/2006/metadata/core-properties"/>
    <ds:schemaRef ds:uri="b68af7c0-9cef-4e12-8243-523fceba86ee"/>
    <ds:schemaRef ds:uri="http://purl.org/dc/dcmitype/"/>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59146</TotalTime>
  <Words>11017</Words>
  <Application>Microsoft Office PowerPoint</Application>
  <PresentationFormat>A4 용지(210x297mm)</PresentationFormat>
  <Paragraphs>3391</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2008</cp:revision>
  <cp:lastPrinted>2026-01-12T04:57:16Z</cp:lastPrinted>
  <dcterms:created xsi:type="dcterms:W3CDTF">2020-06-17T04:27:48Z</dcterms:created>
  <dcterms:modified xsi:type="dcterms:W3CDTF">2026-02-23T04:13:32Z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