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548" r:id="rId3"/>
    <p:sldId id="549" r:id="rId4"/>
    <p:sldId id="537" r:id="rId5"/>
    <p:sldId id="538" r:id="rId6"/>
    <p:sldId id="543" r:id="rId7"/>
    <p:sldId id="554" r:id="rId8"/>
    <p:sldId id="539" r:id="rId9"/>
    <p:sldId id="550" r:id="rId10"/>
    <p:sldId id="535" r:id="rId11"/>
    <p:sldId id="552" r:id="rId12"/>
    <p:sldId id="553" r:id="rId13"/>
    <p:sldId id="555" r:id="rId14"/>
    <p:sldId id="547" r:id="rId15"/>
    <p:sldId id="551" r:id="rId16"/>
  </p:sldIdLst>
  <p:sldSz cx="12192000" cy="6858000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5E55BAA-E778-4D9E-8E7B-161A8380F078}">
          <p14:sldIdLst>
            <p14:sldId id="256"/>
          </p14:sldIdLst>
        </p14:section>
        <p14:section name="제목 없는 구역" id="{A2D38DCB-7601-4C53-BAA7-A7272C8608C1}">
          <p14:sldIdLst>
            <p14:sldId id="548"/>
            <p14:sldId id="549"/>
            <p14:sldId id="537"/>
            <p14:sldId id="538"/>
            <p14:sldId id="543"/>
            <p14:sldId id="554"/>
            <p14:sldId id="539"/>
            <p14:sldId id="550"/>
            <p14:sldId id="535"/>
            <p14:sldId id="552"/>
            <p14:sldId id="553"/>
            <p14:sldId id="555"/>
            <p14:sldId id="547"/>
            <p14:sldId id="5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8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134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50" d="100"/>
          <a:sy n="150" d="100"/>
        </p:scale>
        <p:origin x="1738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2790764-53BA-8E8C-48E9-7C02E7B1CB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7AA493-D2F6-1464-79FF-4F52D23BFC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00FE8-DA16-4310-A798-C8BB96DEB633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DDB875-97B2-F75E-165B-DE5D177EE6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74E59C-F8F1-425D-E3F7-86826F96FC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B0E6-E5AA-445E-8217-7070CA1E76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9654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6A34C-D423-4D55-BB20-4205E9FE39FE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9107E-7DB7-4441-B3C2-D34527397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1082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0432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3034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8661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B664B-F9BB-94DC-204A-EE2662FB4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162F3B-0B73-4408-9CF1-78A8FA072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6F68DF-3C37-24EE-DBCF-DB187238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F794F-1F1B-651E-7396-33F8C8F6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F70D92-9DE6-5AAD-8CFE-859D1CB9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80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B710D-7E32-A5B9-7BB4-2CC892FA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D191AE-71B8-78BD-0B35-B10B7CC0C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3657E6-BBFA-2748-1FF4-68D51AA4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CCF92B-17F4-F8F5-5F70-A80153C40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0320BE-7F00-3D1F-0AD5-FF2F3A69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634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FC23F-5A5C-3CF4-30AB-8D22205A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C9CDCF-5643-D716-08C4-39BE6A0BA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5CC47D-9E20-8DD1-8771-76369CA2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41C119-A08D-9068-3C50-08B02E4A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028F5E-E4C4-CD5D-C2F6-1FDFAD36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65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E393E-1D50-75AB-0978-6D238F3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134173-0952-7319-8120-51D3CF434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1B8AA9-E4A4-4745-4498-BC5CDCD84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499842-7C28-6AFC-7451-1A5B49908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5100BE-4DBB-6F9A-5D73-5DD0F9E6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1FD6A5-49A2-7382-02E0-1AC666F4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2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7FE297-F653-0AF6-1B48-CB63EC00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A10100-3818-F0B4-7E3E-EE82452AE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27A6C0-F607-D1D0-8C98-CEC976A6B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52EB52-EFA7-3BEF-383A-2B7A7CDCD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F8F23F-681B-BFFA-0F28-A53A8B600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049164-C608-8177-801A-92088799B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A278D0-2EBD-0D0C-42CD-08C27583C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9135B3-52A5-5AAE-AB1D-4985B32A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742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BFC65-20E3-3B61-8F81-85E2E700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47C8D3-4F28-8328-0F57-616DFACF1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81D0E3-C3AF-89D4-2CE2-FD193CCE4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A549B1-0D65-6847-07C7-AD658AE7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09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74AB00-90CA-017F-3EC8-F74DF3749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1348CE-44D2-32D4-20F1-98AACBE3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8F0B09-4A22-3151-9A61-2D40A589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380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E238F-D74B-C261-7B9A-E9E65594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10A3EC-BB15-0806-64AD-40A6D8232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AEC65F-924C-A898-C7A8-3CF5C0C6F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C6A25B-A837-21EB-98B6-B6D6F580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95F563-4EE6-335A-154F-3CD11366E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B38FB2-3ACB-4563-4A3A-545B43C1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354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10EA1C-2571-12BF-77DC-24B486504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3EFDBA-F139-2795-73A8-618D5B57D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AF5FC2-CC4D-86DD-8ADA-0569917D2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D9F761-3307-9420-A017-78F991CF1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DDC650-DEB5-3983-6E86-ABAC9C32B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87D22B-C7A8-7F3B-286A-151B8294A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63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35C9-12C8-EC72-B947-9E24C9FD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15B020-F24E-DDC2-F4EE-3D8D88718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95C4E3-BFE9-6E4C-5735-1A12BADA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89EABA-A261-B6E5-3F36-0FECF3657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1C4B01-866F-F2D8-06F6-05C71A5C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336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7D5AC3-907A-DA38-DCD8-52F5D3FFA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8ACB82-F21D-8939-3324-5000CF24C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46E191-55F1-281A-3AD4-887CD80F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8DE24A-E40C-F499-3505-FBC858B2C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E6953D-BA95-B674-35F0-2E0E74E1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861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A2A0E3-0991-436B-8A58-2FA92CE21EA2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Confidential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C7E163-C4EE-4C24-9A05-EA212EAC93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DFFAC23-0B1C-41E0-BDC8-C2E2644CAB67}"/>
              </a:ext>
            </a:extLst>
          </p:cNvPr>
          <p:cNvCxnSpPr/>
          <p:nvPr userDrawn="1"/>
        </p:nvCxnSpPr>
        <p:spPr>
          <a:xfrm>
            <a:off x="186043" y="505408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21AE250-F23E-48C1-98E3-71224BD682CB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AF98D79A-9994-43C1-B0E9-541E28F8D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65314"/>
            <a:ext cx="10515600" cy="44009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30CA2C5-BAFD-4790-B676-DC65D130A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426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82E126-0249-21AB-0480-DD7AE8275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A48B8F-2992-95D0-79EA-98C1264BF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84EF20-9980-6892-1783-0DB74A893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2FC31-4F4E-6C10-4362-56E7400780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A987D-6292-E4E5-153F-97CC2859D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0E711-DC08-4FAD-B959-DF164E9CD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449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43756-78A1-9234-0287-211841525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536950"/>
          </a:xfrm>
        </p:spPr>
        <p:txBody>
          <a:bodyPr>
            <a:normAutofit/>
          </a:bodyPr>
          <a:lstStyle/>
          <a:p>
            <a:r>
              <a:rPr lang="en-US" altLang="ko-KR" dirty="0"/>
              <a:t>XDIC</a:t>
            </a:r>
            <a:r>
              <a:rPr lang="ko-KR" altLang="en-US" dirty="0"/>
              <a:t> </a:t>
            </a:r>
            <a:r>
              <a:rPr lang="en-US" altLang="ko-KR" dirty="0"/>
              <a:t>PWM </a:t>
            </a:r>
            <a:br>
              <a:rPr lang="en-US" altLang="ko-KR" dirty="0"/>
            </a:br>
            <a:r>
              <a:rPr lang="en-US" altLang="ko-KR" dirty="0"/>
              <a:t>Trimming Sequence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sz="4000" dirty="0"/>
              <a:t>(GT1005A5R0)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04201A-E197-AB9D-AC9D-4583B45BE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59313"/>
            <a:ext cx="9144000" cy="1655762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2025. 3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753D4-8B45-76E2-F772-B59AE11A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E711-DC08-4FAD-B959-DF164E9CD703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5514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588DDAE-A1CC-CDA8-E64B-BC6B6F9374F7}"/>
              </a:ext>
            </a:extLst>
          </p:cNvPr>
          <p:cNvSpPr txBox="1"/>
          <p:nvPr/>
        </p:nvSpPr>
        <p:spPr>
          <a:xfrm>
            <a:off x="274320" y="506306"/>
            <a:ext cx="2708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Diagram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878A8905-3DC8-FB5F-8DA7-11DB88E93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5FD79970-6B75-9E58-3397-09F413B3C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412" y="1111775"/>
            <a:ext cx="7115175" cy="481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929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868C8-C34B-6EA0-ACA3-5DB2FBA4C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F13F0EE-4123-888E-C7E8-CFE9DC6D746C}"/>
              </a:ext>
            </a:extLst>
          </p:cNvPr>
          <p:cNvSpPr txBox="1"/>
          <p:nvPr/>
        </p:nvSpPr>
        <p:spPr>
          <a:xfrm>
            <a:off x="274320" y="506306"/>
            <a:ext cx="217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 Interface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55D85EE2-CBBC-0D3E-AB39-C41C67640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C51A37-3064-44A4-5533-7A6E000D7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240" y="1481192"/>
            <a:ext cx="4069520" cy="10421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CD666FC-83ED-6A1D-E4CD-0695F6388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735" y="3052257"/>
            <a:ext cx="7307749" cy="314851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BBC8D7C-042A-6010-E473-069EC5C41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1464" y="1137117"/>
            <a:ext cx="3608290" cy="15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21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19" y="512021"/>
            <a:ext cx="597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Serializer/De-serializer Protocol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DC5B3B-7383-2383-3550-25DF44F93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1E6BD9-8BBC-DDAB-039C-58CD73A652DC}"/>
              </a:ext>
            </a:extLst>
          </p:cNvPr>
          <p:cNvSpPr txBox="1"/>
          <p:nvPr/>
        </p:nvSpPr>
        <p:spPr>
          <a:xfrm>
            <a:off x="1642108" y="5578670"/>
            <a:ext cx="32365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Support</a:t>
            </a:r>
            <a:r>
              <a:rPr lang="ko-KR" altLang="en-US" sz="1200" dirty="0"/>
              <a:t> </a:t>
            </a:r>
            <a:r>
              <a:rPr lang="en-US" altLang="ko-KR" sz="1200" dirty="0" err="1"/>
              <a:t>ld</a:t>
            </a:r>
            <a:r>
              <a:rPr lang="en-US" altLang="ko-KR" sz="1200" dirty="0"/>
              <a:t> transfer @id_width=’11’ only</a:t>
            </a:r>
            <a:endParaRPr lang="ko-KR" alt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3D6292-ADE7-4CFE-7BFC-F5BBB6A44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761" y="1140830"/>
            <a:ext cx="8728478" cy="433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51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20" y="512021"/>
            <a:ext cx="5932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Serializer/De-serializer Protocol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A42E67F-55A0-E79E-DC8B-634F84ACD0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32" b="75541"/>
          <a:stretch/>
        </p:blipFill>
        <p:spPr>
          <a:xfrm>
            <a:off x="209549" y="4989194"/>
            <a:ext cx="5661661" cy="132961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07CB1E7-7960-DF40-E271-D43367B281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32" t="71873" b="4916"/>
          <a:stretch/>
        </p:blipFill>
        <p:spPr>
          <a:xfrm>
            <a:off x="6320790" y="5057041"/>
            <a:ext cx="5661661" cy="1261768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014AD9B0-5515-BCF6-3321-0D15F96035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32" t="34101" b="40358"/>
          <a:stretch/>
        </p:blipFill>
        <p:spPr>
          <a:xfrm>
            <a:off x="6320789" y="3313646"/>
            <a:ext cx="5661661" cy="138839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BE18EB73-D4D9-FDCD-12AB-9863C6BAA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165" y="1612546"/>
            <a:ext cx="9329530" cy="1228136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8A6125-1A0B-47BA-0EBC-E5B087F729A2}"/>
              </a:ext>
            </a:extLst>
          </p:cNvPr>
          <p:cNvGrpSpPr>
            <a:grpSpLocks noChangeAspect="1"/>
          </p:cNvGrpSpPr>
          <p:nvPr/>
        </p:nvGrpSpPr>
        <p:grpSpPr>
          <a:xfrm>
            <a:off x="1264919" y="3392664"/>
            <a:ext cx="3550920" cy="1044548"/>
            <a:chOff x="0" y="0"/>
            <a:chExt cx="4381501" cy="1366448"/>
          </a:xfrm>
        </p:grpSpPr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323259B2-1841-6939-3453-116D7E3BEB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3840480" cy="170853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DA40CAF1-C6BD-1CEF-8BF6-B22ADE9456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21312"/>
            <a:stretch/>
          </p:blipFill>
          <p:spPr>
            <a:xfrm>
              <a:off x="1" y="213360"/>
              <a:ext cx="4381500" cy="1153088"/>
            </a:xfrm>
            <a:prstGeom prst="rect">
              <a:avLst/>
            </a:prstGeom>
          </p:spPr>
        </p:pic>
      </p:grpSp>
      <p:sp>
        <p:nvSpPr>
          <p:cNvPr id="38" name="슬라이드 번호 개체 틀 37">
            <a:extLst>
              <a:ext uri="{FF2B5EF4-FFF2-40B4-BE49-F238E27FC236}">
                <a16:creationId xmlns:a16="http://schemas.microsoft.com/office/drawing/2014/main" id="{E91F7C9F-E631-0732-DE07-39038C256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02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20" y="506306"/>
            <a:ext cx="5932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Serializer/De-serializer Protocol</a:t>
            </a:r>
            <a:endParaRPr lang="ko-KR" altLang="en-US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BE18EB73-D4D9-FDCD-12AB-9863C6BAA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165" y="1612546"/>
            <a:ext cx="9329530" cy="1228136"/>
          </a:xfrm>
          <a:prstGeom prst="rect">
            <a:avLst/>
          </a:prstGeom>
        </p:spPr>
      </p:pic>
      <p:sp>
        <p:nvSpPr>
          <p:cNvPr id="38" name="슬라이드 번호 개체 틀 37">
            <a:extLst>
              <a:ext uri="{FF2B5EF4-FFF2-40B4-BE49-F238E27FC236}">
                <a16:creationId xmlns:a16="http://schemas.microsoft.com/office/drawing/2014/main" id="{E91F7C9F-E631-0732-DE07-39038C256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F246148-F866-8C01-D7A0-2C3D93D23FE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8101"/>
          <a:stretch/>
        </p:blipFill>
        <p:spPr>
          <a:xfrm>
            <a:off x="660433" y="3174282"/>
            <a:ext cx="5013756" cy="132278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B99EBF5-65B2-6154-55A8-85BC7BA784D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6303"/>
          <a:stretch/>
        </p:blipFill>
        <p:spPr>
          <a:xfrm>
            <a:off x="6328281" y="3283275"/>
            <a:ext cx="3196506" cy="132278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5FF265E-331A-B7F3-7A2A-4B1ADE4C55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281" y="4876072"/>
            <a:ext cx="5525345" cy="138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622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20" y="654896"/>
            <a:ext cx="468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External VSYNC and Daisy Feedback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395D64-68B6-7FF0-176E-44052060D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4CF28EB9-BBEB-91C2-9425-F56FE20DF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57374"/>
            <a:ext cx="5667973" cy="384048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D407519-466F-A60A-8301-34AC1CE8B205}"/>
              </a:ext>
            </a:extLst>
          </p:cNvPr>
          <p:cNvSpPr txBox="1"/>
          <p:nvPr/>
        </p:nvSpPr>
        <p:spPr>
          <a:xfrm>
            <a:off x="6096000" y="1857374"/>
            <a:ext cx="580485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600" dirty="0"/>
              <a:t>PAD mode setting (IO_MODE[1:0])</a:t>
            </a:r>
          </a:p>
          <a:p>
            <a:pPr marL="171450" indent="-171450">
              <a:buFontTx/>
              <a:buChar char="-"/>
            </a:pPr>
            <a:endParaRPr lang="en-US" altLang="ko-KR" sz="1600" dirty="0"/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2’b00 : NOP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2’b01 : VSYNC mode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/>
              <a:t>             VSYNCI (FBO_VSI) / VSYNCO (FBI_VSO)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400" strike="sngStrike" dirty="0">
                <a:solidFill>
                  <a:srgbClr val="FF0000"/>
                </a:solidFill>
              </a:rPr>
              <a:t>2’b10</a:t>
            </a:r>
            <a:r>
              <a:rPr lang="en-US" altLang="ko-KR" sz="1400" dirty="0">
                <a:solidFill>
                  <a:srgbClr val="FF0000"/>
                </a:solidFill>
              </a:rPr>
              <a:t> : </a:t>
            </a:r>
            <a:r>
              <a:rPr lang="en-US" altLang="ko-KR" sz="1400" strike="sngStrike" dirty="0">
                <a:solidFill>
                  <a:srgbClr val="FF0000"/>
                </a:solidFill>
              </a:rPr>
              <a:t>FB mode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/>
              <a:t>             </a:t>
            </a:r>
            <a:r>
              <a:rPr lang="en-US" altLang="ko-KR" sz="1400" strike="sngStrike" dirty="0">
                <a:solidFill>
                  <a:srgbClr val="FF0000"/>
                </a:solidFill>
              </a:rPr>
              <a:t>FBO (FBO_VSI) / FBI (FBI_VSO)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2’b11 : FBO_VSYNCI mode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/>
              <a:t>             FBO (FBO_VSI) / VSYNCI(FBI_VSO)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4065675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74320" y="506306"/>
            <a:ext cx="1811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Local Dimming</a:t>
            </a:r>
          </a:p>
          <a:p>
            <a:r>
              <a:rPr lang="en-US" altLang="ko-KR" sz="1400" dirty="0"/>
              <a:t>Tail-lightening</a:t>
            </a:r>
            <a:endParaRPr lang="ko-KR" altLang="en-US" sz="1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395D64-68B6-7FF0-176E-44052060D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9D09934-30AD-D303-ED58-3A27DA1F5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970" y="959212"/>
            <a:ext cx="8711071" cy="524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16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4B90A-1680-386D-0CBD-F2A32E2AC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667DCAA-308B-2430-64B8-D503B37D88A5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OTP</a:t>
            </a:r>
            <a:r>
              <a:rPr lang="ko-KR" altLang="en-US" dirty="0"/>
              <a:t> </a:t>
            </a:r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334BF372-9BBA-6ED9-D2BC-2E525BDE1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CD416A-7F86-C101-3D6B-4ADA9FF17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43" y="1548765"/>
            <a:ext cx="7717120" cy="403555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6631606-D0C8-E3AE-7B18-3FA9BE5CE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2484" y="1548765"/>
            <a:ext cx="4139273" cy="323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297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588DDAE-A1CC-CDA8-E64B-BC6B6F9374F7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OTP</a:t>
            </a:r>
            <a:r>
              <a:rPr lang="ko-KR" altLang="en-US" dirty="0"/>
              <a:t> </a:t>
            </a:r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878A8905-3DC8-FB5F-8DA7-11DB88E93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3A036B-6375-E900-9B61-865883502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70" y="1584884"/>
            <a:ext cx="11972260" cy="381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75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F99BF-765F-0DDA-46D4-F5F03484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AF97A06-1F72-4EA3-2D3B-71E0B79BB7E9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OTP</a:t>
            </a:r>
            <a:r>
              <a:rPr lang="ko-KR" altLang="en-US" dirty="0"/>
              <a:t> </a:t>
            </a:r>
            <a:r>
              <a:rPr lang="en-US" altLang="ko-KR" dirty="0"/>
              <a:t>Trimming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5EBDBC35-3190-20CA-C028-7E7314030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68BB2A-EDF2-42B4-D92D-30965B932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69827"/>
            <a:ext cx="5804854" cy="3621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F37546-A29A-9A98-929F-70F27953FE64}"/>
              </a:ext>
            </a:extLst>
          </p:cNvPr>
          <p:cNvSpPr txBox="1"/>
          <p:nvPr/>
        </p:nvSpPr>
        <p:spPr>
          <a:xfrm>
            <a:off x="66675" y="1452433"/>
            <a:ext cx="58048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100" dirty="0"/>
              <a:t>If (</a:t>
            </a:r>
            <a:r>
              <a:rPr lang="en-US" altLang="ko-KR" sz="1100" dirty="0">
                <a:solidFill>
                  <a:srgbClr val="0070C0"/>
                </a:solidFill>
              </a:rPr>
              <a:t>TEST_EN</a:t>
            </a:r>
            <a:r>
              <a:rPr lang="ko-KR" altLang="en-US" sz="1100" dirty="0">
                <a:solidFill>
                  <a:srgbClr val="0070C0"/>
                </a:solidFill>
              </a:rPr>
              <a:t> </a:t>
            </a:r>
            <a:r>
              <a:rPr lang="en-US" altLang="ko-KR" sz="1100" dirty="0">
                <a:solidFill>
                  <a:srgbClr val="0070C0"/>
                </a:solidFill>
              </a:rPr>
              <a:t>== 1 </a:t>
            </a:r>
            <a:r>
              <a:rPr lang="en-US" altLang="ko-KR" sz="1100" dirty="0"/>
              <a:t>&amp;&amp; </a:t>
            </a:r>
            <a:r>
              <a:rPr lang="en-US" altLang="ko-KR" sz="1100" dirty="0">
                <a:solidFill>
                  <a:srgbClr val="0070C0"/>
                </a:solidFill>
              </a:rPr>
              <a:t>PWM_FULL_O ==1 </a:t>
            </a:r>
            <a:r>
              <a:rPr lang="en-US" altLang="ko-KR" sz="1100" dirty="0"/>
              <a:t>&amp;&amp;</a:t>
            </a:r>
            <a:r>
              <a:rPr lang="en-US" altLang="ko-KR" sz="1100" dirty="0">
                <a:solidFill>
                  <a:srgbClr val="0070C0"/>
                </a:solidFill>
              </a:rPr>
              <a:t> </a:t>
            </a:r>
            <a:r>
              <a:rPr lang="en-US" altLang="ko-KR" sz="1100" dirty="0" err="1">
                <a:solidFill>
                  <a:srgbClr val="0070C0"/>
                </a:solidFill>
              </a:rPr>
              <a:t>CHx_EN</a:t>
            </a:r>
            <a:r>
              <a:rPr lang="en-US" altLang="ko-KR" sz="1100" dirty="0">
                <a:solidFill>
                  <a:srgbClr val="0070C0"/>
                </a:solidFill>
              </a:rPr>
              <a:t> == 1</a:t>
            </a:r>
            <a:r>
              <a:rPr lang="en-US" altLang="ko-KR" sz="1100" dirty="0"/>
              <a:t>), </a:t>
            </a:r>
            <a:r>
              <a:rPr lang="en-US" altLang="ko-KR" sz="1100" dirty="0" err="1"/>
              <a:t>O_PWM_CHx</a:t>
            </a:r>
            <a:r>
              <a:rPr lang="en-US" altLang="ko-KR" sz="1100" dirty="0"/>
              <a:t> == 1</a:t>
            </a:r>
          </a:p>
          <a:p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en-US" altLang="ko-KR" sz="1100" dirty="0"/>
              <a:t>If (</a:t>
            </a:r>
            <a:r>
              <a:rPr lang="en-US" altLang="ko-KR" sz="1100" dirty="0">
                <a:solidFill>
                  <a:srgbClr val="0070C0"/>
                </a:solidFill>
              </a:rPr>
              <a:t>TEST_EN == 1 </a:t>
            </a:r>
            <a:r>
              <a:rPr lang="en-US" altLang="ko-KR" sz="1100" dirty="0"/>
              <a:t>&amp;&amp; </a:t>
            </a:r>
            <a:r>
              <a:rPr lang="en-US" altLang="ko-KR" sz="1100" dirty="0">
                <a:solidFill>
                  <a:srgbClr val="0070C0"/>
                </a:solidFill>
              </a:rPr>
              <a:t>VREF_O == 1</a:t>
            </a:r>
            <a:r>
              <a:rPr lang="en-US" altLang="ko-KR" sz="1100" dirty="0"/>
              <a:t>), O_MAX_CURR_VREF == MAX_CURR_VREF</a:t>
            </a:r>
          </a:p>
          <a:p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en-US" altLang="ko-KR" sz="1100" dirty="0"/>
              <a:t>When TEST_EN == 1, No OTP Read operation.</a:t>
            </a:r>
          </a:p>
          <a:p>
            <a:pPr marL="171450" indent="-171450">
              <a:buFontTx/>
              <a:buChar char="-"/>
            </a:pPr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en-US" altLang="ko-KR" sz="1100" dirty="0"/>
              <a:t>When trimming, keep the CONTROL, FPWM_DIV, and MCLK_LOCK1/2 register at default value without any changes.</a:t>
            </a:r>
          </a:p>
        </p:txBody>
      </p:sp>
    </p:spTree>
    <p:extLst>
      <p:ext uri="{BB962C8B-B14F-4D97-AF65-F5344CB8AC3E}">
        <p14:creationId xmlns:p14="http://schemas.microsoft.com/office/powerpoint/2010/main" val="1614560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43DD3-2B75-0EE4-FA03-1376D615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5DAEB33-894C-944B-8096-43B9B958AA2D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OTP</a:t>
            </a:r>
            <a:r>
              <a:rPr lang="ko-KR" altLang="en-US" dirty="0"/>
              <a:t> </a:t>
            </a:r>
            <a:r>
              <a:rPr lang="en-US" altLang="ko-KR" dirty="0"/>
              <a:t>Trimming Signal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30CF33ED-EC5E-94E7-1F7F-4BDC104BD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CE3C7AC-9913-A2AF-77BF-F1C12CFAA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767" y="953040"/>
            <a:ext cx="6796465" cy="538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9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94B50-13AC-CB44-EC1F-249AB1133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149543A-9BDA-3D6F-18E3-701375782602}"/>
              </a:ext>
            </a:extLst>
          </p:cNvPr>
          <p:cNvSpPr txBox="1"/>
          <p:nvPr/>
        </p:nvSpPr>
        <p:spPr>
          <a:xfrm>
            <a:off x="274320" y="506306"/>
            <a:ext cx="384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OTP</a:t>
            </a:r>
            <a:r>
              <a:rPr lang="ko-KR" altLang="en-US" dirty="0"/>
              <a:t> </a:t>
            </a:r>
            <a:r>
              <a:rPr lang="en-US" altLang="ko-KR" dirty="0"/>
              <a:t>Write Sequence</a:t>
            </a:r>
            <a:endParaRPr lang="ko-KR" altLang="en-US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D3479A9C-CD59-579F-0E8F-0371AEC31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EC63C70-C603-9DE2-B749-B85252966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9314" y="540858"/>
            <a:ext cx="4420686" cy="57762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D67FF5-32CF-6455-5103-29F3F8E57401}"/>
              </a:ext>
            </a:extLst>
          </p:cNvPr>
          <p:cNvSpPr txBox="1"/>
          <p:nvPr/>
        </p:nvSpPr>
        <p:spPr>
          <a:xfrm>
            <a:off x="274320" y="1275268"/>
            <a:ext cx="580485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400" dirty="0"/>
              <a:t>Before setting the OTP_PG_S field of 0x3D address to ‘1’,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set the appropriate value in the register from 0x01 to 0x26 address.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If the OTP_PG_S field is set to ‘1’, data from 0x01 to 0x26 address is written to the OTP.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171450" indent="-171450">
              <a:buFontTx/>
              <a:buChar char="-"/>
            </a:pPr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en-US" altLang="ko-KR" sz="1400"/>
              <a:t>To set the </a:t>
            </a:r>
            <a:r>
              <a:rPr lang="en-US" altLang="ko-KR" sz="1400" dirty="0"/>
              <a:t>register from 0x01 to 0x26 address,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the OTP_PROTECT register of 0x3E address should be set to “0xA5A” and the ADDR_EXT field of the 0x3F address should be set ‘1’.</a:t>
            </a:r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628650" lvl="1" indent="-171450">
              <a:buFontTx/>
              <a:buChar char="-"/>
            </a:pPr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en-US" altLang="ko-KR" sz="1400" dirty="0"/>
              <a:t>It is recommended that the OTP_ACCESS1, OTP_ACCESS2, and OTP_WRITE registers use default values.</a:t>
            </a:r>
          </a:p>
          <a:p>
            <a:pPr marL="171450" indent="-171450">
              <a:buFontTx/>
              <a:buChar char="-"/>
            </a:pPr>
            <a:endParaRPr lang="en-US" altLang="ko-KR" sz="1400" dirty="0"/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0x3A : OTP_PG_ACCESS_CYCLE[15:12] = 0</a:t>
            </a:r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0x3B : OTP_PG_ACCESS_CYCLE[11:0] = 0x3FF (decimal 1023)</a:t>
            </a:r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0x3C : OTP_WSEL[3:0] = 0x4</a:t>
            </a:r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…</a:t>
            </a:r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…</a:t>
            </a:r>
          </a:p>
          <a:p>
            <a:pPr marL="628650" lvl="1" indent="-171450">
              <a:buFontTx/>
              <a:buChar char="-"/>
            </a:pPr>
            <a:r>
              <a:rPr lang="en-US" altLang="ko-KR" sz="1100" dirty="0"/>
              <a:t>0x3D : OTP_PG_S = 1 (OTP write)</a:t>
            </a:r>
          </a:p>
          <a:p>
            <a:pPr marL="171450" indent="-171450">
              <a:buFontTx/>
              <a:buChar char="-"/>
            </a:pP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722032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5BEB7DA-0C2B-1736-01E3-FB2FC337B3A5}"/>
              </a:ext>
            </a:extLst>
          </p:cNvPr>
          <p:cNvSpPr txBox="1"/>
          <p:nvPr/>
        </p:nvSpPr>
        <p:spPr>
          <a:xfrm>
            <a:off x="291465" y="508435"/>
            <a:ext cx="2417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Register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395D64-68B6-7FF0-176E-44052060D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7E4DA56-BB2D-4A97-9826-1C97B01E7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895" y="508435"/>
            <a:ext cx="8343978" cy="584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710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3A1C8-AD0D-8EFA-BB78-B6827C975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07072E8-C40F-BC3B-7F99-D5DA54628928}"/>
              </a:ext>
            </a:extLst>
          </p:cNvPr>
          <p:cNvSpPr txBox="1"/>
          <p:nvPr/>
        </p:nvSpPr>
        <p:spPr>
          <a:xfrm>
            <a:off x="291465" y="508435"/>
            <a:ext cx="2417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Register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D0D147-FC7C-FA2B-82FF-D6C584039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46B62A-484E-EC64-5B01-EE7EB6740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87" y="525580"/>
            <a:ext cx="10070214" cy="492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53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9505</TotalTime>
  <Words>415</Words>
  <Application>Microsoft Office PowerPoint</Application>
  <PresentationFormat>와이드스크린</PresentationFormat>
  <Paragraphs>71</Paragraphs>
  <Slides>15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XDIC PWM  Trimming Sequence  (GT1005A5R0)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 관식</dc:creator>
  <cp:lastModifiedBy>Tom Cho</cp:lastModifiedBy>
  <cp:revision>32</cp:revision>
  <dcterms:created xsi:type="dcterms:W3CDTF">2024-06-18T04:48:30Z</dcterms:created>
  <dcterms:modified xsi:type="dcterms:W3CDTF">2025-03-20T01:49:05Z</dcterms:modified>
</cp:coreProperties>
</file>