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0"/>
  </p:notesMasterIdLst>
  <p:handoutMasterIdLst>
    <p:handoutMasterId r:id="rId31"/>
  </p:handoutMasterIdLst>
  <p:sldIdLst>
    <p:sldId id="266" r:id="rId5"/>
    <p:sldId id="385" r:id="rId6"/>
    <p:sldId id="277" r:id="rId7"/>
    <p:sldId id="278" r:id="rId8"/>
    <p:sldId id="279" r:id="rId9"/>
    <p:sldId id="420" r:id="rId10"/>
    <p:sldId id="276" r:id="rId11"/>
    <p:sldId id="417" r:id="rId12"/>
    <p:sldId id="418" r:id="rId13"/>
    <p:sldId id="287" r:id="rId14"/>
    <p:sldId id="419" r:id="rId15"/>
    <p:sldId id="293" r:id="rId16"/>
    <p:sldId id="330" r:id="rId17"/>
    <p:sldId id="407" r:id="rId18"/>
    <p:sldId id="412" r:id="rId19"/>
    <p:sldId id="414" r:id="rId20"/>
    <p:sldId id="353" r:id="rId21"/>
    <p:sldId id="409" r:id="rId22"/>
    <p:sldId id="422" r:id="rId23"/>
    <p:sldId id="415" r:id="rId24"/>
    <p:sldId id="410" r:id="rId25"/>
    <p:sldId id="416" r:id="rId26"/>
    <p:sldId id="413" r:id="rId27"/>
    <p:sldId id="421" r:id="rId28"/>
    <p:sldId id="348" r:id="rId29"/>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 userDrawn="1">
          <p15:clr>
            <a:srgbClr val="A4A3A4"/>
          </p15:clr>
        </p15:guide>
        <p15:guide id="4" orient="horz" pos="5910" userDrawn="1">
          <p15:clr>
            <a:srgbClr val="A4A3A4"/>
          </p15:clr>
        </p15:guide>
        <p15:guide id="5" pos="4110" userDrawn="1">
          <p15:clr>
            <a:srgbClr val="A4A3A4"/>
          </p15:clr>
        </p15:guide>
        <p15:guide id="9" orient="horz" pos="2689" userDrawn="1">
          <p15:clr>
            <a:srgbClr val="A4A3A4"/>
          </p15:clr>
        </p15:guide>
        <p15:guide id="10" pos="255" userDrawn="1">
          <p15:clr>
            <a:srgbClr val="A4A3A4"/>
          </p15:clr>
        </p15:guide>
        <p15:guide id="12" pos="580" userDrawn="1">
          <p15:clr>
            <a:srgbClr val="A4A3A4"/>
          </p15:clr>
        </p15:guide>
        <p15:guide id="13" pos="1988" userDrawn="1">
          <p15:clr>
            <a:srgbClr val="A4A3A4"/>
          </p15:clr>
        </p15:guide>
        <p15:guide id="14" pos="2511" userDrawn="1">
          <p15:clr>
            <a:srgbClr val="A4A3A4"/>
          </p15:clr>
        </p15:guide>
        <p15:guide id="15" pos="3906" userDrawn="1">
          <p15:clr>
            <a:srgbClr val="A4A3A4"/>
          </p15:clr>
        </p15:guide>
        <p15:guide id="16" orient="horz" pos="943" userDrawn="1">
          <p15:clr>
            <a:srgbClr val="A4A3A4"/>
          </p15:clr>
        </p15:guide>
        <p15:guide id="17" orient="horz" pos="2054" userDrawn="1">
          <p15:clr>
            <a:srgbClr val="A4A3A4"/>
          </p15:clr>
        </p15:guide>
        <p15:guide id="18" orient="horz" pos="3800" userDrawn="1">
          <p15:clr>
            <a:srgbClr val="A4A3A4"/>
          </p15:clr>
        </p15:guide>
        <p15:guide id="19" orient="horz" pos="4390" userDrawn="1">
          <p15:clr>
            <a:srgbClr val="A4A3A4"/>
          </p15:clr>
        </p15:guide>
        <p15:guide id="20" orient="horz" pos="5568" userDrawn="1">
          <p15:clr>
            <a:srgbClr val="A4A3A4"/>
          </p15:clr>
        </p15:guide>
        <p15:guide id="21" orient="horz" pos="1419" userDrawn="1">
          <p15:clr>
            <a:srgbClr val="A4A3A4"/>
          </p15:clr>
        </p15:guide>
        <p15:guide id="22" orient="horz" pos="1056" userDrawn="1">
          <p15:clr>
            <a:srgbClr val="A4A3A4"/>
          </p15:clr>
        </p15:guide>
        <p15:guide id="23" orient="horz" pos="7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FFCC"/>
    <a:srgbClr val="0033CC"/>
    <a:srgbClr val="CCFFFF"/>
    <a:srgbClr val="EAFAEA"/>
    <a:srgbClr val="C7F1C7"/>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90" autoAdjust="0"/>
    <p:restoredTop sz="97202" autoAdjust="0"/>
  </p:normalViewPr>
  <p:slideViewPr>
    <p:cSldViewPr snapToGrid="0">
      <p:cViewPr>
        <p:scale>
          <a:sx n="120" d="100"/>
          <a:sy n="120" d="100"/>
        </p:scale>
        <p:origin x="2712" y="56"/>
      </p:cViewPr>
      <p:guideLst>
        <p:guide orient="horz" pos="240"/>
        <p:guide orient="horz" pos="5910"/>
        <p:guide pos="4110"/>
        <p:guide orient="horz" pos="2689"/>
        <p:guide pos="255"/>
        <p:guide pos="580"/>
        <p:guide pos="1988"/>
        <p:guide pos="2511"/>
        <p:guide pos="3906"/>
        <p:guide orient="horz" pos="943"/>
        <p:guide orient="horz" pos="2054"/>
        <p:guide orient="horz" pos="3800"/>
        <p:guide orient="horz" pos="4390"/>
        <p:guide orient="horz" pos="5568"/>
        <p:guide orient="horz" pos="1419"/>
        <p:guide orient="horz" pos="1056"/>
        <p:guide orient="horz" pos="71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096" y="11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2024-07-18</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2024-07-18</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XD12</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2024-07-18</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2024-07-18</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2024-07-18</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2024-07-18</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2024-07-18</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2024-07-18</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2024-07-18</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2024-07-18</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2024-07-18</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2024-07-18</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glbltech.com/"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ko-KR" altLang="en-US" dirty="0"/>
              <a:t>마스터 제목 스타일 편집</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endParaRPr lang="en-US" dirty="0"/>
          </a:p>
        </p:txBody>
      </p:sp>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8" name="Holder 3">
            <a:extLst>
              <a:ext uri="{FF2B5EF4-FFF2-40B4-BE49-F238E27FC236}">
                <a16:creationId xmlns:a16="http://schemas.microsoft.com/office/drawing/2014/main" id="{6BF93B49-FDDE-2321-C095-72F2E088D705}"/>
              </a:ext>
            </a:extLst>
          </p:cNvPr>
          <p:cNvSpPr txBox="1">
            <a:spLocks/>
          </p:cNvSpPr>
          <p:nvPr userDrawn="1"/>
        </p:nvSpPr>
        <p:spPr>
          <a:xfrm>
            <a:off x="5111638" y="302983"/>
            <a:ext cx="1417608" cy="271293"/>
          </a:xfrm>
          <a:prstGeom prst="rect">
            <a:avLst/>
          </a:prstGeom>
        </p:spPr>
        <p:txBody>
          <a:bodyPr wrap="square" lIns="0" tIns="0" rIns="0" bIns="0">
            <a:spAutoFit/>
          </a:bodyPr>
          <a:lstStyle>
            <a:lvl1pPr marL="0">
              <a:defRPr>
                <a:solidFill>
                  <a:srgbClr val="FF99FF"/>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895327" fontAlgn="auto" latinLnBrk="0">
              <a:spcBef>
                <a:spcPts val="0"/>
              </a:spcBef>
              <a:spcAft>
                <a:spcPts val="0"/>
              </a:spcAft>
            </a:pPr>
            <a:r>
              <a:rPr kumimoji="0" lang="en-US" sz="1763" kern="0" dirty="0">
                <a:latin typeface="Calibri"/>
              </a:rPr>
              <a:t>&lt;Preliminary&gt;</a:t>
            </a:r>
          </a:p>
        </p:txBody>
      </p:sp>
      <p:sp>
        <p:nvSpPr>
          <p:cNvPr id="9" name="슬라이드 번호 개체 틀 3">
            <a:hlinkClick r:id="rId15"/>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1977867" cy="162903"/>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19. July. 2024  Rev. 02</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025922"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284148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6" y="3911154"/>
            <a:ext cx="3842208" cy="1384995"/>
          </a:xfrm>
          <a:prstGeom prst="rect">
            <a:avLst/>
          </a:prstGeom>
          <a:noFill/>
        </p:spPr>
        <p:txBody>
          <a:bodyPr wrap="square" lIns="0" tIns="0" rIns="0" bIns="0" rtlCol="0">
            <a:spAutoFit/>
          </a:bodyPr>
          <a:lstStyle/>
          <a:p>
            <a:pPr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 is a compact </a:t>
            </a:r>
            <a:r>
              <a:rPr lang="en-US" altLang="ko-KR" sz="1000" dirty="0">
                <a:latin typeface="Arial" panose="020B0604020202020204" pitchFamily="34" charset="0"/>
                <a:ea typeface="Arial" panose="020B0604020202020204" pitchFamily="34" charset="0"/>
                <a:cs typeface="Arial" panose="020B0604020202020204" pitchFamily="34" charset="0"/>
              </a:rPr>
              <a:t>IC featuring 12-channel current sink control drivers optimized for LED lighting solution.  The XD12 driver is used together with a XC24 controller as a companion chip.  A lot of the  XD12 drivers can be daisied each other to the XC24 channels and controlled through a serial interface by a XC24 controller.</a:t>
            </a:r>
          </a:p>
          <a:p>
            <a:pPr algn="just"/>
            <a:endParaRPr lang="en-US" altLang="ko-KR" sz="1000" dirty="0">
              <a:effectLst/>
              <a:latin typeface="Arial" panose="020B0604020202020204" pitchFamily="34" charset="0"/>
              <a:ea typeface="Arial" panose="020B0604020202020204" pitchFamily="34" charset="0"/>
              <a:cs typeface="Arial" panose="020B0604020202020204" pitchFamily="34" charset="0"/>
            </a:endParaRPr>
          </a:p>
          <a:p>
            <a:pPr algn="just"/>
            <a:r>
              <a:rPr lang="en-US" altLang="ko-KR" sz="1000" dirty="0">
                <a:latin typeface="Arial" panose="020B0604020202020204" pitchFamily="34" charset="0"/>
                <a:cs typeface="Arial" panose="020B0604020202020204" pitchFamily="34" charset="0"/>
              </a:rPr>
              <a:t>The XD12 supports a feedback control for the LED power efficiency, and self-protection features like as a thermal protection and a LED Open/Short fault monitoring.</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 control</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73834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Feature</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20038" y="1341458"/>
            <a:ext cx="6024417" cy="5090561"/>
          </a:xfrm>
          <a:prstGeom prst="rect">
            <a:avLst/>
          </a:prstGeom>
          <a:noFill/>
        </p:spPr>
        <p:txBody>
          <a:bodyPr wrap="square" lIns="0">
            <a:spAutoFit/>
          </a:bodyPr>
          <a:lstStyle/>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Bi-directional 1-wire </a:t>
            </a:r>
            <a:r>
              <a:rPr lang="en-US" altLang="ko-KR" sz="1000" dirty="0">
                <a:latin typeface="Arial" panose="020B0604020202020204" pitchFamily="34" charset="0"/>
                <a:ea typeface="Arial" panose="020B0604020202020204" pitchFamily="34" charset="0"/>
                <a:cs typeface="굴림" panose="020B0600000101010101" pitchFamily="50" charset="-127"/>
              </a:rPr>
              <a:t>interface </a:t>
            </a:r>
            <a:r>
              <a:rPr lang="en-US" altLang="ko-KR" sz="1000" dirty="0">
                <a:effectLst/>
                <a:latin typeface="Arial" panose="020B0604020202020204" pitchFamily="34" charset="0"/>
                <a:ea typeface="Arial" panose="020B0604020202020204" pitchFamily="34" charset="0"/>
                <a:cs typeface="굴림" panose="020B0600000101010101" pitchFamily="50" charset="-127"/>
              </a:rPr>
              <a:t>and configurable transmit rate</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Daisied connection between devices </a:t>
            </a:r>
            <a:r>
              <a:rPr lang="en-US" altLang="ko-KR" sz="1000" dirty="0">
                <a:latin typeface="Arial" panose="020B0604020202020204" pitchFamily="34" charset="0"/>
                <a:ea typeface="Arial" panose="020B0604020202020204" pitchFamily="34" charset="0"/>
                <a:cs typeface="굴림" panose="020B0600000101010101" pitchFamily="50" charset="-127"/>
              </a:rPr>
              <a:t>and p</a:t>
            </a:r>
            <a:r>
              <a:rPr lang="en-US" altLang="ko-KR" sz="1000" dirty="0">
                <a:effectLst/>
                <a:latin typeface="Arial" panose="020B0604020202020204" pitchFamily="34" charset="0"/>
                <a:ea typeface="Arial" panose="020B0604020202020204" pitchFamily="34" charset="0"/>
                <a:cs typeface="굴림" panose="020B0600000101010101" pitchFamily="50" charset="-127"/>
              </a:rPr>
              <a:t>in layout for designing single layer PCB</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 indepe</a:t>
            </a:r>
            <a:r>
              <a:rPr lang="en-US" altLang="ko-KR" sz="1000" dirty="0">
                <a:latin typeface="Arial" panose="020B0604020202020204" pitchFamily="34" charset="0"/>
                <a:ea typeface="Arial" panose="020B0604020202020204" pitchFamily="34" charset="0"/>
                <a:cs typeface="굴림" panose="020B0600000101010101" pitchFamily="50" charset="-127"/>
              </a:rPr>
              <a:t>ndent dimming control channels in a package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20" dirty="0">
                <a:effectLst/>
                <a:latin typeface="Arial" panose="020B0604020202020204" pitchFamily="34" charset="0"/>
                <a:ea typeface="Arial" panose="020B0604020202020204" pitchFamily="34" charset="0"/>
                <a:cs typeface="굴림" panose="020B0600000101010101" pitchFamily="50" charset="-127"/>
              </a:rPr>
              <a:t> 40</a:t>
            </a:r>
            <a:r>
              <a:rPr lang="en-US" altLang="ko-KR" sz="1000" dirty="0">
                <a:effectLst/>
                <a:latin typeface="Arial" panose="020B0604020202020204" pitchFamily="34" charset="0"/>
                <a:ea typeface="Arial" panose="020B0604020202020204" pitchFamily="34" charset="0"/>
                <a:cs typeface="굴림" panose="020B0600000101010101" pitchFamily="50" charset="-127"/>
              </a:rPr>
              <a:t>V</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headroom</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voltage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device’s max output current level (4/8/12/16/24/32/46/64mA)</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12-bit max current control for dimming</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16-bit brightness control </a:t>
            </a:r>
            <a:r>
              <a:rPr lang="en-US" altLang="ko-KR" sz="1000" dirty="0">
                <a:latin typeface="Arial" panose="020B0604020202020204" pitchFamily="34" charset="0"/>
                <a:ea typeface="Arial" panose="020B0604020202020204" pitchFamily="34" charset="0"/>
                <a:cs typeface="굴림" panose="020B0600000101010101" pitchFamily="50" charset="-127"/>
              </a:rPr>
              <a:t>in</a:t>
            </a:r>
            <a:r>
              <a:rPr lang="en-US" altLang="ko-KR" sz="1000" dirty="0">
                <a:effectLst/>
                <a:latin typeface="Arial" panose="020B0604020202020204" pitchFamily="34" charset="0"/>
                <a:ea typeface="Arial" panose="020B0604020202020204" pitchFamily="34" charset="0"/>
                <a:cs typeface="굴림" panose="020B0600000101010101" pitchFamily="50" charset="-127"/>
              </a:rPr>
              <a:t> the 12-bit max current level</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configurable black sub-frame insertion</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Sink current </a:t>
            </a:r>
            <a:r>
              <a:rPr lang="en-US" altLang="ko-KR" sz="1000" dirty="0">
                <a:effectLst/>
                <a:latin typeface="Arial" panose="020B0604020202020204" pitchFamily="34" charset="0"/>
                <a:ea typeface="Arial" panose="020B0604020202020204" pitchFamily="34" charset="0"/>
                <a:cs typeface="Arial" panose="020B0604020202020204" pitchFamily="34" charset="0"/>
              </a:rPr>
              <a:t>accuracy </a:t>
            </a:r>
            <a:r>
              <a:rPr lang="en-US" altLang="ko-KR" sz="1000" dirty="0">
                <a:effectLst/>
                <a:latin typeface="Arial" panose="020B0604020202020204" pitchFamily="34" charset="0"/>
                <a:ea typeface="Microsoft GothicNeo" panose="020B0500000101010101" pitchFamily="50" charset="-127"/>
                <a:cs typeface="Arial" panose="020B0604020202020204" pitchFamily="34" charset="0"/>
              </a:rPr>
              <a:t>±2%</a:t>
            </a:r>
            <a:endParaRPr lang="ko-KR" altLang="ko-KR" sz="1000" dirty="0">
              <a:effectLst/>
              <a:latin typeface="Arial" panose="020B0604020202020204" pitchFamily="34" charset="0"/>
              <a:ea typeface="Arial" panose="020B0604020202020204" pitchFamily="34" charset="0"/>
              <a:cs typeface="Arial" panose="020B0604020202020204" pitchFamily="34" charset="0"/>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Sync controllability between </a:t>
            </a:r>
            <a:r>
              <a:rPr lang="en-US" altLang="ko-KR" sz="1000" dirty="0">
                <a:latin typeface="Arial" panose="020B0604020202020204" pitchFamily="34" charset="0"/>
                <a:ea typeface="Arial" panose="020B0604020202020204" pitchFamily="34" charset="0"/>
                <a:cs typeface="굴림" panose="020B0600000101010101" pitchFamily="50" charset="-127"/>
              </a:rPr>
              <a:t>devices</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Flicker-less frame frequency switching</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LED</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open detection and protection</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LED short detection level (3/4/6/8/12/16/24/36V) and protection</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FB operation level (0.4/0.5/0.6/0.7/0.85/1.0/1.15/1.3V)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over-</a:t>
            </a:r>
            <a:r>
              <a:rPr lang="en-US" altLang="ko-KR" sz="1000" dirty="0">
                <a:latin typeface="Arial" panose="020B0604020202020204" pitchFamily="34" charset="0"/>
                <a:ea typeface="Arial" panose="020B0604020202020204" pitchFamily="34" charset="0"/>
                <a:cs typeface="굴림" panose="020B0600000101010101" pitchFamily="50" charset="-127"/>
              </a:rPr>
              <a:t>temperature protection</a:t>
            </a:r>
            <a:r>
              <a:rPr lang="en-US" altLang="ko-KR" sz="1000" dirty="0">
                <a:effectLst/>
                <a:latin typeface="Arial" panose="020B0604020202020204" pitchFamily="34" charset="0"/>
                <a:ea typeface="Arial" panose="020B0604020202020204" pitchFamily="34" charset="0"/>
                <a:cs typeface="Arial" panose="020B0604020202020204" pitchFamily="34" charset="0"/>
              </a:rPr>
              <a:t> @ 130</a:t>
            </a:r>
            <a:r>
              <a:rPr lang="en-US" altLang="ko-KR" sz="1000" dirty="0">
                <a:effectLst/>
                <a:latin typeface="Arial" panose="020B0604020202020204" pitchFamily="34" charset="0"/>
                <a:ea typeface="Yu Mincho Light" panose="02020300000000000000" pitchFamily="18" charset="-128"/>
                <a:cs typeface="Arial" panose="020B0604020202020204" pitchFamily="34" charset="0"/>
              </a:rPr>
              <a:t>℃</a:t>
            </a:r>
            <a:endParaRPr lang="en-US" altLang="ko-KR" sz="1000" dirty="0">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Supply voltage 5.0V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24-PIN </a:t>
            </a:r>
            <a:r>
              <a:rPr lang="en-US" altLang="ko-KR" sz="1000" dirty="0">
                <a:latin typeface="Arial" panose="020B0604020202020204" pitchFamily="34" charset="0"/>
                <a:ea typeface="Arial" panose="020B0604020202020204" pitchFamily="34" charset="0"/>
                <a:cs typeface="굴림" panose="020B0600000101010101" pitchFamily="50" charset="-127"/>
              </a:rPr>
              <a:t>QFN 3030 package</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a:t>
            </a:r>
            <a:r>
              <a:rPr lang="en-US" altLang="ko-KR" sz="1000" dirty="0">
                <a:effectLst/>
                <a:latin typeface="Arial" panose="020B0604020202020204" pitchFamily="34" charset="0"/>
                <a:ea typeface="Arial" panose="020B0604020202020204" pitchFamily="34" charset="0"/>
              </a:rPr>
              <a:t>I</a:t>
            </a:r>
            <a:r>
              <a:rPr lang="en-US" altLang="ko-KR" sz="1000" baseline="-25000" dirty="0">
                <a:effectLst/>
                <a:latin typeface="Arial" panose="020B0604020202020204" pitchFamily="34" charset="0"/>
                <a:ea typeface="Arial" panose="020B0604020202020204" pitchFamily="34" charset="0"/>
              </a:rPr>
              <a:t>LATCH</a:t>
            </a:r>
            <a:r>
              <a:rPr lang="en-US" altLang="ko-KR" sz="1000" dirty="0">
                <a:latin typeface="Arial" panose="020B0604020202020204" pitchFamily="34" charset="0"/>
                <a:cs typeface="Arial" panose="020B0604020202020204" pitchFamily="34" charset="0"/>
              </a:rPr>
              <a:t>  (JEDEC JESD78D Nov 2011) : ±100mA</a:t>
            </a: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protection, ESD</a:t>
            </a:r>
            <a:r>
              <a:rPr lang="en-US" altLang="ko-KR" sz="1000" baseline="-25000" dirty="0">
                <a:latin typeface="Arial" panose="020B0604020202020204" pitchFamily="34" charset="0"/>
                <a:cs typeface="Arial" panose="020B0604020202020204" pitchFamily="34" charset="0"/>
              </a:rPr>
              <a:t>HBM</a:t>
            </a:r>
            <a:r>
              <a:rPr lang="en-US" altLang="ko-KR" sz="1000" dirty="0">
                <a:latin typeface="Arial" panose="020B0604020202020204" pitchFamily="34" charset="0"/>
                <a:cs typeface="Arial" panose="020B0604020202020204" pitchFamily="34" charset="0"/>
              </a:rPr>
              <a:t>  (Norm: MIL 883 E Method 3015 Human Body Model) : ±2kV</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3" y="5476227"/>
            <a:ext cx="1682512"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1347485"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pic>
        <p:nvPicPr>
          <p:cNvPr id="6" name="그림 5">
            <a:extLst>
              <a:ext uri="{FF2B5EF4-FFF2-40B4-BE49-F238E27FC236}">
                <a16:creationId xmlns:a16="http://schemas.microsoft.com/office/drawing/2014/main" id="{8D1F6ECB-9B2A-93B4-1B91-591F48115EE6}"/>
              </a:ext>
            </a:extLst>
          </p:cNvPr>
          <p:cNvPicPr>
            <a:picLocks noChangeAspect="1"/>
          </p:cNvPicPr>
          <p:nvPr/>
        </p:nvPicPr>
        <p:blipFill>
          <a:blip r:embed="rId2"/>
          <a:stretch>
            <a:fillRect/>
          </a:stretch>
        </p:blipFill>
        <p:spPr>
          <a:xfrm>
            <a:off x="1467000" y="1297753"/>
            <a:ext cx="3924000" cy="3606756"/>
          </a:xfrm>
          <a:prstGeom prst="rect">
            <a:avLst/>
          </a:prstGeom>
        </p:spPr>
      </p:pic>
      <p:grpSp>
        <p:nvGrpSpPr>
          <p:cNvPr id="5" name="그룹 4">
            <a:extLst>
              <a:ext uri="{FF2B5EF4-FFF2-40B4-BE49-F238E27FC236}">
                <a16:creationId xmlns:a16="http://schemas.microsoft.com/office/drawing/2014/main" id="{FF3ADB2C-3530-E9A5-F1B6-A38762B9C0A8}"/>
              </a:ext>
            </a:extLst>
          </p:cNvPr>
          <p:cNvGrpSpPr/>
          <p:nvPr/>
        </p:nvGrpSpPr>
        <p:grpSpPr>
          <a:xfrm>
            <a:off x="313908" y="5934020"/>
            <a:ext cx="6363353" cy="2312621"/>
            <a:chOff x="313908" y="5934020"/>
            <a:chExt cx="6363353" cy="2312621"/>
          </a:xfrm>
        </p:grpSpPr>
        <p:pic>
          <p:nvPicPr>
            <p:cNvPr id="22" name="그림 21">
              <a:extLst>
                <a:ext uri="{FF2B5EF4-FFF2-40B4-BE49-F238E27FC236}">
                  <a16:creationId xmlns:a16="http://schemas.microsoft.com/office/drawing/2014/main" id="{58416A38-EBE0-98B7-A353-9F07BAC2E57E}"/>
                </a:ext>
              </a:extLst>
            </p:cNvPr>
            <p:cNvPicPr>
              <a:picLocks noChangeAspect="1"/>
            </p:cNvPicPr>
            <p:nvPr/>
          </p:nvPicPr>
          <p:blipFill>
            <a:blip r:embed="rId3"/>
            <a:stretch>
              <a:fillRect/>
            </a:stretch>
          </p:blipFill>
          <p:spPr>
            <a:xfrm>
              <a:off x="313908" y="5934020"/>
              <a:ext cx="6363353" cy="2312621"/>
            </a:xfrm>
            <a:prstGeom prst="rect">
              <a:avLst/>
            </a:prstGeom>
          </p:spPr>
        </p:pic>
        <p:sp>
          <p:nvSpPr>
            <p:cNvPr id="2" name="TextBox 1">
              <a:extLst>
                <a:ext uri="{FF2B5EF4-FFF2-40B4-BE49-F238E27FC236}">
                  <a16:creationId xmlns:a16="http://schemas.microsoft.com/office/drawing/2014/main" id="{BA6A8DF5-736D-46E3-B7B7-E4C90399FDA0}"/>
                </a:ext>
              </a:extLst>
            </p:cNvPr>
            <p:cNvSpPr txBox="1"/>
            <p:nvPr/>
          </p:nvSpPr>
          <p:spPr>
            <a:xfrm>
              <a:off x="1638481" y="6426209"/>
              <a:ext cx="222818" cy="107722"/>
            </a:xfrm>
            <a:prstGeom prst="rect">
              <a:avLst/>
            </a:prstGeom>
            <a:noFill/>
          </p:spPr>
          <p:txBody>
            <a:bodyPr wrap="none" lIns="0" tIns="0" rIns="0" bIns="0" rtlCol="0" anchor="ctr" anchorCtr="0">
              <a:spAutoFit/>
            </a:bodyPr>
            <a:lstStyle/>
            <a:p>
              <a:r>
                <a:rPr lang="en-US" altLang="ko-KR" sz="700" dirty="0">
                  <a:latin typeface="Arial" panose="020B0604020202020204" pitchFamily="34" charset="0"/>
                  <a:cs typeface="Arial" panose="020B0604020202020204" pitchFamily="34" charset="0"/>
                </a:rPr>
                <a:t>XC24</a:t>
              </a:r>
              <a:endParaRPr lang="ko-KR" altLang="en-US" sz="600" dirty="0">
                <a:latin typeface="Arial" panose="020B0604020202020204" pitchFamily="34" charset="0"/>
                <a:cs typeface="Arial" panose="020B0604020202020204" pitchFamily="34" charset="0"/>
              </a:endParaRPr>
            </a:p>
          </p:txBody>
        </p:sp>
      </p:grpSp>
      <p:sp>
        <p:nvSpPr>
          <p:cNvPr id="7" name="object 84">
            <a:extLst>
              <a:ext uri="{FF2B5EF4-FFF2-40B4-BE49-F238E27FC236}">
                <a16:creationId xmlns:a16="http://schemas.microsoft.com/office/drawing/2014/main" id="{92C24942-18BA-F0B3-A66D-927A605E8108}"/>
              </a:ext>
            </a:extLst>
          </p:cNvPr>
          <p:cNvSpPr txBox="1"/>
          <p:nvPr/>
        </p:nvSpPr>
        <p:spPr>
          <a:xfrm>
            <a:off x="2615518" y="4926183"/>
            <a:ext cx="1471350"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615518" y="8199629"/>
            <a:ext cx="1760132"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 2  Application Circuit</a:t>
            </a:r>
          </a:p>
        </p:txBody>
      </p:sp>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205543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95419754"/>
              </p:ext>
            </p:extLst>
          </p:nvPr>
        </p:nvGraphicFramePr>
        <p:xfrm>
          <a:off x="404814" y="4772607"/>
          <a:ext cx="6084886" cy="4066593"/>
        </p:xfrm>
        <a:graphic>
          <a:graphicData uri="http://schemas.openxmlformats.org/drawingml/2006/table">
            <a:tbl>
              <a:tblPr>
                <a:tableStyleId>{5C22544A-7EE6-4342-B048-85BDC9FD1C3A}</a:tableStyleId>
              </a:tblPr>
              <a:tblGrid>
                <a:gridCol w="772514">
                  <a:extLst>
                    <a:ext uri="{9D8B030D-6E8A-4147-A177-3AD203B41FA5}">
                      <a16:colId xmlns:a16="http://schemas.microsoft.com/office/drawing/2014/main" val="1199541810"/>
                    </a:ext>
                  </a:extLst>
                </a:gridCol>
                <a:gridCol w="556130">
                  <a:extLst>
                    <a:ext uri="{9D8B030D-6E8A-4147-A177-3AD203B41FA5}">
                      <a16:colId xmlns:a16="http://schemas.microsoft.com/office/drawing/2014/main" val="2771136683"/>
                    </a:ext>
                  </a:extLst>
                </a:gridCol>
                <a:gridCol w="524352">
                  <a:extLst>
                    <a:ext uri="{9D8B030D-6E8A-4147-A177-3AD203B41FA5}">
                      <a16:colId xmlns:a16="http://schemas.microsoft.com/office/drawing/2014/main" val="112759525"/>
                    </a:ext>
                  </a:extLst>
                </a:gridCol>
                <a:gridCol w="929351">
                  <a:extLst>
                    <a:ext uri="{9D8B030D-6E8A-4147-A177-3AD203B41FA5}">
                      <a16:colId xmlns:a16="http://schemas.microsoft.com/office/drawing/2014/main" val="3900317923"/>
                    </a:ext>
                  </a:extLst>
                </a:gridCol>
                <a:gridCol w="1803050">
                  <a:extLst>
                    <a:ext uri="{9D8B030D-6E8A-4147-A177-3AD203B41FA5}">
                      <a16:colId xmlns:a16="http://schemas.microsoft.com/office/drawing/2014/main" val="3382103366"/>
                    </a:ext>
                  </a:extLst>
                </a:gridCol>
                <a:gridCol w="1499489">
                  <a:extLst>
                    <a:ext uri="{9D8B030D-6E8A-4147-A177-3AD203B41FA5}">
                      <a16:colId xmlns:a16="http://schemas.microsoft.com/office/drawing/2014/main" val="915546717"/>
                    </a:ext>
                  </a:extLst>
                </a:gridCol>
              </a:tblGrid>
              <a:tr h="384089">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O6</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O8</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O10</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98966"/>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10818" y="4396942"/>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pic>
        <p:nvPicPr>
          <p:cNvPr id="11" name="그림 10">
            <a:extLst>
              <a:ext uri="{FF2B5EF4-FFF2-40B4-BE49-F238E27FC236}">
                <a16:creationId xmlns:a16="http://schemas.microsoft.com/office/drawing/2014/main" id="{73C02E3F-2705-8564-478F-C03F76B412B3}"/>
              </a:ext>
            </a:extLst>
          </p:cNvPr>
          <p:cNvPicPr>
            <a:picLocks noChangeAspect="1"/>
          </p:cNvPicPr>
          <p:nvPr/>
        </p:nvPicPr>
        <p:blipFill>
          <a:blip r:embed="rId2"/>
          <a:stretch>
            <a:fillRect/>
          </a:stretch>
        </p:blipFill>
        <p:spPr>
          <a:xfrm>
            <a:off x="2071418" y="1374388"/>
            <a:ext cx="2483773" cy="2509538"/>
          </a:xfrm>
          <a:prstGeom prst="rect">
            <a:avLst/>
          </a:prstGeom>
        </p:spPr>
      </p:pic>
      <p:sp>
        <p:nvSpPr>
          <p:cNvPr id="2" name="object 84">
            <a:extLst>
              <a:ext uri="{FF2B5EF4-FFF2-40B4-BE49-F238E27FC236}">
                <a16:creationId xmlns:a16="http://schemas.microsoft.com/office/drawing/2014/main" id="{1C14F43E-8172-A20E-E067-0C053869EA35}"/>
              </a:ext>
            </a:extLst>
          </p:cNvPr>
          <p:cNvSpPr txBox="1"/>
          <p:nvPr/>
        </p:nvSpPr>
        <p:spPr>
          <a:xfrm>
            <a:off x="2790466" y="4040375"/>
            <a:ext cx="1429294"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 3 Pin diagram </a:t>
            </a:r>
          </a:p>
        </p:txBody>
      </p:sp>
      <p:sp>
        <p:nvSpPr>
          <p:cNvPr id="7" name="직사각형 6">
            <a:extLst>
              <a:ext uri="{FF2B5EF4-FFF2-40B4-BE49-F238E27FC236}">
                <a16:creationId xmlns:a16="http://schemas.microsoft.com/office/drawing/2014/main" id="{24173BF2-DB0A-D35A-848F-7A76EF3BA56E}"/>
              </a:ext>
            </a:extLst>
          </p:cNvPr>
          <p:cNvSpPr/>
          <p:nvPr/>
        </p:nvSpPr>
        <p:spPr>
          <a:xfrm>
            <a:off x="2081288" y="1395405"/>
            <a:ext cx="2466976" cy="2470149"/>
          </a:xfrm>
          <a:prstGeom prst="rect">
            <a:avLst/>
          </a:prstGeom>
          <a:solidFill>
            <a:schemeClr val="accent1">
              <a:alpha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object 11">
            <a:extLst>
              <a:ext uri="{FF2B5EF4-FFF2-40B4-BE49-F238E27FC236}">
                <a16:creationId xmlns:a16="http://schemas.microsoft.com/office/drawing/2014/main" id="{77924AB2-D427-3E11-9D10-6C2E350D7DF3}"/>
              </a:ext>
            </a:extLst>
          </p:cNvPr>
          <p:cNvSpPr txBox="1"/>
          <p:nvPr/>
        </p:nvSpPr>
        <p:spPr>
          <a:xfrm>
            <a:off x="2647949" y="8930180"/>
            <a:ext cx="2531439"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1</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Pin Description </a:t>
            </a:r>
            <a:endParaRPr kumimoji="0" sz="881"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1899876801"/>
              </p:ext>
            </p:extLst>
          </p:nvPr>
        </p:nvGraphicFramePr>
        <p:xfrm>
          <a:off x="404813" y="1276542"/>
          <a:ext cx="6084887" cy="3023791"/>
        </p:xfrm>
        <a:graphic>
          <a:graphicData uri="http://schemas.openxmlformats.org/drawingml/2006/table">
            <a:tbl>
              <a:tblPr>
                <a:tableStyleId>{5C22544A-7EE6-4342-B048-85BDC9FD1C3A}</a:tableStyleId>
              </a:tblPr>
              <a:tblGrid>
                <a:gridCol w="772513">
                  <a:extLst>
                    <a:ext uri="{9D8B030D-6E8A-4147-A177-3AD203B41FA5}">
                      <a16:colId xmlns:a16="http://schemas.microsoft.com/office/drawing/2014/main" val="1199541810"/>
                    </a:ext>
                  </a:extLst>
                </a:gridCol>
                <a:gridCol w="556131">
                  <a:extLst>
                    <a:ext uri="{9D8B030D-6E8A-4147-A177-3AD203B41FA5}">
                      <a16:colId xmlns:a16="http://schemas.microsoft.com/office/drawing/2014/main" val="2771136683"/>
                    </a:ext>
                  </a:extLst>
                </a:gridCol>
                <a:gridCol w="524352">
                  <a:extLst>
                    <a:ext uri="{9D8B030D-6E8A-4147-A177-3AD203B41FA5}">
                      <a16:colId xmlns:a16="http://schemas.microsoft.com/office/drawing/2014/main" val="112759525"/>
                    </a:ext>
                  </a:extLst>
                </a:gridCol>
                <a:gridCol w="929351">
                  <a:extLst>
                    <a:ext uri="{9D8B030D-6E8A-4147-A177-3AD203B41FA5}">
                      <a16:colId xmlns:a16="http://schemas.microsoft.com/office/drawing/2014/main" val="3900317923"/>
                    </a:ext>
                  </a:extLst>
                </a:gridCol>
                <a:gridCol w="1798415">
                  <a:extLst>
                    <a:ext uri="{9D8B030D-6E8A-4147-A177-3AD203B41FA5}">
                      <a16:colId xmlns:a16="http://schemas.microsoft.com/office/drawing/2014/main" val="3382103366"/>
                    </a:ext>
                  </a:extLst>
                </a:gridCol>
                <a:gridCol w="1504125">
                  <a:extLst>
                    <a:ext uri="{9D8B030D-6E8A-4147-A177-3AD203B41FA5}">
                      <a16:colId xmlns:a16="http://schemas.microsoft.com/office/drawing/2014/main" val="915546717"/>
                    </a:ext>
                  </a:extLst>
                </a:gridCol>
              </a:tblGrid>
              <a:tr h="38160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 </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/FB </a:t>
                      </a:r>
                      <a:r>
                        <a:rPr lang="en-US" altLang="ko-KR" sz="900" b="0" i="0" u="none" strike="noStrike" baseline="30000" dirty="0">
                          <a:solidFill>
                            <a:srgbClr val="000000"/>
                          </a:solidFill>
                          <a:effectLst/>
                          <a:latin typeface="Arial" panose="020B0604020202020204" pitchFamily="34" charset="0"/>
                          <a:ea typeface="+mn-ea"/>
                          <a:cs typeface="Arial" panose="020B0604020202020204" pitchFamily="34" charset="0"/>
                        </a:rPr>
                        <a:t>1)</a:t>
                      </a:r>
                      <a:endParaRPr lang="en-US" sz="900" b="0" i="0" u="none" strike="noStrike" baseline="30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Open-drain output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If unused,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O11</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O9</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O7</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13546" y="902696"/>
            <a:ext cx="603091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6" name="TextBox 5">
            <a:extLst>
              <a:ext uri="{FF2B5EF4-FFF2-40B4-BE49-F238E27FC236}">
                <a16:creationId xmlns:a16="http://schemas.microsoft.com/office/drawing/2014/main" id="{10BE8C07-EBF0-B93D-0AEC-2636AE0A4B9D}"/>
              </a:ext>
            </a:extLst>
          </p:cNvPr>
          <p:cNvSpPr txBox="1"/>
          <p:nvPr/>
        </p:nvSpPr>
        <p:spPr>
          <a:xfrm>
            <a:off x="404813" y="4823272"/>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8" name="표 7">
            <a:extLst>
              <a:ext uri="{FF2B5EF4-FFF2-40B4-BE49-F238E27FC236}">
                <a16:creationId xmlns:a16="http://schemas.microsoft.com/office/drawing/2014/main" id="{35EC179E-1569-1DC9-5F68-28F488A74D01}"/>
              </a:ext>
            </a:extLst>
          </p:cNvPr>
          <p:cNvGraphicFramePr>
            <a:graphicFrameLocks noGrp="1"/>
          </p:cNvGraphicFramePr>
          <p:nvPr>
            <p:extLst>
              <p:ext uri="{D42A27DB-BD31-4B8C-83A1-F6EECF244321}">
                <p14:modId xmlns:p14="http://schemas.microsoft.com/office/powerpoint/2010/main" val="3803658141"/>
              </p:ext>
            </p:extLst>
          </p:nvPr>
        </p:nvGraphicFramePr>
        <p:xfrm>
          <a:off x="404813" y="5229111"/>
          <a:ext cx="6084888" cy="3601941"/>
        </p:xfrm>
        <a:graphic>
          <a:graphicData uri="http://schemas.openxmlformats.org/drawingml/2006/table">
            <a:tbl>
              <a:tblPr>
                <a:tableStyleId>{5C22544A-7EE6-4342-B048-85BDC9FD1C3A}</a:tableStyleId>
              </a:tblPr>
              <a:tblGrid>
                <a:gridCol w="752697">
                  <a:extLst>
                    <a:ext uri="{9D8B030D-6E8A-4147-A177-3AD203B41FA5}">
                      <a16:colId xmlns:a16="http://schemas.microsoft.com/office/drawing/2014/main" val="1199541810"/>
                    </a:ext>
                  </a:extLst>
                </a:gridCol>
                <a:gridCol w="561574">
                  <a:extLst>
                    <a:ext uri="{9D8B030D-6E8A-4147-A177-3AD203B41FA5}">
                      <a16:colId xmlns:a16="http://schemas.microsoft.com/office/drawing/2014/main" val="112759525"/>
                    </a:ext>
                  </a:extLst>
                </a:gridCol>
                <a:gridCol w="3255785">
                  <a:extLst>
                    <a:ext uri="{9D8B030D-6E8A-4147-A177-3AD203B41FA5}">
                      <a16:colId xmlns:a16="http://schemas.microsoft.com/office/drawing/2014/main" val="3900317923"/>
                    </a:ext>
                  </a:extLst>
                </a:gridCol>
                <a:gridCol w="1514832">
                  <a:extLst>
                    <a:ext uri="{9D8B030D-6E8A-4147-A177-3AD203B41FA5}">
                      <a16:colId xmlns:a16="http://schemas.microsoft.com/office/drawing/2014/main" val="3382103366"/>
                    </a:ext>
                  </a:extLst>
                </a:gridCol>
              </a:tblGrid>
              <a:tr h="359145">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57038">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070875">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11488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pic>
        <p:nvPicPr>
          <p:cNvPr id="7" name="그림 6">
            <a:extLst>
              <a:ext uri="{FF2B5EF4-FFF2-40B4-BE49-F238E27FC236}">
                <a16:creationId xmlns:a16="http://schemas.microsoft.com/office/drawing/2014/main" id="{7062CBB8-04BF-AA3E-EEB8-0AA84F83BF5B}"/>
              </a:ext>
            </a:extLst>
          </p:cNvPr>
          <p:cNvPicPr>
            <a:picLocks noChangeAspect="1"/>
          </p:cNvPicPr>
          <p:nvPr/>
        </p:nvPicPr>
        <p:blipFill>
          <a:blip r:embed="rId2"/>
          <a:stretch>
            <a:fillRect/>
          </a:stretch>
        </p:blipFill>
        <p:spPr>
          <a:xfrm>
            <a:off x="2635433" y="5713457"/>
            <a:ext cx="1340472" cy="873838"/>
          </a:xfrm>
          <a:prstGeom prst="rect">
            <a:avLst/>
          </a:prstGeom>
        </p:spPr>
      </p:pic>
      <p:grpSp>
        <p:nvGrpSpPr>
          <p:cNvPr id="4" name="그룹 3">
            <a:extLst>
              <a:ext uri="{FF2B5EF4-FFF2-40B4-BE49-F238E27FC236}">
                <a16:creationId xmlns:a16="http://schemas.microsoft.com/office/drawing/2014/main" id="{658195D5-DB43-DACF-88E9-0CE03095A781}"/>
              </a:ext>
            </a:extLst>
          </p:cNvPr>
          <p:cNvGrpSpPr/>
          <p:nvPr/>
        </p:nvGrpSpPr>
        <p:grpSpPr>
          <a:xfrm>
            <a:off x="2794443" y="6810677"/>
            <a:ext cx="1026319" cy="836432"/>
            <a:chOff x="2838451" y="6667968"/>
            <a:chExt cx="1026319" cy="836432"/>
          </a:xfrm>
        </p:grpSpPr>
        <p:pic>
          <p:nvPicPr>
            <p:cNvPr id="9" name="그림 8">
              <a:extLst>
                <a:ext uri="{FF2B5EF4-FFF2-40B4-BE49-F238E27FC236}">
                  <a16:creationId xmlns:a16="http://schemas.microsoft.com/office/drawing/2014/main" id="{574075B9-C935-5575-84A6-ECA041933979}"/>
                </a:ext>
              </a:extLst>
            </p:cNvPr>
            <p:cNvPicPr>
              <a:picLocks noChangeAspect="1"/>
            </p:cNvPicPr>
            <p:nvPr/>
          </p:nvPicPr>
          <p:blipFill>
            <a:blip r:embed="rId3"/>
            <a:stretch>
              <a:fillRect/>
            </a:stretch>
          </p:blipFill>
          <p:spPr>
            <a:xfrm>
              <a:off x="3495285" y="7019209"/>
              <a:ext cx="176479" cy="400184"/>
            </a:xfrm>
            <a:prstGeom prst="rect">
              <a:avLst/>
            </a:prstGeom>
            <a:ln>
              <a:noFill/>
            </a:ln>
          </p:spPr>
        </p:pic>
        <p:sp>
          <p:nvSpPr>
            <p:cNvPr id="11" name="타원 10">
              <a:extLst>
                <a:ext uri="{FF2B5EF4-FFF2-40B4-BE49-F238E27FC236}">
                  <a16:creationId xmlns:a16="http://schemas.microsoft.com/office/drawing/2014/main" id="{775678A3-A634-1CB6-D56F-1B579ABFE45D}"/>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 name="직사각형 11">
              <a:extLst>
                <a:ext uri="{FF2B5EF4-FFF2-40B4-BE49-F238E27FC236}">
                  <a16:creationId xmlns:a16="http://schemas.microsoft.com/office/drawing/2014/main" id="{A4767450-7398-CA58-57F0-D5C38B4476EB}"/>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16" name="연결선: 꺾임 15">
              <a:extLst>
                <a:ext uri="{FF2B5EF4-FFF2-40B4-BE49-F238E27FC236}">
                  <a16:creationId xmlns:a16="http://schemas.microsoft.com/office/drawing/2014/main" id="{2A00BA58-2BE6-D7EB-2FDA-690B4A8C821E}"/>
                </a:ext>
              </a:extLst>
            </p:cNvPr>
            <p:cNvCxnSpPr>
              <a:cxnSpLocks/>
              <a:endCxn id="11"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9" name="직선 연결선 18">
              <a:extLst>
                <a:ext uri="{FF2B5EF4-FFF2-40B4-BE49-F238E27FC236}">
                  <a16:creationId xmlns:a16="http://schemas.microsoft.com/office/drawing/2014/main" id="{DC76A3E1-5D5A-B71D-618C-D2AB203FB1DE}"/>
                </a:ext>
              </a:extLst>
            </p:cNvPr>
            <p:cNvCxnSpPr>
              <a:cxnSpLocks/>
              <a:endCxn id="12"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0" name="이등변 삼각형 19">
              <a:extLst>
                <a:ext uri="{FF2B5EF4-FFF2-40B4-BE49-F238E27FC236}">
                  <a16:creationId xmlns:a16="http://schemas.microsoft.com/office/drawing/2014/main" id="{A58776CF-1A41-8972-17F3-3234401B2BA0}"/>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1" name="연결선: 꺾임 20">
              <a:extLst>
                <a:ext uri="{FF2B5EF4-FFF2-40B4-BE49-F238E27FC236}">
                  <a16:creationId xmlns:a16="http://schemas.microsoft.com/office/drawing/2014/main" id="{B1DE2CBC-4226-E451-A364-C4C32ACBF175}"/>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2" name="이등변 삼각형 21">
              <a:extLst>
                <a:ext uri="{FF2B5EF4-FFF2-40B4-BE49-F238E27FC236}">
                  <a16:creationId xmlns:a16="http://schemas.microsoft.com/office/drawing/2014/main" id="{CE2435CE-DA62-ED70-F25F-6A4DE682B304}"/>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3" name="직선 연결선 22">
              <a:extLst>
                <a:ext uri="{FF2B5EF4-FFF2-40B4-BE49-F238E27FC236}">
                  <a16:creationId xmlns:a16="http://schemas.microsoft.com/office/drawing/2014/main" id="{47C79E6B-780C-0EE9-1E8F-4C0B37F7F994}"/>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4" name="직선 연결선 23">
              <a:extLst>
                <a:ext uri="{FF2B5EF4-FFF2-40B4-BE49-F238E27FC236}">
                  <a16:creationId xmlns:a16="http://schemas.microsoft.com/office/drawing/2014/main" id="{D5575CE9-3FFA-E478-A4D3-FE508F5E2DD1}"/>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10" name="그룹 9">
            <a:extLst>
              <a:ext uri="{FF2B5EF4-FFF2-40B4-BE49-F238E27FC236}">
                <a16:creationId xmlns:a16="http://schemas.microsoft.com/office/drawing/2014/main" id="{49EFA08A-B124-87AD-9C0B-0DA1E16EEBDB}"/>
              </a:ext>
            </a:extLst>
          </p:cNvPr>
          <p:cNvGrpSpPr/>
          <p:nvPr/>
        </p:nvGrpSpPr>
        <p:grpSpPr>
          <a:xfrm>
            <a:off x="2846114" y="7898400"/>
            <a:ext cx="1026319" cy="836432"/>
            <a:chOff x="2838451" y="6667968"/>
            <a:chExt cx="1026319" cy="836432"/>
          </a:xfrm>
        </p:grpSpPr>
        <p:pic>
          <p:nvPicPr>
            <p:cNvPr id="14" name="그림 13">
              <a:extLst>
                <a:ext uri="{FF2B5EF4-FFF2-40B4-BE49-F238E27FC236}">
                  <a16:creationId xmlns:a16="http://schemas.microsoft.com/office/drawing/2014/main" id="{F96B0115-6C6D-EAC5-CDC0-279CC40E2CB0}"/>
                </a:ext>
              </a:extLst>
            </p:cNvPr>
            <p:cNvPicPr>
              <a:picLocks noChangeAspect="1"/>
            </p:cNvPicPr>
            <p:nvPr/>
          </p:nvPicPr>
          <p:blipFill>
            <a:blip r:embed="rId3"/>
            <a:stretch>
              <a:fillRect/>
            </a:stretch>
          </p:blipFill>
          <p:spPr>
            <a:xfrm>
              <a:off x="3495285" y="7019209"/>
              <a:ext cx="176479" cy="400184"/>
            </a:xfrm>
            <a:prstGeom prst="rect">
              <a:avLst/>
            </a:prstGeom>
            <a:ln>
              <a:noFill/>
            </a:ln>
          </p:spPr>
        </p:pic>
        <p:sp>
          <p:nvSpPr>
            <p:cNvPr id="17" name="타원 16">
              <a:extLst>
                <a:ext uri="{FF2B5EF4-FFF2-40B4-BE49-F238E27FC236}">
                  <a16:creationId xmlns:a16="http://schemas.microsoft.com/office/drawing/2014/main" id="{8BECC99A-03EA-9D33-7EFD-B0FF54CCE9AE}"/>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5" name="직사각형 24">
              <a:extLst>
                <a:ext uri="{FF2B5EF4-FFF2-40B4-BE49-F238E27FC236}">
                  <a16:creationId xmlns:a16="http://schemas.microsoft.com/office/drawing/2014/main" id="{48FB055A-67C0-856D-F9B2-876364E3A4D5}"/>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26" name="연결선: 꺾임 25">
              <a:extLst>
                <a:ext uri="{FF2B5EF4-FFF2-40B4-BE49-F238E27FC236}">
                  <a16:creationId xmlns:a16="http://schemas.microsoft.com/office/drawing/2014/main" id="{3F07452C-B43A-27D8-9AD4-CC743A65C281}"/>
                </a:ext>
              </a:extLst>
            </p:cNvPr>
            <p:cNvCxnSpPr>
              <a:cxnSpLocks/>
              <a:endCxn id="1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7" name="직선 연결선 26">
              <a:extLst>
                <a:ext uri="{FF2B5EF4-FFF2-40B4-BE49-F238E27FC236}">
                  <a16:creationId xmlns:a16="http://schemas.microsoft.com/office/drawing/2014/main" id="{7768FA02-73E2-F241-4C1F-A21A788202BD}"/>
                </a:ext>
              </a:extLst>
            </p:cNvPr>
            <p:cNvCxnSpPr>
              <a:cxnSpLocks/>
              <a:endCxn id="25"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8" name="이등변 삼각형 27">
              <a:extLst>
                <a:ext uri="{FF2B5EF4-FFF2-40B4-BE49-F238E27FC236}">
                  <a16:creationId xmlns:a16="http://schemas.microsoft.com/office/drawing/2014/main" id="{81784060-6F78-FC3C-8F6A-0185E384E276}"/>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9" name="연결선: 꺾임 28">
              <a:extLst>
                <a:ext uri="{FF2B5EF4-FFF2-40B4-BE49-F238E27FC236}">
                  <a16:creationId xmlns:a16="http://schemas.microsoft.com/office/drawing/2014/main" id="{FF3B820D-3317-6DCC-6469-8FAC591E2BD1}"/>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30" name="이등변 삼각형 29">
              <a:extLst>
                <a:ext uri="{FF2B5EF4-FFF2-40B4-BE49-F238E27FC236}">
                  <a16:creationId xmlns:a16="http://schemas.microsoft.com/office/drawing/2014/main" id="{B77FB760-48F7-E982-8469-067E19C010A7}"/>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1" name="직선 연결선 30">
              <a:extLst>
                <a:ext uri="{FF2B5EF4-FFF2-40B4-BE49-F238E27FC236}">
                  <a16:creationId xmlns:a16="http://schemas.microsoft.com/office/drawing/2014/main" id="{E5988E6C-9D83-8375-47FF-100ED7C5EFDB}"/>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2" name="직선 연결선 31">
              <a:extLst>
                <a:ext uri="{FF2B5EF4-FFF2-40B4-BE49-F238E27FC236}">
                  <a16:creationId xmlns:a16="http://schemas.microsoft.com/office/drawing/2014/main" id="{237BDB21-1719-368F-4B2F-65EA1107B96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13" name="object 16">
            <a:extLst>
              <a:ext uri="{FF2B5EF4-FFF2-40B4-BE49-F238E27FC236}">
                <a16:creationId xmlns:a16="http://schemas.microsoft.com/office/drawing/2014/main" id="{1B9588A1-C9D4-BAE9-8BAB-3EE9754B6949}"/>
              </a:ext>
            </a:extLst>
          </p:cNvPr>
          <p:cNvSpPr txBox="1"/>
          <p:nvPr/>
        </p:nvSpPr>
        <p:spPr>
          <a:xfrm>
            <a:off x="393239" y="4379446"/>
            <a:ext cx="6071521"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Note :  1) In case of using as a FB out signal, it needs to set the FBOUT_E bit. If not using, it is recommended to</a:t>
            </a:r>
          </a:p>
          <a:p>
            <a:pPr marL="38100">
              <a:lnSpc>
                <a:spcPct val="100000"/>
              </a:lnSpc>
              <a:spcBef>
                <a:spcPts val="100"/>
              </a:spcBef>
            </a:pPr>
            <a:r>
              <a:rPr lang="en-US" sz="900" dirty="0">
                <a:latin typeface="Arial" panose="020B0604020202020204" pitchFamily="34" charset="0"/>
                <a:cs typeface="Arial" panose="020B0604020202020204" pitchFamily="34" charset="0"/>
              </a:rPr>
              <a:t>                connect to GND.  The FB out is an open-drain port.</a:t>
            </a:r>
            <a:endParaRPr lang="en-US" sz="900" spc="-5"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13546" y="902696"/>
            <a:ext cx="603091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8" name="표 7">
            <a:extLst>
              <a:ext uri="{FF2B5EF4-FFF2-40B4-BE49-F238E27FC236}">
                <a16:creationId xmlns:a16="http://schemas.microsoft.com/office/drawing/2014/main" id="{89C711B5-4C68-5105-3565-ACBE444CBD69}"/>
              </a:ext>
            </a:extLst>
          </p:cNvPr>
          <p:cNvGraphicFramePr>
            <a:graphicFrameLocks noGrp="1"/>
          </p:cNvGraphicFramePr>
          <p:nvPr>
            <p:extLst>
              <p:ext uri="{D42A27DB-BD31-4B8C-83A1-F6EECF244321}">
                <p14:modId xmlns:p14="http://schemas.microsoft.com/office/powerpoint/2010/main" val="1410109130"/>
              </p:ext>
            </p:extLst>
          </p:nvPr>
        </p:nvGraphicFramePr>
        <p:xfrm>
          <a:off x="404814" y="1341152"/>
          <a:ext cx="6084886" cy="2836015"/>
        </p:xfrm>
        <a:graphic>
          <a:graphicData uri="http://schemas.openxmlformats.org/drawingml/2006/table">
            <a:tbl>
              <a:tblPr>
                <a:tableStyleId>{5C22544A-7EE6-4342-B048-85BDC9FD1C3A}</a:tableStyleId>
              </a:tblPr>
              <a:tblGrid>
                <a:gridCol w="752697">
                  <a:extLst>
                    <a:ext uri="{9D8B030D-6E8A-4147-A177-3AD203B41FA5}">
                      <a16:colId xmlns:a16="http://schemas.microsoft.com/office/drawing/2014/main" val="1199541810"/>
                    </a:ext>
                  </a:extLst>
                </a:gridCol>
                <a:gridCol w="561574">
                  <a:extLst>
                    <a:ext uri="{9D8B030D-6E8A-4147-A177-3AD203B41FA5}">
                      <a16:colId xmlns:a16="http://schemas.microsoft.com/office/drawing/2014/main" val="112759525"/>
                    </a:ext>
                  </a:extLst>
                </a:gridCol>
                <a:gridCol w="3255784">
                  <a:extLst>
                    <a:ext uri="{9D8B030D-6E8A-4147-A177-3AD203B41FA5}">
                      <a16:colId xmlns:a16="http://schemas.microsoft.com/office/drawing/2014/main" val="3900317923"/>
                    </a:ext>
                  </a:extLst>
                </a:gridCol>
                <a:gridCol w="1514831">
                  <a:extLst>
                    <a:ext uri="{9D8B030D-6E8A-4147-A177-3AD203B41FA5}">
                      <a16:colId xmlns:a16="http://schemas.microsoft.com/office/drawing/2014/main" val="3382103366"/>
                    </a:ext>
                  </a:extLst>
                </a:gridCol>
              </a:tblGrid>
              <a:tr h="359145">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971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O12</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79754">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pic>
        <p:nvPicPr>
          <p:cNvPr id="7" name="그림 6">
            <a:extLst>
              <a:ext uri="{FF2B5EF4-FFF2-40B4-BE49-F238E27FC236}">
                <a16:creationId xmlns:a16="http://schemas.microsoft.com/office/drawing/2014/main" id="{4AE97057-DCB7-C569-D3EB-4D0846DFD8A1}"/>
              </a:ext>
            </a:extLst>
          </p:cNvPr>
          <p:cNvPicPr>
            <a:picLocks noChangeAspect="1"/>
          </p:cNvPicPr>
          <p:nvPr/>
        </p:nvPicPr>
        <p:blipFill>
          <a:blip r:embed="rId2"/>
          <a:stretch>
            <a:fillRect/>
          </a:stretch>
        </p:blipFill>
        <p:spPr>
          <a:xfrm>
            <a:off x="2644413" y="1822186"/>
            <a:ext cx="1340472" cy="935482"/>
          </a:xfrm>
          <a:prstGeom prst="rect">
            <a:avLst/>
          </a:prstGeom>
        </p:spPr>
      </p:pic>
      <p:grpSp>
        <p:nvGrpSpPr>
          <p:cNvPr id="20" name="그룹 19">
            <a:extLst>
              <a:ext uri="{FF2B5EF4-FFF2-40B4-BE49-F238E27FC236}">
                <a16:creationId xmlns:a16="http://schemas.microsoft.com/office/drawing/2014/main" id="{04CC8B80-7D92-0997-821F-925095C71D44}"/>
              </a:ext>
            </a:extLst>
          </p:cNvPr>
          <p:cNvGrpSpPr/>
          <p:nvPr/>
        </p:nvGrpSpPr>
        <p:grpSpPr>
          <a:xfrm>
            <a:off x="2687819" y="3003631"/>
            <a:ext cx="1094210" cy="1114062"/>
            <a:chOff x="2731253" y="2966829"/>
            <a:chExt cx="938140" cy="912327"/>
          </a:xfrm>
        </p:grpSpPr>
        <p:pic>
          <p:nvPicPr>
            <p:cNvPr id="16" name="그림 15">
              <a:extLst>
                <a:ext uri="{FF2B5EF4-FFF2-40B4-BE49-F238E27FC236}">
                  <a16:creationId xmlns:a16="http://schemas.microsoft.com/office/drawing/2014/main" id="{814367FD-FD52-0506-80EC-5C696F01D8FC}"/>
                </a:ext>
              </a:extLst>
            </p:cNvPr>
            <p:cNvPicPr>
              <a:picLocks noChangeAspect="1"/>
            </p:cNvPicPr>
            <p:nvPr/>
          </p:nvPicPr>
          <p:blipFill>
            <a:blip r:embed="rId3"/>
            <a:stretch>
              <a:fillRect/>
            </a:stretch>
          </p:blipFill>
          <p:spPr>
            <a:xfrm>
              <a:off x="2731253" y="2994034"/>
              <a:ext cx="938140" cy="885122"/>
            </a:xfrm>
            <a:prstGeom prst="rect">
              <a:avLst/>
            </a:prstGeom>
          </p:spPr>
        </p:pic>
        <p:sp>
          <p:nvSpPr>
            <p:cNvPr id="19" name="TextBox 152">
              <a:extLst>
                <a:ext uri="{FF2B5EF4-FFF2-40B4-BE49-F238E27FC236}">
                  <a16:creationId xmlns:a16="http://schemas.microsoft.com/office/drawing/2014/main" id="{81BB5FB2-743E-175F-E2CA-2AD0325A8909}"/>
                </a:ext>
              </a:extLst>
            </p:cNvPr>
            <p:cNvSpPr txBox="1"/>
            <p:nvPr/>
          </p:nvSpPr>
          <p:spPr>
            <a:xfrm>
              <a:off x="3002740" y="2966829"/>
              <a:ext cx="255050" cy="114934"/>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sp>
        <p:nvSpPr>
          <p:cNvPr id="11" name="object 84">
            <a:extLst>
              <a:ext uri="{FF2B5EF4-FFF2-40B4-BE49-F238E27FC236}">
                <a16:creationId xmlns:a16="http://schemas.microsoft.com/office/drawing/2014/main" id="{41F1943B-FA41-8E46-47DD-53AE9101465C}"/>
              </a:ext>
            </a:extLst>
          </p:cNvPr>
          <p:cNvSpPr txBox="1"/>
          <p:nvPr/>
        </p:nvSpPr>
        <p:spPr>
          <a:xfrm>
            <a:off x="2219042" y="4456351"/>
            <a:ext cx="2579353"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 4 Equivalent Circuits of individual pins</a:t>
            </a:r>
          </a:p>
        </p:txBody>
      </p:sp>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20038" y="774866"/>
            <a:ext cx="4215000"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sp>
        <p:nvSpPr>
          <p:cNvPr id="6" name="object 16">
            <a:extLst>
              <a:ext uri="{FF2B5EF4-FFF2-40B4-BE49-F238E27FC236}">
                <a16:creationId xmlns:a16="http://schemas.microsoft.com/office/drawing/2014/main" id="{7B7FCC82-2F9E-7D37-5116-5224E65F6F31}"/>
              </a:ext>
            </a:extLst>
          </p:cNvPr>
          <p:cNvSpPr txBox="1"/>
          <p:nvPr/>
        </p:nvSpPr>
        <p:spPr>
          <a:xfrm>
            <a:off x="393239" y="5553014"/>
            <a:ext cx="6071521"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Stresses beyond the Maximum Absolute ratings may cause permanent damage to the device </a:t>
            </a:r>
          </a:p>
          <a:p>
            <a:pPr marL="38100">
              <a:lnSpc>
                <a:spcPct val="100000"/>
              </a:lnSpc>
              <a:spcBef>
                <a:spcPts val="100"/>
              </a:spcBef>
            </a:pPr>
            <a:r>
              <a:rPr lang="en-US" sz="900" dirty="0">
                <a:latin typeface="Arial" panose="020B0604020202020204" pitchFamily="34" charset="0"/>
                <a:cs typeface="Arial" panose="020B0604020202020204" pitchFamily="34" charset="0"/>
              </a:rPr>
              <a:t>Note :  1) Surface mounted on FR-4 substrate PC Board 1” x 1” inch 2-oz copper plate</a:t>
            </a:r>
            <a:endParaRPr lang="en-US" sz="900" spc="-5"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3788884823"/>
              </p:ext>
            </p:extLst>
          </p:nvPr>
        </p:nvGraphicFramePr>
        <p:xfrm>
          <a:off x="404812" y="1151755"/>
          <a:ext cx="6084887" cy="3996861"/>
        </p:xfrm>
        <a:graphic>
          <a:graphicData uri="http://schemas.openxmlformats.org/drawingml/2006/table">
            <a:tbl>
              <a:tblPr>
                <a:tableStyleId>{5C22544A-7EE6-4342-B048-85BDC9FD1C3A}</a:tableStyleId>
              </a:tblPr>
              <a:tblGrid>
                <a:gridCol w="2444900">
                  <a:extLst>
                    <a:ext uri="{9D8B030D-6E8A-4147-A177-3AD203B41FA5}">
                      <a16:colId xmlns:a16="http://schemas.microsoft.com/office/drawing/2014/main" val="1199541810"/>
                    </a:ext>
                  </a:extLst>
                </a:gridCol>
                <a:gridCol w="941455">
                  <a:extLst>
                    <a:ext uri="{9D8B030D-6E8A-4147-A177-3AD203B41FA5}">
                      <a16:colId xmlns:a16="http://schemas.microsoft.com/office/drawing/2014/main" val="2771136683"/>
                    </a:ext>
                  </a:extLst>
                </a:gridCol>
                <a:gridCol w="2132683">
                  <a:extLst>
                    <a:ext uri="{9D8B030D-6E8A-4147-A177-3AD203B41FA5}">
                      <a16:colId xmlns:a16="http://schemas.microsoft.com/office/drawing/2014/main" val="112759525"/>
                    </a:ext>
                  </a:extLst>
                </a:gridCol>
                <a:gridCol w="565849">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6.5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64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effectLst/>
                          <a:latin typeface="Arial" panose="020B0604020202020204" pitchFamily="34" charset="0"/>
                          <a:ea typeface="Arial" panose="020B0604020202020204" pitchFamily="34" charset="0"/>
                          <a:cs typeface="Arial" panose="020B0604020202020204" pitchFamily="34" charset="0"/>
                        </a:rPr>
                        <a:t> Thermal</a:t>
                      </a:r>
                      <a:r>
                        <a:rPr lang="en-US" sz="900" spc="-25" dirty="0">
                          <a:effectLst/>
                          <a:latin typeface="Arial" panose="020B0604020202020204" pitchFamily="34" charset="0"/>
                          <a:ea typeface="Arial" panose="020B0604020202020204" pitchFamily="34" charset="0"/>
                          <a:cs typeface="Arial" panose="020B0604020202020204" pitchFamily="34" charset="0"/>
                        </a:rPr>
                        <a:t> </a:t>
                      </a:r>
                      <a:r>
                        <a:rPr lang="en-US" sz="900" dirty="0">
                          <a:effectLst/>
                          <a:latin typeface="Arial" panose="020B0604020202020204" pitchFamily="34" charset="0"/>
                          <a:ea typeface="Arial" panose="020B0604020202020204" pitchFamily="34" charset="0"/>
                          <a:cs typeface="Arial" panose="020B0604020202020204" pitchFamily="34" charset="0"/>
                        </a:rPr>
                        <a:t>Resistance</a:t>
                      </a:r>
                      <a:endParaRPr lang="ko-KR" sz="900" dirty="0">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Moisture Sensitivity</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Maximum Floor Life-time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graphicFrame>
        <p:nvGraphicFramePr>
          <p:cNvPr id="8" name="표 7">
            <a:extLst>
              <a:ext uri="{FF2B5EF4-FFF2-40B4-BE49-F238E27FC236}">
                <a16:creationId xmlns:a16="http://schemas.microsoft.com/office/drawing/2014/main" id="{C3EF9BE5-1E4E-2F6A-37AF-6CEBE8787AD4}"/>
              </a:ext>
            </a:extLst>
          </p:cNvPr>
          <p:cNvGraphicFramePr>
            <a:graphicFrameLocks noGrp="1"/>
          </p:cNvGraphicFramePr>
          <p:nvPr>
            <p:extLst>
              <p:ext uri="{D42A27DB-BD31-4B8C-83A1-F6EECF244321}">
                <p14:modId xmlns:p14="http://schemas.microsoft.com/office/powerpoint/2010/main" val="1368232093"/>
              </p:ext>
            </p:extLst>
          </p:nvPr>
        </p:nvGraphicFramePr>
        <p:xfrm>
          <a:off x="420038" y="6689567"/>
          <a:ext cx="6069662" cy="1158313"/>
        </p:xfrm>
        <a:graphic>
          <a:graphicData uri="http://schemas.openxmlformats.org/drawingml/2006/table">
            <a:tbl>
              <a:tblPr>
                <a:tableStyleId>{5C22544A-7EE6-4342-B048-85BDC9FD1C3A}</a:tableStyleId>
              </a:tblPr>
              <a:tblGrid>
                <a:gridCol w="2432937">
                  <a:extLst>
                    <a:ext uri="{9D8B030D-6E8A-4147-A177-3AD203B41FA5}">
                      <a16:colId xmlns:a16="http://schemas.microsoft.com/office/drawing/2014/main" val="1320303658"/>
                    </a:ext>
                  </a:extLst>
                </a:gridCol>
                <a:gridCol w="944944">
                  <a:extLst>
                    <a:ext uri="{9D8B030D-6E8A-4147-A177-3AD203B41FA5}">
                      <a16:colId xmlns:a16="http://schemas.microsoft.com/office/drawing/2014/main" val="1181630776"/>
                    </a:ext>
                  </a:extLst>
                </a:gridCol>
                <a:gridCol w="808680">
                  <a:extLst>
                    <a:ext uri="{9D8B030D-6E8A-4147-A177-3AD203B41FA5}">
                      <a16:colId xmlns:a16="http://schemas.microsoft.com/office/drawing/2014/main" val="3949318443"/>
                    </a:ext>
                  </a:extLst>
                </a:gridCol>
                <a:gridCol w="402471">
                  <a:extLst>
                    <a:ext uri="{9D8B030D-6E8A-4147-A177-3AD203B41FA5}">
                      <a16:colId xmlns:a16="http://schemas.microsoft.com/office/drawing/2014/main" val="3257084413"/>
                    </a:ext>
                  </a:extLst>
                </a:gridCol>
                <a:gridCol w="1480630">
                  <a:extLst>
                    <a:ext uri="{9D8B030D-6E8A-4147-A177-3AD203B41FA5}">
                      <a16:colId xmlns:a16="http://schemas.microsoft.com/office/drawing/2014/main" val="3840390301"/>
                    </a:ext>
                  </a:extLst>
                </a:gridCol>
              </a:tblGrid>
              <a:tr h="322605">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417854">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2K</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C=100 pF, R=1.5 k</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17854">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R=1 </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bl>
          </a:graphicData>
        </a:graphic>
      </p:graphicFrame>
      <p:sp>
        <p:nvSpPr>
          <p:cNvPr id="10" name="TextBox 9">
            <a:extLst>
              <a:ext uri="{FF2B5EF4-FFF2-40B4-BE49-F238E27FC236}">
                <a16:creationId xmlns:a16="http://schemas.microsoft.com/office/drawing/2014/main" id="{C281DE0B-6349-0D52-F0D5-BEF3206C79CF}"/>
              </a:ext>
            </a:extLst>
          </p:cNvPr>
          <p:cNvSpPr txBox="1"/>
          <p:nvPr/>
        </p:nvSpPr>
        <p:spPr>
          <a:xfrm>
            <a:off x="400853" y="6358397"/>
            <a:ext cx="2081660"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Electrostatic Discharge</a:t>
            </a:r>
            <a:endParaRPr lang="ko-KR" altLang="en-US" sz="1200" dirty="0">
              <a:latin typeface="Arial" panose="020B0604020202020204" pitchFamily="34" charset="0"/>
              <a:cs typeface="Arial" panose="020B0604020202020204" pitchFamily="34" charset="0"/>
            </a:endParaRPr>
          </a:p>
        </p:txBody>
      </p:sp>
      <p:sp>
        <p:nvSpPr>
          <p:cNvPr id="2" name="object 11">
            <a:extLst>
              <a:ext uri="{FF2B5EF4-FFF2-40B4-BE49-F238E27FC236}">
                <a16:creationId xmlns:a16="http://schemas.microsoft.com/office/drawing/2014/main" id="{7D294AED-B5D7-76A7-B0FD-51B132C26ACB}"/>
              </a:ext>
            </a:extLst>
          </p:cNvPr>
          <p:cNvSpPr txBox="1"/>
          <p:nvPr/>
        </p:nvSpPr>
        <p:spPr>
          <a:xfrm>
            <a:off x="2647949" y="7971907"/>
            <a:ext cx="2531439"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3</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Electrostatic Discharge</a:t>
            </a:r>
          </a:p>
        </p:txBody>
      </p:sp>
      <p:sp>
        <p:nvSpPr>
          <p:cNvPr id="11" name="object 11">
            <a:extLst>
              <a:ext uri="{FF2B5EF4-FFF2-40B4-BE49-F238E27FC236}">
                <a16:creationId xmlns:a16="http://schemas.microsoft.com/office/drawing/2014/main" id="{55B9BB63-ABDA-30DF-1ADD-245600E5B925}"/>
              </a:ext>
            </a:extLst>
          </p:cNvPr>
          <p:cNvSpPr txBox="1"/>
          <p:nvPr/>
        </p:nvSpPr>
        <p:spPr>
          <a:xfrm>
            <a:off x="2647950" y="5258725"/>
            <a:ext cx="2531439"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lang="en-US" sz="881" b="1" dirty="0">
                <a:solidFill>
                  <a:prstClr val="black"/>
                </a:solidFill>
                <a:latin typeface="Arial" panose="020B0604020202020204" pitchFamily="34" charset="0"/>
                <a:cs typeface="Arial" panose="020B0604020202020204" pitchFamily="34" charset="0"/>
              </a:rPr>
              <a:t>2</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Maximum Absolute ratings </a:t>
            </a:r>
            <a:endParaRPr kumimoji="0" sz="881"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1355502031"/>
              </p:ext>
            </p:extLst>
          </p:nvPr>
        </p:nvGraphicFramePr>
        <p:xfrm>
          <a:off x="404812" y="1146143"/>
          <a:ext cx="6084887" cy="5637554"/>
        </p:xfrm>
        <a:graphic>
          <a:graphicData uri="http://schemas.openxmlformats.org/drawingml/2006/table">
            <a:tbl>
              <a:tblPr>
                <a:tableStyleId>{5C22544A-7EE6-4342-B048-85BDC9FD1C3A}</a:tableStyleId>
              </a:tblPr>
              <a:tblGrid>
                <a:gridCol w="1410931">
                  <a:extLst>
                    <a:ext uri="{9D8B030D-6E8A-4147-A177-3AD203B41FA5}">
                      <a16:colId xmlns:a16="http://schemas.microsoft.com/office/drawing/2014/main" val="1199541810"/>
                    </a:ext>
                  </a:extLst>
                </a:gridCol>
                <a:gridCol w="688128">
                  <a:extLst>
                    <a:ext uri="{9D8B030D-6E8A-4147-A177-3AD203B41FA5}">
                      <a16:colId xmlns:a16="http://schemas.microsoft.com/office/drawing/2014/main" val="2771136683"/>
                    </a:ext>
                  </a:extLst>
                </a:gridCol>
                <a:gridCol w="1820466">
                  <a:extLst>
                    <a:ext uri="{9D8B030D-6E8A-4147-A177-3AD203B41FA5}">
                      <a16:colId xmlns:a16="http://schemas.microsoft.com/office/drawing/2014/main" val="112759525"/>
                    </a:ext>
                  </a:extLst>
                </a:gridCol>
                <a:gridCol w="533171">
                  <a:extLst>
                    <a:ext uri="{9D8B030D-6E8A-4147-A177-3AD203B41FA5}">
                      <a16:colId xmlns:a16="http://schemas.microsoft.com/office/drawing/2014/main" val="2315189607"/>
                    </a:ext>
                  </a:extLst>
                </a:gridCol>
                <a:gridCol w="533171">
                  <a:extLst>
                    <a:ext uri="{9D8B030D-6E8A-4147-A177-3AD203B41FA5}">
                      <a16:colId xmlns:a16="http://schemas.microsoft.com/office/drawing/2014/main" val="1695008994"/>
                    </a:ext>
                  </a:extLst>
                </a:gridCol>
                <a:gridCol w="533171">
                  <a:extLst>
                    <a:ext uri="{9D8B030D-6E8A-4147-A177-3AD203B41FA5}">
                      <a16:colId xmlns:a16="http://schemas.microsoft.com/office/drawing/2014/main" val="1448189180"/>
                    </a:ext>
                  </a:extLst>
                </a:gridCol>
                <a:gridCol w="565849">
                  <a:extLst>
                    <a:ext uri="{9D8B030D-6E8A-4147-A177-3AD203B41FA5}">
                      <a16:colId xmlns:a16="http://schemas.microsoft.com/office/drawing/2014/main" val="3900317923"/>
                    </a:ext>
                  </a:extLst>
                </a:gridCol>
              </a:tblGrid>
              <a:tr h="216829">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16829">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6829">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6829">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6829">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6829">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16829">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1</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16829">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9770831"/>
                  </a:ext>
                </a:extLst>
              </a:tr>
              <a:tr h="216829">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2.2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691964"/>
                  </a:ext>
                </a:extLst>
              </a:tr>
              <a:tr h="216829">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4</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2.4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3255047"/>
                  </a:ext>
                </a:extLst>
              </a:tr>
              <a:tr h="216829">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5</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24mA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2.8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4212351"/>
                  </a:ext>
                </a:extLst>
              </a:tr>
              <a:tr h="216829">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6</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32mA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216829">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7</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4940259"/>
                  </a:ext>
                </a:extLst>
              </a:tr>
              <a:tr h="216829">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8</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64mA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1170575"/>
                  </a:ext>
                </a:extLst>
              </a:tr>
              <a:tr h="216829">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216829">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14.746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216829">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16829">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216829">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 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216829">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216829">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 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216829">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216829">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high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16829">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low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16829">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216829">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1CA38FF5-8C9F-ACA4-20AB-E41A4B181B45}"/>
              </a:ext>
            </a:extLst>
          </p:cNvPr>
          <p:cNvSpPr txBox="1"/>
          <p:nvPr/>
        </p:nvSpPr>
        <p:spPr>
          <a:xfrm>
            <a:off x="404813" y="8435771"/>
            <a:ext cx="6039642" cy="415435"/>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lnSpc>
                <a:spcPct val="150000"/>
              </a:lnSpc>
            </a:pPr>
            <a:r>
              <a:rPr lang="en-US" altLang="ko-KR" dirty="0"/>
              <a:t>Note :  1) The operation below V</a:t>
            </a:r>
            <a:r>
              <a:rPr lang="en-US" altLang="ko-KR" baseline="-25000" dirty="0"/>
              <a:t>DD</a:t>
            </a:r>
            <a:r>
              <a:rPr lang="en-US" altLang="ko-KR" dirty="0"/>
              <a:t>, 5V will limit a maximum LED sinking current and affect a current variation.</a:t>
            </a:r>
          </a:p>
          <a:p>
            <a:pPr>
              <a:lnSpc>
                <a:spcPct val="150000"/>
              </a:lnSpc>
            </a:pPr>
            <a:r>
              <a:rPr lang="en-US" altLang="ko-KR" dirty="0"/>
              <a:t>            2)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dirty="0">
                <a:solidFill>
                  <a:srgbClr val="000000"/>
                </a:solidFill>
                <a:ea typeface="굴림" panose="020B0600000101010101" pitchFamily="50" charset="-127"/>
              </a:rPr>
              <a:t>* 2</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dirty="0">
                <a:solidFill>
                  <a:srgbClr val="000000"/>
                </a:solidFill>
                <a:ea typeface="굴림" panose="020B0600000101010101" pitchFamily="50" charset="-127"/>
              </a:rPr>
              <a:t>* 2,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 31</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endParaRPr lang="en-US" altLang="ko-KR" dirty="0"/>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 name="그룹 38">
            <a:extLst>
              <a:ext uri="{FF2B5EF4-FFF2-40B4-BE49-F238E27FC236}">
                <a16:creationId xmlns:a16="http://schemas.microsoft.com/office/drawing/2014/main" id="{A822BD45-7C3F-A56B-2707-1B54E2C364AB}"/>
              </a:ext>
            </a:extLst>
          </p:cNvPr>
          <p:cNvGrpSpPr/>
          <p:nvPr/>
        </p:nvGrpSpPr>
        <p:grpSpPr>
          <a:xfrm>
            <a:off x="1920695" y="7450946"/>
            <a:ext cx="3333652" cy="830021"/>
            <a:chOff x="1832248" y="5427240"/>
            <a:chExt cx="3333652" cy="580812"/>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832248" y="5427240"/>
              <a:ext cx="3331009" cy="135033"/>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04720" y="5602561"/>
              <a:ext cx="0" cy="396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539246" y="5606248"/>
              <a:ext cx="0" cy="396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163246" y="5612052"/>
              <a:ext cx="0" cy="396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2921795" y="5795235"/>
              <a:ext cx="0" cy="18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04720" y="5717955"/>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148845" y="5819491"/>
              <a:ext cx="0" cy="18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545900" y="5721640"/>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451854" y="5590263"/>
              <a:ext cx="495896"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120217" y="5610615"/>
              <a:ext cx="495896"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06058" y="591112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2926485" y="5911122"/>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154161" y="5916438"/>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540196" y="5909491"/>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263618" y="5791180"/>
              <a:ext cx="242621"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08771" y="5786038"/>
              <a:ext cx="242621"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728385" y="5795235"/>
              <a:ext cx="229797"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538057" y="5791909"/>
              <a:ext cx="229797"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grpSp>
      <p:sp>
        <p:nvSpPr>
          <p:cNvPr id="10" name="object 11">
            <a:extLst>
              <a:ext uri="{FF2B5EF4-FFF2-40B4-BE49-F238E27FC236}">
                <a16:creationId xmlns:a16="http://schemas.microsoft.com/office/drawing/2014/main" id="{153D9292-588D-C6B2-F8BB-41AE19D398D2}"/>
              </a:ext>
            </a:extLst>
          </p:cNvPr>
          <p:cNvSpPr txBox="1"/>
          <p:nvPr/>
        </p:nvSpPr>
        <p:spPr>
          <a:xfrm>
            <a:off x="2558404" y="6904687"/>
            <a:ext cx="2048296"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4</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Electrical Characteristic </a:t>
            </a:r>
          </a:p>
        </p:txBody>
      </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3743371699"/>
              </p:ext>
            </p:extLst>
          </p:nvPr>
        </p:nvGraphicFramePr>
        <p:xfrm>
          <a:off x="404812" y="1136650"/>
          <a:ext cx="6084887" cy="6982169"/>
        </p:xfrm>
        <a:graphic>
          <a:graphicData uri="http://schemas.openxmlformats.org/drawingml/2006/table">
            <a:tbl>
              <a:tblPr>
                <a:tableStyleId>{5C22544A-7EE6-4342-B048-85BDC9FD1C3A}</a:tableStyleId>
              </a:tblPr>
              <a:tblGrid>
                <a:gridCol w="1410931">
                  <a:extLst>
                    <a:ext uri="{9D8B030D-6E8A-4147-A177-3AD203B41FA5}">
                      <a16:colId xmlns:a16="http://schemas.microsoft.com/office/drawing/2014/main" val="1783343538"/>
                    </a:ext>
                  </a:extLst>
                </a:gridCol>
                <a:gridCol w="688128">
                  <a:extLst>
                    <a:ext uri="{9D8B030D-6E8A-4147-A177-3AD203B41FA5}">
                      <a16:colId xmlns:a16="http://schemas.microsoft.com/office/drawing/2014/main" val="3180006436"/>
                    </a:ext>
                  </a:extLst>
                </a:gridCol>
                <a:gridCol w="1820466">
                  <a:extLst>
                    <a:ext uri="{9D8B030D-6E8A-4147-A177-3AD203B41FA5}">
                      <a16:colId xmlns:a16="http://schemas.microsoft.com/office/drawing/2014/main" val="1629708029"/>
                    </a:ext>
                  </a:extLst>
                </a:gridCol>
                <a:gridCol w="533171">
                  <a:extLst>
                    <a:ext uri="{9D8B030D-6E8A-4147-A177-3AD203B41FA5}">
                      <a16:colId xmlns:a16="http://schemas.microsoft.com/office/drawing/2014/main" val="3514095092"/>
                    </a:ext>
                  </a:extLst>
                </a:gridCol>
                <a:gridCol w="533171">
                  <a:extLst>
                    <a:ext uri="{9D8B030D-6E8A-4147-A177-3AD203B41FA5}">
                      <a16:colId xmlns:a16="http://schemas.microsoft.com/office/drawing/2014/main" val="2256908222"/>
                    </a:ext>
                  </a:extLst>
                </a:gridCol>
                <a:gridCol w="533171">
                  <a:extLst>
                    <a:ext uri="{9D8B030D-6E8A-4147-A177-3AD203B41FA5}">
                      <a16:colId xmlns:a16="http://schemas.microsoft.com/office/drawing/2014/main" val="2915946677"/>
                    </a:ext>
                  </a:extLst>
                </a:gridCol>
                <a:gridCol w="565849">
                  <a:extLst>
                    <a:ext uri="{9D8B030D-6E8A-4147-A177-3AD203B41FA5}">
                      <a16:colId xmlns:a16="http://schemas.microsoft.com/office/drawing/2014/main" val="2559142005"/>
                    </a:ext>
                  </a:extLst>
                </a:gridCol>
              </a:tblGrid>
              <a:tr h="263415">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3415">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3415">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71287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880" marR="46355" indent="281940">
                        <a:lnSpc>
                          <a:spcPct val="100000"/>
                        </a:lnSpc>
                        <a:spcBef>
                          <a:spcPts val="85"/>
                        </a:spcBef>
                      </a:pPr>
                      <a:r>
                        <a:rPr sz="900" spc="-5" dirty="0">
                          <a:solidFill>
                            <a:schemeClr val="tx1"/>
                          </a:solidFill>
                          <a:latin typeface="Arial"/>
                          <a:cs typeface="Arial"/>
                        </a:rPr>
                        <a:t>Headroom voltage V</a:t>
                      </a:r>
                      <a:r>
                        <a:rPr sz="900" spc="-7" baseline="-18518" dirty="0">
                          <a:solidFill>
                            <a:schemeClr val="tx1"/>
                          </a:solidFill>
                          <a:latin typeface="Arial"/>
                          <a:cs typeface="Arial"/>
                        </a:rPr>
                        <a:t>HD</a:t>
                      </a:r>
                      <a:r>
                        <a:rPr sz="900" baseline="-18518" dirty="0">
                          <a:solidFill>
                            <a:schemeClr val="tx1"/>
                          </a:solidFill>
                          <a:latin typeface="Arial"/>
                          <a:cs typeface="Arial"/>
                        </a:rPr>
                        <a:t> </a:t>
                      </a:r>
                      <a:r>
                        <a:rPr sz="900" dirty="0">
                          <a:solidFill>
                            <a:schemeClr val="tx1"/>
                          </a:solidFill>
                          <a:latin typeface="Arial"/>
                          <a:cs typeface="Arial"/>
                        </a:rPr>
                        <a:t>: </a:t>
                      </a:r>
                      <a:r>
                        <a:rPr sz="900" spc="5" dirty="0">
                          <a:solidFill>
                            <a:schemeClr val="tx1"/>
                          </a:solidFill>
                          <a:latin typeface="Arial"/>
                          <a:cs typeface="Arial"/>
                        </a:rPr>
                        <a:t> </a:t>
                      </a:r>
                      <a:r>
                        <a:rPr sz="900" spc="-5" dirty="0">
                          <a:solidFill>
                            <a:schemeClr val="tx1"/>
                          </a:solidFill>
                          <a:latin typeface="Arial"/>
                          <a:cs typeface="Arial"/>
                        </a:rPr>
                        <a:t>0.</a:t>
                      </a:r>
                      <a:r>
                        <a:rPr lang="en-US" altLang="ko-KR" sz="900" spc="-5" dirty="0">
                          <a:solidFill>
                            <a:schemeClr val="tx1"/>
                          </a:solidFill>
                          <a:latin typeface="Arial"/>
                          <a:cs typeface="Arial"/>
                        </a:rPr>
                        <a:t>6</a:t>
                      </a:r>
                      <a:r>
                        <a:rPr lang="en-US" sz="900" spc="-5" dirty="0">
                          <a:solidFill>
                            <a:schemeClr val="tx1"/>
                          </a:solidFill>
                          <a:latin typeface="Arial"/>
                          <a:cs typeface="Arial"/>
                        </a:rPr>
                        <a:t>0</a:t>
                      </a:r>
                      <a:r>
                        <a:rPr sz="900" spc="-5" dirty="0">
                          <a:solidFill>
                            <a:schemeClr val="tx1"/>
                          </a:solidFill>
                          <a:latin typeface="Arial"/>
                          <a:cs typeface="Arial"/>
                        </a:rPr>
                        <a:t>V</a:t>
                      </a:r>
                      <a:r>
                        <a:rPr sz="700" spc="-5" dirty="0">
                          <a:solidFill>
                            <a:schemeClr val="tx1"/>
                          </a:solidFill>
                          <a:latin typeface="Arial"/>
                          <a:cs typeface="Arial"/>
                        </a:rPr>
                        <a:t>@</a:t>
                      </a:r>
                      <a:r>
                        <a:rPr sz="700" spc="-15"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  </a:t>
                      </a:r>
                      <a:r>
                        <a:rPr sz="900" spc="187" baseline="-18518" dirty="0">
                          <a:solidFill>
                            <a:schemeClr val="tx1"/>
                          </a:solidFill>
                          <a:latin typeface="Arial"/>
                          <a:cs typeface="Arial"/>
                        </a:rPr>
                        <a:t> </a:t>
                      </a:r>
                      <a:r>
                        <a:rPr sz="900" dirty="0">
                          <a:solidFill>
                            <a:schemeClr val="tx1"/>
                          </a:solidFill>
                          <a:latin typeface="Arial"/>
                          <a:cs typeface="Arial"/>
                        </a:rPr>
                        <a:t>4mA,</a:t>
                      </a:r>
                      <a:r>
                        <a:rPr sz="900" spc="-30" dirty="0">
                          <a:solidFill>
                            <a:schemeClr val="tx1"/>
                          </a:solidFill>
                          <a:latin typeface="Arial"/>
                          <a:cs typeface="Arial"/>
                        </a:rPr>
                        <a:t> </a:t>
                      </a:r>
                      <a:r>
                        <a:rPr sz="900" dirty="0">
                          <a:solidFill>
                            <a:schemeClr val="tx1"/>
                          </a:solidFill>
                          <a:latin typeface="Arial"/>
                          <a:cs typeface="Arial"/>
                        </a:rPr>
                        <a:t>0.</a:t>
                      </a:r>
                      <a:r>
                        <a:rPr lang="en-US" sz="900" dirty="0">
                          <a:solidFill>
                            <a:schemeClr val="tx1"/>
                          </a:solidFill>
                          <a:latin typeface="Arial"/>
                          <a:cs typeface="Arial"/>
                        </a:rPr>
                        <a:t>65</a:t>
                      </a:r>
                      <a:r>
                        <a:rPr sz="900" dirty="0">
                          <a:solidFill>
                            <a:schemeClr val="tx1"/>
                          </a:solidFill>
                          <a:latin typeface="Arial"/>
                          <a:cs typeface="Arial"/>
                        </a:rPr>
                        <a:t>V</a:t>
                      </a:r>
                      <a:r>
                        <a:rPr sz="700" dirty="0">
                          <a:solidFill>
                            <a:schemeClr val="tx1"/>
                          </a:solidFill>
                          <a:latin typeface="Arial"/>
                          <a:cs typeface="Arial"/>
                        </a:rPr>
                        <a:t>@</a:t>
                      </a:r>
                      <a:r>
                        <a:rPr sz="700" spc="-15"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  </a:t>
                      </a:r>
                      <a:r>
                        <a:rPr sz="900" spc="195" baseline="-18518" dirty="0">
                          <a:solidFill>
                            <a:schemeClr val="tx1"/>
                          </a:solidFill>
                          <a:latin typeface="Arial"/>
                          <a:cs typeface="Arial"/>
                        </a:rPr>
                        <a:t> </a:t>
                      </a:r>
                      <a:r>
                        <a:rPr sz="900" dirty="0">
                          <a:solidFill>
                            <a:schemeClr val="tx1"/>
                          </a:solidFill>
                          <a:latin typeface="Arial"/>
                          <a:cs typeface="Arial"/>
                        </a:rPr>
                        <a:t>8mA</a:t>
                      </a:r>
                    </a:p>
                    <a:p>
                      <a:pPr marL="54610">
                        <a:lnSpc>
                          <a:spcPct val="100000"/>
                        </a:lnSpc>
                      </a:pPr>
                      <a:r>
                        <a:rPr sz="900" spc="-5" dirty="0">
                          <a:solidFill>
                            <a:schemeClr val="tx1"/>
                          </a:solidFill>
                          <a:latin typeface="Arial"/>
                          <a:cs typeface="Arial"/>
                        </a:rPr>
                        <a:t>0.</a:t>
                      </a:r>
                      <a:r>
                        <a:rPr lang="en-US" sz="900" spc="-5" dirty="0">
                          <a:solidFill>
                            <a:schemeClr val="tx1"/>
                          </a:solidFill>
                          <a:latin typeface="Arial"/>
                          <a:cs typeface="Arial"/>
                        </a:rPr>
                        <a:t>70</a:t>
                      </a:r>
                      <a:r>
                        <a:rPr sz="900" spc="-5" dirty="0">
                          <a:solidFill>
                            <a:schemeClr val="tx1"/>
                          </a:solidFill>
                          <a:latin typeface="Arial"/>
                          <a:cs typeface="Arial"/>
                        </a:rPr>
                        <a:t>V</a:t>
                      </a:r>
                      <a:r>
                        <a:rPr sz="700" spc="-5" dirty="0">
                          <a:solidFill>
                            <a:schemeClr val="tx1"/>
                          </a:solidFill>
                          <a:latin typeface="Arial"/>
                          <a:cs typeface="Arial"/>
                        </a:rPr>
                        <a:t>@</a:t>
                      </a:r>
                      <a:r>
                        <a:rPr sz="700" spc="-20"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a:t>
                      </a:r>
                      <a:r>
                        <a:rPr sz="900" spc="-30" baseline="-18518" dirty="0">
                          <a:solidFill>
                            <a:schemeClr val="tx1"/>
                          </a:solidFill>
                          <a:latin typeface="Arial"/>
                          <a:cs typeface="Arial"/>
                        </a:rPr>
                        <a:t> </a:t>
                      </a:r>
                      <a:r>
                        <a:rPr sz="900" dirty="0">
                          <a:solidFill>
                            <a:schemeClr val="tx1"/>
                          </a:solidFill>
                          <a:latin typeface="Arial"/>
                          <a:cs typeface="Arial"/>
                        </a:rPr>
                        <a:t>12mA,</a:t>
                      </a:r>
                      <a:r>
                        <a:rPr sz="900" spc="-40" dirty="0">
                          <a:solidFill>
                            <a:schemeClr val="tx1"/>
                          </a:solidFill>
                          <a:latin typeface="Arial"/>
                          <a:cs typeface="Arial"/>
                        </a:rPr>
                        <a:t> </a:t>
                      </a:r>
                      <a:r>
                        <a:rPr sz="900" dirty="0">
                          <a:solidFill>
                            <a:schemeClr val="tx1"/>
                          </a:solidFill>
                          <a:latin typeface="Arial"/>
                          <a:cs typeface="Arial"/>
                        </a:rPr>
                        <a:t>0.</a:t>
                      </a:r>
                      <a:r>
                        <a:rPr lang="en-US" sz="900" dirty="0">
                          <a:solidFill>
                            <a:schemeClr val="tx1"/>
                          </a:solidFill>
                          <a:latin typeface="Arial"/>
                          <a:cs typeface="Arial"/>
                        </a:rPr>
                        <a:t>7</a:t>
                      </a:r>
                      <a:r>
                        <a:rPr sz="900" dirty="0">
                          <a:solidFill>
                            <a:schemeClr val="tx1"/>
                          </a:solidFill>
                          <a:latin typeface="Arial"/>
                          <a:cs typeface="Arial"/>
                        </a:rPr>
                        <a:t>5V</a:t>
                      </a:r>
                      <a:r>
                        <a:rPr sz="700" dirty="0">
                          <a:solidFill>
                            <a:schemeClr val="tx1"/>
                          </a:solidFill>
                          <a:latin typeface="Arial"/>
                          <a:cs typeface="Arial"/>
                        </a:rPr>
                        <a:t>@</a:t>
                      </a:r>
                      <a:r>
                        <a:rPr sz="700" spc="-20"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a:t>
                      </a:r>
                      <a:r>
                        <a:rPr sz="900" spc="-30" baseline="-18518" dirty="0">
                          <a:solidFill>
                            <a:schemeClr val="tx1"/>
                          </a:solidFill>
                          <a:latin typeface="Arial"/>
                          <a:cs typeface="Arial"/>
                        </a:rPr>
                        <a:t> </a:t>
                      </a:r>
                      <a:r>
                        <a:rPr sz="900" dirty="0">
                          <a:solidFill>
                            <a:schemeClr val="tx1"/>
                          </a:solidFill>
                          <a:latin typeface="Arial"/>
                          <a:cs typeface="Arial"/>
                        </a:rPr>
                        <a:t>16mA</a:t>
                      </a:r>
                    </a:p>
                    <a:p>
                      <a:pPr marL="54610">
                        <a:lnSpc>
                          <a:spcPct val="100000"/>
                        </a:lnSpc>
                      </a:pPr>
                      <a:r>
                        <a:rPr sz="900" spc="-5" dirty="0">
                          <a:solidFill>
                            <a:schemeClr val="tx1"/>
                          </a:solidFill>
                          <a:latin typeface="Arial"/>
                          <a:cs typeface="Arial"/>
                        </a:rPr>
                        <a:t>0.80V</a:t>
                      </a:r>
                      <a:r>
                        <a:rPr sz="700" spc="-5" dirty="0">
                          <a:solidFill>
                            <a:schemeClr val="tx1"/>
                          </a:solidFill>
                          <a:latin typeface="Arial"/>
                          <a:cs typeface="Arial"/>
                        </a:rPr>
                        <a:t>@</a:t>
                      </a:r>
                      <a:r>
                        <a:rPr sz="700" spc="-20"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a:t>
                      </a:r>
                      <a:r>
                        <a:rPr sz="900" spc="-30" baseline="-18518" dirty="0">
                          <a:solidFill>
                            <a:schemeClr val="tx1"/>
                          </a:solidFill>
                          <a:latin typeface="Arial"/>
                          <a:cs typeface="Arial"/>
                        </a:rPr>
                        <a:t> </a:t>
                      </a:r>
                      <a:r>
                        <a:rPr sz="900" dirty="0">
                          <a:solidFill>
                            <a:schemeClr val="tx1"/>
                          </a:solidFill>
                          <a:latin typeface="Arial"/>
                          <a:cs typeface="Arial"/>
                        </a:rPr>
                        <a:t>24mA,</a:t>
                      </a:r>
                      <a:r>
                        <a:rPr sz="900" spc="-40" dirty="0">
                          <a:solidFill>
                            <a:schemeClr val="tx1"/>
                          </a:solidFill>
                          <a:latin typeface="Arial"/>
                          <a:cs typeface="Arial"/>
                        </a:rPr>
                        <a:t> </a:t>
                      </a:r>
                      <a:r>
                        <a:rPr sz="900" dirty="0">
                          <a:solidFill>
                            <a:schemeClr val="tx1"/>
                          </a:solidFill>
                          <a:latin typeface="Arial"/>
                          <a:cs typeface="Arial"/>
                        </a:rPr>
                        <a:t>0.</a:t>
                      </a:r>
                      <a:r>
                        <a:rPr lang="en-US" sz="900" dirty="0">
                          <a:solidFill>
                            <a:schemeClr val="tx1"/>
                          </a:solidFill>
                          <a:latin typeface="Arial"/>
                          <a:cs typeface="Arial"/>
                        </a:rPr>
                        <a:t>85</a:t>
                      </a:r>
                      <a:r>
                        <a:rPr sz="900" dirty="0">
                          <a:solidFill>
                            <a:schemeClr val="tx1"/>
                          </a:solidFill>
                          <a:latin typeface="Arial"/>
                          <a:cs typeface="Arial"/>
                        </a:rPr>
                        <a:t>V</a:t>
                      </a:r>
                      <a:r>
                        <a:rPr sz="700" dirty="0">
                          <a:solidFill>
                            <a:schemeClr val="tx1"/>
                          </a:solidFill>
                          <a:latin typeface="Arial"/>
                          <a:cs typeface="Arial"/>
                        </a:rPr>
                        <a:t>@</a:t>
                      </a:r>
                      <a:r>
                        <a:rPr sz="700" spc="-20"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a:t>
                      </a:r>
                      <a:r>
                        <a:rPr sz="900" spc="-30" baseline="-18518" dirty="0">
                          <a:solidFill>
                            <a:schemeClr val="tx1"/>
                          </a:solidFill>
                          <a:latin typeface="Arial"/>
                          <a:cs typeface="Arial"/>
                        </a:rPr>
                        <a:t> </a:t>
                      </a:r>
                      <a:r>
                        <a:rPr sz="900" dirty="0">
                          <a:solidFill>
                            <a:schemeClr val="tx1"/>
                          </a:solidFill>
                          <a:latin typeface="Arial"/>
                          <a:cs typeface="Arial"/>
                        </a:rPr>
                        <a:t>32mA</a:t>
                      </a:r>
                    </a:p>
                    <a:p>
                      <a:pPr marL="54610">
                        <a:lnSpc>
                          <a:spcPct val="100000"/>
                        </a:lnSpc>
                      </a:pPr>
                      <a:r>
                        <a:rPr sz="900" spc="-5" dirty="0">
                          <a:solidFill>
                            <a:schemeClr val="tx1"/>
                          </a:solidFill>
                          <a:latin typeface="Arial"/>
                          <a:cs typeface="Arial"/>
                        </a:rPr>
                        <a:t>0.</a:t>
                      </a:r>
                      <a:r>
                        <a:rPr lang="en-US" sz="900" spc="-5" dirty="0">
                          <a:solidFill>
                            <a:schemeClr val="tx1"/>
                          </a:solidFill>
                          <a:latin typeface="Arial"/>
                          <a:cs typeface="Arial"/>
                        </a:rPr>
                        <a:t>9</a:t>
                      </a:r>
                      <a:r>
                        <a:rPr sz="900" spc="-5" dirty="0">
                          <a:solidFill>
                            <a:schemeClr val="tx1"/>
                          </a:solidFill>
                          <a:latin typeface="Arial"/>
                          <a:cs typeface="Arial"/>
                        </a:rPr>
                        <a:t>0V</a:t>
                      </a:r>
                      <a:r>
                        <a:rPr sz="700" spc="-5" dirty="0">
                          <a:solidFill>
                            <a:schemeClr val="tx1"/>
                          </a:solidFill>
                          <a:latin typeface="Arial"/>
                          <a:cs typeface="Arial"/>
                        </a:rPr>
                        <a:t>@</a:t>
                      </a:r>
                      <a:r>
                        <a:rPr sz="700" spc="-10"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a:t>
                      </a:r>
                      <a:r>
                        <a:rPr sz="900" spc="-30" baseline="-18518" dirty="0">
                          <a:solidFill>
                            <a:schemeClr val="tx1"/>
                          </a:solidFill>
                          <a:latin typeface="Arial"/>
                          <a:cs typeface="Arial"/>
                        </a:rPr>
                        <a:t> </a:t>
                      </a:r>
                      <a:r>
                        <a:rPr sz="900" dirty="0">
                          <a:solidFill>
                            <a:schemeClr val="tx1"/>
                          </a:solidFill>
                          <a:latin typeface="Arial"/>
                          <a:cs typeface="Arial"/>
                        </a:rPr>
                        <a:t>46mA,</a:t>
                      </a:r>
                      <a:r>
                        <a:rPr sz="900" spc="-25" dirty="0">
                          <a:solidFill>
                            <a:schemeClr val="tx1"/>
                          </a:solidFill>
                          <a:latin typeface="Arial"/>
                          <a:cs typeface="Arial"/>
                        </a:rPr>
                        <a:t> </a:t>
                      </a:r>
                      <a:r>
                        <a:rPr sz="900" spc="-5" dirty="0">
                          <a:solidFill>
                            <a:schemeClr val="tx1"/>
                          </a:solidFill>
                          <a:latin typeface="Arial"/>
                          <a:cs typeface="Arial"/>
                        </a:rPr>
                        <a:t>0.90V</a:t>
                      </a:r>
                      <a:r>
                        <a:rPr sz="700" spc="-5" dirty="0">
                          <a:solidFill>
                            <a:schemeClr val="tx1"/>
                          </a:solidFill>
                          <a:latin typeface="Arial"/>
                          <a:cs typeface="Arial"/>
                        </a:rPr>
                        <a:t>@</a:t>
                      </a:r>
                      <a:r>
                        <a:rPr sz="700" spc="-10"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a:t>
                      </a:r>
                      <a:r>
                        <a:rPr sz="900" spc="-30" baseline="-18518" dirty="0">
                          <a:solidFill>
                            <a:schemeClr val="tx1"/>
                          </a:solidFill>
                          <a:latin typeface="Arial"/>
                          <a:cs typeface="Arial"/>
                        </a:rPr>
                        <a:t> </a:t>
                      </a:r>
                      <a:r>
                        <a:rPr sz="900" dirty="0">
                          <a:solidFill>
                            <a:schemeClr val="tx1"/>
                          </a:solidFill>
                          <a:latin typeface="Arial"/>
                          <a:cs typeface="Arial"/>
                        </a:rPr>
                        <a:t>64mA</a:t>
                      </a:r>
                    </a:p>
                  </a:txBody>
                  <a:tcPr marL="0" marR="0" marT="10795"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722778">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nSpc>
                          <a:spcPct val="100000"/>
                        </a:lnSpc>
                        <a:spcBef>
                          <a:spcPts val="160"/>
                        </a:spcBef>
                      </a:pPr>
                      <a:r>
                        <a:rPr sz="900" spc="-15" dirty="0">
                          <a:solidFill>
                            <a:schemeClr val="tx1"/>
                          </a:solidFill>
                          <a:latin typeface="Arial"/>
                          <a:cs typeface="Arial"/>
                        </a:rPr>
                        <a:t>S</a:t>
                      </a:r>
                      <a:r>
                        <a:rPr sz="900" spc="-10" dirty="0">
                          <a:solidFill>
                            <a:schemeClr val="tx1"/>
                          </a:solidFill>
                          <a:latin typeface="Arial"/>
                          <a:cs typeface="Arial"/>
                        </a:rPr>
                        <a:t>ho</a:t>
                      </a:r>
                      <a:r>
                        <a:rPr sz="900" spc="-15" dirty="0">
                          <a:solidFill>
                            <a:schemeClr val="tx1"/>
                          </a:solidFill>
                          <a:latin typeface="Arial"/>
                          <a:cs typeface="Arial"/>
                        </a:rPr>
                        <a:t>r</a:t>
                      </a:r>
                      <a:r>
                        <a:rPr sz="900" dirty="0">
                          <a:solidFill>
                            <a:schemeClr val="tx1"/>
                          </a:solidFill>
                          <a:latin typeface="Arial"/>
                          <a:cs typeface="Arial"/>
                        </a:rPr>
                        <a:t>t</a:t>
                      </a:r>
                      <a:r>
                        <a:rPr sz="900" spc="-60" dirty="0">
                          <a:solidFill>
                            <a:schemeClr val="tx1"/>
                          </a:solidFill>
                          <a:latin typeface="Arial"/>
                          <a:cs typeface="Arial"/>
                        </a:rPr>
                        <a:t> </a:t>
                      </a:r>
                      <a:r>
                        <a:rPr sz="900" spc="-10" dirty="0">
                          <a:solidFill>
                            <a:schemeClr val="tx1"/>
                          </a:solidFill>
                          <a:latin typeface="Arial"/>
                          <a:cs typeface="Arial"/>
                        </a:rPr>
                        <a:t>detecti</a:t>
                      </a:r>
                      <a:r>
                        <a:rPr sz="900" spc="-25" dirty="0">
                          <a:solidFill>
                            <a:schemeClr val="tx1"/>
                          </a:solidFill>
                          <a:latin typeface="Arial"/>
                          <a:cs typeface="Arial"/>
                        </a:rPr>
                        <a:t>o</a:t>
                      </a:r>
                      <a:r>
                        <a:rPr sz="900" dirty="0">
                          <a:solidFill>
                            <a:schemeClr val="tx1"/>
                          </a:solidFill>
                          <a:latin typeface="Arial"/>
                          <a:cs typeface="Arial"/>
                        </a:rPr>
                        <a:t>n</a:t>
                      </a:r>
                      <a:r>
                        <a:rPr sz="900" spc="-70" dirty="0">
                          <a:solidFill>
                            <a:schemeClr val="tx1"/>
                          </a:solidFill>
                          <a:latin typeface="Arial"/>
                          <a:cs typeface="Arial"/>
                        </a:rPr>
                        <a:t> </a:t>
                      </a:r>
                      <a:r>
                        <a:rPr sz="900" spc="-10" dirty="0">
                          <a:solidFill>
                            <a:schemeClr val="tx1"/>
                          </a:solidFill>
                          <a:latin typeface="Arial"/>
                          <a:cs typeface="Arial"/>
                        </a:rPr>
                        <a:t>le</a:t>
                      </a:r>
                      <a:r>
                        <a:rPr sz="900" spc="-20" dirty="0">
                          <a:solidFill>
                            <a:schemeClr val="tx1"/>
                          </a:solidFill>
                          <a:latin typeface="Arial"/>
                          <a:cs typeface="Arial"/>
                        </a:rPr>
                        <a:t>v</a:t>
                      </a:r>
                      <a:r>
                        <a:rPr sz="900" spc="-10" dirty="0">
                          <a:solidFill>
                            <a:schemeClr val="tx1"/>
                          </a:solidFill>
                          <a:latin typeface="Arial"/>
                          <a:cs typeface="Arial"/>
                        </a:rPr>
                        <a:t>e</a:t>
                      </a:r>
                      <a:r>
                        <a:rPr sz="900" dirty="0">
                          <a:solidFill>
                            <a:schemeClr val="tx1"/>
                          </a:solidFill>
                          <a:latin typeface="Arial"/>
                          <a:cs typeface="Arial"/>
                        </a:rPr>
                        <a:t>l</a:t>
                      </a:r>
                      <a:r>
                        <a:rPr sz="900" spc="-30" dirty="0">
                          <a:solidFill>
                            <a:schemeClr val="tx1"/>
                          </a:solidFill>
                          <a:latin typeface="Arial"/>
                          <a:cs typeface="Arial"/>
                        </a:rPr>
                        <a:t> </a:t>
                      </a:r>
                      <a:r>
                        <a:rPr sz="900" spc="-5" dirty="0">
                          <a:solidFill>
                            <a:schemeClr val="tx1"/>
                          </a:solidFill>
                          <a:latin typeface="Arial"/>
                          <a:cs typeface="Arial"/>
                        </a:rPr>
                        <a:t>V</a:t>
                      </a:r>
                      <a:r>
                        <a:rPr sz="900" spc="-7" baseline="-18518" dirty="0">
                          <a:solidFill>
                            <a:schemeClr val="tx1"/>
                          </a:solidFill>
                          <a:latin typeface="Arial"/>
                          <a:cs typeface="Arial"/>
                        </a:rPr>
                        <a:t>S</a:t>
                      </a:r>
                      <a:r>
                        <a:rPr sz="900" baseline="-18518" dirty="0">
                          <a:solidFill>
                            <a:schemeClr val="tx1"/>
                          </a:solidFill>
                          <a:latin typeface="Arial"/>
                          <a:cs typeface="Arial"/>
                        </a:rPr>
                        <a:t>D </a:t>
                      </a:r>
                      <a:r>
                        <a:rPr sz="900" dirty="0">
                          <a:solidFill>
                            <a:schemeClr val="tx1"/>
                          </a:solidFill>
                          <a:latin typeface="Arial"/>
                          <a:cs typeface="Arial"/>
                        </a:rPr>
                        <a:t>:  3b’000=3V,</a:t>
                      </a:r>
                      <a:r>
                        <a:rPr sz="900" spc="160"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001</a:t>
                      </a:r>
                      <a:r>
                        <a:rPr sz="900" dirty="0">
                          <a:solidFill>
                            <a:schemeClr val="tx1"/>
                          </a:solidFill>
                          <a:latin typeface="Arial"/>
                          <a:cs typeface="Arial"/>
                        </a:rPr>
                        <a:t>=</a:t>
                      </a:r>
                      <a:r>
                        <a:rPr lang="en-US" sz="900" dirty="0">
                          <a:solidFill>
                            <a:schemeClr val="tx1"/>
                          </a:solidFill>
                          <a:latin typeface="Arial"/>
                          <a:cs typeface="Arial"/>
                        </a:rPr>
                        <a:t>4</a:t>
                      </a:r>
                      <a:r>
                        <a:rPr sz="900" dirty="0">
                          <a:solidFill>
                            <a:schemeClr val="tx1"/>
                          </a:solidFill>
                          <a:latin typeface="Arial"/>
                          <a:cs typeface="Arial"/>
                        </a:rPr>
                        <a:t>V</a:t>
                      </a:r>
                    </a:p>
                    <a:p>
                      <a:pPr marL="275590">
                        <a:lnSpc>
                          <a:spcPct val="100000"/>
                        </a:lnSpc>
                      </a:pPr>
                      <a:r>
                        <a:rPr sz="900" dirty="0">
                          <a:solidFill>
                            <a:schemeClr val="tx1"/>
                          </a:solidFill>
                          <a:latin typeface="Arial"/>
                          <a:cs typeface="Arial"/>
                        </a:rPr>
                        <a:t>3b’0</a:t>
                      </a:r>
                      <a:r>
                        <a:rPr lang="en-US" sz="900" dirty="0">
                          <a:solidFill>
                            <a:schemeClr val="tx1"/>
                          </a:solidFill>
                          <a:latin typeface="Arial"/>
                          <a:cs typeface="Arial"/>
                        </a:rPr>
                        <a:t>10</a:t>
                      </a:r>
                      <a:r>
                        <a:rPr sz="900" dirty="0">
                          <a:solidFill>
                            <a:schemeClr val="tx1"/>
                          </a:solidFill>
                          <a:latin typeface="Arial"/>
                          <a:cs typeface="Arial"/>
                        </a:rPr>
                        <a:t>=</a:t>
                      </a:r>
                      <a:r>
                        <a:rPr lang="en-US" sz="900" dirty="0">
                          <a:solidFill>
                            <a:schemeClr val="tx1"/>
                          </a:solidFill>
                          <a:latin typeface="Arial"/>
                          <a:cs typeface="Arial"/>
                        </a:rPr>
                        <a:t>6</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011</a:t>
                      </a:r>
                      <a:r>
                        <a:rPr sz="900" dirty="0">
                          <a:solidFill>
                            <a:schemeClr val="tx1"/>
                          </a:solidFill>
                          <a:latin typeface="Arial"/>
                          <a:cs typeface="Arial"/>
                        </a:rPr>
                        <a:t>=</a:t>
                      </a:r>
                      <a:r>
                        <a:rPr lang="en-US" sz="900" dirty="0">
                          <a:solidFill>
                            <a:schemeClr val="tx1"/>
                          </a:solidFill>
                          <a:latin typeface="Arial"/>
                          <a:cs typeface="Arial"/>
                        </a:rPr>
                        <a:t>8</a:t>
                      </a:r>
                      <a:r>
                        <a:rPr sz="900" dirty="0">
                          <a:solidFill>
                            <a:schemeClr val="tx1"/>
                          </a:solidFill>
                          <a:latin typeface="Arial"/>
                          <a:cs typeface="Arial"/>
                        </a:rPr>
                        <a:t>V</a:t>
                      </a:r>
                    </a:p>
                    <a:p>
                      <a:pPr marL="275590">
                        <a:lnSpc>
                          <a:spcPct val="100000"/>
                        </a:lnSpc>
                      </a:pPr>
                      <a:r>
                        <a:rPr sz="900" spc="-5" dirty="0">
                          <a:solidFill>
                            <a:schemeClr val="tx1"/>
                          </a:solidFill>
                          <a:latin typeface="Arial"/>
                          <a:cs typeface="Arial"/>
                        </a:rPr>
                        <a:t>3b’</a:t>
                      </a:r>
                      <a:r>
                        <a:rPr lang="en-US" sz="900" spc="-5" dirty="0">
                          <a:solidFill>
                            <a:schemeClr val="tx1"/>
                          </a:solidFill>
                          <a:latin typeface="Arial"/>
                          <a:cs typeface="Arial"/>
                        </a:rPr>
                        <a:t>100</a:t>
                      </a:r>
                      <a:r>
                        <a:rPr sz="900" spc="-5" dirty="0">
                          <a:solidFill>
                            <a:schemeClr val="tx1"/>
                          </a:solidFill>
                          <a:latin typeface="Arial"/>
                          <a:cs typeface="Arial"/>
                        </a:rPr>
                        <a:t>=</a:t>
                      </a:r>
                      <a:r>
                        <a:rPr lang="en-US" sz="900" spc="-5" dirty="0">
                          <a:solidFill>
                            <a:schemeClr val="tx1"/>
                          </a:solidFill>
                          <a:latin typeface="Arial"/>
                          <a:cs typeface="Arial"/>
                        </a:rPr>
                        <a:t>12</a:t>
                      </a:r>
                      <a:r>
                        <a:rPr sz="900" spc="-5" dirty="0">
                          <a:solidFill>
                            <a:schemeClr val="tx1"/>
                          </a:solidFill>
                          <a:latin typeface="Arial"/>
                          <a:cs typeface="Arial"/>
                        </a:rPr>
                        <a:t>V,</a:t>
                      </a:r>
                      <a:r>
                        <a:rPr sz="900" spc="200" dirty="0">
                          <a:solidFill>
                            <a:schemeClr val="tx1"/>
                          </a:solidFill>
                          <a:latin typeface="Arial"/>
                          <a:cs typeface="Arial"/>
                        </a:rPr>
                        <a:t> </a:t>
                      </a:r>
                      <a:r>
                        <a:rPr sz="900" spc="-5" dirty="0">
                          <a:solidFill>
                            <a:schemeClr val="tx1"/>
                          </a:solidFill>
                          <a:latin typeface="Arial"/>
                          <a:cs typeface="Arial"/>
                        </a:rPr>
                        <a:t>3b’1</a:t>
                      </a:r>
                      <a:r>
                        <a:rPr lang="en-US" sz="900" spc="-5" dirty="0">
                          <a:solidFill>
                            <a:schemeClr val="tx1"/>
                          </a:solidFill>
                          <a:latin typeface="Arial"/>
                          <a:cs typeface="Arial"/>
                        </a:rPr>
                        <a:t>01</a:t>
                      </a:r>
                      <a:r>
                        <a:rPr sz="900" spc="-5" dirty="0">
                          <a:solidFill>
                            <a:schemeClr val="tx1"/>
                          </a:solidFill>
                          <a:latin typeface="Arial"/>
                          <a:cs typeface="Arial"/>
                        </a:rPr>
                        <a:t>=</a:t>
                      </a:r>
                      <a:r>
                        <a:rPr lang="en-US" sz="900" spc="-5" dirty="0">
                          <a:solidFill>
                            <a:schemeClr val="tx1"/>
                          </a:solidFill>
                          <a:latin typeface="Arial"/>
                          <a:cs typeface="Arial"/>
                        </a:rPr>
                        <a:t>16</a:t>
                      </a:r>
                      <a:r>
                        <a:rPr sz="900" spc="-5" dirty="0">
                          <a:solidFill>
                            <a:schemeClr val="tx1"/>
                          </a:solidFill>
                          <a:latin typeface="Arial"/>
                          <a:cs typeface="Arial"/>
                        </a:rPr>
                        <a:t>V</a:t>
                      </a:r>
                      <a:endParaRPr sz="900" dirty="0">
                        <a:solidFill>
                          <a:schemeClr val="tx1"/>
                        </a:solidFill>
                        <a:latin typeface="Arial"/>
                        <a:cs typeface="Arial"/>
                      </a:endParaRPr>
                    </a:p>
                    <a:p>
                      <a:pPr marL="275590">
                        <a:lnSpc>
                          <a:spcPct val="100000"/>
                        </a:lnSpc>
                        <a:spcBef>
                          <a:spcPts val="5"/>
                        </a:spcBef>
                      </a:pPr>
                      <a:r>
                        <a:rPr sz="900" dirty="0">
                          <a:solidFill>
                            <a:schemeClr val="tx1"/>
                          </a:solidFill>
                          <a:latin typeface="Arial"/>
                          <a:cs typeface="Arial"/>
                        </a:rPr>
                        <a:t>3b’</a:t>
                      </a:r>
                      <a:r>
                        <a:rPr lang="en-US" sz="900" dirty="0">
                          <a:solidFill>
                            <a:schemeClr val="tx1"/>
                          </a:solidFill>
                          <a:latin typeface="Arial"/>
                          <a:cs typeface="Arial"/>
                        </a:rPr>
                        <a:t>110</a:t>
                      </a:r>
                      <a:r>
                        <a:rPr sz="900" dirty="0">
                          <a:solidFill>
                            <a:schemeClr val="tx1"/>
                          </a:solidFill>
                          <a:latin typeface="Arial"/>
                          <a:cs typeface="Arial"/>
                        </a:rPr>
                        <a:t>=</a:t>
                      </a:r>
                      <a:r>
                        <a:rPr lang="en-US" sz="900" dirty="0">
                          <a:solidFill>
                            <a:schemeClr val="tx1"/>
                          </a:solidFill>
                          <a:latin typeface="Arial"/>
                          <a:cs typeface="Arial"/>
                        </a:rPr>
                        <a:t>24</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3b’111=36V</a:t>
                      </a:r>
                    </a:p>
                  </a:txBody>
                  <a:tcPr marL="0" marR="0" marT="20320"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63415">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0.25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71287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3’b000 =   4mA, 3’b001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3’b010 = 12mA, 3’b011 = 16mA</a:t>
                      </a: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3’b100 = 24mA, 3’b101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3’b110 = 46mA, 3’b111 = 64mA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64</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580204">
                <a:tc rowSpan="3">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accuracy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318135" marR="318770" indent="46990" algn="ctr">
                        <a:lnSpc>
                          <a:spcPct val="100000"/>
                        </a:lnSpc>
                        <a:spcBef>
                          <a:spcPts val="120"/>
                        </a:spcBef>
                      </a:pPr>
                      <a:r>
                        <a:rPr sz="1050" spc="-7" baseline="3968" dirty="0">
                          <a:latin typeface="Arial"/>
                          <a:cs typeface="Arial"/>
                        </a:rPr>
                        <a:t>@ </a:t>
                      </a:r>
                      <a:r>
                        <a:rPr sz="900" dirty="0">
                          <a:latin typeface="Arial"/>
                          <a:cs typeface="Arial"/>
                        </a:rPr>
                        <a:t>I</a:t>
                      </a:r>
                      <a:r>
                        <a:rPr sz="900" baseline="-9259" dirty="0">
                          <a:latin typeface="Arial"/>
                          <a:cs typeface="Arial"/>
                        </a:rPr>
                        <a:t>O </a:t>
                      </a:r>
                      <a:r>
                        <a:rPr sz="900" dirty="0">
                          <a:latin typeface="Arial"/>
                          <a:cs typeface="Arial"/>
                        </a:rPr>
                        <a:t>=</a:t>
                      </a:r>
                      <a:r>
                        <a:rPr lang="en-US" sz="900" dirty="0">
                          <a:latin typeface="Arial"/>
                          <a:cs typeface="Arial"/>
                        </a:rPr>
                        <a:t>Imax(8</a:t>
                      </a:r>
                      <a:r>
                        <a:rPr lang="en-US" altLang="ko-KR" sz="900" dirty="0">
                          <a:latin typeface="Arial"/>
                          <a:cs typeface="Arial"/>
                        </a:rPr>
                        <a:t>mA)</a:t>
                      </a:r>
                      <a:r>
                        <a:rPr lang="en-US" sz="900" dirty="0">
                          <a:latin typeface="Arial"/>
                          <a:cs typeface="Arial"/>
                        </a:rPr>
                        <a:t>*0.</a:t>
                      </a:r>
                      <a:r>
                        <a:rPr lang="en-US" sz="900" spc="5" dirty="0">
                          <a:latin typeface="Arial"/>
                          <a:cs typeface="Arial"/>
                        </a:rPr>
                        <a:t>02</a:t>
                      </a:r>
                      <a:endParaRP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95052">
                <a:tc vMerge="1">
                  <a:txBody>
                    <a:bodyPr/>
                    <a:lstStyle/>
                    <a:p>
                      <a:pPr latinLnBrk="1"/>
                      <a:endParaRPr lang="ko-KR" altLang="en-US"/>
                    </a:p>
                  </a:txBody>
                  <a:tcPr/>
                </a:tc>
                <a:tc vMerge="1">
                  <a:txBody>
                    <a:bodyPr/>
                    <a:lstStyle/>
                    <a:p>
                      <a:pPr latinLnBrk="1"/>
                      <a:endParaRPr lang="ko-KR" altLang="en-US"/>
                    </a:p>
                  </a:txBody>
                  <a:tcPr/>
                </a:tc>
                <a:tc>
                  <a:txBody>
                    <a:bodyPr/>
                    <a:lstStyle/>
                    <a:p>
                      <a:pPr marL="318135" marR="318770" indent="46990" algn="ctr">
                        <a:lnSpc>
                          <a:spcPct val="100000"/>
                        </a:lnSpc>
                        <a:spcBef>
                          <a:spcPts val="120"/>
                        </a:spcBef>
                      </a:pPr>
                      <a:r>
                        <a:rPr lang="en-US" altLang="ko-KR" sz="105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 Imax(8mA)*0.</a:t>
                      </a:r>
                      <a:r>
                        <a:rPr lang="en-US" altLang="ko-KR" sz="900" spc="5" dirty="0">
                          <a:latin typeface="Arial"/>
                          <a:cs typeface="Arial"/>
                        </a:rPr>
                        <a:t>1</a:t>
                      </a:r>
                      <a:endParaRPr lang="en-US" altLang="ko-K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8768497"/>
                  </a:ext>
                </a:extLst>
              </a:tr>
              <a:tr h="295052">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18135" marR="318770" indent="46990" algn="ctr">
                        <a:lnSpc>
                          <a:spcPct val="100000"/>
                        </a:lnSpc>
                        <a:spcBef>
                          <a:spcPts val="120"/>
                        </a:spcBef>
                      </a:pPr>
                      <a:r>
                        <a:rPr lang="en-US" altLang="ko-KR" sz="105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 Imax(8mA)*1</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6953018"/>
                  </a:ext>
                </a:extLst>
              </a:tr>
              <a:tr h="263415">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latin typeface="Arial"/>
                          <a:cs typeface="Arial"/>
                        </a:rPr>
                        <a:t>Vo</a:t>
                      </a:r>
                      <a:r>
                        <a:rPr sz="900" spc="-35" dirty="0">
                          <a:latin typeface="Arial"/>
                          <a:cs typeface="Arial"/>
                        </a:rPr>
                        <a:t> </a:t>
                      </a:r>
                      <a:r>
                        <a:rPr sz="900" dirty="0">
                          <a:latin typeface="Arial"/>
                          <a:cs typeface="Arial"/>
                        </a:rPr>
                        <a:t>=</a:t>
                      </a:r>
                      <a:r>
                        <a:rPr sz="900" spc="-25" dirty="0">
                          <a:latin typeface="Arial"/>
                          <a:cs typeface="Arial"/>
                        </a:rPr>
                        <a:t> </a:t>
                      </a:r>
                      <a:r>
                        <a:rPr sz="900" spc="-5" dirty="0">
                          <a:latin typeface="Arial"/>
                          <a:cs typeface="Arial"/>
                        </a:rPr>
                        <a:t>40V</a:t>
                      </a:r>
                      <a:endParaRPr sz="900" dirty="0">
                        <a:latin typeface="Arial"/>
                        <a:cs typeface="Arial"/>
                      </a:endParaRP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63415">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722778">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0.40V,  3’b001 = 0.50V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0.60V,  3’b011 = 0.70V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0.85V,  3’b101 = 1.00V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1.15V,  3’b111 = 1.30V</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63415">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63415">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23507">
                <a:tc>
                  <a:txBody>
                    <a:bodyPr/>
                    <a:lstStyle/>
                    <a:p>
                      <a:pPr marL="0" marR="64135" indent="0" algn="r">
                        <a:lnSpc>
                          <a:spcPct val="200000"/>
                        </a:lnSpc>
                        <a:spcBef>
                          <a:spcPts val="5"/>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0"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900" dirty="0">
                          <a:solidFill>
                            <a:schemeClr val="tx1"/>
                          </a:solidFill>
                          <a:latin typeface="Arial" panose="020B0604020202020204" pitchFamily="34" charset="0"/>
                          <a:cs typeface="Arial" panose="020B0604020202020204" pitchFamily="34" charset="0"/>
                        </a:rPr>
                        <a:t>OFS_TEMP [3:0] = 0x8</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5"/>
                        </a:spcBef>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509724">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20"/>
                        </a:spcBef>
                      </a:pPr>
                      <a:endParaRPr sz="1350" dirty="0">
                        <a:latin typeface="Times New Roman"/>
                        <a:cs typeface="Times New Roman"/>
                      </a:endParaRPr>
                    </a:p>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254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L="170180">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4</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04811" y="8262904"/>
            <a:ext cx="6084887"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3)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4) Under satisfying the power dissipation specification.</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3934194173"/>
              </p:ext>
            </p:extLst>
          </p:nvPr>
        </p:nvGraphicFramePr>
        <p:xfrm>
          <a:off x="404812" y="1146851"/>
          <a:ext cx="6084887" cy="2698128"/>
        </p:xfrm>
        <a:graphic>
          <a:graphicData uri="http://schemas.openxmlformats.org/drawingml/2006/table">
            <a:tbl>
              <a:tblPr>
                <a:tableStyleId>{5C22544A-7EE6-4342-B048-85BDC9FD1C3A}</a:tableStyleId>
              </a:tblPr>
              <a:tblGrid>
                <a:gridCol w="1410931">
                  <a:extLst>
                    <a:ext uri="{9D8B030D-6E8A-4147-A177-3AD203B41FA5}">
                      <a16:colId xmlns:a16="http://schemas.microsoft.com/office/drawing/2014/main" val="1783343538"/>
                    </a:ext>
                  </a:extLst>
                </a:gridCol>
                <a:gridCol w="688128">
                  <a:extLst>
                    <a:ext uri="{9D8B030D-6E8A-4147-A177-3AD203B41FA5}">
                      <a16:colId xmlns:a16="http://schemas.microsoft.com/office/drawing/2014/main" val="3180006436"/>
                    </a:ext>
                  </a:extLst>
                </a:gridCol>
                <a:gridCol w="1820466">
                  <a:extLst>
                    <a:ext uri="{9D8B030D-6E8A-4147-A177-3AD203B41FA5}">
                      <a16:colId xmlns:a16="http://schemas.microsoft.com/office/drawing/2014/main" val="1629708029"/>
                    </a:ext>
                  </a:extLst>
                </a:gridCol>
                <a:gridCol w="533171">
                  <a:extLst>
                    <a:ext uri="{9D8B030D-6E8A-4147-A177-3AD203B41FA5}">
                      <a16:colId xmlns:a16="http://schemas.microsoft.com/office/drawing/2014/main" val="3514095092"/>
                    </a:ext>
                  </a:extLst>
                </a:gridCol>
                <a:gridCol w="533171">
                  <a:extLst>
                    <a:ext uri="{9D8B030D-6E8A-4147-A177-3AD203B41FA5}">
                      <a16:colId xmlns:a16="http://schemas.microsoft.com/office/drawing/2014/main" val="2256908222"/>
                    </a:ext>
                  </a:extLst>
                </a:gridCol>
                <a:gridCol w="533171">
                  <a:extLst>
                    <a:ext uri="{9D8B030D-6E8A-4147-A177-3AD203B41FA5}">
                      <a16:colId xmlns:a16="http://schemas.microsoft.com/office/drawing/2014/main" val="2915946677"/>
                    </a:ext>
                  </a:extLst>
                </a:gridCol>
                <a:gridCol w="565849">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a:t>
                      </a: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VLED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&gt;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3490188"/>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Internally required Init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457355">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from a last daisied device</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539</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556</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573</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2" y="3987997"/>
            <a:ext cx="6039642" cy="30264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5) If the timeout will be expired, the internal communication logic will go to an initial state, so new command</a:t>
            </a:r>
          </a:p>
          <a:p>
            <a:r>
              <a:rPr lang="en-US" altLang="ko-KR" dirty="0"/>
              <a:t>                transaction will be possible. The timeout function is configurable.</a:t>
            </a:r>
          </a:p>
        </p:txBody>
      </p:sp>
      <p:grpSp>
        <p:nvGrpSpPr>
          <p:cNvPr id="12" name="그룹 11">
            <a:extLst>
              <a:ext uri="{FF2B5EF4-FFF2-40B4-BE49-F238E27FC236}">
                <a16:creationId xmlns:a16="http://schemas.microsoft.com/office/drawing/2014/main" id="{6C82EC15-9699-1C1A-46AC-D19E38D1416D}"/>
              </a:ext>
            </a:extLst>
          </p:cNvPr>
          <p:cNvGrpSpPr/>
          <p:nvPr/>
        </p:nvGrpSpPr>
        <p:grpSpPr>
          <a:xfrm>
            <a:off x="2014428" y="5914719"/>
            <a:ext cx="3683271" cy="1977175"/>
            <a:chOff x="1974878" y="4905285"/>
            <a:chExt cx="3683271" cy="1977175"/>
          </a:xfrm>
        </p:grpSpPr>
        <p:grpSp>
          <p:nvGrpSpPr>
            <p:cNvPr id="14" name="그룹 13">
              <a:extLst>
                <a:ext uri="{FF2B5EF4-FFF2-40B4-BE49-F238E27FC236}">
                  <a16:creationId xmlns:a16="http://schemas.microsoft.com/office/drawing/2014/main" id="{D2FEAC5B-736F-506B-7AE9-1749B05F7A11}"/>
                </a:ext>
              </a:extLst>
            </p:cNvPr>
            <p:cNvGrpSpPr/>
            <p:nvPr/>
          </p:nvGrpSpPr>
          <p:grpSpPr>
            <a:xfrm>
              <a:off x="2005356" y="4905285"/>
              <a:ext cx="3652793" cy="1977175"/>
              <a:chOff x="1816202" y="6180673"/>
              <a:chExt cx="3652793" cy="1977175"/>
            </a:xfrm>
          </p:grpSpPr>
          <p:grpSp>
            <p:nvGrpSpPr>
              <p:cNvPr id="18" name="그룹 17">
                <a:extLst>
                  <a:ext uri="{FF2B5EF4-FFF2-40B4-BE49-F238E27FC236}">
                    <a16:creationId xmlns:a16="http://schemas.microsoft.com/office/drawing/2014/main" id="{69822CED-0717-EF9D-BB40-E915A361518E}"/>
                  </a:ext>
                </a:extLst>
              </p:cNvPr>
              <p:cNvGrpSpPr/>
              <p:nvPr/>
            </p:nvGrpSpPr>
            <p:grpSpPr>
              <a:xfrm>
                <a:off x="1816202" y="6180673"/>
                <a:ext cx="3652793" cy="1977175"/>
                <a:chOff x="2055059" y="3124552"/>
                <a:chExt cx="3652793" cy="1977175"/>
              </a:xfrm>
            </p:grpSpPr>
            <p:grpSp>
              <p:nvGrpSpPr>
                <p:cNvPr id="29" name="그룹 28">
                  <a:extLst>
                    <a:ext uri="{FF2B5EF4-FFF2-40B4-BE49-F238E27FC236}">
                      <a16:creationId xmlns:a16="http://schemas.microsoft.com/office/drawing/2014/main" id="{707CE45F-11F6-4D44-467B-F6F456E5CD11}"/>
                    </a:ext>
                  </a:extLst>
                </p:cNvPr>
                <p:cNvGrpSpPr/>
                <p:nvPr/>
              </p:nvGrpSpPr>
              <p:grpSpPr>
                <a:xfrm>
                  <a:off x="2055059" y="3124552"/>
                  <a:ext cx="2570096" cy="1977175"/>
                  <a:chOff x="1370836" y="2333123"/>
                  <a:chExt cx="2570096" cy="1977175"/>
                </a:xfrm>
              </p:grpSpPr>
              <p:cxnSp>
                <p:nvCxnSpPr>
                  <p:cNvPr id="33" name="직선 연결선 32">
                    <a:extLst>
                      <a:ext uri="{FF2B5EF4-FFF2-40B4-BE49-F238E27FC236}">
                        <a16:creationId xmlns:a16="http://schemas.microsoft.com/office/drawing/2014/main" id="{638036D0-FC1D-E9CA-369C-13F7C1F6C97F}"/>
                      </a:ext>
                    </a:extLst>
                  </p:cNvPr>
                  <p:cNvCxnSpPr>
                    <a:cxnSpLocks/>
                  </p:cNvCxnSpPr>
                  <p:nvPr/>
                </p:nvCxnSpPr>
                <p:spPr>
                  <a:xfrm flipH="1">
                    <a:off x="2122873" y="2493900"/>
                    <a:ext cx="450059" cy="1929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직선 연결선 33">
                    <a:extLst>
                      <a:ext uri="{FF2B5EF4-FFF2-40B4-BE49-F238E27FC236}">
                        <a16:creationId xmlns:a16="http://schemas.microsoft.com/office/drawing/2014/main" id="{A6C9A277-C9B8-A63F-7382-6C071B731D37}"/>
                      </a:ext>
                    </a:extLst>
                  </p:cNvPr>
                  <p:cNvCxnSpPr>
                    <a:cxnSpLocks/>
                  </p:cNvCxnSpPr>
                  <p:nvPr/>
                </p:nvCxnSpPr>
                <p:spPr>
                  <a:xfrm flipH="1">
                    <a:off x="2572932" y="2493900"/>
                    <a:ext cx="136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직선 연결선 35">
                    <a:extLst>
                      <a:ext uri="{FF2B5EF4-FFF2-40B4-BE49-F238E27FC236}">
                        <a16:creationId xmlns:a16="http://schemas.microsoft.com/office/drawing/2014/main" id="{6630F959-87FA-7CB9-8EA8-C6118C59F830}"/>
                      </a:ext>
                    </a:extLst>
                  </p:cNvPr>
                  <p:cNvCxnSpPr>
                    <a:cxnSpLocks/>
                  </p:cNvCxnSpPr>
                  <p:nvPr/>
                </p:nvCxnSpPr>
                <p:spPr>
                  <a:xfrm flipH="1">
                    <a:off x="1605401" y="2686872"/>
                    <a:ext cx="5155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5D0D1B6B-52E9-698A-2E4B-E06BB5BBF2D8}"/>
                      </a:ext>
                    </a:extLst>
                  </p:cNvPr>
                  <p:cNvCxnSpPr>
                    <a:cxnSpLocks/>
                  </p:cNvCxnSpPr>
                  <p:nvPr/>
                </p:nvCxnSpPr>
                <p:spPr>
                  <a:xfrm>
                    <a:off x="2132412" y="2723152"/>
                    <a:ext cx="0" cy="158714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F55B4131-ED1C-C2AE-D692-7EA4928DF3D0}"/>
                      </a:ext>
                    </a:extLst>
                  </p:cNvPr>
                  <p:cNvCxnSpPr>
                    <a:cxnSpLocks/>
                  </p:cNvCxnSpPr>
                  <p:nvPr/>
                </p:nvCxnSpPr>
                <p:spPr>
                  <a:xfrm>
                    <a:off x="2572932" y="2538457"/>
                    <a:ext cx="0" cy="61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9" name="직선 연결선 38">
                    <a:extLst>
                      <a:ext uri="{FF2B5EF4-FFF2-40B4-BE49-F238E27FC236}">
                        <a16:creationId xmlns:a16="http://schemas.microsoft.com/office/drawing/2014/main" id="{C2792032-4532-4E03-FEF7-410F7D1EBA0A}"/>
                      </a:ext>
                    </a:extLst>
                  </p:cNvPr>
                  <p:cNvCxnSpPr>
                    <a:cxnSpLocks/>
                  </p:cNvCxnSpPr>
                  <p:nvPr/>
                </p:nvCxnSpPr>
                <p:spPr>
                  <a:xfrm flipH="1">
                    <a:off x="2124072" y="2962953"/>
                    <a:ext cx="452013"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B8B358BC-5B30-7591-CCFF-ABF9BB21270C}"/>
                      </a:ext>
                    </a:extLst>
                  </p:cNvPr>
                  <p:cNvSpPr txBox="1"/>
                  <p:nvPr/>
                </p:nvSpPr>
                <p:spPr>
                  <a:xfrm>
                    <a:off x="2202529" y="3006108"/>
                    <a:ext cx="234038" cy="138499"/>
                  </a:xfrm>
                  <a:prstGeom prst="rect">
                    <a:avLst/>
                  </a:prstGeom>
                  <a:solidFill>
                    <a:schemeClr val="bg1"/>
                  </a:solidFill>
                </p:spPr>
                <p:txBody>
                  <a:bodyPr wrap="none" lIns="0" tIns="0" rIns="0" bIns="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ko-KR" altLang="en-US" sz="900" baseline="-25000" dirty="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EE907FDE-AA81-7964-1453-BFF12D1FEB6E}"/>
                      </a:ext>
                    </a:extLst>
                  </p:cNvPr>
                  <p:cNvSpPr txBox="1"/>
                  <p:nvPr/>
                </p:nvSpPr>
                <p:spPr>
                  <a:xfrm>
                    <a:off x="2850975" y="3006108"/>
                    <a:ext cx="214802" cy="138499"/>
                  </a:xfrm>
                  <a:prstGeom prst="rect">
                    <a:avLst/>
                  </a:prstGeom>
                  <a:solidFill>
                    <a:schemeClr val="bg1"/>
                  </a:solidFill>
                </p:spPr>
                <p:txBody>
                  <a:bodyPr wrap="none" lIns="0" tIns="0" rIns="0" bIns="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ko-KR" altLang="en-US" sz="900" baseline="-25000" dirty="0">
                      <a:latin typeface="Arial" panose="020B0604020202020204" pitchFamily="34" charset="0"/>
                      <a:cs typeface="Arial" panose="020B0604020202020204" pitchFamily="34" charset="0"/>
                    </a:endParaRPr>
                  </a:p>
                </p:txBody>
              </p:sp>
              <p:cxnSp>
                <p:nvCxnSpPr>
                  <p:cNvPr id="43" name="직선 연결선 42">
                    <a:extLst>
                      <a:ext uri="{FF2B5EF4-FFF2-40B4-BE49-F238E27FC236}">
                        <a16:creationId xmlns:a16="http://schemas.microsoft.com/office/drawing/2014/main" id="{123E726E-2C62-EFB8-BF75-4784FCDC0C18}"/>
                      </a:ext>
                    </a:extLst>
                  </p:cNvPr>
                  <p:cNvCxnSpPr>
                    <a:cxnSpLocks/>
                  </p:cNvCxnSpPr>
                  <p:nvPr/>
                </p:nvCxnSpPr>
                <p:spPr>
                  <a:xfrm>
                    <a:off x="3324970" y="2524409"/>
                    <a:ext cx="0" cy="61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D50E4A70-2026-47C3-6169-0E0D09D733D9}"/>
                      </a:ext>
                    </a:extLst>
                  </p:cNvPr>
                  <p:cNvCxnSpPr>
                    <a:cxnSpLocks/>
                  </p:cNvCxnSpPr>
                  <p:nvPr/>
                </p:nvCxnSpPr>
                <p:spPr>
                  <a:xfrm flipH="1">
                    <a:off x="2591782" y="2962953"/>
                    <a:ext cx="733188"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27CC51B9-12D3-3607-DF4B-BF1F15CDF16D}"/>
                      </a:ext>
                    </a:extLst>
                  </p:cNvPr>
                  <p:cNvSpPr txBox="1"/>
                  <p:nvPr/>
                </p:nvSpPr>
                <p:spPr>
                  <a:xfrm>
                    <a:off x="1370836" y="2590386"/>
                    <a:ext cx="189154" cy="138499"/>
                  </a:xfrm>
                  <a:prstGeom prst="rect">
                    <a:avLst/>
                  </a:prstGeom>
                  <a:solidFill>
                    <a:schemeClr val="bg1"/>
                  </a:solidFill>
                </p:spPr>
                <p:txBody>
                  <a:bodyPr wrap="none" lIns="0" tIns="0" rIns="0" bIns="0" rtlCol="0" anchor="ctr" anchorCtr="0">
                    <a:spAutoFit/>
                  </a:bodyPr>
                  <a:lstStyle/>
                  <a:p>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a:t>
                    </a:r>
                    <a:endParaRPr lang="ko-KR" altLang="en-US" sz="900" baseline="-25000" dirty="0">
                      <a:latin typeface="Arial" panose="020B0604020202020204" pitchFamily="34" charset="0"/>
                      <a:cs typeface="Arial" panose="020B0604020202020204" pitchFamily="34" charset="0"/>
                    </a:endParaRPr>
                  </a:p>
                </p:txBody>
              </p:sp>
              <p:sp>
                <p:nvSpPr>
                  <p:cNvPr id="51" name="TextBox 50">
                    <a:extLst>
                      <a:ext uri="{FF2B5EF4-FFF2-40B4-BE49-F238E27FC236}">
                        <a16:creationId xmlns:a16="http://schemas.microsoft.com/office/drawing/2014/main" id="{C5AEED31-4FE6-4E62-5AAB-4E7C4C782FF5}"/>
                      </a:ext>
                    </a:extLst>
                  </p:cNvPr>
                  <p:cNvSpPr txBox="1"/>
                  <p:nvPr/>
                </p:nvSpPr>
                <p:spPr>
                  <a:xfrm>
                    <a:off x="2572932" y="2333123"/>
                    <a:ext cx="141064" cy="138499"/>
                  </a:xfrm>
                  <a:prstGeom prst="rect">
                    <a:avLst/>
                  </a:prstGeom>
                  <a:solidFill>
                    <a:schemeClr val="bg1"/>
                  </a:solidFill>
                </p:spPr>
                <p:txBody>
                  <a:bodyPr wrap="none" lIns="0" tIns="0" rIns="0" bIns="0" rtlCol="0" anchor="ctr" anchorCtr="0">
                    <a:spAutoFit/>
                  </a:bodyPr>
                  <a:lstStyle/>
                  <a:p>
                    <a:r>
                      <a:rPr lang="en-US" altLang="ko-KR" sz="900" dirty="0">
                        <a:latin typeface="Arial" panose="020B0604020202020204" pitchFamily="34" charset="0"/>
                        <a:cs typeface="Arial" panose="020B0604020202020204" pitchFamily="34" charset="0"/>
                      </a:rPr>
                      <a:t>5V</a:t>
                    </a:r>
                    <a:endParaRPr lang="ko-KR" altLang="en-US" sz="900" baseline="-25000" dirty="0">
                      <a:latin typeface="Arial" panose="020B0604020202020204" pitchFamily="34" charset="0"/>
                      <a:cs typeface="Arial" panose="020B0604020202020204" pitchFamily="34" charset="0"/>
                    </a:endParaRPr>
                  </a:p>
                </p:txBody>
              </p:sp>
            </p:grpSp>
            <p:cxnSp>
              <p:nvCxnSpPr>
                <p:cNvPr id="31" name="직선 연결선 30">
                  <a:extLst>
                    <a:ext uri="{FF2B5EF4-FFF2-40B4-BE49-F238E27FC236}">
                      <a16:creationId xmlns:a16="http://schemas.microsoft.com/office/drawing/2014/main" id="{8A8EF280-590E-FCED-19E1-1DCB396F624D}"/>
                    </a:ext>
                  </a:extLst>
                </p:cNvPr>
                <p:cNvCxnSpPr>
                  <a:cxnSpLocks/>
                </p:cNvCxnSpPr>
                <p:nvPr/>
              </p:nvCxnSpPr>
              <p:spPr>
                <a:xfrm>
                  <a:off x="4009193" y="3754382"/>
                  <a:ext cx="648000" cy="0"/>
                </a:xfrm>
                <a:prstGeom prst="line">
                  <a:avLst/>
                </a:prstGeom>
                <a:ln>
                  <a:solidFill>
                    <a:schemeClr val="tx1"/>
                  </a:solidFill>
                  <a:headEnd type="oval" w="sm" len="sm"/>
                  <a:tailEnd type="triangle" w="sm" len="sm"/>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F441FA6-D81D-3F41-5CB1-1C1C958CA22E}"/>
                    </a:ext>
                  </a:extLst>
                </p:cNvPr>
                <p:cNvSpPr txBox="1"/>
                <p:nvPr/>
              </p:nvSpPr>
              <p:spPr>
                <a:xfrm>
                  <a:off x="4111261" y="3797537"/>
                  <a:ext cx="1596591" cy="138499"/>
                </a:xfrm>
                <a:prstGeom prst="rect">
                  <a:avLst/>
                </a:prstGeom>
                <a:solidFill>
                  <a:schemeClr val="bg1"/>
                </a:solidFill>
              </p:spPr>
              <p:txBody>
                <a:bodyPr wrap="none" lIns="0" tIns="0" rIns="0" bIns="0" rtlCol="0" anchor="ctr" anchorCtr="0">
                  <a:spAutoFit/>
                </a:bodyPr>
                <a:lstStyle/>
                <a:p>
                  <a:r>
                    <a:rPr lang="en-US" altLang="ko-KR" sz="900" dirty="0">
                      <a:latin typeface="Arial" panose="020B0604020202020204" pitchFamily="34" charset="0"/>
                      <a:cs typeface="Arial" panose="020B0604020202020204" pitchFamily="34" charset="0"/>
                    </a:rPr>
                    <a:t>Possible to receive commands </a:t>
                  </a:r>
                  <a:endParaRPr lang="ko-KR" altLang="en-US" sz="900" baseline="-25000" dirty="0">
                    <a:latin typeface="Arial" panose="020B0604020202020204" pitchFamily="34" charset="0"/>
                    <a:cs typeface="Arial" panose="020B0604020202020204" pitchFamily="34" charset="0"/>
                  </a:endParaRPr>
                </a:p>
              </p:txBody>
            </p:sp>
          </p:grpSp>
          <p:cxnSp>
            <p:nvCxnSpPr>
              <p:cNvPr id="19" name="직선 연결선 18">
                <a:extLst>
                  <a:ext uri="{FF2B5EF4-FFF2-40B4-BE49-F238E27FC236}">
                    <a16:creationId xmlns:a16="http://schemas.microsoft.com/office/drawing/2014/main" id="{388D0752-8A61-4D10-BEE8-2022011AFEFA}"/>
                  </a:ext>
                </a:extLst>
              </p:cNvPr>
              <p:cNvCxnSpPr>
                <a:cxnSpLocks/>
              </p:cNvCxnSpPr>
              <p:nvPr/>
            </p:nvCxnSpPr>
            <p:spPr>
              <a:xfrm flipH="1">
                <a:off x="3055119" y="7501291"/>
                <a:ext cx="450059" cy="1929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1BC76A2E-FC42-F354-DCE2-28566B3DE8FB}"/>
                  </a:ext>
                </a:extLst>
              </p:cNvPr>
              <p:cNvCxnSpPr>
                <a:cxnSpLocks/>
              </p:cNvCxnSpPr>
              <p:nvPr/>
            </p:nvCxnSpPr>
            <p:spPr>
              <a:xfrm flipH="1">
                <a:off x="3505178" y="7501291"/>
                <a:ext cx="136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직선 연결선 20">
                <a:extLst>
                  <a:ext uri="{FF2B5EF4-FFF2-40B4-BE49-F238E27FC236}">
                    <a16:creationId xmlns:a16="http://schemas.microsoft.com/office/drawing/2014/main" id="{FA1A7E0D-8B35-57E1-42F7-975E3AC17D04}"/>
                  </a:ext>
                </a:extLst>
              </p:cNvPr>
              <p:cNvCxnSpPr>
                <a:cxnSpLocks/>
              </p:cNvCxnSpPr>
              <p:nvPr/>
            </p:nvCxnSpPr>
            <p:spPr>
              <a:xfrm flipH="1">
                <a:off x="2005356" y="7694263"/>
                <a:ext cx="104780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4C8D77A4-34EF-F9FA-1A92-C3A0C19532B4}"/>
                  </a:ext>
                </a:extLst>
              </p:cNvPr>
              <p:cNvCxnSpPr>
                <a:cxnSpLocks/>
              </p:cNvCxnSpPr>
              <p:nvPr/>
            </p:nvCxnSpPr>
            <p:spPr>
              <a:xfrm flipH="1">
                <a:off x="3511073" y="7411106"/>
                <a:ext cx="1785" cy="74674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0855FE0E-8AFD-AF1E-2AE3-18D1EAE7930D}"/>
                  </a:ext>
                </a:extLst>
              </p:cNvPr>
              <p:cNvCxnSpPr>
                <a:cxnSpLocks/>
              </p:cNvCxnSpPr>
              <p:nvPr/>
            </p:nvCxnSpPr>
            <p:spPr>
              <a:xfrm flipH="1">
                <a:off x="2577778" y="7970344"/>
                <a:ext cx="93508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15" name="TextBox 14">
              <a:extLst>
                <a:ext uri="{FF2B5EF4-FFF2-40B4-BE49-F238E27FC236}">
                  <a16:creationId xmlns:a16="http://schemas.microsoft.com/office/drawing/2014/main" id="{C7A4B742-675F-C106-FB0C-9BC08CF36E8B}"/>
                </a:ext>
              </a:extLst>
            </p:cNvPr>
            <p:cNvSpPr txBox="1"/>
            <p:nvPr/>
          </p:nvSpPr>
          <p:spPr>
            <a:xfrm>
              <a:off x="1974878" y="6335530"/>
              <a:ext cx="227626" cy="138499"/>
            </a:xfrm>
            <a:prstGeom prst="rect">
              <a:avLst/>
            </a:prstGeom>
            <a:solidFill>
              <a:schemeClr val="bg1"/>
            </a:solidFill>
          </p:spPr>
          <p:txBody>
            <a:bodyPr wrap="none" lIns="0" tIns="0" rIns="0" bIns="0" rtlCol="0" anchor="ctr" anchorCtr="0">
              <a:spAutoFit/>
            </a:bodyPr>
            <a:lstStyle/>
            <a:p>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a:t>
              </a:r>
              <a:endParaRPr lang="ko-KR" altLang="en-US" sz="900" baseline="-250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DC40DE2F-297E-A9BA-5395-430AAB39E274}"/>
                </a:ext>
              </a:extLst>
            </p:cNvPr>
            <p:cNvSpPr txBox="1"/>
            <p:nvPr/>
          </p:nvSpPr>
          <p:spPr>
            <a:xfrm>
              <a:off x="3731864" y="6039372"/>
              <a:ext cx="304571" cy="138499"/>
            </a:xfrm>
            <a:prstGeom prst="rect">
              <a:avLst/>
            </a:prstGeom>
            <a:solidFill>
              <a:schemeClr val="bg1"/>
            </a:solidFill>
          </p:spPr>
          <p:txBody>
            <a:bodyPr wrap="none" lIns="0" tIns="0" rIns="0" bIns="0" rtlCol="0" anchor="ctr" anchorCtr="0">
              <a:spAutoFit/>
            </a:bodyPr>
            <a:lstStyle/>
            <a:p>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a:t>
              </a:r>
              <a:r>
                <a:rPr lang="en-US" altLang="ko-KR" sz="900" dirty="0">
                  <a:latin typeface="Arial" panose="020B0604020202020204" pitchFamily="34" charset="0"/>
                  <a:cs typeface="Arial" panose="020B0604020202020204" pitchFamily="34" charset="0"/>
                </a:rPr>
                <a:t>V</a:t>
              </a:r>
              <a:endParaRPr lang="ko-KR" altLang="en-US" sz="900" baseline="-250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E800E08D-55FB-3C33-39F8-7AC09B71E46E}"/>
                </a:ext>
              </a:extLst>
            </p:cNvPr>
            <p:cNvSpPr txBox="1"/>
            <p:nvPr/>
          </p:nvSpPr>
          <p:spPr>
            <a:xfrm>
              <a:off x="3065709" y="6709522"/>
              <a:ext cx="272510" cy="138499"/>
            </a:xfrm>
            <a:prstGeom prst="rect">
              <a:avLst/>
            </a:prstGeom>
            <a:solidFill>
              <a:schemeClr val="bg1"/>
            </a:solidFill>
          </p:spPr>
          <p:txBody>
            <a:bodyPr wrap="none" lIns="0" tIns="0" rIns="0" bIns="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VLED</a:t>
              </a:r>
              <a:endParaRPr lang="ko-KR" altLang="en-US" sz="900" baseline="-25000" dirty="0">
                <a:latin typeface="Arial" panose="020B0604020202020204" pitchFamily="34" charset="0"/>
                <a:cs typeface="Arial" panose="020B0604020202020204" pitchFamily="34" charset="0"/>
              </a:endParaRPr>
            </a:p>
          </p:txBody>
        </p:sp>
      </p:grpSp>
      <p:sp>
        <p:nvSpPr>
          <p:cNvPr id="52" name="TextBox 51">
            <a:extLst>
              <a:ext uri="{FF2B5EF4-FFF2-40B4-BE49-F238E27FC236}">
                <a16:creationId xmlns:a16="http://schemas.microsoft.com/office/drawing/2014/main" id="{937683C7-0003-FC73-A7C7-0CB489048286}"/>
              </a:ext>
            </a:extLst>
          </p:cNvPr>
          <p:cNvSpPr txBox="1"/>
          <p:nvPr/>
        </p:nvSpPr>
        <p:spPr>
          <a:xfrm>
            <a:off x="920750" y="6384504"/>
            <a:ext cx="1493999" cy="138499"/>
          </a:xfrm>
          <a:prstGeom prst="rect">
            <a:avLst/>
          </a:prstGeom>
          <a:solidFill>
            <a:schemeClr val="bg1"/>
          </a:solidFill>
        </p:spPr>
        <p:txBody>
          <a:bodyPr wrap="none" lIns="0" tIns="0" rIns="0" bIns="0" rtlCol="0" anchor="ctr" anchorCtr="0">
            <a:spAutoFit/>
          </a:bodyPr>
          <a:lstStyle/>
          <a:p>
            <a:pPr algn="r"/>
            <a:r>
              <a:rPr lang="en-US" altLang="ko-KR" sz="900" dirty="0">
                <a:latin typeface="Arial" panose="020B0604020202020204" pitchFamily="34" charset="0"/>
                <a:cs typeface="Arial" panose="020B0604020202020204" pitchFamily="34" charset="0"/>
              </a:rPr>
              <a:t>(XD12 Power supply voltage)</a:t>
            </a:r>
            <a:endParaRPr lang="ko-KR" altLang="en-US" sz="900" dirty="0">
              <a:latin typeface="Arial" panose="020B0604020202020204" pitchFamily="34" charset="0"/>
              <a:cs typeface="Arial" panose="020B0604020202020204" pitchFamily="34" charset="0"/>
            </a:endParaRPr>
          </a:p>
        </p:txBody>
      </p:sp>
      <p:sp>
        <p:nvSpPr>
          <p:cNvPr id="53" name="TextBox 52">
            <a:extLst>
              <a:ext uri="{FF2B5EF4-FFF2-40B4-BE49-F238E27FC236}">
                <a16:creationId xmlns:a16="http://schemas.microsoft.com/office/drawing/2014/main" id="{E63F5CCB-0AB6-8C1F-D33F-D1F81AD7322C}"/>
              </a:ext>
            </a:extLst>
          </p:cNvPr>
          <p:cNvSpPr txBox="1"/>
          <p:nvPr/>
        </p:nvSpPr>
        <p:spPr>
          <a:xfrm>
            <a:off x="946398" y="7527504"/>
            <a:ext cx="1468351" cy="138499"/>
          </a:xfrm>
          <a:prstGeom prst="rect">
            <a:avLst/>
          </a:prstGeom>
          <a:solidFill>
            <a:schemeClr val="bg1"/>
          </a:solidFill>
        </p:spPr>
        <p:txBody>
          <a:bodyPr wrap="none" lIns="0" tIns="0" rIns="0" bIns="0" rtlCol="0" anchor="ctr" anchorCtr="0">
            <a:spAutoFit/>
          </a:bodyPr>
          <a:lstStyle/>
          <a:p>
            <a:pPr algn="r"/>
            <a:r>
              <a:rPr lang="en-US" altLang="ko-KR" sz="900" dirty="0">
                <a:latin typeface="Arial" panose="020B0604020202020204" pitchFamily="34" charset="0"/>
                <a:cs typeface="Arial" panose="020B0604020202020204" pitchFamily="34" charset="0"/>
              </a:rPr>
              <a:t>(LED</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Source supply voltage)</a:t>
            </a:r>
            <a:endParaRPr lang="ko-KR" altLang="en-US" sz="900" dirty="0">
              <a:latin typeface="Arial" panose="020B0604020202020204" pitchFamily="34" charset="0"/>
              <a:cs typeface="Arial" panose="020B0604020202020204" pitchFamily="34" charset="0"/>
            </a:endParaRPr>
          </a:p>
        </p:txBody>
      </p:sp>
      <p:sp>
        <p:nvSpPr>
          <p:cNvPr id="57" name="object 84">
            <a:extLst>
              <a:ext uri="{FF2B5EF4-FFF2-40B4-BE49-F238E27FC236}">
                <a16:creationId xmlns:a16="http://schemas.microsoft.com/office/drawing/2014/main" id="{F1E6A956-926C-9D0F-C121-C280D0489B7E}"/>
              </a:ext>
            </a:extLst>
          </p:cNvPr>
          <p:cNvSpPr txBox="1"/>
          <p:nvPr/>
        </p:nvSpPr>
        <p:spPr>
          <a:xfrm>
            <a:off x="2480277" y="8360752"/>
            <a:ext cx="2743779"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 5 Power up sequence timing</a:t>
            </a:r>
          </a:p>
        </p:txBody>
      </p:sp>
      <p:sp>
        <p:nvSpPr>
          <p:cNvPr id="58" name="object 2">
            <a:extLst>
              <a:ext uri="{FF2B5EF4-FFF2-40B4-BE49-F238E27FC236}">
                <a16:creationId xmlns:a16="http://schemas.microsoft.com/office/drawing/2014/main" id="{EFC8002C-164B-D20F-12B2-2D4FEA5ACB5E}"/>
              </a:ext>
            </a:extLst>
          </p:cNvPr>
          <p:cNvSpPr txBox="1"/>
          <p:nvPr/>
        </p:nvSpPr>
        <p:spPr>
          <a:xfrm>
            <a:off x="329857" y="5461000"/>
            <a:ext cx="1783970" cy="215444"/>
          </a:xfrm>
          <a:prstGeom prst="rect">
            <a:avLst/>
          </a:prstGeom>
        </p:spPr>
        <p:txBody>
          <a:bodyPr vert="horz" wrap="square" lIns="0" tIns="0" rIns="0" bIns="0" rtlCol="0" anchor="ctr">
            <a:spAutoFit/>
          </a:bodyPr>
          <a:lstStyle/>
          <a:p>
            <a:pPr>
              <a:lnSpc>
                <a:spcPct val="100000"/>
              </a:lnSpc>
              <a:spcBef>
                <a:spcPts val="0"/>
              </a:spcBef>
            </a:pPr>
            <a:r>
              <a:rPr sz="1400" b="1" spc="355"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4440551"/>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D881F8-07ED-B66A-1CD0-E3DE4B85A565}"/>
              </a:ext>
            </a:extLst>
          </p:cNvPr>
          <p:cNvSpPr txBox="1"/>
          <p:nvPr/>
        </p:nvSpPr>
        <p:spPr>
          <a:xfrm>
            <a:off x="399459" y="1271542"/>
            <a:ext cx="6053975" cy="246221"/>
          </a:xfrm>
          <a:prstGeom prst="rect">
            <a:avLst/>
          </a:prstGeom>
          <a:noFill/>
        </p:spPr>
        <p:txBody>
          <a:bodyPr wrap="square" lIns="0" rtlCol="0">
            <a:spAutoFit/>
          </a:bodyPr>
          <a:lstStyle/>
          <a:p>
            <a:r>
              <a:rPr lang="en-US" altLang="ko-KR" sz="1000" dirty="0">
                <a:latin typeface="Arial" panose="020B0604020202020204" pitchFamily="34" charset="0"/>
                <a:cs typeface="Arial" panose="020B0604020202020204" pitchFamily="34" charset="0"/>
              </a:rPr>
              <a:t>1. Dimming in Normal mode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412904" y="775809"/>
            <a:ext cx="605397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Local dimming sequence</a:t>
            </a:r>
          </a:p>
        </p:txBody>
      </p:sp>
      <p:sp>
        <p:nvSpPr>
          <p:cNvPr id="2" name="TextBox 1">
            <a:extLst>
              <a:ext uri="{FF2B5EF4-FFF2-40B4-BE49-F238E27FC236}">
                <a16:creationId xmlns:a16="http://schemas.microsoft.com/office/drawing/2014/main" id="{DD624044-0ED2-243C-6A89-C77130EB706F}"/>
              </a:ext>
            </a:extLst>
          </p:cNvPr>
          <p:cNvSpPr txBox="1"/>
          <p:nvPr/>
        </p:nvSpPr>
        <p:spPr>
          <a:xfrm>
            <a:off x="3025857" y="3010147"/>
            <a:ext cx="1162944"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b="0" dirty="0"/>
              <a:t>  Fig.6 Head lighting</a:t>
            </a:r>
          </a:p>
        </p:txBody>
      </p:sp>
      <p:pic>
        <p:nvPicPr>
          <p:cNvPr id="4" name="그림 3">
            <a:extLst>
              <a:ext uri="{FF2B5EF4-FFF2-40B4-BE49-F238E27FC236}">
                <a16:creationId xmlns:a16="http://schemas.microsoft.com/office/drawing/2014/main" id="{E6231622-BFD6-6DC4-CD2F-C122AC9E7CF6}"/>
              </a:ext>
            </a:extLst>
          </p:cNvPr>
          <p:cNvPicPr>
            <a:picLocks noChangeAspect="1"/>
          </p:cNvPicPr>
          <p:nvPr/>
        </p:nvPicPr>
        <p:blipFill>
          <a:blip r:embed="rId2"/>
          <a:stretch>
            <a:fillRect/>
          </a:stretch>
        </p:blipFill>
        <p:spPr>
          <a:xfrm>
            <a:off x="412904" y="1752414"/>
            <a:ext cx="6101154" cy="1194976"/>
          </a:xfrm>
          <a:prstGeom prst="rect">
            <a:avLst/>
          </a:prstGeom>
        </p:spPr>
      </p:pic>
      <p:pic>
        <p:nvPicPr>
          <p:cNvPr id="6" name="그림 5">
            <a:extLst>
              <a:ext uri="{FF2B5EF4-FFF2-40B4-BE49-F238E27FC236}">
                <a16:creationId xmlns:a16="http://schemas.microsoft.com/office/drawing/2014/main" id="{8F61DD42-A835-4CA0-EA8C-1BD371074623}"/>
              </a:ext>
            </a:extLst>
          </p:cNvPr>
          <p:cNvPicPr>
            <a:picLocks noChangeAspect="1"/>
          </p:cNvPicPr>
          <p:nvPr/>
        </p:nvPicPr>
        <p:blipFill>
          <a:blip r:embed="rId3"/>
          <a:stretch>
            <a:fillRect/>
          </a:stretch>
        </p:blipFill>
        <p:spPr>
          <a:xfrm>
            <a:off x="399459" y="3392629"/>
            <a:ext cx="6124242" cy="1195200"/>
          </a:xfrm>
          <a:prstGeom prst="rect">
            <a:avLst/>
          </a:prstGeom>
        </p:spPr>
      </p:pic>
      <p:pic>
        <p:nvPicPr>
          <p:cNvPr id="7" name="그림 6">
            <a:extLst>
              <a:ext uri="{FF2B5EF4-FFF2-40B4-BE49-F238E27FC236}">
                <a16:creationId xmlns:a16="http://schemas.microsoft.com/office/drawing/2014/main" id="{559026DC-1045-785A-94FD-7D121A6ABD6D}"/>
              </a:ext>
            </a:extLst>
          </p:cNvPr>
          <p:cNvPicPr>
            <a:picLocks noChangeAspect="1"/>
          </p:cNvPicPr>
          <p:nvPr/>
        </p:nvPicPr>
        <p:blipFill>
          <a:blip r:embed="rId4"/>
          <a:stretch>
            <a:fillRect/>
          </a:stretch>
        </p:blipFill>
        <p:spPr>
          <a:xfrm>
            <a:off x="386015" y="5525725"/>
            <a:ext cx="6085771" cy="1368000"/>
          </a:xfrm>
          <a:prstGeom prst="rect">
            <a:avLst/>
          </a:prstGeom>
        </p:spPr>
      </p:pic>
      <p:pic>
        <p:nvPicPr>
          <p:cNvPr id="9" name="그림 8">
            <a:extLst>
              <a:ext uri="{FF2B5EF4-FFF2-40B4-BE49-F238E27FC236}">
                <a16:creationId xmlns:a16="http://schemas.microsoft.com/office/drawing/2014/main" id="{9F99DB55-900C-E02F-8FE7-E727DA883383}"/>
              </a:ext>
            </a:extLst>
          </p:cNvPr>
          <p:cNvPicPr>
            <a:picLocks noChangeAspect="1"/>
          </p:cNvPicPr>
          <p:nvPr/>
        </p:nvPicPr>
        <p:blipFill>
          <a:blip r:embed="rId5"/>
          <a:stretch>
            <a:fillRect/>
          </a:stretch>
        </p:blipFill>
        <p:spPr>
          <a:xfrm>
            <a:off x="399459" y="7223879"/>
            <a:ext cx="6027086" cy="1368000"/>
          </a:xfrm>
          <a:prstGeom prst="rect">
            <a:avLst/>
          </a:prstGeom>
        </p:spPr>
      </p:pic>
      <p:sp>
        <p:nvSpPr>
          <p:cNvPr id="13" name="TextBox 12">
            <a:extLst>
              <a:ext uri="{FF2B5EF4-FFF2-40B4-BE49-F238E27FC236}">
                <a16:creationId xmlns:a16="http://schemas.microsoft.com/office/drawing/2014/main" id="{2B060A13-8CD9-6194-BED7-B5CFFE24A035}"/>
              </a:ext>
            </a:extLst>
          </p:cNvPr>
          <p:cNvSpPr txBox="1"/>
          <p:nvPr/>
        </p:nvSpPr>
        <p:spPr>
          <a:xfrm>
            <a:off x="3540662" y="1427370"/>
            <a:ext cx="720000" cy="461665"/>
          </a:xfrm>
          <a:prstGeom prst="rect">
            <a:avLst/>
          </a:prstGeom>
          <a:noFill/>
          <a:ln w="3175">
            <a:solidFill>
              <a:schemeClr val="bg1">
                <a:lumMod val="75000"/>
              </a:schemeClr>
            </a:solidFill>
          </a:ln>
        </p:spPr>
        <p:txBody>
          <a:bodyPr wrap="square" lIns="36000" tIns="0" rIns="0" bIns="0" rtlCol="0" anchor="ctr" anchorCtr="0">
            <a:spAutoFit/>
          </a:bodyPr>
          <a:lstStyle/>
          <a:p>
            <a:r>
              <a:rPr lang="en-US" altLang="ko-KR" sz="600" dirty="0">
                <a:solidFill>
                  <a:schemeClr val="tx1">
                    <a:lumMod val="65000"/>
                    <a:lumOff val="35000"/>
                  </a:schemeClr>
                </a:solidFill>
                <a:latin typeface="Arial" panose="020B0604020202020204" pitchFamily="34" charset="0"/>
                <a:cs typeface="Arial" panose="020B0604020202020204" pitchFamily="34" charset="0"/>
              </a:rPr>
              <a:t>Dimming data</a:t>
            </a:r>
          </a:p>
          <a:p>
            <a:r>
              <a:rPr lang="en-US" altLang="ko-KR" sz="600" dirty="0">
                <a:solidFill>
                  <a:schemeClr val="tx1">
                    <a:lumMod val="65000"/>
                    <a:lumOff val="35000"/>
                  </a:schemeClr>
                </a:solidFill>
                <a:latin typeface="Arial" panose="020B0604020202020204" pitchFamily="34" charset="0"/>
                <a:cs typeface="Arial" panose="020B0604020202020204" pitchFamily="34" charset="0"/>
              </a:rPr>
              <a:t>LD_MODE/LD_DIR</a:t>
            </a:r>
          </a:p>
          <a:p>
            <a:r>
              <a:rPr lang="en-US" altLang="ko-KR" sz="600" dirty="0">
                <a:solidFill>
                  <a:schemeClr val="tx1">
                    <a:lumMod val="65000"/>
                    <a:lumOff val="35000"/>
                  </a:schemeClr>
                </a:solidFill>
                <a:latin typeface="Arial" panose="020B0604020202020204" pitchFamily="34" charset="0"/>
                <a:cs typeface="Arial" panose="020B0604020202020204" pitchFamily="34" charset="0"/>
              </a:rPr>
              <a:t>MAX_CURR_VREF</a:t>
            </a:r>
          </a:p>
          <a:p>
            <a:r>
              <a:rPr lang="en-US" altLang="ko-KR" sz="600" dirty="0">
                <a:solidFill>
                  <a:schemeClr val="tx1">
                    <a:lumMod val="65000"/>
                    <a:lumOff val="35000"/>
                  </a:schemeClr>
                </a:solidFill>
                <a:latin typeface="Arial" panose="020B0604020202020204" pitchFamily="34" charset="0"/>
                <a:cs typeface="Arial" panose="020B0604020202020204" pitchFamily="34" charset="0"/>
              </a:rPr>
              <a:t>SF_PERIOD</a:t>
            </a:r>
          </a:p>
          <a:p>
            <a:r>
              <a:rPr lang="en-US" altLang="ko-KR" sz="600" dirty="0">
                <a:solidFill>
                  <a:schemeClr val="tx1">
                    <a:lumMod val="65000"/>
                    <a:lumOff val="35000"/>
                  </a:schemeClr>
                </a:solidFill>
                <a:latin typeface="Arial" panose="020B0604020202020204" pitchFamily="34" charset="0"/>
                <a:cs typeface="Arial" panose="020B0604020202020204" pitchFamily="34" charset="0"/>
              </a:rPr>
              <a:t>SF_BFI_SIZE</a:t>
            </a:r>
          </a:p>
        </p:txBody>
      </p:sp>
      <p:sp>
        <p:nvSpPr>
          <p:cNvPr id="26" name="TextBox 25">
            <a:extLst>
              <a:ext uri="{FF2B5EF4-FFF2-40B4-BE49-F238E27FC236}">
                <a16:creationId xmlns:a16="http://schemas.microsoft.com/office/drawing/2014/main" id="{EB27502D-1416-AB31-4952-E811C46E065C}"/>
              </a:ext>
            </a:extLst>
          </p:cNvPr>
          <p:cNvSpPr txBox="1"/>
          <p:nvPr/>
        </p:nvSpPr>
        <p:spPr>
          <a:xfrm>
            <a:off x="3025857" y="4669075"/>
            <a:ext cx="1162944"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b="0" dirty="0"/>
              <a:t>  Fig.7 Tail lighting</a:t>
            </a:r>
          </a:p>
        </p:txBody>
      </p:sp>
      <p:sp>
        <p:nvSpPr>
          <p:cNvPr id="28" name="TextBox 27">
            <a:extLst>
              <a:ext uri="{FF2B5EF4-FFF2-40B4-BE49-F238E27FC236}">
                <a16:creationId xmlns:a16="http://schemas.microsoft.com/office/drawing/2014/main" id="{2EBEFED0-02CF-B9D6-EE21-C768F5EC09AD}"/>
              </a:ext>
            </a:extLst>
          </p:cNvPr>
          <p:cNvSpPr txBox="1"/>
          <p:nvPr/>
        </p:nvSpPr>
        <p:spPr>
          <a:xfrm>
            <a:off x="399459" y="5102100"/>
            <a:ext cx="6053975" cy="246221"/>
          </a:xfrm>
          <a:prstGeom prst="rect">
            <a:avLst/>
          </a:prstGeom>
          <a:noFill/>
        </p:spPr>
        <p:txBody>
          <a:bodyPr wrap="square" lIns="0" rtlCol="0">
            <a:spAutoFit/>
          </a:bodyPr>
          <a:lstStyle/>
          <a:p>
            <a:r>
              <a:rPr lang="en-US" altLang="ko-KR" sz="1000" dirty="0">
                <a:latin typeface="Arial" panose="020B0604020202020204" pitchFamily="34" charset="0"/>
                <a:cs typeface="Arial" panose="020B0604020202020204" pitchFamily="34" charset="0"/>
              </a:rPr>
              <a:t>2. Dimming in X8 mode</a:t>
            </a:r>
          </a:p>
        </p:txBody>
      </p:sp>
      <p:sp>
        <p:nvSpPr>
          <p:cNvPr id="30" name="TextBox 29">
            <a:extLst>
              <a:ext uri="{FF2B5EF4-FFF2-40B4-BE49-F238E27FC236}">
                <a16:creationId xmlns:a16="http://schemas.microsoft.com/office/drawing/2014/main" id="{F9F2B81C-E411-C77D-3D6F-1C42FB5F61E3}"/>
              </a:ext>
            </a:extLst>
          </p:cNvPr>
          <p:cNvSpPr txBox="1"/>
          <p:nvPr/>
        </p:nvSpPr>
        <p:spPr>
          <a:xfrm>
            <a:off x="3025857" y="6956146"/>
            <a:ext cx="1162944"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b="0" dirty="0"/>
              <a:t>  Fig.8 Head lighting</a:t>
            </a:r>
          </a:p>
        </p:txBody>
      </p:sp>
      <p:sp>
        <p:nvSpPr>
          <p:cNvPr id="31" name="TextBox 30">
            <a:extLst>
              <a:ext uri="{FF2B5EF4-FFF2-40B4-BE49-F238E27FC236}">
                <a16:creationId xmlns:a16="http://schemas.microsoft.com/office/drawing/2014/main" id="{C706C411-533A-2883-1CBF-0240A38E8709}"/>
              </a:ext>
            </a:extLst>
          </p:cNvPr>
          <p:cNvSpPr txBox="1"/>
          <p:nvPr/>
        </p:nvSpPr>
        <p:spPr>
          <a:xfrm>
            <a:off x="3025857" y="8657217"/>
            <a:ext cx="1162944"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b="0" dirty="0"/>
              <a:t>  Fig.9 Tail lighting</a:t>
            </a:r>
          </a:p>
        </p:txBody>
      </p:sp>
      <p:sp>
        <p:nvSpPr>
          <p:cNvPr id="19" name="TextBox 18">
            <a:extLst>
              <a:ext uri="{FF2B5EF4-FFF2-40B4-BE49-F238E27FC236}">
                <a16:creationId xmlns:a16="http://schemas.microsoft.com/office/drawing/2014/main" id="{A46ED0D3-5354-823B-58DB-F3F2C87FF884}"/>
              </a:ext>
            </a:extLst>
          </p:cNvPr>
          <p:cNvSpPr txBox="1"/>
          <p:nvPr/>
        </p:nvSpPr>
        <p:spPr>
          <a:xfrm>
            <a:off x="4325253" y="1614973"/>
            <a:ext cx="2256430" cy="92333"/>
          </a:xfrm>
          <a:prstGeom prst="rect">
            <a:avLst/>
          </a:prstGeom>
          <a:solidFill>
            <a:schemeClr val="bg1"/>
          </a:solidFill>
          <a:ln w="3175">
            <a:noFill/>
          </a:ln>
        </p:spPr>
        <p:txBody>
          <a:bodyPr wrap="square" lIns="0" tIns="0" rIns="0" bIns="0" rtlCol="0" anchor="ctr" anchorCtr="0">
            <a:spAutoFit/>
          </a:bodyPr>
          <a:lstStyle/>
          <a:p>
            <a:r>
              <a:rPr lang="en-US" altLang="ko-KR" sz="600" i="1" dirty="0">
                <a:latin typeface="Arial" panose="020B0604020202020204" pitchFamily="34" charset="0"/>
                <a:cs typeface="Arial" panose="020B0604020202020204" pitchFamily="34" charset="0"/>
              </a:rPr>
              <a:t>These data will be applied at a next vsync after being transmitted</a:t>
            </a:r>
          </a:p>
        </p:txBody>
      </p:sp>
      <p:sp>
        <p:nvSpPr>
          <p:cNvPr id="18" name="자유형: 도형 17">
            <a:extLst>
              <a:ext uri="{FF2B5EF4-FFF2-40B4-BE49-F238E27FC236}">
                <a16:creationId xmlns:a16="http://schemas.microsoft.com/office/drawing/2014/main" id="{8CA3B327-6EEB-C207-65C2-07B3FB6F58FC}"/>
              </a:ext>
            </a:extLst>
          </p:cNvPr>
          <p:cNvSpPr/>
          <p:nvPr/>
        </p:nvSpPr>
        <p:spPr>
          <a:xfrm>
            <a:off x="4260662" y="1575789"/>
            <a:ext cx="910945" cy="239769"/>
          </a:xfrm>
          <a:custGeom>
            <a:avLst/>
            <a:gdLst>
              <a:gd name="connsiteX0" fmla="*/ 0 w 1503336"/>
              <a:gd name="connsiteY0" fmla="*/ 108488 h 231518"/>
              <a:gd name="connsiteX1" fmla="*/ 534692 w 1503336"/>
              <a:gd name="connsiteY1" fmla="*/ 228600 h 231518"/>
              <a:gd name="connsiteX2" fmla="*/ 1011265 w 1503336"/>
              <a:gd name="connsiteY2" fmla="*/ 0 h 231518"/>
              <a:gd name="connsiteX3" fmla="*/ 1503336 w 1503336"/>
              <a:gd name="connsiteY3" fmla="*/ 228600 h 231518"/>
            </a:gdLst>
            <a:ahLst/>
            <a:cxnLst>
              <a:cxn ang="0">
                <a:pos x="connsiteX0" y="connsiteY0"/>
              </a:cxn>
              <a:cxn ang="0">
                <a:pos x="connsiteX1" y="connsiteY1"/>
              </a:cxn>
              <a:cxn ang="0">
                <a:pos x="connsiteX2" y="connsiteY2"/>
              </a:cxn>
              <a:cxn ang="0">
                <a:pos x="connsiteX3" y="connsiteY3"/>
              </a:cxn>
            </a:cxnLst>
            <a:rect l="l" t="t" r="r" b="b"/>
            <a:pathLst>
              <a:path w="1503336" h="231518">
                <a:moveTo>
                  <a:pt x="0" y="108488"/>
                </a:moveTo>
                <a:cubicBezTo>
                  <a:pt x="183074" y="177584"/>
                  <a:pt x="366148" y="246681"/>
                  <a:pt x="534692" y="228600"/>
                </a:cubicBezTo>
                <a:cubicBezTo>
                  <a:pt x="703236" y="210519"/>
                  <a:pt x="849824" y="0"/>
                  <a:pt x="1011265" y="0"/>
                </a:cubicBezTo>
                <a:cubicBezTo>
                  <a:pt x="1172706" y="0"/>
                  <a:pt x="1338021" y="114300"/>
                  <a:pt x="1503336" y="228600"/>
                </a:cubicBezTo>
              </a:path>
            </a:pathLst>
          </a:custGeom>
          <a:noFill/>
          <a:ln w="3175">
            <a:solidFill>
              <a:schemeClr val="bg1">
                <a:lumMod val="50000"/>
              </a:schemeClr>
            </a:solidFill>
            <a:headEnd type="none" w="sm" len="sm"/>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Tree>
    <p:extLst>
      <p:ext uri="{BB962C8B-B14F-4D97-AF65-F5344CB8AC3E}">
        <p14:creationId xmlns:p14="http://schemas.microsoft.com/office/powerpoint/2010/main" val="2113197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399460" y="882048"/>
            <a:ext cx="605397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3700147219"/>
              </p:ext>
            </p:extLst>
          </p:nvPr>
        </p:nvGraphicFramePr>
        <p:xfrm>
          <a:off x="395428" y="2156360"/>
          <a:ext cx="6068872" cy="1791068"/>
        </p:xfrm>
        <a:graphic>
          <a:graphicData uri="http://schemas.openxmlformats.org/drawingml/2006/table">
            <a:tbl>
              <a:tblPr firstRow="1" bandRow="1">
                <a:tableStyleId>{5C22544A-7EE6-4342-B048-85BDC9FD1C3A}</a:tableStyleId>
              </a:tblPr>
              <a:tblGrid>
                <a:gridCol w="412641">
                  <a:extLst>
                    <a:ext uri="{9D8B030D-6E8A-4147-A177-3AD203B41FA5}">
                      <a16:colId xmlns:a16="http://schemas.microsoft.com/office/drawing/2014/main" val="4170535043"/>
                    </a:ext>
                  </a:extLst>
                </a:gridCol>
                <a:gridCol w="596727">
                  <a:extLst>
                    <a:ext uri="{9D8B030D-6E8A-4147-A177-3AD203B41FA5}">
                      <a16:colId xmlns:a16="http://schemas.microsoft.com/office/drawing/2014/main" val="2079070694"/>
                    </a:ext>
                  </a:extLst>
                </a:gridCol>
                <a:gridCol w="288925">
                  <a:extLst>
                    <a:ext uri="{9D8B030D-6E8A-4147-A177-3AD203B41FA5}">
                      <a16:colId xmlns:a16="http://schemas.microsoft.com/office/drawing/2014/main" val="3858367650"/>
                    </a:ext>
                  </a:extLst>
                </a:gridCol>
                <a:gridCol w="4770579">
                  <a:extLst>
                    <a:ext uri="{9D8B030D-6E8A-4147-A177-3AD203B41FA5}">
                      <a16:colId xmlns:a16="http://schemas.microsoft.com/office/drawing/2014/main" val="32595803"/>
                    </a:ext>
                  </a:extLst>
                </a:gridCol>
              </a:tblGrid>
              <a:tr h="26254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61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initializing.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99240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If the XD12 will receive the ID-Gen command from the XC24 controller, then the ID value is automatically generated. The ID value is needed for proper reading, so, the ID-Gen command must be firstly executed by the XC24 controller before executing any commands.  If all XD12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108551378"/>
              </p:ext>
            </p:extLst>
          </p:nvPr>
        </p:nvGraphicFramePr>
        <p:xfrm>
          <a:off x="397157" y="1727442"/>
          <a:ext cx="6065005" cy="372600"/>
        </p:xfrm>
        <a:graphic>
          <a:graphicData uri="http://schemas.openxmlformats.org/drawingml/2006/table">
            <a:tbl>
              <a:tblPr firstRow="1" bandRow="1">
                <a:tableStyleId>{5C22544A-7EE6-4342-B048-85BDC9FD1C3A}</a:tableStyleId>
              </a:tblPr>
              <a:tblGrid>
                <a:gridCol w="352339">
                  <a:extLst>
                    <a:ext uri="{9D8B030D-6E8A-4147-A177-3AD203B41FA5}">
                      <a16:colId xmlns:a16="http://schemas.microsoft.com/office/drawing/2014/main" val="657570846"/>
                    </a:ext>
                  </a:extLst>
                </a:gridCol>
                <a:gridCol w="387410">
                  <a:extLst>
                    <a:ext uri="{9D8B030D-6E8A-4147-A177-3AD203B41FA5}">
                      <a16:colId xmlns:a16="http://schemas.microsoft.com/office/drawing/2014/main" val="3259894497"/>
                    </a:ext>
                  </a:extLst>
                </a:gridCol>
                <a:gridCol w="455308">
                  <a:extLst>
                    <a:ext uri="{9D8B030D-6E8A-4147-A177-3AD203B41FA5}">
                      <a16:colId xmlns:a16="http://schemas.microsoft.com/office/drawing/2014/main" val="4170535043"/>
                    </a:ext>
                  </a:extLst>
                </a:gridCol>
                <a:gridCol w="405829">
                  <a:extLst>
                    <a:ext uri="{9D8B030D-6E8A-4147-A177-3AD203B41FA5}">
                      <a16:colId xmlns:a16="http://schemas.microsoft.com/office/drawing/2014/main" val="2079070694"/>
                    </a:ext>
                  </a:extLst>
                </a:gridCol>
                <a:gridCol w="405829">
                  <a:extLst>
                    <a:ext uri="{9D8B030D-6E8A-4147-A177-3AD203B41FA5}">
                      <a16:colId xmlns:a16="http://schemas.microsoft.com/office/drawing/2014/main" val="4213315911"/>
                    </a:ext>
                  </a:extLst>
                </a:gridCol>
                <a:gridCol w="405829">
                  <a:extLst>
                    <a:ext uri="{9D8B030D-6E8A-4147-A177-3AD203B41FA5}">
                      <a16:colId xmlns:a16="http://schemas.microsoft.com/office/drawing/2014/main" val="2769999950"/>
                    </a:ext>
                  </a:extLst>
                </a:gridCol>
                <a:gridCol w="405829">
                  <a:extLst>
                    <a:ext uri="{9D8B030D-6E8A-4147-A177-3AD203B41FA5}">
                      <a16:colId xmlns:a16="http://schemas.microsoft.com/office/drawing/2014/main" val="135637185"/>
                    </a:ext>
                  </a:extLst>
                </a:gridCol>
                <a:gridCol w="405829">
                  <a:extLst>
                    <a:ext uri="{9D8B030D-6E8A-4147-A177-3AD203B41FA5}">
                      <a16:colId xmlns:a16="http://schemas.microsoft.com/office/drawing/2014/main" val="3038050475"/>
                    </a:ext>
                  </a:extLst>
                </a:gridCol>
                <a:gridCol w="405829">
                  <a:extLst>
                    <a:ext uri="{9D8B030D-6E8A-4147-A177-3AD203B41FA5}">
                      <a16:colId xmlns:a16="http://schemas.microsoft.com/office/drawing/2014/main" val="1979433044"/>
                    </a:ext>
                  </a:extLst>
                </a:gridCol>
                <a:gridCol w="405829">
                  <a:extLst>
                    <a:ext uri="{9D8B030D-6E8A-4147-A177-3AD203B41FA5}">
                      <a16:colId xmlns:a16="http://schemas.microsoft.com/office/drawing/2014/main" val="4270661649"/>
                    </a:ext>
                  </a:extLst>
                </a:gridCol>
                <a:gridCol w="405829">
                  <a:extLst>
                    <a:ext uri="{9D8B030D-6E8A-4147-A177-3AD203B41FA5}">
                      <a16:colId xmlns:a16="http://schemas.microsoft.com/office/drawing/2014/main" val="3027041370"/>
                    </a:ext>
                  </a:extLst>
                </a:gridCol>
                <a:gridCol w="405829">
                  <a:extLst>
                    <a:ext uri="{9D8B030D-6E8A-4147-A177-3AD203B41FA5}">
                      <a16:colId xmlns:a16="http://schemas.microsoft.com/office/drawing/2014/main" val="2852526216"/>
                    </a:ext>
                  </a:extLst>
                </a:gridCol>
                <a:gridCol w="405829">
                  <a:extLst>
                    <a:ext uri="{9D8B030D-6E8A-4147-A177-3AD203B41FA5}">
                      <a16:colId xmlns:a16="http://schemas.microsoft.com/office/drawing/2014/main" val="103420222"/>
                    </a:ext>
                  </a:extLst>
                </a:gridCol>
                <a:gridCol w="405829">
                  <a:extLst>
                    <a:ext uri="{9D8B030D-6E8A-4147-A177-3AD203B41FA5}">
                      <a16:colId xmlns:a16="http://schemas.microsoft.com/office/drawing/2014/main" val="1470405609"/>
                    </a:ext>
                  </a:extLst>
                </a:gridCol>
                <a:gridCol w="4058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384143" y="1465288"/>
            <a:ext cx="60539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 RESET / ID</a:t>
            </a: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502195480"/>
              </p:ext>
            </p:extLst>
          </p:nvPr>
        </p:nvGraphicFramePr>
        <p:xfrm>
          <a:off x="395428" y="4953000"/>
          <a:ext cx="6072047" cy="2780705"/>
        </p:xfrm>
        <a:graphic>
          <a:graphicData uri="http://schemas.openxmlformats.org/drawingml/2006/table">
            <a:tbl>
              <a:tblPr firstRow="1" bandRow="1">
                <a:tableStyleId>{5C22544A-7EE6-4342-B048-85BDC9FD1C3A}</a:tableStyleId>
              </a:tblPr>
              <a:tblGrid>
                <a:gridCol w="445206">
                  <a:extLst>
                    <a:ext uri="{9D8B030D-6E8A-4147-A177-3AD203B41FA5}">
                      <a16:colId xmlns:a16="http://schemas.microsoft.com/office/drawing/2014/main" val="4170535043"/>
                    </a:ext>
                  </a:extLst>
                </a:gridCol>
                <a:gridCol w="878897">
                  <a:extLst>
                    <a:ext uri="{9D8B030D-6E8A-4147-A177-3AD203B41FA5}">
                      <a16:colId xmlns:a16="http://schemas.microsoft.com/office/drawing/2014/main" val="2079070694"/>
                    </a:ext>
                  </a:extLst>
                </a:gridCol>
                <a:gridCol w="236269">
                  <a:extLst>
                    <a:ext uri="{9D8B030D-6E8A-4147-A177-3AD203B41FA5}">
                      <a16:colId xmlns:a16="http://schemas.microsoft.com/office/drawing/2014/main" val="1241486589"/>
                    </a:ext>
                  </a:extLst>
                </a:gridCol>
                <a:gridCol w="4511675">
                  <a:extLst>
                    <a:ext uri="{9D8B030D-6E8A-4147-A177-3AD203B41FA5}">
                      <a16:colId xmlns:a16="http://schemas.microsoft.com/office/drawing/2014/main" val="32595803"/>
                    </a:ext>
                  </a:extLst>
                </a:gridCol>
              </a:tblGrid>
              <a:tr h="2963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261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LD_MODE and LD_DIR  value will be changed in the middle of current frame, the dimming sequence will keep the current mode to complete the current frame until a next frame start, and then, the new frame according to the changed LD_MODE or LD_DIR will begin dimming at a next SYNC command.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8316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internal vsync.  For details, refer to Fig. 6,7,8 and 9.</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817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dimming mode, Normal or X8 mode. The Normal mode is for general dimming sequence and the X8 mode is for 8 times repeated dimming sequence in one frame.  For details, Fig. 6,7,8 and 9.</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X8 mode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bl>
          </a:graphicData>
        </a:graphic>
      </p:graphicFrame>
      <p:sp>
        <p:nvSpPr>
          <p:cNvPr id="8" name="TextBox 7">
            <a:extLst>
              <a:ext uri="{FF2B5EF4-FFF2-40B4-BE49-F238E27FC236}">
                <a16:creationId xmlns:a16="http://schemas.microsoft.com/office/drawing/2014/main" id="{B95B7302-A701-2F6E-01C8-AE410810F15B}"/>
              </a:ext>
            </a:extLst>
          </p:cNvPr>
          <p:cNvSpPr txBox="1"/>
          <p:nvPr/>
        </p:nvSpPr>
        <p:spPr>
          <a:xfrm>
            <a:off x="400532" y="4256180"/>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a:t>
            </a:r>
            <a:r>
              <a:rPr lang="ko-KR" altLang="en-US" sz="1100" b="1" dirty="0">
                <a:latin typeface="Arial" panose="020B0604020202020204" pitchFamily="34" charset="0"/>
                <a:cs typeface="Arial" panose="020B0604020202020204" pitchFamily="34" charset="0"/>
              </a:rPr>
              <a:t> </a:t>
            </a:r>
            <a:r>
              <a:rPr lang="en-US" altLang="ko-KR" sz="1100" b="1" dirty="0">
                <a:latin typeface="Arial" panose="020B0604020202020204" pitchFamily="34" charset="0"/>
                <a:cs typeface="Arial" panose="020B0604020202020204" pitchFamily="34" charset="0"/>
              </a:rPr>
              <a:t>MODE</a:t>
            </a:r>
          </a:p>
        </p:txBody>
      </p:sp>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3362183455"/>
              </p:ext>
            </p:extLst>
          </p:nvPr>
        </p:nvGraphicFramePr>
        <p:xfrm>
          <a:off x="395428" y="4520255"/>
          <a:ext cx="6061697" cy="372600"/>
        </p:xfrm>
        <a:graphic>
          <a:graphicData uri="http://schemas.openxmlformats.org/drawingml/2006/table">
            <a:tbl>
              <a:tblPr firstRow="1" bandRow="1">
                <a:tableStyleId>{5C22544A-7EE6-4342-B048-85BDC9FD1C3A}</a:tableStyleId>
              </a:tblPr>
              <a:tblGrid>
                <a:gridCol w="344938">
                  <a:extLst>
                    <a:ext uri="{9D8B030D-6E8A-4147-A177-3AD203B41FA5}">
                      <a16:colId xmlns:a16="http://schemas.microsoft.com/office/drawing/2014/main" val="657570846"/>
                    </a:ext>
                  </a:extLst>
                </a:gridCol>
                <a:gridCol w="379273">
                  <a:extLst>
                    <a:ext uri="{9D8B030D-6E8A-4147-A177-3AD203B41FA5}">
                      <a16:colId xmlns:a16="http://schemas.microsoft.com/office/drawing/2014/main" val="3259894497"/>
                    </a:ext>
                  </a:extLst>
                </a:gridCol>
                <a:gridCol w="445745">
                  <a:extLst>
                    <a:ext uri="{9D8B030D-6E8A-4147-A177-3AD203B41FA5}">
                      <a16:colId xmlns:a16="http://schemas.microsoft.com/office/drawing/2014/main" val="4170535043"/>
                    </a:ext>
                  </a:extLst>
                </a:gridCol>
                <a:gridCol w="397305">
                  <a:extLst>
                    <a:ext uri="{9D8B030D-6E8A-4147-A177-3AD203B41FA5}">
                      <a16:colId xmlns:a16="http://schemas.microsoft.com/office/drawing/2014/main" val="2079070694"/>
                    </a:ext>
                  </a:extLst>
                </a:gridCol>
                <a:gridCol w="397305">
                  <a:extLst>
                    <a:ext uri="{9D8B030D-6E8A-4147-A177-3AD203B41FA5}">
                      <a16:colId xmlns:a16="http://schemas.microsoft.com/office/drawing/2014/main" val="4213315911"/>
                    </a:ext>
                  </a:extLst>
                </a:gridCol>
                <a:gridCol w="397305">
                  <a:extLst>
                    <a:ext uri="{9D8B030D-6E8A-4147-A177-3AD203B41FA5}">
                      <a16:colId xmlns:a16="http://schemas.microsoft.com/office/drawing/2014/main" val="2769999950"/>
                    </a:ext>
                  </a:extLst>
                </a:gridCol>
                <a:gridCol w="397305">
                  <a:extLst>
                    <a:ext uri="{9D8B030D-6E8A-4147-A177-3AD203B41FA5}">
                      <a16:colId xmlns:a16="http://schemas.microsoft.com/office/drawing/2014/main" val="135637185"/>
                    </a:ext>
                  </a:extLst>
                </a:gridCol>
                <a:gridCol w="397305">
                  <a:extLst>
                    <a:ext uri="{9D8B030D-6E8A-4147-A177-3AD203B41FA5}">
                      <a16:colId xmlns:a16="http://schemas.microsoft.com/office/drawing/2014/main" val="3038050475"/>
                    </a:ext>
                  </a:extLst>
                </a:gridCol>
                <a:gridCol w="397305">
                  <a:extLst>
                    <a:ext uri="{9D8B030D-6E8A-4147-A177-3AD203B41FA5}">
                      <a16:colId xmlns:a16="http://schemas.microsoft.com/office/drawing/2014/main" val="1979433044"/>
                    </a:ext>
                  </a:extLst>
                </a:gridCol>
                <a:gridCol w="397305">
                  <a:extLst>
                    <a:ext uri="{9D8B030D-6E8A-4147-A177-3AD203B41FA5}">
                      <a16:colId xmlns:a16="http://schemas.microsoft.com/office/drawing/2014/main" val="4270661649"/>
                    </a:ext>
                  </a:extLst>
                </a:gridCol>
                <a:gridCol w="397305">
                  <a:extLst>
                    <a:ext uri="{9D8B030D-6E8A-4147-A177-3AD203B41FA5}">
                      <a16:colId xmlns:a16="http://schemas.microsoft.com/office/drawing/2014/main" val="3027041370"/>
                    </a:ext>
                  </a:extLst>
                </a:gridCol>
                <a:gridCol w="397305">
                  <a:extLst>
                    <a:ext uri="{9D8B030D-6E8A-4147-A177-3AD203B41FA5}">
                      <a16:colId xmlns:a16="http://schemas.microsoft.com/office/drawing/2014/main" val="2852526216"/>
                    </a:ext>
                  </a:extLst>
                </a:gridCol>
                <a:gridCol w="397305">
                  <a:extLst>
                    <a:ext uri="{9D8B030D-6E8A-4147-A177-3AD203B41FA5}">
                      <a16:colId xmlns:a16="http://schemas.microsoft.com/office/drawing/2014/main" val="103420222"/>
                    </a:ext>
                  </a:extLst>
                </a:gridCol>
                <a:gridCol w="397305">
                  <a:extLst>
                    <a:ext uri="{9D8B030D-6E8A-4147-A177-3AD203B41FA5}">
                      <a16:colId xmlns:a16="http://schemas.microsoft.com/office/drawing/2014/main" val="1470405609"/>
                    </a:ext>
                  </a:extLst>
                </a:gridCol>
                <a:gridCol w="5213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517499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310610202"/>
              </p:ext>
            </p:extLst>
          </p:nvPr>
        </p:nvGraphicFramePr>
        <p:xfrm>
          <a:off x="389764" y="1528668"/>
          <a:ext cx="6081137" cy="1439320"/>
        </p:xfrm>
        <a:graphic>
          <a:graphicData uri="http://schemas.openxmlformats.org/drawingml/2006/table">
            <a:tbl>
              <a:tblPr firstRow="1" bandRow="1">
                <a:tableStyleId>{5C22544A-7EE6-4342-B048-85BDC9FD1C3A}</a:tableStyleId>
              </a:tblPr>
              <a:tblGrid>
                <a:gridCol w="446634">
                  <a:extLst>
                    <a:ext uri="{9D8B030D-6E8A-4147-A177-3AD203B41FA5}">
                      <a16:colId xmlns:a16="http://schemas.microsoft.com/office/drawing/2014/main" val="4170535043"/>
                    </a:ext>
                  </a:extLst>
                </a:gridCol>
                <a:gridCol w="1061300">
                  <a:extLst>
                    <a:ext uri="{9D8B030D-6E8A-4147-A177-3AD203B41FA5}">
                      <a16:colId xmlns:a16="http://schemas.microsoft.com/office/drawing/2014/main" val="2079070694"/>
                    </a:ext>
                  </a:extLst>
                </a:gridCol>
                <a:gridCol w="4573203">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8865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SF_PERIOD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length of sub-frame shown in Fig. 6, and if the value will be changed in the middle of a frame, the value will be applied in the next frame. Therefore, this advantage will be useful to switch the frame period during dimming without any flicker. If the value will be increased or decreased gradually to be met the changed frame period,100</a:t>
                      </a:r>
                      <a:r>
                        <a:rPr lang="en-US" altLang="ko-KR" sz="900" b="0" dirty="0">
                          <a:solidFill>
                            <a:schemeClr val="tx1"/>
                          </a:solidFill>
                          <a:latin typeface="맑은 고딕" panose="020B0503020000020004" pitchFamily="50" charset="-127"/>
                          <a:ea typeface="+mn-ea"/>
                          <a:cs typeface="Arial" panose="020B0604020202020204" pitchFamily="34" charset="0"/>
                        </a:rPr>
                        <a:t>↔120hz, </a:t>
                      </a:r>
                      <a:r>
                        <a:rPr lang="en-US" altLang="ko-KR" sz="900" b="0" dirty="0">
                          <a:solidFill>
                            <a:schemeClr val="tx1"/>
                          </a:solidFill>
                          <a:latin typeface="Arial" panose="020B0604020202020204" pitchFamily="34" charset="0"/>
                          <a:ea typeface="+mn-ea"/>
                          <a:cs typeface="Arial" panose="020B0604020202020204" pitchFamily="34" charset="0"/>
                        </a:rPr>
                        <a:t>it results in nearly flicker-less. It needs to be careful to determine the SF_PERIOD that the value should be </a:t>
                      </a:r>
                      <a:r>
                        <a:rPr lang="en-US" altLang="ko-KR" sz="900" b="0" i="1" dirty="0">
                          <a:solidFill>
                            <a:schemeClr val="tx1"/>
                          </a:solidFill>
                          <a:latin typeface="Arial" panose="020B0604020202020204" pitchFamily="34" charset="0"/>
                          <a:ea typeface="+mn-ea"/>
                          <a:cs typeface="Arial" panose="020B0604020202020204" pitchFamily="34" charset="0"/>
                        </a:rPr>
                        <a:t>an integer number </a:t>
                      </a:r>
                      <a:r>
                        <a:rPr lang="en-US" altLang="ko-KR" sz="900" b="0" dirty="0">
                          <a:solidFill>
                            <a:schemeClr val="tx1"/>
                          </a:solidFill>
                          <a:latin typeface="Arial" panose="020B0604020202020204" pitchFamily="34" charset="0"/>
                          <a:ea typeface="+mn-ea"/>
                          <a:cs typeface="Arial" panose="020B0604020202020204" pitchFamily="34" charset="0"/>
                        </a:rPr>
                        <a:t>after being calculated by a follow formula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SF_PERIOD = (the frame period / SF_SIZE) / MCLK</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SF PERIOD</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1749737628"/>
              </p:ext>
            </p:extLst>
          </p:nvPr>
        </p:nvGraphicFramePr>
        <p:xfrm>
          <a:off x="381027" y="3800482"/>
          <a:ext cx="6063425" cy="479200"/>
        </p:xfrm>
        <a:graphic>
          <a:graphicData uri="http://schemas.openxmlformats.org/drawingml/2006/table">
            <a:tbl>
              <a:tblPr firstRow="1" bandRow="1">
                <a:tableStyleId>{5C22544A-7EE6-4342-B048-85BDC9FD1C3A}</a:tableStyleId>
              </a:tblPr>
              <a:tblGrid>
                <a:gridCol w="441878">
                  <a:extLst>
                    <a:ext uri="{9D8B030D-6E8A-4147-A177-3AD203B41FA5}">
                      <a16:colId xmlns:a16="http://schemas.microsoft.com/office/drawing/2014/main" val="4170535043"/>
                    </a:ext>
                  </a:extLst>
                </a:gridCol>
                <a:gridCol w="1050000">
                  <a:extLst>
                    <a:ext uri="{9D8B030D-6E8A-4147-A177-3AD203B41FA5}">
                      <a16:colId xmlns:a16="http://schemas.microsoft.com/office/drawing/2014/main" val="2079070694"/>
                    </a:ext>
                  </a:extLst>
                </a:gridCol>
                <a:gridCol w="4571547">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781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SF_SIZE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SF_SIZE determines the total number of sub-frames in one frame shown in Fig. 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99451" y="3105442"/>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SF SIZE</a:t>
            </a:r>
          </a:p>
        </p:txBody>
      </p: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4057421366"/>
              </p:ext>
            </p:extLst>
          </p:nvPr>
        </p:nvGraphicFramePr>
        <p:xfrm>
          <a:off x="381027" y="5251324"/>
          <a:ext cx="6072403" cy="1301595"/>
        </p:xfrm>
        <a:graphic>
          <a:graphicData uri="http://schemas.openxmlformats.org/drawingml/2006/table">
            <a:tbl>
              <a:tblPr firstRow="1" bandRow="1">
                <a:tableStyleId>{5C22544A-7EE6-4342-B048-85BDC9FD1C3A}</a:tableStyleId>
              </a:tblPr>
              <a:tblGrid>
                <a:gridCol w="442533">
                  <a:extLst>
                    <a:ext uri="{9D8B030D-6E8A-4147-A177-3AD203B41FA5}">
                      <a16:colId xmlns:a16="http://schemas.microsoft.com/office/drawing/2014/main" val="4170535043"/>
                    </a:ext>
                  </a:extLst>
                </a:gridCol>
                <a:gridCol w="1051554">
                  <a:extLst>
                    <a:ext uri="{9D8B030D-6E8A-4147-A177-3AD203B41FA5}">
                      <a16:colId xmlns:a16="http://schemas.microsoft.com/office/drawing/2014/main" val="2079070694"/>
                    </a:ext>
                  </a:extLst>
                </a:gridCol>
                <a:gridCol w="4578316">
                  <a:extLst>
                    <a:ext uri="{9D8B030D-6E8A-4147-A177-3AD203B41FA5}">
                      <a16:colId xmlns:a16="http://schemas.microsoft.com/office/drawing/2014/main" val="32595803"/>
                    </a:ext>
                  </a:extLst>
                </a:gridCol>
              </a:tblGrid>
              <a:tr h="26165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674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The LD data to be transmitted will be mapped sequentially from channel 1 to channel n regardless of the corresponded CHx_EN bit activation.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245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SF_X8_SIZE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SF_X8_SIZE</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determines the number of sub-frame to be repeated 8 times in a frame, so the set value must be divided the SF_SIZE by 8. For more details, refer to the Fig. 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9349171"/>
                  </a:ext>
                </a:extLst>
              </a:tr>
            </a:tbl>
          </a:graphicData>
        </a:graphic>
      </p:graphicFrame>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0467CCE9-B058-A9D3-D5AD-CF31F006F2AB}"/>
              </a:ext>
            </a:extLst>
          </p:cNvPr>
          <p:cNvGraphicFramePr>
            <a:graphicFrameLocks noGrp="1"/>
          </p:cNvGraphicFramePr>
          <p:nvPr>
            <p:extLst>
              <p:ext uri="{D42A27DB-BD31-4B8C-83A1-F6EECF244321}">
                <p14:modId xmlns:p14="http://schemas.microsoft.com/office/powerpoint/2010/main" val="975756178"/>
              </p:ext>
            </p:extLst>
          </p:nvPr>
        </p:nvGraphicFramePr>
        <p:xfrm>
          <a:off x="390475" y="1109936"/>
          <a:ext cx="6062958" cy="372600"/>
        </p:xfrm>
        <a:graphic>
          <a:graphicData uri="http://schemas.openxmlformats.org/drawingml/2006/table">
            <a:tbl>
              <a:tblPr firstRow="1" bandRow="1">
                <a:tableStyleId>{5C22544A-7EE6-4342-B048-85BDC9FD1C3A}</a:tableStyleId>
              </a:tblPr>
              <a:tblGrid>
                <a:gridCol w="272145">
                  <a:extLst>
                    <a:ext uri="{9D8B030D-6E8A-4147-A177-3AD203B41FA5}">
                      <a16:colId xmlns:a16="http://schemas.microsoft.com/office/drawing/2014/main" val="657570846"/>
                    </a:ext>
                  </a:extLst>
                </a:gridCol>
                <a:gridCol w="318473">
                  <a:extLst>
                    <a:ext uri="{9D8B030D-6E8A-4147-A177-3AD203B41FA5}">
                      <a16:colId xmlns:a16="http://schemas.microsoft.com/office/drawing/2014/main" val="3259894497"/>
                    </a:ext>
                  </a:extLst>
                </a:gridCol>
                <a:gridCol w="416096">
                  <a:extLst>
                    <a:ext uri="{9D8B030D-6E8A-4147-A177-3AD203B41FA5}">
                      <a16:colId xmlns:a16="http://schemas.microsoft.com/office/drawing/2014/main" val="4170535043"/>
                    </a:ext>
                  </a:extLst>
                </a:gridCol>
                <a:gridCol w="428101">
                  <a:extLst>
                    <a:ext uri="{9D8B030D-6E8A-4147-A177-3AD203B41FA5}">
                      <a16:colId xmlns:a16="http://schemas.microsoft.com/office/drawing/2014/main" val="2079070694"/>
                    </a:ext>
                  </a:extLst>
                </a:gridCol>
                <a:gridCol w="408419">
                  <a:extLst>
                    <a:ext uri="{9D8B030D-6E8A-4147-A177-3AD203B41FA5}">
                      <a16:colId xmlns:a16="http://schemas.microsoft.com/office/drawing/2014/main" val="4213315911"/>
                    </a:ext>
                  </a:extLst>
                </a:gridCol>
                <a:gridCol w="408649">
                  <a:extLst>
                    <a:ext uri="{9D8B030D-6E8A-4147-A177-3AD203B41FA5}">
                      <a16:colId xmlns:a16="http://schemas.microsoft.com/office/drawing/2014/main" val="2769999950"/>
                    </a:ext>
                  </a:extLst>
                </a:gridCol>
                <a:gridCol w="438993">
                  <a:extLst>
                    <a:ext uri="{9D8B030D-6E8A-4147-A177-3AD203B41FA5}">
                      <a16:colId xmlns:a16="http://schemas.microsoft.com/office/drawing/2014/main" val="135637185"/>
                    </a:ext>
                  </a:extLst>
                </a:gridCol>
                <a:gridCol w="438993">
                  <a:extLst>
                    <a:ext uri="{9D8B030D-6E8A-4147-A177-3AD203B41FA5}">
                      <a16:colId xmlns:a16="http://schemas.microsoft.com/office/drawing/2014/main" val="3038050475"/>
                    </a:ext>
                  </a:extLst>
                </a:gridCol>
                <a:gridCol w="438993">
                  <a:extLst>
                    <a:ext uri="{9D8B030D-6E8A-4147-A177-3AD203B41FA5}">
                      <a16:colId xmlns:a16="http://schemas.microsoft.com/office/drawing/2014/main" val="1979433044"/>
                    </a:ext>
                  </a:extLst>
                </a:gridCol>
                <a:gridCol w="438993">
                  <a:extLst>
                    <a:ext uri="{9D8B030D-6E8A-4147-A177-3AD203B41FA5}">
                      <a16:colId xmlns:a16="http://schemas.microsoft.com/office/drawing/2014/main" val="4270661649"/>
                    </a:ext>
                  </a:extLst>
                </a:gridCol>
                <a:gridCol w="438993">
                  <a:extLst>
                    <a:ext uri="{9D8B030D-6E8A-4147-A177-3AD203B41FA5}">
                      <a16:colId xmlns:a16="http://schemas.microsoft.com/office/drawing/2014/main" val="3027041370"/>
                    </a:ext>
                  </a:extLst>
                </a:gridCol>
                <a:gridCol w="438993">
                  <a:extLst>
                    <a:ext uri="{9D8B030D-6E8A-4147-A177-3AD203B41FA5}">
                      <a16:colId xmlns:a16="http://schemas.microsoft.com/office/drawing/2014/main" val="2852526216"/>
                    </a:ext>
                  </a:extLst>
                </a:gridCol>
                <a:gridCol w="438993">
                  <a:extLst>
                    <a:ext uri="{9D8B030D-6E8A-4147-A177-3AD203B41FA5}">
                      <a16:colId xmlns:a16="http://schemas.microsoft.com/office/drawing/2014/main" val="103420222"/>
                    </a:ext>
                  </a:extLst>
                </a:gridCol>
                <a:gridCol w="438993">
                  <a:extLst>
                    <a:ext uri="{9D8B030D-6E8A-4147-A177-3AD203B41FA5}">
                      <a16:colId xmlns:a16="http://schemas.microsoft.com/office/drawing/2014/main" val="1470405609"/>
                    </a:ext>
                  </a:extLst>
                </a:gridCol>
                <a:gridCol w="29913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SF_PERIOD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DELAY_SIZE [6:0]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LD_FORCE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457784A5-338A-F324-10D9-9B221E9FA7A8}"/>
              </a:ext>
            </a:extLst>
          </p:cNvPr>
          <p:cNvSpPr txBox="1"/>
          <p:nvPr/>
        </p:nvSpPr>
        <p:spPr>
          <a:xfrm>
            <a:off x="381030" y="4573719"/>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 SIZE / SF X8 SIZE</a:t>
            </a:r>
          </a:p>
        </p:txBody>
      </p:sp>
      <p:graphicFrame>
        <p:nvGraphicFramePr>
          <p:cNvPr id="7" name="표 6">
            <a:extLst>
              <a:ext uri="{FF2B5EF4-FFF2-40B4-BE49-F238E27FC236}">
                <a16:creationId xmlns:a16="http://schemas.microsoft.com/office/drawing/2014/main" id="{FC56CDC0-43AB-5A02-B5E6-5B6E811D962D}"/>
              </a:ext>
            </a:extLst>
          </p:cNvPr>
          <p:cNvGraphicFramePr>
            <a:graphicFrameLocks noGrp="1"/>
          </p:cNvGraphicFramePr>
          <p:nvPr>
            <p:extLst>
              <p:ext uri="{D42A27DB-BD31-4B8C-83A1-F6EECF244321}">
                <p14:modId xmlns:p14="http://schemas.microsoft.com/office/powerpoint/2010/main" val="4029452907"/>
              </p:ext>
            </p:extLst>
          </p:nvPr>
        </p:nvGraphicFramePr>
        <p:xfrm>
          <a:off x="384769" y="3369333"/>
          <a:ext cx="6068664" cy="387840"/>
        </p:xfrm>
        <a:graphic>
          <a:graphicData uri="http://schemas.openxmlformats.org/drawingml/2006/table">
            <a:tbl>
              <a:tblPr firstRow="1" bandRow="1">
                <a:tableStyleId>{5C22544A-7EE6-4342-B048-85BDC9FD1C3A}</a:tableStyleId>
              </a:tblPr>
              <a:tblGrid>
                <a:gridCol w="352551">
                  <a:extLst>
                    <a:ext uri="{9D8B030D-6E8A-4147-A177-3AD203B41FA5}">
                      <a16:colId xmlns:a16="http://schemas.microsoft.com/office/drawing/2014/main" val="657570846"/>
                    </a:ext>
                  </a:extLst>
                </a:gridCol>
                <a:gridCol w="387643">
                  <a:extLst>
                    <a:ext uri="{9D8B030D-6E8A-4147-A177-3AD203B41FA5}">
                      <a16:colId xmlns:a16="http://schemas.microsoft.com/office/drawing/2014/main" val="3259894497"/>
                    </a:ext>
                  </a:extLst>
                </a:gridCol>
                <a:gridCol w="455582">
                  <a:extLst>
                    <a:ext uri="{9D8B030D-6E8A-4147-A177-3AD203B41FA5}">
                      <a16:colId xmlns:a16="http://schemas.microsoft.com/office/drawing/2014/main" val="4170535043"/>
                    </a:ext>
                  </a:extLst>
                </a:gridCol>
                <a:gridCol w="406074">
                  <a:extLst>
                    <a:ext uri="{9D8B030D-6E8A-4147-A177-3AD203B41FA5}">
                      <a16:colId xmlns:a16="http://schemas.microsoft.com/office/drawing/2014/main" val="2079070694"/>
                    </a:ext>
                  </a:extLst>
                </a:gridCol>
                <a:gridCol w="406074">
                  <a:extLst>
                    <a:ext uri="{9D8B030D-6E8A-4147-A177-3AD203B41FA5}">
                      <a16:colId xmlns:a16="http://schemas.microsoft.com/office/drawing/2014/main" val="4213315911"/>
                    </a:ext>
                  </a:extLst>
                </a:gridCol>
                <a:gridCol w="406074">
                  <a:extLst>
                    <a:ext uri="{9D8B030D-6E8A-4147-A177-3AD203B41FA5}">
                      <a16:colId xmlns:a16="http://schemas.microsoft.com/office/drawing/2014/main" val="2769999950"/>
                    </a:ext>
                  </a:extLst>
                </a:gridCol>
                <a:gridCol w="406074">
                  <a:extLst>
                    <a:ext uri="{9D8B030D-6E8A-4147-A177-3AD203B41FA5}">
                      <a16:colId xmlns:a16="http://schemas.microsoft.com/office/drawing/2014/main" val="135637185"/>
                    </a:ext>
                  </a:extLst>
                </a:gridCol>
                <a:gridCol w="406074">
                  <a:extLst>
                    <a:ext uri="{9D8B030D-6E8A-4147-A177-3AD203B41FA5}">
                      <a16:colId xmlns:a16="http://schemas.microsoft.com/office/drawing/2014/main" val="3038050475"/>
                    </a:ext>
                  </a:extLst>
                </a:gridCol>
                <a:gridCol w="406074">
                  <a:extLst>
                    <a:ext uri="{9D8B030D-6E8A-4147-A177-3AD203B41FA5}">
                      <a16:colId xmlns:a16="http://schemas.microsoft.com/office/drawing/2014/main" val="1979433044"/>
                    </a:ext>
                  </a:extLst>
                </a:gridCol>
                <a:gridCol w="406074">
                  <a:extLst>
                    <a:ext uri="{9D8B030D-6E8A-4147-A177-3AD203B41FA5}">
                      <a16:colId xmlns:a16="http://schemas.microsoft.com/office/drawing/2014/main" val="4270661649"/>
                    </a:ext>
                  </a:extLst>
                </a:gridCol>
                <a:gridCol w="406074">
                  <a:extLst>
                    <a:ext uri="{9D8B030D-6E8A-4147-A177-3AD203B41FA5}">
                      <a16:colId xmlns:a16="http://schemas.microsoft.com/office/drawing/2014/main" val="3027041370"/>
                    </a:ext>
                  </a:extLst>
                </a:gridCol>
                <a:gridCol w="406074">
                  <a:extLst>
                    <a:ext uri="{9D8B030D-6E8A-4147-A177-3AD203B41FA5}">
                      <a16:colId xmlns:a16="http://schemas.microsoft.com/office/drawing/2014/main" val="2852526216"/>
                    </a:ext>
                  </a:extLst>
                </a:gridCol>
                <a:gridCol w="406074">
                  <a:extLst>
                    <a:ext uri="{9D8B030D-6E8A-4147-A177-3AD203B41FA5}">
                      <a16:colId xmlns:a16="http://schemas.microsoft.com/office/drawing/2014/main" val="103420222"/>
                    </a:ext>
                  </a:extLst>
                </a:gridCol>
                <a:gridCol w="406074">
                  <a:extLst>
                    <a:ext uri="{9D8B030D-6E8A-4147-A177-3AD203B41FA5}">
                      <a16:colId xmlns:a16="http://schemas.microsoft.com/office/drawing/2014/main" val="1470405609"/>
                    </a:ext>
                  </a:extLst>
                </a:gridCol>
                <a:gridCol w="40607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x</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x</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x</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SF_SIZE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2408139"/>
                  </a:ext>
                </a:extLst>
              </a:tr>
            </a:tbl>
          </a:graphicData>
        </a:graphic>
      </p:graphicFrame>
      <p:graphicFrame>
        <p:nvGraphicFramePr>
          <p:cNvPr id="8" name="표 7">
            <a:extLst>
              <a:ext uri="{FF2B5EF4-FFF2-40B4-BE49-F238E27FC236}">
                <a16:creationId xmlns:a16="http://schemas.microsoft.com/office/drawing/2014/main" id="{F1E21CAF-1E60-AB6F-37D3-6ED4315D7014}"/>
              </a:ext>
            </a:extLst>
          </p:cNvPr>
          <p:cNvGraphicFramePr>
            <a:graphicFrameLocks noGrp="1"/>
          </p:cNvGraphicFramePr>
          <p:nvPr>
            <p:extLst>
              <p:ext uri="{D42A27DB-BD31-4B8C-83A1-F6EECF244321}">
                <p14:modId xmlns:p14="http://schemas.microsoft.com/office/powerpoint/2010/main" val="663201333"/>
              </p:ext>
            </p:extLst>
          </p:nvPr>
        </p:nvGraphicFramePr>
        <p:xfrm>
          <a:off x="381028" y="4835074"/>
          <a:ext cx="6072402" cy="372600"/>
        </p:xfrm>
        <a:graphic>
          <a:graphicData uri="http://schemas.openxmlformats.org/drawingml/2006/table">
            <a:tbl>
              <a:tblPr firstRow="1" bandRow="1">
                <a:tableStyleId>{5C22544A-7EE6-4342-B048-85BDC9FD1C3A}</a:tableStyleId>
              </a:tblPr>
              <a:tblGrid>
                <a:gridCol w="333744">
                  <a:extLst>
                    <a:ext uri="{9D8B030D-6E8A-4147-A177-3AD203B41FA5}">
                      <a16:colId xmlns:a16="http://schemas.microsoft.com/office/drawing/2014/main" val="657570846"/>
                    </a:ext>
                  </a:extLst>
                </a:gridCol>
                <a:gridCol w="390558">
                  <a:extLst>
                    <a:ext uri="{9D8B030D-6E8A-4147-A177-3AD203B41FA5}">
                      <a16:colId xmlns:a16="http://schemas.microsoft.com/office/drawing/2014/main" val="3259894497"/>
                    </a:ext>
                  </a:extLst>
                </a:gridCol>
                <a:gridCol w="523778">
                  <a:extLst>
                    <a:ext uri="{9D8B030D-6E8A-4147-A177-3AD203B41FA5}">
                      <a16:colId xmlns:a16="http://schemas.microsoft.com/office/drawing/2014/main" val="4170535043"/>
                    </a:ext>
                  </a:extLst>
                </a:gridCol>
                <a:gridCol w="411359">
                  <a:extLst>
                    <a:ext uri="{9D8B030D-6E8A-4147-A177-3AD203B41FA5}">
                      <a16:colId xmlns:a16="http://schemas.microsoft.com/office/drawing/2014/main" val="2079070694"/>
                    </a:ext>
                  </a:extLst>
                </a:gridCol>
                <a:gridCol w="407635">
                  <a:extLst>
                    <a:ext uri="{9D8B030D-6E8A-4147-A177-3AD203B41FA5}">
                      <a16:colId xmlns:a16="http://schemas.microsoft.com/office/drawing/2014/main" val="4213315911"/>
                    </a:ext>
                  </a:extLst>
                </a:gridCol>
                <a:gridCol w="409542">
                  <a:extLst>
                    <a:ext uri="{9D8B030D-6E8A-4147-A177-3AD203B41FA5}">
                      <a16:colId xmlns:a16="http://schemas.microsoft.com/office/drawing/2014/main" val="2769999950"/>
                    </a:ext>
                  </a:extLst>
                </a:gridCol>
                <a:gridCol w="409542">
                  <a:extLst>
                    <a:ext uri="{9D8B030D-6E8A-4147-A177-3AD203B41FA5}">
                      <a16:colId xmlns:a16="http://schemas.microsoft.com/office/drawing/2014/main" val="135637185"/>
                    </a:ext>
                  </a:extLst>
                </a:gridCol>
                <a:gridCol w="399446">
                  <a:extLst>
                    <a:ext uri="{9D8B030D-6E8A-4147-A177-3AD203B41FA5}">
                      <a16:colId xmlns:a16="http://schemas.microsoft.com/office/drawing/2014/main" val="3038050475"/>
                    </a:ext>
                  </a:extLst>
                </a:gridCol>
                <a:gridCol w="399446">
                  <a:extLst>
                    <a:ext uri="{9D8B030D-6E8A-4147-A177-3AD203B41FA5}">
                      <a16:colId xmlns:a16="http://schemas.microsoft.com/office/drawing/2014/main" val="1979433044"/>
                    </a:ext>
                  </a:extLst>
                </a:gridCol>
                <a:gridCol w="399446">
                  <a:extLst>
                    <a:ext uri="{9D8B030D-6E8A-4147-A177-3AD203B41FA5}">
                      <a16:colId xmlns:a16="http://schemas.microsoft.com/office/drawing/2014/main" val="4270661649"/>
                    </a:ext>
                  </a:extLst>
                </a:gridCol>
                <a:gridCol w="399446">
                  <a:extLst>
                    <a:ext uri="{9D8B030D-6E8A-4147-A177-3AD203B41FA5}">
                      <a16:colId xmlns:a16="http://schemas.microsoft.com/office/drawing/2014/main" val="3027041370"/>
                    </a:ext>
                  </a:extLst>
                </a:gridCol>
                <a:gridCol w="399446">
                  <a:extLst>
                    <a:ext uri="{9D8B030D-6E8A-4147-A177-3AD203B41FA5}">
                      <a16:colId xmlns:a16="http://schemas.microsoft.com/office/drawing/2014/main" val="2852526216"/>
                    </a:ext>
                  </a:extLst>
                </a:gridCol>
                <a:gridCol w="399446">
                  <a:extLst>
                    <a:ext uri="{9D8B030D-6E8A-4147-A177-3AD203B41FA5}">
                      <a16:colId xmlns:a16="http://schemas.microsoft.com/office/drawing/2014/main" val="103420222"/>
                    </a:ext>
                  </a:extLst>
                </a:gridCol>
                <a:gridCol w="399446">
                  <a:extLst>
                    <a:ext uri="{9D8B030D-6E8A-4147-A177-3AD203B41FA5}">
                      <a16:colId xmlns:a16="http://schemas.microsoft.com/office/drawing/2014/main" val="1470405609"/>
                    </a:ext>
                  </a:extLst>
                </a:gridCol>
                <a:gridCol w="39012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CH_SIZE [3:0]</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SF_X8_SIZE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9589405"/>
                  </a:ext>
                </a:extLst>
              </a:tr>
            </a:tbl>
          </a:graphicData>
        </a:graphic>
      </p:graphicFrame>
      <p:graphicFrame>
        <p:nvGraphicFramePr>
          <p:cNvPr id="3" name="표 2">
            <a:extLst>
              <a:ext uri="{FF2B5EF4-FFF2-40B4-BE49-F238E27FC236}">
                <a16:creationId xmlns:a16="http://schemas.microsoft.com/office/drawing/2014/main" id="{3FFE0055-74EF-8AD2-C210-61FEF432AFB7}"/>
              </a:ext>
            </a:extLst>
          </p:cNvPr>
          <p:cNvGraphicFramePr>
            <a:graphicFrameLocks noGrp="1"/>
          </p:cNvGraphicFramePr>
          <p:nvPr>
            <p:extLst>
              <p:ext uri="{D42A27DB-BD31-4B8C-83A1-F6EECF244321}">
                <p14:modId xmlns:p14="http://schemas.microsoft.com/office/powerpoint/2010/main" val="3208516129"/>
              </p:ext>
            </p:extLst>
          </p:nvPr>
        </p:nvGraphicFramePr>
        <p:xfrm>
          <a:off x="389764" y="7431253"/>
          <a:ext cx="6072403" cy="1439320"/>
        </p:xfrm>
        <a:graphic>
          <a:graphicData uri="http://schemas.openxmlformats.org/drawingml/2006/table">
            <a:tbl>
              <a:tblPr firstRow="1" bandRow="1">
                <a:tableStyleId>{5C22544A-7EE6-4342-B048-85BDC9FD1C3A}</a:tableStyleId>
              </a:tblPr>
              <a:tblGrid>
                <a:gridCol w="442533">
                  <a:extLst>
                    <a:ext uri="{9D8B030D-6E8A-4147-A177-3AD203B41FA5}">
                      <a16:colId xmlns:a16="http://schemas.microsoft.com/office/drawing/2014/main" val="4170535043"/>
                    </a:ext>
                  </a:extLst>
                </a:gridCol>
                <a:gridCol w="1051554">
                  <a:extLst>
                    <a:ext uri="{9D8B030D-6E8A-4147-A177-3AD203B41FA5}">
                      <a16:colId xmlns:a16="http://schemas.microsoft.com/office/drawing/2014/main" val="2079070694"/>
                    </a:ext>
                  </a:extLst>
                </a:gridCol>
                <a:gridCol w="4578316">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237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SF_BFI</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SF_BFI_SIZE determines how many sub-frames are turned-off in a frame. The number should be less than the SF_SIZE in a Normal mode and the SF_X8_SIZE in a X8 mode and can be set to 0 to fully turn-on for a frame time.  Even if the value will be changed, the value is kept until completing the current frame, and applied from a next frame.  For more details, refer to the Fig. 6,7,8,9 and the number of sub-frame turned-on is as follows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 (SF_SIZE – SF_BFI_SIZE) @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 (SF_X8_SIZE – SF_BFI_SIZE) @ X8 mode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6757228"/>
                  </a:ext>
                </a:extLst>
              </a:tr>
            </a:tbl>
          </a:graphicData>
        </a:graphic>
      </p:graphicFrame>
      <p:sp>
        <p:nvSpPr>
          <p:cNvPr id="4" name="TextBox 3">
            <a:extLst>
              <a:ext uri="{FF2B5EF4-FFF2-40B4-BE49-F238E27FC236}">
                <a16:creationId xmlns:a16="http://schemas.microsoft.com/office/drawing/2014/main" id="{2B4BD9C3-16B9-44A7-5DB9-0511570391D9}"/>
              </a:ext>
            </a:extLst>
          </p:cNvPr>
          <p:cNvSpPr txBox="1"/>
          <p:nvPr/>
        </p:nvSpPr>
        <p:spPr>
          <a:xfrm>
            <a:off x="392799" y="6750771"/>
            <a:ext cx="60724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SF BFI SIZE</a:t>
            </a:r>
          </a:p>
        </p:txBody>
      </p:sp>
      <p:graphicFrame>
        <p:nvGraphicFramePr>
          <p:cNvPr id="9" name="표 8">
            <a:extLst>
              <a:ext uri="{FF2B5EF4-FFF2-40B4-BE49-F238E27FC236}">
                <a16:creationId xmlns:a16="http://schemas.microsoft.com/office/drawing/2014/main" id="{A2E8440B-1BB2-DC20-CF7D-B322BEED7CFF}"/>
              </a:ext>
            </a:extLst>
          </p:cNvPr>
          <p:cNvGraphicFramePr>
            <a:graphicFrameLocks noGrp="1"/>
          </p:cNvGraphicFramePr>
          <p:nvPr>
            <p:extLst>
              <p:ext uri="{D42A27DB-BD31-4B8C-83A1-F6EECF244321}">
                <p14:modId xmlns:p14="http://schemas.microsoft.com/office/powerpoint/2010/main" val="3270214776"/>
              </p:ext>
            </p:extLst>
          </p:nvPr>
        </p:nvGraphicFramePr>
        <p:xfrm>
          <a:off x="392797" y="7012126"/>
          <a:ext cx="6072402" cy="372600"/>
        </p:xfrm>
        <a:graphic>
          <a:graphicData uri="http://schemas.openxmlformats.org/drawingml/2006/table">
            <a:tbl>
              <a:tblPr firstRow="1" bandRow="1">
                <a:tableStyleId>{5C22544A-7EE6-4342-B048-85BDC9FD1C3A}</a:tableStyleId>
              </a:tblPr>
              <a:tblGrid>
                <a:gridCol w="333744">
                  <a:extLst>
                    <a:ext uri="{9D8B030D-6E8A-4147-A177-3AD203B41FA5}">
                      <a16:colId xmlns:a16="http://schemas.microsoft.com/office/drawing/2014/main" val="657570846"/>
                    </a:ext>
                  </a:extLst>
                </a:gridCol>
                <a:gridCol w="390558">
                  <a:extLst>
                    <a:ext uri="{9D8B030D-6E8A-4147-A177-3AD203B41FA5}">
                      <a16:colId xmlns:a16="http://schemas.microsoft.com/office/drawing/2014/main" val="3259894497"/>
                    </a:ext>
                  </a:extLst>
                </a:gridCol>
                <a:gridCol w="523778">
                  <a:extLst>
                    <a:ext uri="{9D8B030D-6E8A-4147-A177-3AD203B41FA5}">
                      <a16:colId xmlns:a16="http://schemas.microsoft.com/office/drawing/2014/main" val="4170535043"/>
                    </a:ext>
                  </a:extLst>
                </a:gridCol>
                <a:gridCol w="411359">
                  <a:extLst>
                    <a:ext uri="{9D8B030D-6E8A-4147-A177-3AD203B41FA5}">
                      <a16:colId xmlns:a16="http://schemas.microsoft.com/office/drawing/2014/main" val="2079070694"/>
                    </a:ext>
                  </a:extLst>
                </a:gridCol>
                <a:gridCol w="407635">
                  <a:extLst>
                    <a:ext uri="{9D8B030D-6E8A-4147-A177-3AD203B41FA5}">
                      <a16:colId xmlns:a16="http://schemas.microsoft.com/office/drawing/2014/main" val="4213315911"/>
                    </a:ext>
                  </a:extLst>
                </a:gridCol>
                <a:gridCol w="409542">
                  <a:extLst>
                    <a:ext uri="{9D8B030D-6E8A-4147-A177-3AD203B41FA5}">
                      <a16:colId xmlns:a16="http://schemas.microsoft.com/office/drawing/2014/main" val="2769999950"/>
                    </a:ext>
                  </a:extLst>
                </a:gridCol>
                <a:gridCol w="409542">
                  <a:extLst>
                    <a:ext uri="{9D8B030D-6E8A-4147-A177-3AD203B41FA5}">
                      <a16:colId xmlns:a16="http://schemas.microsoft.com/office/drawing/2014/main" val="135637185"/>
                    </a:ext>
                  </a:extLst>
                </a:gridCol>
                <a:gridCol w="399446">
                  <a:extLst>
                    <a:ext uri="{9D8B030D-6E8A-4147-A177-3AD203B41FA5}">
                      <a16:colId xmlns:a16="http://schemas.microsoft.com/office/drawing/2014/main" val="3038050475"/>
                    </a:ext>
                  </a:extLst>
                </a:gridCol>
                <a:gridCol w="399446">
                  <a:extLst>
                    <a:ext uri="{9D8B030D-6E8A-4147-A177-3AD203B41FA5}">
                      <a16:colId xmlns:a16="http://schemas.microsoft.com/office/drawing/2014/main" val="1979433044"/>
                    </a:ext>
                  </a:extLst>
                </a:gridCol>
                <a:gridCol w="399446">
                  <a:extLst>
                    <a:ext uri="{9D8B030D-6E8A-4147-A177-3AD203B41FA5}">
                      <a16:colId xmlns:a16="http://schemas.microsoft.com/office/drawing/2014/main" val="4270661649"/>
                    </a:ext>
                  </a:extLst>
                </a:gridCol>
                <a:gridCol w="399446">
                  <a:extLst>
                    <a:ext uri="{9D8B030D-6E8A-4147-A177-3AD203B41FA5}">
                      <a16:colId xmlns:a16="http://schemas.microsoft.com/office/drawing/2014/main" val="3027041370"/>
                    </a:ext>
                  </a:extLst>
                </a:gridCol>
                <a:gridCol w="399446">
                  <a:extLst>
                    <a:ext uri="{9D8B030D-6E8A-4147-A177-3AD203B41FA5}">
                      <a16:colId xmlns:a16="http://schemas.microsoft.com/office/drawing/2014/main" val="2852526216"/>
                    </a:ext>
                  </a:extLst>
                </a:gridCol>
                <a:gridCol w="399446">
                  <a:extLst>
                    <a:ext uri="{9D8B030D-6E8A-4147-A177-3AD203B41FA5}">
                      <a16:colId xmlns:a16="http://schemas.microsoft.com/office/drawing/2014/main" val="103420222"/>
                    </a:ext>
                  </a:extLst>
                </a:gridCol>
                <a:gridCol w="399446">
                  <a:extLst>
                    <a:ext uri="{9D8B030D-6E8A-4147-A177-3AD203B41FA5}">
                      <a16:colId xmlns:a16="http://schemas.microsoft.com/office/drawing/2014/main" val="1470405609"/>
                    </a:ext>
                  </a:extLst>
                </a:gridCol>
                <a:gridCol w="39012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SF_BFI_SIZE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6474633"/>
                  </a:ext>
                </a:extLst>
              </a:tr>
            </a:tbl>
          </a:graphicData>
        </a:graphic>
      </p:graphicFrame>
    </p:spTree>
    <p:extLst>
      <p:ext uri="{BB962C8B-B14F-4D97-AF65-F5344CB8AC3E}">
        <p14:creationId xmlns:p14="http://schemas.microsoft.com/office/powerpoint/2010/main" val="2708730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299440414"/>
              </p:ext>
            </p:extLst>
          </p:nvPr>
        </p:nvGraphicFramePr>
        <p:xfrm>
          <a:off x="386687" y="6461027"/>
          <a:ext cx="6053457" cy="1027840"/>
        </p:xfrm>
        <a:graphic>
          <a:graphicData uri="http://schemas.openxmlformats.org/drawingml/2006/table">
            <a:tbl>
              <a:tblPr firstRow="1" bandRow="1">
                <a:tableStyleId>{5C22544A-7EE6-4342-B048-85BDC9FD1C3A}</a:tableStyleId>
              </a:tblPr>
              <a:tblGrid>
                <a:gridCol w="446581">
                  <a:extLst>
                    <a:ext uri="{9D8B030D-6E8A-4147-A177-3AD203B41FA5}">
                      <a16:colId xmlns:a16="http://schemas.microsoft.com/office/drawing/2014/main" val="4170535043"/>
                    </a:ext>
                  </a:extLst>
                </a:gridCol>
                <a:gridCol w="1061174">
                  <a:extLst>
                    <a:ext uri="{9D8B030D-6E8A-4147-A177-3AD203B41FA5}">
                      <a16:colId xmlns:a16="http://schemas.microsoft.com/office/drawing/2014/main" val="2079070694"/>
                    </a:ext>
                  </a:extLst>
                </a:gridCol>
                <a:gridCol w="4545702">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CHx_EN determines which channel will be activated. The set value is independent of the value of the CH_SIZE. If the CHx_EN is not set, then the corresponding channel sink output including the its faults, OPENx, SHORTx, FBx, will be deactivated. The CHx_EN bits </a:t>
                      </a:r>
                      <a:r>
                        <a:rPr lang="en-US" altLang="ko-KR" sz="900" b="0" i="1" dirty="0">
                          <a:solidFill>
                            <a:schemeClr val="tx1"/>
                          </a:solidFill>
                          <a:latin typeface="Arial" panose="020B0604020202020204" pitchFamily="34" charset="0"/>
                          <a:ea typeface="+mn-ea"/>
                          <a:cs typeface="Arial" panose="020B0604020202020204" pitchFamily="34" charset="0"/>
                        </a:rPr>
                        <a:t>should be set consecutively</a:t>
                      </a:r>
                      <a:r>
                        <a:rPr lang="en-US" altLang="ko-KR" sz="900" b="0" dirty="0">
                          <a:solidFill>
                            <a:schemeClr val="tx1"/>
                          </a:solidFill>
                          <a:latin typeface="Arial" panose="020B0604020202020204" pitchFamily="34" charset="0"/>
                          <a:ea typeface="+mn-ea"/>
                          <a:cs typeface="Arial" panose="020B0604020202020204" pitchFamily="34" charset="0"/>
                        </a:rPr>
                        <a:t>, such as CH1_EN, CH2_EN, CH3_EN, and so on,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and the number of enabled channels does not need to match the CH_SIZE value.</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408398" y="3557391"/>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5" name="표 4">
            <a:extLst>
              <a:ext uri="{FF2B5EF4-FFF2-40B4-BE49-F238E27FC236}">
                <a16:creationId xmlns:a16="http://schemas.microsoft.com/office/drawing/2014/main" id="{45DE8FCB-50B5-353C-2592-F95A83E0479C}"/>
              </a:ext>
            </a:extLst>
          </p:cNvPr>
          <p:cNvGraphicFramePr>
            <a:graphicFrameLocks noGrp="1"/>
          </p:cNvGraphicFramePr>
          <p:nvPr>
            <p:extLst>
              <p:ext uri="{D42A27DB-BD31-4B8C-83A1-F6EECF244321}">
                <p14:modId xmlns:p14="http://schemas.microsoft.com/office/powerpoint/2010/main" val="3387175714"/>
              </p:ext>
            </p:extLst>
          </p:nvPr>
        </p:nvGraphicFramePr>
        <p:xfrm>
          <a:off x="385934" y="6018552"/>
          <a:ext cx="6059220" cy="372600"/>
        </p:xfrm>
        <a:graphic>
          <a:graphicData uri="http://schemas.openxmlformats.org/drawingml/2006/table">
            <a:tbl>
              <a:tblPr firstRow="1" bandRow="1">
                <a:tableStyleId>{5C22544A-7EE6-4342-B048-85BDC9FD1C3A}</a:tableStyleId>
              </a:tblPr>
              <a:tblGrid>
                <a:gridCol w="352003">
                  <a:extLst>
                    <a:ext uri="{9D8B030D-6E8A-4147-A177-3AD203B41FA5}">
                      <a16:colId xmlns:a16="http://schemas.microsoft.com/office/drawing/2014/main" val="657570846"/>
                    </a:ext>
                  </a:extLst>
                </a:gridCol>
                <a:gridCol w="387040">
                  <a:extLst>
                    <a:ext uri="{9D8B030D-6E8A-4147-A177-3AD203B41FA5}">
                      <a16:colId xmlns:a16="http://schemas.microsoft.com/office/drawing/2014/main" val="3259894497"/>
                    </a:ext>
                  </a:extLst>
                </a:gridCol>
                <a:gridCol w="454873">
                  <a:extLst>
                    <a:ext uri="{9D8B030D-6E8A-4147-A177-3AD203B41FA5}">
                      <a16:colId xmlns:a16="http://schemas.microsoft.com/office/drawing/2014/main" val="4170535043"/>
                    </a:ext>
                  </a:extLst>
                </a:gridCol>
                <a:gridCol w="405442">
                  <a:extLst>
                    <a:ext uri="{9D8B030D-6E8A-4147-A177-3AD203B41FA5}">
                      <a16:colId xmlns:a16="http://schemas.microsoft.com/office/drawing/2014/main" val="2079070694"/>
                    </a:ext>
                  </a:extLst>
                </a:gridCol>
                <a:gridCol w="405442">
                  <a:extLst>
                    <a:ext uri="{9D8B030D-6E8A-4147-A177-3AD203B41FA5}">
                      <a16:colId xmlns:a16="http://schemas.microsoft.com/office/drawing/2014/main" val="4213315911"/>
                    </a:ext>
                  </a:extLst>
                </a:gridCol>
                <a:gridCol w="405442">
                  <a:extLst>
                    <a:ext uri="{9D8B030D-6E8A-4147-A177-3AD203B41FA5}">
                      <a16:colId xmlns:a16="http://schemas.microsoft.com/office/drawing/2014/main" val="2769999950"/>
                    </a:ext>
                  </a:extLst>
                </a:gridCol>
                <a:gridCol w="405442">
                  <a:extLst>
                    <a:ext uri="{9D8B030D-6E8A-4147-A177-3AD203B41FA5}">
                      <a16:colId xmlns:a16="http://schemas.microsoft.com/office/drawing/2014/main" val="135637185"/>
                    </a:ext>
                  </a:extLst>
                </a:gridCol>
                <a:gridCol w="405442">
                  <a:extLst>
                    <a:ext uri="{9D8B030D-6E8A-4147-A177-3AD203B41FA5}">
                      <a16:colId xmlns:a16="http://schemas.microsoft.com/office/drawing/2014/main" val="3038050475"/>
                    </a:ext>
                  </a:extLst>
                </a:gridCol>
                <a:gridCol w="405442">
                  <a:extLst>
                    <a:ext uri="{9D8B030D-6E8A-4147-A177-3AD203B41FA5}">
                      <a16:colId xmlns:a16="http://schemas.microsoft.com/office/drawing/2014/main" val="1979433044"/>
                    </a:ext>
                  </a:extLst>
                </a:gridCol>
                <a:gridCol w="405442">
                  <a:extLst>
                    <a:ext uri="{9D8B030D-6E8A-4147-A177-3AD203B41FA5}">
                      <a16:colId xmlns:a16="http://schemas.microsoft.com/office/drawing/2014/main" val="4270661649"/>
                    </a:ext>
                  </a:extLst>
                </a:gridCol>
                <a:gridCol w="405442">
                  <a:extLst>
                    <a:ext uri="{9D8B030D-6E8A-4147-A177-3AD203B41FA5}">
                      <a16:colId xmlns:a16="http://schemas.microsoft.com/office/drawing/2014/main" val="3027041370"/>
                    </a:ext>
                  </a:extLst>
                </a:gridCol>
                <a:gridCol w="405442">
                  <a:extLst>
                    <a:ext uri="{9D8B030D-6E8A-4147-A177-3AD203B41FA5}">
                      <a16:colId xmlns:a16="http://schemas.microsoft.com/office/drawing/2014/main" val="2852526216"/>
                    </a:ext>
                  </a:extLst>
                </a:gridCol>
                <a:gridCol w="405442">
                  <a:extLst>
                    <a:ext uri="{9D8B030D-6E8A-4147-A177-3AD203B41FA5}">
                      <a16:colId xmlns:a16="http://schemas.microsoft.com/office/drawing/2014/main" val="103420222"/>
                    </a:ext>
                  </a:extLst>
                </a:gridCol>
                <a:gridCol w="405442">
                  <a:extLst>
                    <a:ext uri="{9D8B030D-6E8A-4147-A177-3AD203B41FA5}">
                      <a16:colId xmlns:a16="http://schemas.microsoft.com/office/drawing/2014/main" val="1470405609"/>
                    </a:ext>
                  </a:extLst>
                </a:gridCol>
                <a:gridCol w="4054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1282635728"/>
              </p:ext>
            </p:extLst>
          </p:nvPr>
        </p:nvGraphicFramePr>
        <p:xfrm>
          <a:off x="395630" y="4245510"/>
          <a:ext cx="6066739" cy="1165000"/>
        </p:xfrm>
        <a:graphic>
          <a:graphicData uri="http://schemas.openxmlformats.org/drawingml/2006/table">
            <a:tbl>
              <a:tblPr firstRow="1" bandRow="1">
                <a:tableStyleId>{5C22544A-7EE6-4342-B048-85BDC9FD1C3A}</a:tableStyleId>
              </a:tblPr>
              <a:tblGrid>
                <a:gridCol w="374589">
                  <a:extLst>
                    <a:ext uri="{9D8B030D-6E8A-4147-A177-3AD203B41FA5}">
                      <a16:colId xmlns:a16="http://schemas.microsoft.com/office/drawing/2014/main" val="4170535043"/>
                    </a:ext>
                  </a:extLst>
                </a:gridCol>
                <a:gridCol w="1118104">
                  <a:extLst>
                    <a:ext uri="{9D8B030D-6E8A-4147-A177-3AD203B41FA5}">
                      <a16:colId xmlns:a16="http://schemas.microsoft.com/office/drawing/2014/main" val="2079070694"/>
                    </a:ext>
                  </a:extLst>
                </a:gridCol>
                <a:gridCol w="4574046">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 determines the maximum current value of a frame to be dimmed. If the max current level is set to 8mA, then the MAX_CURR_VREF value is proportional to the max current level, and so this value decides the max current reference of all blocks being dimmed for a frame. The set value will come into effect at the next internal vsync assertion even if the value is set during current dimming frame earlier than the next 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17071C8F-EA75-1BCF-7B88-D66AE747CB85}"/>
              </a:ext>
            </a:extLst>
          </p:cNvPr>
          <p:cNvSpPr txBox="1"/>
          <p:nvPr/>
        </p:nvSpPr>
        <p:spPr>
          <a:xfrm>
            <a:off x="382193" y="5755360"/>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2592922371"/>
              </p:ext>
            </p:extLst>
          </p:nvPr>
        </p:nvGraphicFramePr>
        <p:xfrm>
          <a:off x="395631" y="3819841"/>
          <a:ext cx="6066739" cy="372600"/>
        </p:xfrm>
        <a:graphic>
          <a:graphicData uri="http://schemas.openxmlformats.org/drawingml/2006/table">
            <a:tbl>
              <a:tblPr firstRow="1" bandRow="1">
                <a:tableStyleId>{5C22544A-7EE6-4342-B048-85BDC9FD1C3A}</a:tableStyleId>
              </a:tblPr>
              <a:tblGrid>
                <a:gridCol w="290131">
                  <a:extLst>
                    <a:ext uri="{9D8B030D-6E8A-4147-A177-3AD203B41FA5}">
                      <a16:colId xmlns:a16="http://schemas.microsoft.com/office/drawing/2014/main" val="657570846"/>
                    </a:ext>
                  </a:extLst>
                </a:gridCol>
                <a:gridCol w="413218">
                  <a:extLst>
                    <a:ext uri="{9D8B030D-6E8A-4147-A177-3AD203B41FA5}">
                      <a16:colId xmlns:a16="http://schemas.microsoft.com/office/drawing/2014/main" val="3259894497"/>
                    </a:ext>
                  </a:extLst>
                </a:gridCol>
                <a:gridCol w="465968">
                  <a:extLst>
                    <a:ext uri="{9D8B030D-6E8A-4147-A177-3AD203B41FA5}">
                      <a16:colId xmlns:a16="http://schemas.microsoft.com/office/drawing/2014/main" val="4170535043"/>
                    </a:ext>
                  </a:extLst>
                </a:gridCol>
                <a:gridCol w="328429">
                  <a:extLst>
                    <a:ext uri="{9D8B030D-6E8A-4147-A177-3AD203B41FA5}">
                      <a16:colId xmlns:a16="http://schemas.microsoft.com/office/drawing/2014/main" val="2079070694"/>
                    </a:ext>
                  </a:extLst>
                </a:gridCol>
                <a:gridCol w="415363">
                  <a:extLst>
                    <a:ext uri="{9D8B030D-6E8A-4147-A177-3AD203B41FA5}">
                      <a16:colId xmlns:a16="http://schemas.microsoft.com/office/drawing/2014/main" val="4213315911"/>
                    </a:ext>
                  </a:extLst>
                </a:gridCol>
                <a:gridCol w="415363">
                  <a:extLst>
                    <a:ext uri="{9D8B030D-6E8A-4147-A177-3AD203B41FA5}">
                      <a16:colId xmlns:a16="http://schemas.microsoft.com/office/drawing/2014/main" val="2769999950"/>
                    </a:ext>
                  </a:extLst>
                </a:gridCol>
                <a:gridCol w="415363">
                  <a:extLst>
                    <a:ext uri="{9D8B030D-6E8A-4147-A177-3AD203B41FA5}">
                      <a16:colId xmlns:a16="http://schemas.microsoft.com/office/drawing/2014/main" val="135637185"/>
                    </a:ext>
                  </a:extLst>
                </a:gridCol>
                <a:gridCol w="415363">
                  <a:extLst>
                    <a:ext uri="{9D8B030D-6E8A-4147-A177-3AD203B41FA5}">
                      <a16:colId xmlns:a16="http://schemas.microsoft.com/office/drawing/2014/main" val="3038050475"/>
                    </a:ext>
                  </a:extLst>
                </a:gridCol>
                <a:gridCol w="415363">
                  <a:extLst>
                    <a:ext uri="{9D8B030D-6E8A-4147-A177-3AD203B41FA5}">
                      <a16:colId xmlns:a16="http://schemas.microsoft.com/office/drawing/2014/main" val="1979433044"/>
                    </a:ext>
                  </a:extLst>
                </a:gridCol>
                <a:gridCol w="415363">
                  <a:extLst>
                    <a:ext uri="{9D8B030D-6E8A-4147-A177-3AD203B41FA5}">
                      <a16:colId xmlns:a16="http://schemas.microsoft.com/office/drawing/2014/main" val="4270661649"/>
                    </a:ext>
                  </a:extLst>
                </a:gridCol>
                <a:gridCol w="415363">
                  <a:extLst>
                    <a:ext uri="{9D8B030D-6E8A-4147-A177-3AD203B41FA5}">
                      <a16:colId xmlns:a16="http://schemas.microsoft.com/office/drawing/2014/main" val="3027041370"/>
                    </a:ext>
                  </a:extLst>
                </a:gridCol>
                <a:gridCol w="415363">
                  <a:extLst>
                    <a:ext uri="{9D8B030D-6E8A-4147-A177-3AD203B41FA5}">
                      <a16:colId xmlns:a16="http://schemas.microsoft.com/office/drawing/2014/main" val="2852526216"/>
                    </a:ext>
                  </a:extLst>
                </a:gridCol>
                <a:gridCol w="415363">
                  <a:extLst>
                    <a:ext uri="{9D8B030D-6E8A-4147-A177-3AD203B41FA5}">
                      <a16:colId xmlns:a16="http://schemas.microsoft.com/office/drawing/2014/main" val="103420222"/>
                    </a:ext>
                  </a:extLst>
                </a:gridCol>
                <a:gridCol w="415363">
                  <a:extLst>
                    <a:ext uri="{9D8B030D-6E8A-4147-A177-3AD203B41FA5}">
                      <a16:colId xmlns:a16="http://schemas.microsoft.com/office/drawing/2014/main" val="1470405609"/>
                    </a:ext>
                  </a:extLst>
                </a:gridCol>
                <a:gridCol w="4153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7D1A3AD-711E-55B7-D628-AE9B100E153B}"/>
              </a:ext>
            </a:extLst>
          </p:cNvPr>
          <p:cNvGraphicFramePr>
            <a:graphicFrameLocks noGrp="1"/>
          </p:cNvGraphicFramePr>
          <p:nvPr>
            <p:extLst>
              <p:ext uri="{D42A27DB-BD31-4B8C-83A1-F6EECF244321}">
                <p14:modId xmlns:p14="http://schemas.microsoft.com/office/powerpoint/2010/main" val="70931423"/>
              </p:ext>
            </p:extLst>
          </p:nvPr>
        </p:nvGraphicFramePr>
        <p:xfrm>
          <a:off x="395414" y="2266438"/>
          <a:ext cx="6066743" cy="1042412"/>
        </p:xfrm>
        <a:graphic>
          <a:graphicData uri="http://schemas.openxmlformats.org/drawingml/2006/table">
            <a:tbl>
              <a:tblPr firstRow="1" bandRow="1">
                <a:tableStyleId>{5C22544A-7EE6-4342-B048-85BDC9FD1C3A}</a:tableStyleId>
              </a:tblPr>
              <a:tblGrid>
                <a:gridCol w="442120">
                  <a:extLst>
                    <a:ext uri="{9D8B030D-6E8A-4147-A177-3AD203B41FA5}">
                      <a16:colId xmlns:a16="http://schemas.microsoft.com/office/drawing/2014/main" val="4170535043"/>
                    </a:ext>
                  </a:extLst>
                </a:gridCol>
                <a:gridCol w="1050574">
                  <a:extLst>
                    <a:ext uri="{9D8B030D-6E8A-4147-A177-3AD203B41FA5}">
                      <a16:colId xmlns:a16="http://schemas.microsoft.com/office/drawing/2014/main" val="2079070694"/>
                    </a:ext>
                  </a:extLst>
                </a:gridCol>
                <a:gridCol w="4574049">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2372">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LD_FIX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LD_FIX register is used to continuously out a fixed value written in this register instead of LD data to be transmitted form a Host, regardless of the frame sync signal. This function is used only for device testing and activated when the TEST_EN bit  and the LD_FIX_EN bit are all set.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5CBB5A2B-88AD-CB2B-06D4-A847F70DC2AB}"/>
              </a:ext>
            </a:extLst>
          </p:cNvPr>
          <p:cNvSpPr txBox="1"/>
          <p:nvPr/>
        </p:nvSpPr>
        <p:spPr>
          <a:xfrm>
            <a:off x="408186" y="848842"/>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FIX 1</a:t>
            </a:r>
          </a:p>
        </p:txBody>
      </p:sp>
      <p:graphicFrame>
        <p:nvGraphicFramePr>
          <p:cNvPr id="13" name="표 12">
            <a:extLst>
              <a:ext uri="{FF2B5EF4-FFF2-40B4-BE49-F238E27FC236}">
                <a16:creationId xmlns:a16="http://schemas.microsoft.com/office/drawing/2014/main" id="{5709856C-2E86-DC40-C611-2C3007EB3584}"/>
              </a:ext>
            </a:extLst>
          </p:cNvPr>
          <p:cNvGraphicFramePr>
            <a:graphicFrameLocks noGrp="1"/>
          </p:cNvGraphicFramePr>
          <p:nvPr>
            <p:extLst>
              <p:ext uri="{D42A27DB-BD31-4B8C-83A1-F6EECF244321}">
                <p14:modId xmlns:p14="http://schemas.microsoft.com/office/powerpoint/2010/main" val="1578769200"/>
              </p:ext>
            </p:extLst>
          </p:nvPr>
        </p:nvGraphicFramePr>
        <p:xfrm>
          <a:off x="395418" y="1818397"/>
          <a:ext cx="6066745" cy="372600"/>
        </p:xfrm>
        <a:graphic>
          <a:graphicData uri="http://schemas.openxmlformats.org/drawingml/2006/table">
            <a:tbl>
              <a:tblPr firstRow="1" bandRow="1">
                <a:tableStyleId>{5C22544A-7EE6-4342-B048-85BDC9FD1C3A}</a:tableStyleId>
              </a:tblPr>
              <a:tblGrid>
                <a:gridCol w="304816">
                  <a:extLst>
                    <a:ext uri="{9D8B030D-6E8A-4147-A177-3AD203B41FA5}">
                      <a16:colId xmlns:a16="http://schemas.microsoft.com/office/drawing/2014/main" val="657570846"/>
                    </a:ext>
                  </a:extLst>
                </a:gridCol>
                <a:gridCol w="392458">
                  <a:extLst>
                    <a:ext uri="{9D8B030D-6E8A-4147-A177-3AD203B41FA5}">
                      <a16:colId xmlns:a16="http://schemas.microsoft.com/office/drawing/2014/main" val="3259894497"/>
                    </a:ext>
                  </a:extLst>
                </a:gridCol>
                <a:gridCol w="425804">
                  <a:extLst>
                    <a:ext uri="{9D8B030D-6E8A-4147-A177-3AD203B41FA5}">
                      <a16:colId xmlns:a16="http://schemas.microsoft.com/office/drawing/2014/main" val="4170535043"/>
                    </a:ext>
                  </a:extLst>
                </a:gridCol>
                <a:gridCol w="433446">
                  <a:extLst>
                    <a:ext uri="{9D8B030D-6E8A-4147-A177-3AD203B41FA5}">
                      <a16:colId xmlns:a16="http://schemas.microsoft.com/office/drawing/2014/main" val="2079070694"/>
                    </a:ext>
                  </a:extLst>
                </a:gridCol>
                <a:gridCol w="419723">
                  <a:extLst>
                    <a:ext uri="{9D8B030D-6E8A-4147-A177-3AD203B41FA5}">
                      <a16:colId xmlns:a16="http://schemas.microsoft.com/office/drawing/2014/main" val="4213315911"/>
                    </a:ext>
                  </a:extLst>
                </a:gridCol>
                <a:gridCol w="419723">
                  <a:extLst>
                    <a:ext uri="{9D8B030D-6E8A-4147-A177-3AD203B41FA5}">
                      <a16:colId xmlns:a16="http://schemas.microsoft.com/office/drawing/2014/main" val="2769999950"/>
                    </a:ext>
                  </a:extLst>
                </a:gridCol>
                <a:gridCol w="419723">
                  <a:extLst>
                    <a:ext uri="{9D8B030D-6E8A-4147-A177-3AD203B41FA5}">
                      <a16:colId xmlns:a16="http://schemas.microsoft.com/office/drawing/2014/main" val="135637185"/>
                    </a:ext>
                  </a:extLst>
                </a:gridCol>
                <a:gridCol w="419723">
                  <a:extLst>
                    <a:ext uri="{9D8B030D-6E8A-4147-A177-3AD203B41FA5}">
                      <a16:colId xmlns:a16="http://schemas.microsoft.com/office/drawing/2014/main" val="3038050475"/>
                    </a:ext>
                  </a:extLst>
                </a:gridCol>
                <a:gridCol w="419723">
                  <a:extLst>
                    <a:ext uri="{9D8B030D-6E8A-4147-A177-3AD203B41FA5}">
                      <a16:colId xmlns:a16="http://schemas.microsoft.com/office/drawing/2014/main" val="1979433044"/>
                    </a:ext>
                  </a:extLst>
                </a:gridCol>
                <a:gridCol w="419723">
                  <a:extLst>
                    <a:ext uri="{9D8B030D-6E8A-4147-A177-3AD203B41FA5}">
                      <a16:colId xmlns:a16="http://schemas.microsoft.com/office/drawing/2014/main" val="4270661649"/>
                    </a:ext>
                  </a:extLst>
                </a:gridCol>
                <a:gridCol w="419723">
                  <a:extLst>
                    <a:ext uri="{9D8B030D-6E8A-4147-A177-3AD203B41FA5}">
                      <a16:colId xmlns:a16="http://schemas.microsoft.com/office/drawing/2014/main" val="3027041370"/>
                    </a:ext>
                  </a:extLst>
                </a:gridCol>
                <a:gridCol w="419723">
                  <a:extLst>
                    <a:ext uri="{9D8B030D-6E8A-4147-A177-3AD203B41FA5}">
                      <a16:colId xmlns:a16="http://schemas.microsoft.com/office/drawing/2014/main" val="2852526216"/>
                    </a:ext>
                  </a:extLst>
                </a:gridCol>
                <a:gridCol w="419723">
                  <a:extLst>
                    <a:ext uri="{9D8B030D-6E8A-4147-A177-3AD203B41FA5}">
                      <a16:colId xmlns:a16="http://schemas.microsoft.com/office/drawing/2014/main" val="103420222"/>
                    </a:ext>
                  </a:extLst>
                </a:gridCol>
                <a:gridCol w="419723">
                  <a:extLst>
                    <a:ext uri="{9D8B030D-6E8A-4147-A177-3AD203B41FA5}">
                      <a16:colId xmlns:a16="http://schemas.microsoft.com/office/drawing/2014/main" val="1470405609"/>
                    </a:ext>
                  </a:extLst>
                </a:gridCol>
                <a:gridCol w="312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LD_FIX [15:12]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LD_FORCE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5" name="TextBox 14">
            <a:extLst>
              <a:ext uri="{FF2B5EF4-FFF2-40B4-BE49-F238E27FC236}">
                <a16:creationId xmlns:a16="http://schemas.microsoft.com/office/drawing/2014/main" id="{1D8580F7-F2E4-8053-4A99-A58314104D97}"/>
              </a:ext>
            </a:extLst>
          </p:cNvPr>
          <p:cNvSpPr txBox="1"/>
          <p:nvPr/>
        </p:nvSpPr>
        <p:spPr>
          <a:xfrm>
            <a:off x="395422" y="155714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FIX 2</a:t>
            </a:r>
          </a:p>
        </p:txBody>
      </p:sp>
      <p:graphicFrame>
        <p:nvGraphicFramePr>
          <p:cNvPr id="17" name="표 16">
            <a:extLst>
              <a:ext uri="{FF2B5EF4-FFF2-40B4-BE49-F238E27FC236}">
                <a16:creationId xmlns:a16="http://schemas.microsoft.com/office/drawing/2014/main" id="{A092D8A5-A411-6844-D949-F1443BF38479}"/>
              </a:ext>
            </a:extLst>
          </p:cNvPr>
          <p:cNvGraphicFramePr>
            <a:graphicFrameLocks noGrp="1"/>
          </p:cNvGraphicFramePr>
          <p:nvPr>
            <p:extLst>
              <p:ext uri="{D42A27DB-BD31-4B8C-83A1-F6EECF244321}">
                <p14:modId xmlns:p14="http://schemas.microsoft.com/office/powerpoint/2010/main" val="270699484"/>
              </p:ext>
            </p:extLst>
          </p:nvPr>
        </p:nvGraphicFramePr>
        <p:xfrm>
          <a:off x="390473" y="1112730"/>
          <a:ext cx="6071691" cy="372600"/>
        </p:xfrm>
        <a:graphic>
          <a:graphicData uri="http://schemas.openxmlformats.org/drawingml/2006/table">
            <a:tbl>
              <a:tblPr firstRow="1" bandRow="1">
                <a:tableStyleId>{5C22544A-7EE6-4342-B048-85BDC9FD1C3A}</a:tableStyleId>
              </a:tblPr>
              <a:tblGrid>
                <a:gridCol w="305065">
                  <a:extLst>
                    <a:ext uri="{9D8B030D-6E8A-4147-A177-3AD203B41FA5}">
                      <a16:colId xmlns:a16="http://schemas.microsoft.com/office/drawing/2014/main" val="657570846"/>
                    </a:ext>
                  </a:extLst>
                </a:gridCol>
                <a:gridCol w="392778">
                  <a:extLst>
                    <a:ext uri="{9D8B030D-6E8A-4147-A177-3AD203B41FA5}">
                      <a16:colId xmlns:a16="http://schemas.microsoft.com/office/drawing/2014/main" val="3259894497"/>
                    </a:ext>
                  </a:extLst>
                </a:gridCol>
                <a:gridCol w="426151">
                  <a:extLst>
                    <a:ext uri="{9D8B030D-6E8A-4147-A177-3AD203B41FA5}">
                      <a16:colId xmlns:a16="http://schemas.microsoft.com/office/drawing/2014/main" val="4170535043"/>
                    </a:ext>
                  </a:extLst>
                </a:gridCol>
                <a:gridCol w="433800">
                  <a:extLst>
                    <a:ext uri="{9D8B030D-6E8A-4147-A177-3AD203B41FA5}">
                      <a16:colId xmlns:a16="http://schemas.microsoft.com/office/drawing/2014/main" val="2079070694"/>
                    </a:ext>
                  </a:extLst>
                </a:gridCol>
                <a:gridCol w="420065">
                  <a:extLst>
                    <a:ext uri="{9D8B030D-6E8A-4147-A177-3AD203B41FA5}">
                      <a16:colId xmlns:a16="http://schemas.microsoft.com/office/drawing/2014/main" val="4213315911"/>
                    </a:ext>
                  </a:extLst>
                </a:gridCol>
                <a:gridCol w="420065">
                  <a:extLst>
                    <a:ext uri="{9D8B030D-6E8A-4147-A177-3AD203B41FA5}">
                      <a16:colId xmlns:a16="http://schemas.microsoft.com/office/drawing/2014/main" val="2769999950"/>
                    </a:ext>
                  </a:extLst>
                </a:gridCol>
                <a:gridCol w="420065">
                  <a:extLst>
                    <a:ext uri="{9D8B030D-6E8A-4147-A177-3AD203B41FA5}">
                      <a16:colId xmlns:a16="http://schemas.microsoft.com/office/drawing/2014/main" val="135637185"/>
                    </a:ext>
                  </a:extLst>
                </a:gridCol>
                <a:gridCol w="420065">
                  <a:extLst>
                    <a:ext uri="{9D8B030D-6E8A-4147-A177-3AD203B41FA5}">
                      <a16:colId xmlns:a16="http://schemas.microsoft.com/office/drawing/2014/main" val="3038050475"/>
                    </a:ext>
                  </a:extLst>
                </a:gridCol>
                <a:gridCol w="420065">
                  <a:extLst>
                    <a:ext uri="{9D8B030D-6E8A-4147-A177-3AD203B41FA5}">
                      <a16:colId xmlns:a16="http://schemas.microsoft.com/office/drawing/2014/main" val="1979433044"/>
                    </a:ext>
                  </a:extLst>
                </a:gridCol>
                <a:gridCol w="420065">
                  <a:extLst>
                    <a:ext uri="{9D8B030D-6E8A-4147-A177-3AD203B41FA5}">
                      <a16:colId xmlns:a16="http://schemas.microsoft.com/office/drawing/2014/main" val="4270661649"/>
                    </a:ext>
                  </a:extLst>
                </a:gridCol>
                <a:gridCol w="420065">
                  <a:extLst>
                    <a:ext uri="{9D8B030D-6E8A-4147-A177-3AD203B41FA5}">
                      <a16:colId xmlns:a16="http://schemas.microsoft.com/office/drawing/2014/main" val="3027041370"/>
                    </a:ext>
                  </a:extLst>
                </a:gridCol>
                <a:gridCol w="420065">
                  <a:extLst>
                    <a:ext uri="{9D8B030D-6E8A-4147-A177-3AD203B41FA5}">
                      <a16:colId xmlns:a16="http://schemas.microsoft.com/office/drawing/2014/main" val="2852526216"/>
                    </a:ext>
                  </a:extLst>
                </a:gridCol>
                <a:gridCol w="420065">
                  <a:extLst>
                    <a:ext uri="{9D8B030D-6E8A-4147-A177-3AD203B41FA5}">
                      <a16:colId xmlns:a16="http://schemas.microsoft.com/office/drawing/2014/main" val="103420222"/>
                    </a:ext>
                  </a:extLst>
                </a:gridCol>
                <a:gridCol w="420065">
                  <a:extLst>
                    <a:ext uri="{9D8B030D-6E8A-4147-A177-3AD203B41FA5}">
                      <a16:colId xmlns:a16="http://schemas.microsoft.com/office/drawing/2014/main" val="1470405609"/>
                    </a:ext>
                  </a:extLst>
                </a:gridCol>
                <a:gridCol w="31324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LD_FIX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LD_FIX [15:12]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LD_FORCE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566225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1598843517"/>
              </p:ext>
            </p:extLst>
          </p:nvPr>
        </p:nvGraphicFramePr>
        <p:xfrm>
          <a:off x="384843" y="6688201"/>
          <a:ext cx="6053978" cy="2313953"/>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458292">
                  <a:extLst>
                    <a:ext uri="{9D8B030D-6E8A-4147-A177-3AD203B41FA5}">
                      <a16:colId xmlns:a16="http://schemas.microsoft.com/office/drawing/2014/main" val="2079070694"/>
                    </a:ext>
                  </a:extLst>
                </a:gridCol>
                <a:gridCol w="4242165">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85277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DEV_MAX_CURR_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DEV_MAX_CURR_LEVEL determines the physical maximum current level of the device.  The max dimming sink-current set by the MAX_CURR_VREF can not be beyond the DEV_MAX_CURR_LEVEL.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max   4mA           3b’011 : max 16mA           3b’110 : max 46mA</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3b’001 : max   8mA           3b’100 : max 24mA           3b’111 : max 64mA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3b’010 : max 12mA           3b’101 : max 32mA</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6162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above   3V           3b’011 : above   8V           3b’110 : above 24V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3b’001 : above   4V           3b’100 : above 12V           3b’111 : above 36V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3b’010 : above   6V           3b’101 : above 16V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2860"/>
                  </a:ext>
                </a:extLst>
              </a:tr>
              <a:tr h="4572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below  0.40V       3b’011 : below 0.70V         3b’110 : below 1.15V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3b’001 : below  0.50V       3b’100 : below 0.85V         3b’111 : below 1.30V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3b’010 : below  0.60V       3b’101 : below 1.00V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0507561"/>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397607" y="6011828"/>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2421215731"/>
              </p:ext>
            </p:extLst>
          </p:nvPr>
        </p:nvGraphicFramePr>
        <p:xfrm>
          <a:off x="388630" y="6276465"/>
          <a:ext cx="6053978" cy="372600"/>
        </p:xfrm>
        <a:graphic>
          <a:graphicData uri="http://schemas.openxmlformats.org/drawingml/2006/table">
            <a:tbl>
              <a:tblPr firstRow="1" bandRow="1">
                <a:tableStyleId>{5C22544A-7EE6-4342-B048-85BDC9FD1C3A}</a:tableStyleId>
              </a:tblPr>
              <a:tblGrid>
                <a:gridCol w="345324">
                  <a:extLst>
                    <a:ext uri="{9D8B030D-6E8A-4147-A177-3AD203B41FA5}">
                      <a16:colId xmlns:a16="http://schemas.microsoft.com/office/drawing/2014/main" val="657570846"/>
                    </a:ext>
                  </a:extLst>
                </a:gridCol>
                <a:gridCol w="379696">
                  <a:extLst>
                    <a:ext uri="{9D8B030D-6E8A-4147-A177-3AD203B41FA5}">
                      <a16:colId xmlns:a16="http://schemas.microsoft.com/office/drawing/2014/main" val="3259894497"/>
                    </a:ext>
                  </a:extLst>
                </a:gridCol>
                <a:gridCol w="446242">
                  <a:extLst>
                    <a:ext uri="{9D8B030D-6E8A-4147-A177-3AD203B41FA5}">
                      <a16:colId xmlns:a16="http://schemas.microsoft.com/office/drawing/2014/main" val="4170535043"/>
                    </a:ext>
                  </a:extLst>
                </a:gridCol>
                <a:gridCol w="397748">
                  <a:extLst>
                    <a:ext uri="{9D8B030D-6E8A-4147-A177-3AD203B41FA5}">
                      <a16:colId xmlns:a16="http://schemas.microsoft.com/office/drawing/2014/main" val="2079070694"/>
                    </a:ext>
                  </a:extLst>
                </a:gridCol>
                <a:gridCol w="397748">
                  <a:extLst>
                    <a:ext uri="{9D8B030D-6E8A-4147-A177-3AD203B41FA5}">
                      <a16:colId xmlns:a16="http://schemas.microsoft.com/office/drawing/2014/main" val="4213315911"/>
                    </a:ext>
                  </a:extLst>
                </a:gridCol>
                <a:gridCol w="397748">
                  <a:extLst>
                    <a:ext uri="{9D8B030D-6E8A-4147-A177-3AD203B41FA5}">
                      <a16:colId xmlns:a16="http://schemas.microsoft.com/office/drawing/2014/main" val="2769999950"/>
                    </a:ext>
                  </a:extLst>
                </a:gridCol>
                <a:gridCol w="465404">
                  <a:extLst>
                    <a:ext uri="{9D8B030D-6E8A-4147-A177-3AD203B41FA5}">
                      <a16:colId xmlns:a16="http://schemas.microsoft.com/office/drawing/2014/main" val="135637185"/>
                    </a:ext>
                  </a:extLst>
                </a:gridCol>
                <a:gridCol w="397748">
                  <a:extLst>
                    <a:ext uri="{9D8B030D-6E8A-4147-A177-3AD203B41FA5}">
                      <a16:colId xmlns:a16="http://schemas.microsoft.com/office/drawing/2014/main" val="3038050475"/>
                    </a:ext>
                  </a:extLst>
                </a:gridCol>
                <a:gridCol w="397748">
                  <a:extLst>
                    <a:ext uri="{9D8B030D-6E8A-4147-A177-3AD203B41FA5}">
                      <a16:colId xmlns:a16="http://schemas.microsoft.com/office/drawing/2014/main" val="1979433044"/>
                    </a:ext>
                  </a:extLst>
                </a:gridCol>
                <a:gridCol w="397748">
                  <a:extLst>
                    <a:ext uri="{9D8B030D-6E8A-4147-A177-3AD203B41FA5}">
                      <a16:colId xmlns:a16="http://schemas.microsoft.com/office/drawing/2014/main" val="4270661649"/>
                    </a:ext>
                  </a:extLst>
                </a:gridCol>
                <a:gridCol w="397748">
                  <a:extLst>
                    <a:ext uri="{9D8B030D-6E8A-4147-A177-3AD203B41FA5}">
                      <a16:colId xmlns:a16="http://schemas.microsoft.com/office/drawing/2014/main" val="3027041370"/>
                    </a:ext>
                  </a:extLst>
                </a:gridCol>
                <a:gridCol w="439832">
                  <a:extLst>
                    <a:ext uri="{9D8B030D-6E8A-4147-A177-3AD203B41FA5}">
                      <a16:colId xmlns:a16="http://schemas.microsoft.com/office/drawing/2014/main" val="2852526216"/>
                    </a:ext>
                  </a:extLst>
                </a:gridCol>
                <a:gridCol w="397748">
                  <a:extLst>
                    <a:ext uri="{9D8B030D-6E8A-4147-A177-3AD203B41FA5}">
                      <a16:colId xmlns:a16="http://schemas.microsoft.com/office/drawing/2014/main" val="103420222"/>
                    </a:ext>
                  </a:extLst>
                </a:gridCol>
                <a:gridCol w="397748">
                  <a:extLst>
                    <a:ext uri="{9D8B030D-6E8A-4147-A177-3AD203B41FA5}">
                      <a16:colId xmlns:a16="http://schemas.microsoft.com/office/drawing/2014/main" val="1470405609"/>
                    </a:ext>
                  </a:extLst>
                </a:gridCol>
                <a:gridCol w="39774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DEV_MAX_CURR_LEVEL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1343700158"/>
              </p:ext>
            </p:extLst>
          </p:nvPr>
        </p:nvGraphicFramePr>
        <p:xfrm>
          <a:off x="397607" y="1518352"/>
          <a:ext cx="6052136" cy="4341294"/>
        </p:xfrm>
        <a:graphic>
          <a:graphicData uri="http://schemas.openxmlformats.org/drawingml/2006/table">
            <a:tbl>
              <a:tblPr firstRow="1" bandRow="1">
                <a:tableStyleId>{5C22544A-7EE6-4342-B048-85BDC9FD1C3A}</a:tableStyleId>
              </a:tblPr>
              <a:tblGrid>
                <a:gridCol w="432944">
                  <a:extLst>
                    <a:ext uri="{9D8B030D-6E8A-4147-A177-3AD203B41FA5}">
                      <a16:colId xmlns:a16="http://schemas.microsoft.com/office/drawing/2014/main" val="4170535043"/>
                    </a:ext>
                  </a:extLst>
                </a:gridCol>
                <a:gridCol w="752331">
                  <a:extLst>
                    <a:ext uri="{9D8B030D-6E8A-4147-A177-3AD203B41FA5}">
                      <a16:colId xmlns:a16="http://schemas.microsoft.com/office/drawing/2014/main" val="2079070694"/>
                    </a:ext>
                  </a:extLst>
                </a:gridCol>
                <a:gridCol w="4866861">
                  <a:extLst>
                    <a:ext uri="{9D8B030D-6E8A-4147-A177-3AD203B41FA5}">
                      <a16:colId xmlns:a16="http://schemas.microsoft.com/office/drawing/2014/main" val="32595803"/>
                    </a:ext>
                  </a:extLst>
                </a:gridCol>
              </a:tblGrid>
              <a:tr h="26195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78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XD12 device has internally a thermal event from overheating due to high current for a long time.  This bit will keep asserted as long as the internal THERMAL event is not cleared. The THERMAL threshold can be set by the OFS_TEMP of the LD CONTROL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MODE register is set, all output sink drivers will be turned-off under the THERMAL bit is set until the internal temperature goes down below the set level of the OFS_TEMP.</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84085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XD12 output pin is short to a VLED line due to any soldering condition. The detection condition can be set by the SHORT_LEVEL of the FAULT LEVEL register and the SHORT ENABLE LEVEL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the SHORT_DEC_EN1/2 bit is set and the SHORT event occurs in even one of the activated channels, and then, will be auto-cleared after readout this register, but the bit will be set again as long as the SHORT event is still valid. If the S_OFF_E bit of the FAULT MODE register is set, the corresponding output sink driver will be turned-off under this bit is set until the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79162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XD12 output pin is open in spite of being activated. The open level is fixed to 0.25V.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the OPEN_DEC_EN bit is set and the OPEN event occurs in even one of the activated channels and then, will be auto-cleared after readout this register, but the bit will be set again as long as the OPEN event is still valid. If the O_OFF_E bit of the FAULT MODE register is set, the corresponding output sink driver will be turned-off under this bit is set until the event is cleared. It needs to follow below to determine the validity of the OPEN event.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700" b="0" i="0" kern="1200" dirty="0">
                        <a:solidFill>
                          <a:schemeClr val="dk1"/>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700" b="0" i="0" kern="1200" dirty="0">
                          <a:solidFill>
                            <a:schemeClr val="dk1"/>
                          </a:solidFill>
                          <a:effectLst/>
                          <a:latin typeface="Arial" panose="020B0604020202020204" pitchFamily="34" charset="0"/>
                          <a:ea typeface="+mn-ea"/>
                          <a:cs typeface="Arial" panose="020B0604020202020204" pitchFamily="34" charset="0"/>
                        </a:rPr>
                        <a:t>   * in case that the OPEN and FB are simultaneously-asserted even if the LD data are all 0</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700" b="0" i="0" kern="1200" dirty="0">
                          <a:solidFill>
                            <a:schemeClr val="dk1"/>
                          </a:solidFill>
                          <a:effectLst/>
                          <a:latin typeface="Arial" panose="020B0604020202020204" pitchFamily="34" charset="0"/>
                          <a:ea typeface="+mn-ea"/>
                          <a:cs typeface="Arial" panose="020B0604020202020204" pitchFamily="34" charset="0"/>
                        </a:rPr>
                        <a:t>   * in case that the OPEN and FB are simultaneously-asserted even if the VLED remains at the max level for a long time.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6629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XD12 output pin’s headroom voltage is below the value set by FB_LEVEL of the FAULT LEVEL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 FB event occurs in even one of the activated channels and then, will be auto-cleared after readout this register. This bit will be set again after readout as long as the FB event is still valid.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1827084952"/>
              </p:ext>
            </p:extLst>
          </p:nvPr>
        </p:nvGraphicFramePr>
        <p:xfrm>
          <a:off x="401295" y="1109616"/>
          <a:ext cx="6052136" cy="372600"/>
        </p:xfrm>
        <a:graphic>
          <a:graphicData uri="http://schemas.openxmlformats.org/drawingml/2006/table">
            <a:tbl>
              <a:tblPr firstRow="1" bandRow="1">
                <a:tableStyleId>{5C22544A-7EE6-4342-B048-85BDC9FD1C3A}</a:tableStyleId>
              </a:tblPr>
              <a:tblGrid>
                <a:gridCol w="349120">
                  <a:extLst>
                    <a:ext uri="{9D8B030D-6E8A-4147-A177-3AD203B41FA5}">
                      <a16:colId xmlns:a16="http://schemas.microsoft.com/office/drawing/2014/main" val="657570846"/>
                    </a:ext>
                  </a:extLst>
                </a:gridCol>
                <a:gridCol w="383870">
                  <a:extLst>
                    <a:ext uri="{9D8B030D-6E8A-4147-A177-3AD203B41FA5}">
                      <a16:colId xmlns:a16="http://schemas.microsoft.com/office/drawing/2014/main" val="3259894497"/>
                    </a:ext>
                  </a:extLst>
                </a:gridCol>
                <a:gridCol w="451148">
                  <a:extLst>
                    <a:ext uri="{9D8B030D-6E8A-4147-A177-3AD203B41FA5}">
                      <a16:colId xmlns:a16="http://schemas.microsoft.com/office/drawing/2014/main" val="4170535043"/>
                    </a:ext>
                  </a:extLst>
                </a:gridCol>
                <a:gridCol w="402121">
                  <a:extLst>
                    <a:ext uri="{9D8B030D-6E8A-4147-A177-3AD203B41FA5}">
                      <a16:colId xmlns:a16="http://schemas.microsoft.com/office/drawing/2014/main" val="2079070694"/>
                    </a:ext>
                  </a:extLst>
                </a:gridCol>
                <a:gridCol w="402121">
                  <a:extLst>
                    <a:ext uri="{9D8B030D-6E8A-4147-A177-3AD203B41FA5}">
                      <a16:colId xmlns:a16="http://schemas.microsoft.com/office/drawing/2014/main" val="4213315911"/>
                    </a:ext>
                  </a:extLst>
                </a:gridCol>
                <a:gridCol w="402121">
                  <a:extLst>
                    <a:ext uri="{9D8B030D-6E8A-4147-A177-3AD203B41FA5}">
                      <a16:colId xmlns:a16="http://schemas.microsoft.com/office/drawing/2014/main" val="2769999950"/>
                    </a:ext>
                  </a:extLst>
                </a:gridCol>
                <a:gridCol w="402121">
                  <a:extLst>
                    <a:ext uri="{9D8B030D-6E8A-4147-A177-3AD203B41FA5}">
                      <a16:colId xmlns:a16="http://schemas.microsoft.com/office/drawing/2014/main" val="135637185"/>
                    </a:ext>
                  </a:extLst>
                </a:gridCol>
                <a:gridCol w="402121">
                  <a:extLst>
                    <a:ext uri="{9D8B030D-6E8A-4147-A177-3AD203B41FA5}">
                      <a16:colId xmlns:a16="http://schemas.microsoft.com/office/drawing/2014/main" val="3038050475"/>
                    </a:ext>
                  </a:extLst>
                </a:gridCol>
                <a:gridCol w="402121">
                  <a:extLst>
                    <a:ext uri="{9D8B030D-6E8A-4147-A177-3AD203B41FA5}">
                      <a16:colId xmlns:a16="http://schemas.microsoft.com/office/drawing/2014/main" val="1979433044"/>
                    </a:ext>
                  </a:extLst>
                </a:gridCol>
                <a:gridCol w="402121">
                  <a:extLst>
                    <a:ext uri="{9D8B030D-6E8A-4147-A177-3AD203B41FA5}">
                      <a16:colId xmlns:a16="http://schemas.microsoft.com/office/drawing/2014/main" val="4270661649"/>
                    </a:ext>
                  </a:extLst>
                </a:gridCol>
                <a:gridCol w="402121">
                  <a:extLst>
                    <a:ext uri="{9D8B030D-6E8A-4147-A177-3AD203B41FA5}">
                      <a16:colId xmlns:a16="http://schemas.microsoft.com/office/drawing/2014/main" val="3027041370"/>
                    </a:ext>
                  </a:extLst>
                </a:gridCol>
                <a:gridCol w="444667">
                  <a:extLst>
                    <a:ext uri="{9D8B030D-6E8A-4147-A177-3AD203B41FA5}">
                      <a16:colId xmlns:a16="http://schemas.microsoft.com/office/drawing/2014/main" val="2852526216"/>
                    </a:ext>
                  </a:extLst>
                </a:gridCol>
                <a:gridCol w="402121">
                  <a:extLst>
                    <a:ext uri="{9D8B030D-6E8A-4147-A177-3AD203B41FA5}">
                      <a16:colId xmlns:a16="http://schemas.microsoft.com/office/drawing/2014/main" val="103420222"/>
                    </a:ext>
                  </a:extLst>
                </a:gridCol>
                <a:gridCol w="402121">
                  <a:extLst>
                    <a:ext uri="{9D8B030D-6E8A-4147-A177-3AD203B41FA5}">
                      <a16:colId xmlns:a16="http://schemas.microsoft.com/office/drawing/2014/main" val="1470405609"/>
                    </a:ext>
                  </a:extLst>
                </a:gridCol>
                <a:gridCol w="40212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376496062"/>
              </p:ext>
            </p:extLst>
          </p:nvPr>
        </p:nvGraphicFramePr>
        <p:xfrm>
          <a:off x="386687" y="1578895"/>
          <a:ext cx="6077613" cy="7178728"/>
        </p:xfrm>
        <a:graphic>
          <a:graphicData uri="http://schemas.openxmlformats.org/drawingml/2006/table">
            <a:tbl>
              <a:tblPr firstRow="1" bandRow="1">
                <a:tableStyleId>{5C22544A-7EE6-4342-B048-85BDC9FD1C3A}</a:tableStyleId>
              </a:tblPr>
              <a:tblGrid>
                <a:gridCol w="286849">
                  <a:extLst>
                    <a:ext uri="{9D8B030D-6E8A-4147-A177-3AD203B41FA5}">
                      <a16:colId xmlns:a16="http://schemas.microsoft.com/office/drawing/2014/main" val="4170535043"/>
                    </a:ext>
                  </a:extLst>
                </a:gridCol>
                <a:gridCol w="1045650">
                  <a:extLst>
                    <a:ext uri="{9D8B030D-6E8A-4147-A177-3AD203B41FA5}">
                      <a16:colId xmlns:a16="http://schemas.microsoft.com/office/drawing/2014/main" val="2079070694"/>
                    </a:ext>
                  </a:extLst>
                </a:gridCol>
                <a:gridCol w="228147">
                  <a:extLst>
                    <a:ext uri="{9D8B030D-6E8A-4147-A177-3AD203B41FA5}">
                      <a16:colId xmlns:a16="http://schemas.microsoft.com/office/drawing/2014/main" val="3082338701"/>
                    </a:ext>
                  </a:extLst>
                </a:gridCol>
                <a:gridCol w="4516967">
                  <a:extLst>
                    <a:ext uri="{9D8B030D-6E8A-4147-A177-3AD203B41FA5}">
                      <a16:colId xmlns:a16="http://schemas.microsoft.com/office/drawing/2014/main" val="32595803"/>
                    </a:ext>
                  </a:extLst>
                </a:gridCol>
              </a:tblGrid>
              <a:tr h="29647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3017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timeout function is disabled. So, if the device will not receive any response from other daisied devices on any read-back commands execution, internal communication logics can not recover its function to the standby state. Recommend this bit to be set.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Internal timeout timer start counting from completion of some read-back commands and stops after receiving the first response bit from daisied devices. Even if the timer will be expired due to any no response, internal communication logics will be recovered to standby state in order to be possible to communicate again. The timeout will be expired at the time of MCLK * 8,192 and </a:t>
                      </a:r>
                      <a:r>
                        <a:rPr lang="en-US" altLang="ko-KR" sz="900" b="0" i="1" dirty="0">
                          <a:solidFill>
                            <a:schemeClr val="tx1"/>
                          </a:solidFill>
                          <a:latin typeface="Arial" panose="020B0604020202020204" pitchFamily="34" charset="0"/>
                          <a:ea typeface="+mn-ea"/>
                          <a:cs typeface="Arial" panose="020B0604020202020204" pitchFamily="34" charset="0"/>
                        </a:rPr>
                        <a:t>recommended to be set</a:t>
                      </a:r>
                      <a:r>
                        <a:rPr lang="en-US" altLang="ko-KR" sz="900" b="0" dirty="0">
                          <a:solidFill>
                            <a:schemeClr val="tx1"/>
                          </a:solidFill>
                          <a:latin typeface="Arial" panose="020B0604020202020204" pitchFamily="34" charset="0"/>
                          <a:ea typeface="+mn-ea"/>
                          <a:cs typeface="Arial" panose="020B0604020202020204" pitchFamily="34" charset="0"/>
                        </a:rPr>
                        <a: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219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FBOUT_E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under the TEST_EN disabled, the FBOUT signal, active-low, will be driven out directly to the open-drain pin #17. The FBOUT represents the internal FB status of active channels </a:t>
                      </a:r>
                      <a:r>
                        <a:rPr lang="en-US" altLang="ko-KR" sz="900" b="0" i="1" dirty="0">
                          <a:solidFill>
                            <a:schemeClr val="tx1"/>
                          </a:solidFill>
                          <a:latin typeface="Arial" panose="020B0604020202020204" pitchFamily="34" charset="0"/>
                          <a:ea typeface="+mn-ea"/>
                          <a:cs typeface="Arial" panose="020B0604020202020204" pitchFamily="34" charset="0"/>
                        </a:rPr>
                        <a:t>in real time </a:t>
                      </a:r>
                      <a:r>
                        <a:rPr lang="en-US" altLang="ko-KR" sz="900" b="0" dirty="0">
                          <a:solidFill>
                            <a:schemeClr val="tx1"/>
                          </a:solidFill>
                          <a:latin typeface="Arial" panose="020B0604020202020204" pitchFamily="34" charset="0"/>
                          <a:ea typeface="+mn-ea"/>
                          <a:cs typeface="Arial" panose="020B0604020202020204" pitchFamily="34" charset="0"/>
                        </a:rPr>
                        <a:t>unlike the FB value in the FAULT STATUS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1091321"/>
                  </a:ext>
                </a:extLst>
              </a:tr>
              <a:tr h="7219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OPEN_DET_EN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LED OPEN detection is disabled.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LED OPEN detection can work under only the LD data are all zeros. In case that the LD data are all zero and the output headroom goes below 0.25V, then the OPEN event will be asserted.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0471077"/>
                  </a:ext>
                </a:extLst>
              </a:tr>
              <a:tr h="7219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SHORT_DET_EN2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LED SHORT detection is disabled.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LED SHORT detection can work under only the LD data’s MSB 5 bits are not all zeros. In case that MSB 4 bits are not all zeros and the SHORT_LEVEL is set to 3V, the SHORT event will be asserted if the corresponding channel’s headroom goes above 3V.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7219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SHORT_DET_EN1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LED SHORT detection is disabled.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LED SHORT detection can work under only the LD data’s MSB 4 bits are not all zeros. In case that MSB 4 bits are not all zeros and the SHORT_LEVEL is set to 3V, the SHORT event will be asserted if the corresponding channel’s headroom goes above 3V.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8526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Even if the THERMAL event happens, all channels’ output will be not off, but the flag can be visible through the FAULT STATUS register.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the THERMAL event happens, all channels’ output will be off, and the flag can be visible through the FAULT STATUS register. It is </a:t>
                      </a:r>
                      <a:r>
                        <a:rPr lang="en-US" altLang="ko-KR" sz="900" b="0" i="1" dirty="0">
                          <a:solidFill>
                            <a:schemeClr val="tx1"/>
                          </a:solidFill>
                          <a:latin typeface="Arial" panose="020B0604020202020204" pitchFamily="34" charset="0"/>
                          <a:ea typeface="+mn-ea"/>
                          <a:cs typeface="Arial" panose="020B0604020202020204" pitchFamily="34" charset="0"/>
                        </a:rPr>
                        <a:t>recommended to be set </a:t>
                      </a:r>
                      <a:r>
                        <a:rPr lang="en-US" altLang="ko-KR" sz="900" b="0" dirty="0">
                          <a:solidFill>
                            <a:schemeClr val="tx1"/>
                          </a:solidFill>
                          <a:latin typeface="Arial" panose="020B0604020202020204" pitchFamily="34" charset="0"/>
                          <a:ea typeface="+mn-ea"/>
                          <a:cs typeface="Arial" panose="020B0604020202020204" pitchFamily="34" charset="0"/>
                        </a:rPr>
                        <a:t>for a safety and for the operating condition, refer to the Electrical characteristics.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9963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Even if the LED SHORT event happens, the corresponding channel output will be not off, but the flag can be visible through the FAULT STATUS register.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the LED SHORT event happens, the corresponding channel output will be off, and the flag can be visible through the FAULT STATUS register. The LED short detection condition can be configurable through the SHORT_LEVEL, the S1_EN bit and S2_EN bit is set. It is </a:t>
                      </a:r>
                      <a:r>
                        <a:rPr lang="en-US" altLang="ko-KR" sz="900" b="0" i="1" dirty="0">
                          <a:solidFill>
                            <a:schemeClr val="tx1"/>
                          </a:solidFill>
                          <a:latin typeface="Arial" panose="020B0604020202020204" pitchFamily="34" charset="0"/>
                          <a:ea typeface="+mn-ea"/>
                          <a:cs typeface="Arial" panose="020B0604020202020204" pitchFamily="34" charset="0"/>
                        </a:rPr>
                        <a:t>recommended to be set </a:t>
                      </a:r>
                      <a:r>
                        <a:rPr lang="en-US" altLang="ko-KR" sz="900" b="0" dirty="0">
                          <a:solidFill>
                            <a:schemeClr val="tx1"/>
                          </a:solidFill>
                          <a:latin typeface="Arial" panose="020B0604020202020204" pitchFamily="34" charset="0"/>
                          <a:ea typeface="+mn-ea"/>
                          <a:cs typeface="Arial" panose="020B0604020202020204" pitchFamily="34" charset="0"/>
                        </a:rPr>
                        <a:t>for a safe operation.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84363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Even if the LED OPEN event happens, the corresponding channel output will be not off, but the flag can be visible through the FAULT STATUS register.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the LED OPEN event happens, the corresponding channel output will be off, and the flag can be visible through the FAULT STATUS register. The LED OPEN event can be detected if the channel headroom goes down below 0.25V.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2942933289"/>
              </p:ext>
            </p:extLst>
          </p:nvPr>
        </p:nvGraphicFramePr>
        <p:xfrm>
          <a:off x="386688" y="1113183"/>
          <a:ext cx="6066746" cy="372600"/>
        </p:xfrm>
        <a:graphic>
          <a:graphicData uri="http://schemas.openxmlformats.org/drawingml/2006/table">
            <a:tbl>
              <a:tblPr firstRow="1" bandRow="1">
                <a:tableStyleId>{5C22544A-7EE6-4342-B048-85BDC9FD1C3A}</a:tableStyleId>
              </a:tblPr>
              <a:tblGrid>
                <a:gridCol w="275894">
                  <a:extLst>
                    <a:ext uri="{9D8B030D-6E8A-4147-A177-3AD203B41FA5}">
                      <a16:colId xmlns:a16="http://schemas.microsoft.com/office/drawing/2014/main" val="657570846"/>
                    </a:ext>
                  </a:extLst>
                </a:gridCol>
                <a:gridCol w="322860">
                  <a:extLst>
                    <a:ext uri="{9D8B030D-6E8A-4147-A177-3AD203B41FA5}">
                      <a16:colId xmlns:a16="http://schemas.microsoft.com/office/drawing/2014/main" val="3259894497"/>
                    </a:ext>
                  </a:extLst>
                </a:gridCol>
                <a:gridCol w="432988">
                  <a:extLst>
                    <a:ext uri="{9D8B030D-6E8A-4147-A177-3AD203B41FA5}">
                      <a16:colId xmlns:a16="http://schemas.microsoft.com/office/drawing/2014/main" val="4170535043"/>
                    </a:ext>
                  </a:extLst>
                </a:gridCol>
                <a:gridCol w="608943">
                  <a:extLst>
                    <a:ext uri="{9D8B030D-6E8A-4147-A177-3AD203B41FA5}">
                      <a16:colId xmlns:a16="http://schemas.microsoft.com/office/drawing/2014/main" val="2079070694"/>
                    </a:ext>
                  </a:extLst>
                </a:gridCol>
                <a:gridCol w="435382">
                  <a:extLst>
                    <a:ext uri="{9D8B030D-6E8A-4147-A177-3AD203B41FA5}">
                      <a16:colId xmlns:a16="http://schemas.microsoft.com/office/drawing/2014/main" val="4213315911"/>
                    </a:ext>
                  </a:extLst>
                </a:gridCol>
                <a:gridCol w="271980">
                  <a:extLst>
                    <a:ext uri="{9D8B030D-6E8A-4147-A177-3AD203B41FA5}">
                      <a16:colId xmlns:a16="http://schemas.microsoft.com/office/drawing/2014/main" val="2769999950"/>
                    </a:ext>
                  </a:extLst>
                </a:gridCol>
                <a:gridCol w="271980">
                  <a:extLst>
                    <a:ext uri="{9D8B030D-6E8A-4147-A177-3AD203B41FA5}">
                      <a16:colId xmlns:a16="http://schemas.microsoft.com/office/drawing/2014/main" val="135637185"/>
                    </a:ext>
                  </a:extLst>
                </a:gridCol>
                <a:gridCol w="271980">
                  <a:extLst>
                    <a:ext uri="{9D8B030D-6E8A-4147-A177-3AD203B41FA5}">
                      <a16:colId xmlns:a16="http://schemas.microsoft.com/office/drawing/2014/main" val="3038050475"/>
                    </a:ext>
                  </a:extLst>
                </a:gridCol>
                <a:gridCol w="271980">
                  <a:extLst>
                    <a:ext uri="{9D8B030D-6E8A-4147-A177-3AD203B41FA5}">
                      <a16:colId xmlns:a16="http://schemas.microsoft.com/office/drawing/2014/main" val="1979433044"/>
                    </a:ext>
                  </a:extLst>
                </a:gridCol>
                <a:gridCol w="271980">
                  <a:extLst>
                    <a:ext uri="{9D8B030D-6E8A-4147-A177-3AD203B41FA5}">
                      <a16:colId xmlns:a16="http://schemas.microsoft.com/office/drawing/2014/main" val="4270661649"/>
                    </a:ext>
                  </a:extLst>
                </a:gridCol>
                <a:gridCol w="439456">
                  <a:extLst>
                    <a:ext uri="{9D8B030D-6E8A-4147-A177-3AD203B41FA5}">
                      <a16:colId xmlns:a16="http://schemas.microsoft.com/office/drawing/2014/main" val="3027041370"/>
                    </a:ext>
                  </a:extLst>
                </a:gridCol>
                <a:gridCol w="485953">
                  <a:extLst>
                    <a:ext uri="{9D8B030D-6E8A-4147-A177-3AD203B41FA5}">
                      <a16:colId xmlns:a16="http://schemas.microsoft.com/office/drawing/2014/main" val="2852526216"/>
                    </a:ext>
                  </a:extLst>
                </a:gridCol>
                <a:gridCol w="560389">
                  <a:extLst>
                    <a:ext uri="{9D8B030D-6E8A-4147-A177-3AD203B41FA5}">
                      <a16:colId xmlns:a16="http://schemas.microsoft.com/office/drawing/2014/main" val="103420222"/>
                    </a:ext>
                  </a:extLst>
                </a:gridCol>
                <a:gridCol w="565974">
                  <a:extLst>
                    <a:ext uri="{9D8B030D-6E8A-4147-A177-3AD203B41FA5}">
                      <a16:colId xmlns:a16="http://schemas.microsoft.com/office/drawing/2014/main" val="1470405609"/>
                    </a:ext>
                  </a:extLst>
                </a:gridCol>
                <a:gridCol w="57900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TIMEOUT_EN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FBOUT_E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MODE</a:t>
            </a:r>
          </a:p>
        </p:txBody>
      </p:sp>
    </p:spTree>
    <p:extLst>
      <p:ext uri="{BB962C8B-B14F-4D97-AF65-F5344CB8AC3E}">
        <p14:creationId xmlns:p14="http://schemas.microsoft.com/office/powerpoint/2010/main" val="2020182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표 1">
            <a:extLst>
              <a:ext uri="{FF2B5EF4-FFF2-40B4-BE49-F238E27FC236}">
                <a16:creationId xmlns:a16="http://schemas.microsoft.com/office/drawing/2014/main" id="{21C86FD6-3222-ACED-7A3E-6B28C856AE77}"/>
              </a:ext>
            </a:extLst>
          </p:cNvPr>
          <p:cNvGraphicFramePr>
            <a:graphicFrameLocks noGrp="1"/>
          </p:cNvGraphicFramePr>
          <p:nvPr>
            <p:extLst>
              <p:ext uri="{D42A27DB-BD31-4B8C-83A1-F6EECF244321}">
                <p14:modId xmlns:p14="http://schemas.microsoft.com/office/powerpoint/2010/main" val="4232993676"/>
              </p:ext>
            </p:extLst>
          </p:nvPr>
        </p:nvGraphicFramePr>
        <p:xfrm>
          <a:off x="386687" y="1112679"/>
          <a:ext cx="6075480" cy="372600"/>
        </p:xfrm>
        <a:graphic>
          <a:graphicData uri="http://schemas.openxmlformats.org/drawingml/2006/table">
            <a:tbl>
              <a:tblPr firstRow="1" bandRow="1">
                <a:tableStyleId>{5C22544A-7EE6-4342-B048-85BDC9FD1C3A}</a:tableStyleId>
              </a:tblPr>
              <a:tblGrid>
                <a:gridCol w="299969">
                  <a:extLst>
                    <a:ext uri="{9D8B030D-6E8A-4147-A177-3AD203B41FA5}">
                      <a16:colId xmlns:a16="http://schemas.microsoft.com/office/drawing/2014/main" val="657570846"/>
                    </a:ext>
                  </a:extLst>
                </a:gridCol>
                <a:gridCol w="351033">
                  <a:extLst>
                    <a:ext uri="{9D8B030D-6E8A-4147-A177-3AD203B41FA5}">
                      <a16:colId xmlns:a16="http://schemas.microsoft.com/office/drawing/2014/main" val="3259894497"/>
                    </a:ext>
                  </a:extLst>
                </a:gridCol>
                <a:gridCol w="514375">
                  <a:extLst>
                    <a:ext uri="{9D8B030D-6E8A-4147-A177-3AD203B41FA5}">
                      <a16:colId xmlns:a16="http://schemas.microsoft.com/office/drawing/2014/main" val="4170535043"/>
                    </a:ext>
                  </a:extLst>
                </a:gridCol>
                <a:gridCol w="423022">
                  <a:extLst>
                    <a:ext uri="{9D8B030D-6E8A-4147-A177-3AD203B41FA5}">
                      <a16:colId xmlns:a16="http://schemas.microsoft.com/office/drawing/2014/main" val="2079070694"/>
                    </a:ext>
                  </a:extLst>
                </a:gridCol>
                <a:gridCol w="447616">
                  <a:extLst>
                    <a:ext uri="{9D8B030D-6E8A-4147-A177-3AD203B41FA5}">
                      <a16:colId xmlns:a16="http://schemas.microsoft.com/office/drawing/2014/main" val="4213315911"/>
                    </a:ext>
                  </a:extLst>
                </a:gridCol>
                <a:gridCol w="442697">
                  <a:extLst>
                    <a:ext uri="{9D8B030D-6E8A-4147-A177-3AD203B41FA5}">
                      <a16:colId xmlns:a16="http://schemas.microsoft.com/office/drawing/2014/main" val="2769999950"/>
                    </a:ext>
                  </a:extLst>
                </a:gridCol>
                <a:gridCol w="438855">
                  <a:extLst>
                    <a:ext uri="{9D8B030D-6E8A-4147-A177-3AD203B41FA5}">
                      <a16:colId xmlns:a16="http://schemas.microsoft.com/office/drawing/2014/main" val="135637185"/>
                    </a:ext>
                  </a:extLst>
                </a:gridCol>
                <a:gridCol w="398553">
                  <a:extLst>
                    <a:ext uri="{9D8B030D-6E8A-4147-A177-3AD203B41FA5}">
                      <a16:colId xmlns:a16="http://schemas.microsoft.com/office/drawing/2014/main" val="3038050475"/>
                    </a:ext>
                  </a:extLst>
                </a:gridCol>
                <a:gridCol w="398553">
                  <a:extLst>
                    <a:ext uri="{9D8B030D-6E8A-4147-A177-3AD203B41FA5}">
                      <a16:colId xmlns:a16="http://schemas.microsoft.com/office/drawing/2014/main" val="1979433044"/>
                    </a:ext>
                  </a:extLst>
                </a:gridCol>
                <a:gridCol w="398553">
                  <a:extLst>
                    <a:ext uri="{9D8B030D-6E8A-4147-A177-3AD203B41FA5}">
                      <a16:colId xmlns:a16="http://schemas.microsoft.com/office/drawing/2014/main" val="4270661649"/>
                    </a:ext>
                  </a:extLst>
                </a:gridCol>
                <a:gridCol w="398553">
                  <a:extLst>
                    <a:ext uri="{9D8B030D-6E8A-4147-A177-3AD203B41FA5}">
                      <a16:colId xmlns:a16="http://schemas.microsoft.com/office/drawing/2014/main" val="3027041370"/>
                    </a:ext>
                  </a:extLst>
                </a:gridCol>
                <a:gridCol w="398553">
                  <a:extLst>
                    <a:ext uri="{9D8B030D-6E8A-4147-A177-3AD203B41FA5}">
                      <a16:colId xmlns:a16="http://schemas.microsoft.com/office/drawing/2014/main" val="2852526216"/>
                    </a:ext>
                  </a:extLst>
                </a:gridCol>
                <a:gridCol w="398553">
                  <a:extLst>
                    <a:ext uri="{9D8B030D-6E8A-4147-A177-3AD203B41FA5}">
                      <a16:colId xmlns:a16="http://schemas.microsoft.com/office/drawing/2014/main" val="103420222"/>
                    </a:ext>
                  </a:extLst>
                </a:gridCol>
                <a:gridCol w="398553">
                  <a:extLst>
                    <a:ext uri="{9D8B030D-6E8A-4147-A177-3AD203B41FA5}">
                      <a16:colId xmlns:a16="http://schemas.microsoft.com/office/drawing/2014/main" val="1470405609"/>
                    </a:ext>
                  </a:extLst>
                </a:gridCol>
                <a:gridCol w="3680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A0E28D5-A8BE-3313-6E1E-880FD4AA20EE}"/>
              </a:ext>
            </a:extLst>
          </p:cNvPr>
          <p:cNvSpPr txBox="1"/>
          <p:nvPr/>
        </p:nvSpPr>
        <p:spPr>
          <a:xfrm>
            <a:off x="413544" y="848186"/>
            <a:ext cx="603987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a:t>
            </a:r>
          </a:p>
        </p:txBody>
      </p:sp>
      <p:sp>
        <p:nvSpPr>
          <p:cNvPr id="11" name="TextBox 10">
            <a:extLst>
              <a:ext uri="{FF2B5EF4-FFF2-40B4-BE49-F238E27FC236}">
                <a16:creationId xmlns:a16="http://schemas.microsoft.com/office/drawing/2014/main" id="{209B56D3-A1E6-0BF0-F524-22950314FD50}"/>
              </a:ext>
            </a:extLst>
          </p:cNvPr>
          <p:cNvSpPr txBox="1"/>
          <p:nvPr/>
        </p:nvSpPr>
        <p:spPr>
          <a:xfrm>
            <a:off x="422288" y="1602041"/>
            <a:ext cx="603360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DELAY_CH2</a:t>
            </a:r>
          </a:p>
        </p:txBody>
      </p:sp>
      <p:sp>
        <p:nvSpPr>
          <p:cNvPr id="17" name="TextBox 16">
            <a:extLst>
              <a:ext uri="{FF2B5EF4-FFF2-40B4-BE49-F238E27FC236}">
                <a16:creationId xmlns:a16="http://schemas.microsoft.com/office/drawing/2014/main" id="{86284F22-9BD3-DA53-61A8-C4D4A8AAB9AB}"/>
              </a:ext>
            </a:extLst>
          </p:cNvPr>
          <p:cNvSpPr txBox="1"/>
          <p:nvPr/>
        </p:nvSpPr>
        <p:spPr>
          <a:xfrm>
            <a:off x="413982" y="2322758"/>
            <a:ext cx="603944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DELAY_CH3</a:t>
            </a:r>
          </a:p>
        </p:txBody>
      </p:sp>
      <p:sp>
        <p:nvSpPr>
          <p:cNvPr id="19" name="TextBox 18">
            <a:extLst>
              <a:ext uri="{FF2B5EF4-FFF2-40B4-BE49-F238E27FC236}">
                <a16:creationId xmlns:a16="http://schemas.microsoft.com/office/drawing/2014/main" id="{7DEE360B-C85A-D80A-47C2-BEB07BF4B79B}"/>
              </a:ext>
            </a:extLst>
          </p:cNvPr>
          <p:cNvSpPr txBox="1"/>
          <p:nvPr/>
        </p:nvSpPr>
        <p:spPr>
          <a:xfrm>
            <a:off x="404574" y="3060018"/>
            <a:ext cx="603360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DELAY_CH4</a:t>
            </a:r>
          </a:p>
        </p:txBody>
      </p:sp>
      <p:sp>
        <p:nvSpPr>
          <p:cNvPr id="23" name="TextBox 22">
            <a:extLst>
              <a:ext uri="{FF2B5EF4-FFF2-40B4-BE49-F238E27FC236}">
                <a16:creationId xmlns:a16="http://schemas.microsoft.com/office/drawing/2014/main" id="{E32B801D-6888-0426-D0E7-F982E65CA0DC}"/>
              </a:ext>
            </a:extLst>
          </p:cNvPr>
          <p:cNvSpPr txBox="1"/>
          <p:nvPr/>
        </p:nvSpPr>
        <p:spPr>
          <a:xfrm>
            <a:off x="399464" y="3823718"/>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DELAY_CH5</a:t>
            </a:r>
          </a:p>
        </p:txBody>
      </p:sp>
      <p:sp>
        <p:nvSpPr>
          <p:cNvPr id="26" name="TextBox 25">
            <a:extLst>
              <a:ext uri="{FF2B5EF4-FFF2-40B4-BE49-F238E27FC236}">
                <a16:creationId xmlns:a16="http://schemas.microsoft.com/office/drawing/2014/main" id="{6C90861D-FBAC-7667-8717-58192ECD3417}"/>
              </a:ext>
            </a:extLst>
          </p:cNvPr>
          <p:cNvSpPr txBox="1"/>
          <p:nvPr/>
        </p:nvSpPr>
        <p:spPr>
          <a:xfrm>
            <a:off x="399464" y="4577371"/>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DELAY_CH6</a:t>
            </a:r>
          </a:p>
        </p:txBody>
      </p:sp>
      <p:sp>
        <p:nvSpPr>
          <p:cNvPr id="28" name="TextBox 27">
            <a:extLst>
              <a:ext uri="{FF2B5EF4-FFF2-40B4-BE49-F238E27FC236}">
                <a16:creationId xmlns:a16="http://schemas.microsoft.com/office/drawing/2014/main" id="{46F71A86-4DD6-C848-44D6-CB304A051B81}"/>
              </a:ext>
            </a:extLst>
          </p:cNvPr>
          <p:cNvSpPr txBox="1"/>
          <p:nvPr/>
        </p:nvSpPr>
        <p:spPr>
          <a:xfrm>
            <a:off x="390305" y="5328488"/>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DELAY_CH7</a:t>
            </a:r>
          </a:p>
        </p:txBody>
      </p:sp>
      <p:sp>
        <p:nvSpPr>
          <p:cNvPr id="30" name="TextBox 29">
            <a:extLst>
              <a:ext uri="{FF2B5EF4-FFF2-40B4-BE49-F238E27FC236}">
                <a16:creationId xmlns:a16="http://schemas.microsoft.com/office/drawing/2014/main" id="{9DE632F2-E2A9-3D66-B79B-1C5C1B6611FD}"/>
              </a:ext>
            </a:extLst>
          </p:cNvPr>
          <p:cNvSpPr txBox="1"/>
          <p:nvPr/>
        </p:nvSpPr>
        <p:spPr>
          <a:xfrm>
            <a:off x="390305" y="6091860"/>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DELAY_CH8</a:t>
            </a:r>
          </a:p>
        </p:txBody>
      </p:sp>
      <p:sp>
        <p:nvSpPr>
          <p:cNvPr id="32" name="TextBox 31">
            <a:extLst>
              <a:ext uri="{FF2B5EF4-FFF2-40B4-BE49-F238E27FC236}">
                <a16:creationId xmlns:a16="http://schemas.microsoft.com/office/drawing/2014/main" id="{58901DC2-04E3-F4DD-F959-FE3323638762}"/>
              </a:ext>
            </a:extLst>
          </p:cNvPr>
          <p:cNvSpPr txBox="1"/>
          <p:nvPr/>
        </p:nvSpPr>
        <p:spPr>
          <a:xfrm>
            <a:off x="413544" y="6853723"/>
            <a:ext cx="603987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DELAY_CH9</a:t>
            </a:r>
          </a:p>
        </p:txBody>
      </p:sp>
      <p:sp>
        <p:nvSpPr>
          <p:cNvPr id="5" name="TextBox 4">
            <a:extLst>
              <a:ext uri="{FF2B5EF4-FFF2-40B4-BE49-F238E27FC236}">
                <a16:creationId xmlns:a16="http://schemas.microsoft.com/office/drawing/2014/main" id="{5E0C07B2-3A4C-3F42-E620-B07019820588}"/>
              </a:ext>
            </a:extLst>
          </p:cNvPr>
          <p:cNvSpPr txBox="1"/>
          <p:nvPr/>
        </p:nvSpPr>
        <p:spPr>
          <a:xfrm>
            <a:off x="386686" y="7607578"/>
            <a:ext cx="603964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DELAY_CH10</a:t>
            </a:r>
          </a:p>
        </p:txBody>
      </p:sp>
      <p:sp>
        <p:nvSpPr>
          <p:cNvPr id="8" name="TextBox 7">
            <a:extLst>
              <a:ext uri="{FF2B5EF4-FFF2-40B4-BE49-F238E27FC236}">
                <a16:creationId xmlns:a16="http://schemas.microsoft.com/office/drawing/2014/main" id="{EE80EB99-3C8E-D87B-607D-CC8405F3B53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40875B01-BF9D-B25E-61B2-039D54F5B2C6}"/>
              </a:ext>
            </a:extLst>
          </p:cNvPr>
          <p:cNvGraphicFramePr>
            <a:graphicFrameLocks noGrp="1"/>
          </p:cNvGraphicFramePr>
          <p:nvPr>
            <p:extLst>
              <p:ext uri="{D42A27DB-BD31-4B8C-83A1-F6EECF244321}">
                <p14:modId xmlns:p14="http://schemas.microsoft.com/office/powerpoint/2010/main" val="327367133"/>
              </p:ext>
            </p:extLst>
          </p:nvPr>
        </p:nvGraphicFramePr>
        <p:xfrm>
          <a:off x="395431" y="1864442"/>
          <a:ext cx="6066739" cy="372600"/>
        </p:xfrm>
        <a:graphic>
          <a:graphicData uri="http://schemas.openxmlformats.org/drawingml/2006/table">
            <a:tbl>
              <a:tblPr firstRow="1" bandRow="1">
                <a:tableStyleId>{5C22544A-7EE6-4342-B048-85BDC9FD1C3A}</a:tableStyleId>
              </a:tblPr>
              <a:tblGrid>
                <a:gridCol w="299537">
                  <a:extLst>
                    <a:ext uri="{9D8B030D-6E8A-4147-A177-3AD203B41FA5}">
                      <a16:colId xmlns:a16="http://schemas.microsoft.com/office/drawing/2014/main" val="657570846"/>
                    </a:ext>
                  </a:extLst>
                </a:gridCol>
                <a:gridCol w="350528">
                  <a:extLst>
                    <a:ext uri="{9D8B030D-6E8A-4147-A177-3AD203B41FA5}">
                      <a16:colId xmlns:a16="http://schemas.microsoft.com/office/drawing/2014/main" val="3259894497"/>
                    </a:ext>
                  </a:extLst>
                </a:gridCol>
                <a:gridCol w="504852">
                  <a:extLst>
                    <a:ext uri="{9D8B030D-6E8A-4147-A177-3AD203B41FA5}">
                      <a16:colId xmlns:a16="http://schemas.microsoft.com/office/drawing/2014/main" val="4170535043"/>
                    </a:ext>
                  </a:extLst>
                </a:gridCol>
                <a:gridCol w="417502">
                  <a:extLst>
                    <a:ext uri="{9D8B030D-6E8A-4147-A177-3AD203B41FA5}">
                      <a16:colId xmlns:a16="http://schemas.microsoft.com/office/drawing/2014/main" val="2079070694"/>
                    </a:ext>
                  </a:extLst>
                </a:gridCol>
                <a:gridCol w="442059">
                  <a:extLst>
                    <a:ext uri="{9D8B030D-6E8A-4147-A177-3AD203B41FA5}">
                      <a16:colId xmlns:a16="http://schemas.microsoft.com/office/drawing/2014/main" val="4213315911"/>
                    </a:ext>
                  </a:extLst>
                </a:gridCol>
                <a:gridCol w="446972">
                  <a:extLst>
                    <a:ext uri="{9D8B030D-6E8A-4147-A177-3AD203B41FA5}">
                      <a16:colId xmlns:a16="http://schemas.microsoft.com/office/drawing/2014/main" val="2769999950"/>
                    </a:ext>
                  </a:extLst>
                </a:gridCol>
                <a:gridCol w="451917">
                  <a:extLst>
                    <a:ext uri="{9D8B030D-6E8A-4147-A177-3AD203B41FA5}">
                      <a16:colId xmlns:a16="http://schemas.microsoft.com/office/drawing/2014/main" val="135637185"/>
                    </a:ext>
                  </a:extLst>
                </a:gridCol>
                <a:gridCol w="397980">
                  <a:extLst>
                    <a:ext uri="{9D8B030D-6E8A-4147-A177-3AD203B41FA5}">
                      <a16:colId xmlns:a16="http://schemas.microsoft.com/office/drawing/2014/main" val="3038050475"/>
                    </a:ext>
                  </a:extLst>
                </a:gridCol>
                <a:gridCol w="397980">
                  <a:extLst>
                    <a:ext uri="{9D8B030D-6E8A-4147-A177-3AD203B41FA5}">
                      <a16:colId xmlns:a16="http://schemas.microsoft.com/office/drawing/2014/main" val="1979433044"/>
                    </a:ext>
                  </a:extLst>
                </a:gridCol>
                <a:gridCol w="397980">
                  <a:extLst>
                    <a:ext uri="{9D8B030D-6E8A-4147-A177-3AD203B41FA5}">
                      <a16:colId xmlns:a16="http://schemas.microsoft.com/office/drawing/2014/main" val="4270661649"/>
                    </a:ext>
                  </a:extLst>
                </a:gridCol>
                <a:gridCol w="397980">
                  <a:extLst>
                    <a:ext uri="{9D8B030D-6E8A-4147-A177-3AD203B41FA5}">
                      <a16:colId xmlns:a16="http://schemas.microsoft.com/office/drawing/2014/main" val="3027041370"/>
                    </a:ext>
                  </a:extLst>
                </a:gridCol>
                <a:gridCol w="397980">
                  <a:extLst>
                    <a:ext uri="{9D8B030D-6E8A-4147-A177-3AD203B41FA5}">
                      <a16:colId xmlns:a16="http://schemas.microsoft.com/office/drawing/2014/main" val="2852526216"/>
                    </a:ext>
                  </a:extLst>
                </a:gridCol>
                <a:gridCol w="397980">
                  <a:extLst>
                    <a:ext uri="{9D8B030D-6E8A-4147-A177-3AD203B41FA5}">
                      <a16:colId xmlns:a16="http://schemas.microsoft.com/office/drawing/2014/main" val="103420222"/>
                    </a:ext>
                  </a:extLst>
                </a:gridCol>
                <a:gridCol w="397980">
                  <a:extLst>
                    <a:ext uri="{9D8B030D-6E8A-4147-A177-3AD203B41FA5}">
                      <a16:colId xmlns:a16="http://schemas.microsoft.com/office/drawing/2014/main" val="1470405609"/>
                    </a:ext>
                  </a:extLst>
                </a:gridCol>
                <a:gridCol w="3675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633C6583-5C79-3893-781B-ED9CA0DEC798}"/>
              </a:ext>
            </a:extLst>
          </p:cNvPr>
          <p:cNvGraphicFramePr>
            <a:graphicFrameLocks noGrp="1"/>
          </p:cNvGraphicFramePr>
          <p:nvPr>
            <p:extLst>
              <p:ext uri="{D42A27DB-BD31-4B8C-83A1-F6EECF244321}">
                <p14:modId xmlns:p14="http://schemas.microsoft.com/office/powerpoint/2010/main" val="3418704972"/>
              </p:ext>
            </p:extLst>
          </p:nvPr>
        </p:nvGraphicFramePr>
        <p:xfrm>
          <a:off x="386687" y="2584296"/>
          <a:ext cx="6075480" cy="372600"/>
        </p:xfrm>
        <a:graphic>
          <a:graphicData uri="http://schemas.openxmlformats.org/drawingml/2006/table">
            <a:tbl>
              <a:tblPr firstRow="1" bandRow="1">
                <a:tableStyleId>{5C22544A-7EE6-4342-B048-85BDC9FD1C3A}</a:tableStyleId>
              </a:tblPr>
              <a:tblGrid>
                <a:gridCol w="299969">
                  <a:extLst>
                    <a:ext uri="{9D8B030D-6E8A-4147-A177-3AD203B41FA5}">
                      <a16:colId xmlns:a16="http://schemas.microsoft.com/office/drawing/2014/main" val="657570846"/>
                    </a:ext>
                  </a:extLst>
                </a:gridCol>
                <a:gridCol w="351033">
                  <a:extLst>
                    <a:ext uri="{9D8B030D-6E8A-4147-A177-3AD203B41FA5}">
                      <a16:colId xmlns:a16="http://schemas.microsoft.com/office/drawing/2014/main" val="3259894497"/>
                    </a:ext>
                  </a:extLst>
                </a:gridCol>
                <a:gridCol w="504538">
                  <a:extLst>
                    <a:ext uri="{9D8B030D-6E8A-4147-A177-3AD203B41FA5}">
                      <a16:colId xmlns:a16="http://schemas.microsoft.com/office/drawing/2014/main" val="4170535043"/>
                    </a:ext>
                  </a:extLst>
                </a:gridCol>
                <a:gridCol w="418102">
                  <a:extLst>
                    <a:ext uri="{9D8B030D-6E8A-4147-A177-3AD203B41FA5}">
                      <a16:colId xmlns:a16="http://schemas.microsoft.com/office/drawing/2014/main" val="2079070694"/>
                    </a:ext>
                  </a:extLst>
                </a:gridCol>
                <a:gridCol w="457454">
                  <a:extLst>
                    <a:ext uri="{9D8B030D-6E8A-4147-A177-3AD203B41FA5}">
                      <a16:colId xmlns:a16="http://schemas.microsoft.com/office/drawing/2014/main" val="4213315911"/>
                    </a:ext>
                  </a:extLst>
                </a:gridCol>
                <a:gridCol w="437779">
                  <a:extLst>
                    <a:ext uri="{9D8B030D-6E8A-4147-A177-3AD203B41FA5}">
                      <a16:colId xmlns:a16="http://schemas.microsoft.com/office/drawing/2014/main" val="2769999950"/>
                    </a:ext>
                  </a:extLst>
                </a:gridCol>
                <a:gridCol w="448692">
                  <a:extLst>
                    <a:ext uri="{9D8B030D-6E8A-4147-A177-3AD203B41FA5}">
                      <a16:colId xmlns:a16="http://schemas.microsoft.com/office/drawing/2014/main" val="135637185"/>
                    </a:ext>
                  </a:extLst>
                </a:gridCol>
                <a:gridCol w="398553">
                  <a:extLst>
                    <a:ext uri="{9D8B030D-6E8A-4147-A177-3AD203B41FA5}">
                      <a16:colId xmlns:a16="http://schemas.microsoft.com/office/drawing/2014/main" val="3038050475"/>
                    </a:ext>
                  </a:extLst>
                </a:gridCol>
                <a:gridCol w="398553">
                  <a:extLst>
                    <a:ext uri="{9D8B030D-6E8A-4147-A177-3AD203B41FA5}">
                      <a16:colId xmlns:a16="http://schemas.microsoft.com/office/drawing/2014/main" val="1979433044"/>
                    </a:ext>
                  </a:extLst>
                </a:gridCol>
                <a:gridCol w="398553">
                  <a:extLst>
                    <a:ext uri="{9D8B030D-6E8A-4147-A177-3AD203B41FA5}">
                      <a16:colId xmlns:a16="http://schemas.microsoft.com/office/drawing/2014/main" val="4270661649"/>
                    </a:ext>
                  </a:extLst>
                </a:gridCol>
                <a:gridCol w="398553">
                  <a:extLst>
                    <a:ext uri="{9D8B030D-6E8A-4147-A177-3AD203B41FA5}">
                      <a16:colId xmlns:a16="http://schemas.microsoft.com/office/drawing/2014/main" val="3027041370"/>
                    </a:ext>
                  </a:extLst>
                </a:gridCol>
                <a:gridCol w="398553">
                  <a:extLst>
                    <a:ext uri="{9D8B030D-6E8A-4147-A177-3AD203B41FA5}">
                      <a16:colId xmlns:a16="http://schemas.microsoft.com/office/drawing/2014/main" val="2852526216"/>
                    </a:ext>
                  </a:extLst>
                </a:gridCol>
                <a:gridCol w="398553">
                  <a:extLst>
                    <a:ext uri="{9D8B030D-6E8A-4147-A177-3AD203B41FA5}">
                      <a16:colId xmlns:a16="http://schemas.microsoft.com/office/drawing/2014/main" val="103420222"/>
                    </a:ext>
                  </a:extLst>
                </a:gridCol>
                <a:gridCol w="398553">
                  <a:extLst>
                    <a:ext uri="{9D8B030D-6E8A-4147-A177-3AD203B41FA5}">
                      <a16:colId xmlns:a16="http://schemas.microsoft.com/office/drawing/2014/main" val="1470405609"/>
                    </a:ext>
                  </a:extLst>
                </a:gridCol>
                <a:gridCol w="3680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809720F3-A7B4-ABA1-D2EE-A4DE0A2814EB}"/>
              </a:ext>
            </a:extLst>
          </p:cNvPr>
          <p:cNvGraphicFramePr>
            <a:graphicFrameLocks noGrp="1"/>
          </p:cNvGraphicFramePr>
          <p:nvPr>
            <p:extLst>
              <p:ext uri="{D42A27DB-BD31-4B8C-83A1-F6EECF244321}">
                <p14:modId xmlns:p14="http://schemas.microsoft.com/office/powerpoint/2010/main" val="893689958"/>
              </p:ext>
            </p:extLst>
          </p:nvPr>
        </p:nvGraphicFramePr>
        <p:xfrm>
          <a:off x="377719" y="3322454"/>
          <a:ext cx="6084445" cy="372600"/>
        </p:xfrm>
        <a:graphic>
          <a:graphicData uri="http://schemas.openxmlformats.org/drawingml/2006/table">
            <a:tbl>
              <a:tblPr firstRow="1" bandRow="1">
                <a:tableStyleId>{5C22544A-7EE6-4342-B048-85BDC9FD1C3A}</a:tableStyleId>
              </a:tblPr>
              <a:tblGrid>
                <a:gridCol w="300411">
                  <a:extLst>
                    <a:ext uri="{9D8B030D-6E8A-4147-A177-3AD203B41FA5}">
                      <a16:colId xmlns:a16="http://schemas.microsoft.com/office/drawing/2014/main" val="657570846"/>
                    </a:ext>
                  </a:extLst>
                </a:gridCol>
                <a:gridCol w="351551">
                  <a:extLst>
                    <a:ext uri="{9D8B030D-6E8A-4147-A177-3AD203B41FA5}">
                      <a16:colId xmlns:a16="http://schemas.microsoft.com/office/drawing/2014/main" val="3259894497"/>
                    </a:ext>
                  </a:extLst>
                </a:gridCol>
                <a:gridCol w="499539">
                  <a:extLst>
                    <a:ext uri="{9D8B030D-6E8A-4147-A177-3AD203B41FA5}">
                      <a16:colId xmlns:a16="http://schemas.microsoft.com/office/drawing/2014/main" val="4170535043"/>
                    </a:ext>
                  </a:extLst>
                </a:gridCol>
                <a:gridCol w="433498">
                  <a:extLst>
                    <a:ext uri="{9D8B030D-6E8A-4147-A177-3AD203B41FA5}">
                      <a16:colId xmlns:a16="http://schemas.microsoft.com/office/drawing/2014/main" val="2079070694"/>
                    </a:ext>
                  </a:extLst>
                </a:gridCol>
                <a:gridCol w="458129">
                  <a:extLst>
                    <a:ext uri="{9D8B030D-6E8A-4147-A177-3AD203B41FA5}">
                      <a16:colId xmlns:a16="http://schemas.microsoft.com/office/drawing/2014/main" val="4213315911"/>
                    </a:ext>
                  </a:extLst>
                </a:gridCol>
                <a:gridCol w="438425">
                  <a:extLst>
                    <a:ext uri="{9D8B030D-6E8A-4147-A177-3AD203B41FA5}">
                      <a16:colId xmlns:a16="http://schemas.microsoft.com/office/drawing/2014/main" val="2769999950"/>
                    </a:ext>
                  </a:extLst>
                </a:gridCol>
                <a:gridCol w="440320">
                  <a:extLst>
                    <a:ext uri="{9D8B030D-6E8A-4147-A177-3AD203B41FA5}">
                      <a16:colId xmlns:a16="http://schemas.microsoft.com/office/drawing/2014/main" val="135637185"/>
                    </a:ext>
                  </a:extLst>
                </a:gridCol>
                <a:gridCol w="399141">
                  <a:extLst>
                    <a:ext uri="{9D8B030D-6E8A-4147-A177-3AD203B41FA5}">
                      <a16:colId xmlns:a16="http://schemas.microsoft.com/office/drawing/2014/main" val="3038050475"/>
                    </a:ext>
                  </a:extLst>
                </a:gridCol>
                <a:gridCol w="399141">
                  <a:extLst>
                    <a:ext uri="{9D8B030D-6E8A-4147-A177-3AD203B41FA5}">
                      <a16:colId xmlns:a16="http://schemas.microsoft.com/office/drawing/2014/main" val="1979433044"/>
                    </a:ext>
                  </a:extLst>
                </a:gridCol>
                <a:gridCol w="399141">
                  <a:extLst>
                    <a:ext uri="{9D8B030D-6E8A-4147-A177-3AD203B41FA5}">
                      <a16:colId xmlns:a16="http://schemas.microsoft.com/office/drawing/2014/main" val="4270661649"/>
                    </a:ext>
                  </a:extLst>
                </a:gridCol>
                <a:gridCol w="399141">
                  <a:extLst>
                    <a:ext uri="{9D8B030D-6E8A-4147-A177-3AD203B41FA5}">
                      <a16:colId xmlns:a16="http://schemas.microsoft.com/office/drawing/2014/main" val="3027041370"/>
                    </a:ext>
                  </a:extLst>
                </a:gridCol>
                <a:gridCol w="399141">
                  <a:extLst>
                    <a:ext uri="{9D8B030D-6E8A-4147-A177-3AD203B41FA5}">
                      <a16:colId xmlns:a16="http://schemas.microsoft.com/office/drawing/2014/main" val="2852526216"/>
                    </a:ext>
                  </a:extLst>
                </a:gridCol>
                <a:gridCol w="399141">
                  <a:extLst>
                    <a:ext uri="{9D8B030D-6E8A-4147-A177-3AD203B41FA5}">
                      <a16:colId xmlns:a16="http://schemas.microsoft.com/office/drawing/2014/main" val="103420222"/>
                    </a:ext>
                  </a:extLst>
                </a:gridCol>
                <a:gridCol w="399141">
                  <a:extLst>
                    <a:ext uri="{9D8B030D-6E8A-4147-A177-3AD203B41FA5}">
                      <a16:colId xmlns:a16="http://schemas.microsoft.com/office/drawing/2014/main" val="1470405609"/>
                    </a:ext>
                  </a:extLst>
                </a:gridCol>
                <a:gridCol w="3685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DELAY_CH4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592A69BD-AFEE-224F-7D96-8E8A750949C0}"/>
              </a:ext>
            </a:extLst>
          </p:cNvPr>
          <p:cNvGraphicFramePr>
            <a:graphicFrameLocks noGrp="1"/>
          </p:cNvGraphicFramePr>
          <p:nvPr>
            <p:extLst>
              <p:ext uri="{D42A27DB-BD31-4B8C-83A1-F6EECF244321}">
                <p14:modId xmlns:p14="http://schemas.microsoft.com/office/powerpoint/2010/main" val="3574234354"/>
              </p:ext>
            </p:extLst>
          </p:nvPr>
        </p:nvGraphicFramePr>
        <p:xfrm>
          <a:off x="386686" y="4085669"/>
          <a:ext cx="6075477" cy="372600"/>
        </p:xfrm>
        <a:graphic>
          <a:graphicData uri="http://schemas.openxmlformats.org/drawingml/2006/table">
            <a:tbl>
              <a:tblPr firstRow="1" bandRow="1">
                <a:tableStyleId>{5C22544A-7EE6-4342-B048-85BDC9FD1C3A}</a:tableStyleId>
              </a:tblPr>
              <a:tblGrid>
                <a:gridCol w="299968">
                  <a:extLst>
                    <a:ext uri="{9D8B030D-6E8A-4147-A177-3AD203B41FA5}">
                      <a16:colId xmlns:a16="http://schemas.microsoft.com/office/drawing/2014/main" val="657570846"/>
                    </a:ext>
                  </a:extLst>
                </a:gridCol>
                <a:gridCol w="351033">
                  <a:extLst>
                    <a:ext uri="{9D8B030D-6E8A-4147-A177-3AD203B41FA5}">
                      <a16:colId xmlns:a16="http://schemas.microsoft.com/office/drawing/2014/main" val="3259894497"/>
                    </a:ext>
                  </a:extLst>
                </a:gridCol>
                <a:gridCol w="479943">
                  <a:extLst>
                    <a:ext uri="{9D8B030D-6E8A-4147-A177-3AD203B41FA5}">
                      <a16:colId xmlns:a16="http://schemas.microsoft.com/office/drawing/2014/main" val="4170535043"/>
                    </a:ext>
                  </a:extLst>
                </a:gridCol>
                <a:gridCol w="442697">
                  <a:extLst>
                    <a:ext uri="{9D8B030D-6E8A-4147-A177-3AD203B41FA5}">
                      <a16:colId xmlns:a16="http://schemas.microsoft.com/office/drawing/2014/main" val="2079070694"/>
                    </a:ext>
                  </a:extLst>
                </a:gridCol>
                <a:gridCol w="457453">
                  <a:extLst>
                    <a:ext uri="{9D8B030D-6E8A-4147-A177-3AD203B41FA5}">
                      <a16:colId xmlns:a16="http://schemas.microsoft.com/office/drawing/2014/main" val="4213315911"/>
                    </a:ext>
                  </a:extLst>
                </a:gridCol>
                <a:gridCol w="427940">
                  <a:extLst>
                    <a:ext uri="{9D8B030D-6E8A-4147-A177-3AD203B41FA5}">
                      <a16:colId xmlns:a16="http://schemas.microsoft.com/office/drawing/2014/main" val="2769999950"/>
                    </a:ext>
                  </a:extLst>
                </a:gridCol>
                <a:gridCol w="458530">
                  <a:extLst>
                    <a:ext uri="{9D8B030D-6E8A-4147-A177-3AD203B41FA5}">
                      <a16:colId xmlns:a16="http://schemas.microsoft.com/office/drawing/2014/main" val="135637185"/>
                    </a:ext>
                  </a:extLst>
                </a:gridCol>
                <a:gridCol w="398553">
                  <a:extLst>
                    <a:ext uri="{9D8B030D-6E8A-4147-A177-3AD203B41FA5}">
                      <a16:colId xmlns:a16="http://schemas.microsoft.com/office/drawing/2014/main" val="3038050475"/>
                    </a:ext>
                  </a:extLst>
                </a:gridCol>
                <a:gridCol w="398553">
                  <a:extLst>
                    <a:ext uri="{9D8B030D-6E8A-4147-A177-3AD203B41FA5}">
                      <a16:colId xmlns:a16="http://schemas.microsoft.com/office/drawing/2014/main" val="1979433044"/>
                    </a:ext>
                  </a:extLst>
                </a:gridCol>
                <a:gridCol w="398553">
                  <a:extLst>
                    <a:ext uri="{9D8B030D-6E8A-4147-A177-3AD203B41FA5}">
                      <a16:colId xmlns:a16="http://schemas.microsoft.com/office/drawing/2014/main" val="4270661649"/>
                    </a:ext>
                  </a:extLst>
                </a:gridCol>
                <a:gridCol w="398553">
                  <a:extLst>
                    <a:ext uri="{9D8B030D-6E8A-4147-A177-3AD203B41FA5}">
                      <a16:colId xmlns:a16="http://schemas.microsoft.com/office/drawing/2014/main" val="3027041370"/>
                    </a:ext>
                  </a:extLst>
                </a:gridCol>
                <a:gridCol w="398553">
                  <a:extLst>
                    <a:ext uri="{9D8B030D-6E8A-4147-A177-3AD203B41FA5}">
                      <a16:colId xmlns:a16="http://schemas.microsoft.com/office/drawing/2014/main" val="2852526216"/>
                    </a:ext>
                  </a:extLst>
                </a:gridCol>
                <a:gridCol w="398553">
                  <a:extLst>
                    <a:ext uri="{9D8B030D-6E8A-4147-A177-3AD203B41FA5}">
                      <a16:colId xmlns:a16="http://schemas.microsoft.com/office/drawing/2014/main" val="103420222"/>
                    </a:ext>
                  </a:extLst>
                </a:gridCol>
                <a:gridCol w="398553">
                  <a:extLst>
                    <a:ext uri="{9D8B030D-6E8A-4147-A177-3AD203B41FA5}">
                      <a16:colId xmlns:a16="http://schemas.microsoft.com/office/drawing/2014/main" val="1470405609"/>
                    </a:ext>
                  </a:extLst>
                </a:gridCol>
                <a:gridCol w="3680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DELAY_CH5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59EA647F-D857-E196-D939-19F58BEB60FF}"/>
              </a:ext>
            </a:extLst>
          </p:cNvPr>
          <p:cNvGraphicFramePr>
            <a:graphicFrameLocks noGrp="1"/>
          </p:cNvGraphicFramePr>
          <p:nvPr>
            <p:extLst>
              <p:ext uri="{D42A27DB-BD31-4B8C-83A1-F6EECF244321}">
                <p14:modId xmlns:p14="http://schemas.microsoft.com/office/powerpoint/2010/main" val="124421050"/>
              </p:ext>
            </p:extLst>
          </p:nvPr>
        </p:nvGraphicFramePr>
        <p:xfrm>
          <a:off x="386687" y="4841398"/>
          <a:ext cx="6066740" cy="372600"/>
        </p:xfrm>
        <a:graphic>
          <a:graphicData uri="http://schemas.openxmlformats.org/drawingml/2006/table">
            <a:tbl>
              <a:tblPr firstRow="1" bandRow="1">
                <a:tableStyleId>{5C22544A-7EE6-4342-B048-85BDC9FD1C3A}</a:tableStyleId>
              </a:tblPr>
              <a:tblGrid>
                <a:gridCol w="299537">
                  <a:extLst>
                    <a:ext uri="{9D8B030D-6E8A-4147-A177-3AD203B41FA5}">
                      <a16:colId xmlns:a16="http://schemas.microsoft.com/office/drawing/2014/main" val="657570846"/>
                    </a:ext>
                  </a:extLst>
                </a:gridCol>
                <a:gridCol w="350528">
                  <a:extLst>
                    <a:ext uri="{9D8B030D-6E8A-4147-A177-3AD203B41FA5}">
                      <a16:colId xmlns:a16="http://schemas.microsoft.com/office/drawing/2014/main" val="3259894497"/>
                    </a:ext>
                  </a:extLst>
                </a:gridCol>
                <a:gridCol w="469430">
                  <a:extLst>
                    <a:ext uri="{9D8B030D-6E8A-4147-A177-3AD203B41FA5}">
                      <a16:colId xmlns:a16="http://schemas.microsoft.com/office/drawing/2014/main" val="4170535043"/>
                    </a:ext>
                  </a:extLst>
                </a:gridCol>
                <a:gridCol w="451883">
                  <a:extLst>
                    <a:ext uri="{9D8B030D-6E8A-4147-A177-3AD203B41FA5}">
                      <a16:colId xmlns:a16="http://schemas.microsoft.com/office/drawing/2014/main" val="2079070694"/>
                    </a:ext>
                  </a:extLst>
                </a:gridCol>
                <a:gridCol w="451883">
                  <a:extLst>
                    <a:ext uri="{9D8B030D-6E8A-4147-A177-3AD203B41FA5}">
                      <a16:colId xmlns:a16="http://schemas.microsoft.com/office/drawing/2014/main" val="4213315911"/>
                    </a:ext>
                  </a:extLst>
                </a:gridCol>
                <a:gridCol w="427325">
                  <a:extLst>
                    <a:ext uri="{9D8B030D-6E8A-4147-A177-3AD203B41FA5}">
                      <a16:colId xmlns:a16="http://schemas.microsoft.com/office/drawing/2014/main" val="2769999950"/>
                    </a:ext>
                  </a:extLst>
                </a:gridCol>
                <a:gridCol w="462782">
                  <a:extLst>
                    <a:ext uri="{9D8B030D-6E8A-4147-A177-3AD203B41FA5}">
                      <a16:colId xmlns:a16="http://schemas.microsoft.com/office/drawing/2014/main" val="135637185"/>
                    </a:ext>
                  </a:extLst>
                </a:gridCol>
                <a:gridCol w="397980">
                  <a:extLst>
                    <a:ext uri="{9D8B030D-6E8A-4147-A177-3AD203B41FA5}">
                      <a16:colId xmlns:a16="http://schemas.microsoft.com/office/drawing/2014/main" val="3038050475"/>
                    </a:ext>
                  </a:extLst>
                </a:gridCol>
                <a:gridCol w="397980">
                  <a:extLst>
                    <a:ext uri="{9D8B030D-6E8A-4147-A177-3AD203B41FA5}">
                      <a16:colId xmlns:a16="http://schemas.microsoft.com/office/drawing/2014/main" val="1979433044"/>
                    </a:ext>
                  </a:extLst>
                </a:gridCol>
                <a:gridCol w="397980">
                  <a:extLst>
                    <a:ext uri="{9D8B030D-6E8A-4147-A177-3AD203B41FA5}">
                      <a16:colId xmlns:a16="http://schemas.microsoft.com/office/drawing/2014/main" val="4270661649"/>
                    </a:ext>
                  </a:extLst>
                </a:gridCol>
                <a:gridCol w="397980">
                  <a:extLst>
                    <a:ext uri="{9D8B030D-6E8A-4147-A177-3AD203B41FA5}">
                      <a16:colId xmlns:a16="http://schemas.microsoft.com/office/drawing/2014/main" val="3027041370"/>
                    </a:ext>
                  </a:extLst>
                </a:gridCol>
                <a:gridCol w="397980">
                  <a:extLst>
                    <a:ext uri="{9D8B030D-6E8A-4147-A177-3AD203B41FA5}">
                      <a16:colId xmlns:a16="http://schemas.microsoft.com/office/drawing/2014/main" val="2852526216"/>
                    </a:ext>
                  </a:extLst>
                </a:gridCol>
                <a:gridCol w="397980">
                  <a:extLst>
                    <a:ext uri="{9D8B030D-6E8A-4147-A177-3AD203B41FA5}">
                      <a16:colId xmlns:a16="http://schemas.microsoft.com/office/drawing/2014/main" val="103420222"/>
                    </a:ext>
                  </a:extLst>
                </a:gridCol>
                <a:gridCol w="397980">
                  <a:extLst>
                    <a:ext uri="{9D8B030D-6E8A-4147-A177-3AD203B41FA5}">
                      <a16:colId xmlns:a16="http://schemas.microsoft.com/office/drawing/2014/main" val="1470405609"/>
                    </a:ext>
                  </a:extLst>
                </a:gridCol>
                <a:gridCol w="3675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DELAY_CH6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46B3684-2AE4-B5FB-EDF7-01D1ACCFA95E}"/>
              </a:ext>
            </a:extLst>
          </p:cNvPr>
          <p:cNvGraphicFramePr>
            <a:graphicFrameLocks noGrp="1"/>
          </p:cNvGraphicFramePr>
          <p:nvPr>
            <p:extLst>
              <p:ext uri="{D42A27DB-BD31-4B8C-83A1-F6EECF244321}">
                <p14:modId xmlns:p14="http://schemas.microsoft.com/office/powerpoint/2010/main" val="4010241616"/>
              </p:ext>
            </p:extLst>
          </p:nvPr>
        </p:nvGraphicFramePr>
        <p:xfrm>
          <a:off x="377528" y="5593711"/>
          <a:ext cx="6084443" cy="372600"/>
        </p:xfrm>
        <a:graphic>
          <a:graphicData uri="http://schemas.openxmlformats.org/drawingml/2006/table">
            <a:tbl>
              <a:tblPr firstRow="1" bandRow="1">
                <a:tableStyleId>{5C22544A-7EE6-4342-B048-85BDC9FD1C3A}</a:tableStyleId>
              </a:tblPr>
              <a:tblGrid>
                <a:gridCol w="300411">
                  <a:extLst>
                    <a:ext uri="{9D8B030D-6E8A-4147-A177-3AD203B41FA5}">
                      <a16:colId xmlns:a16="http://schemas.microsoft.com/office/drawing/2014/main" val="657570846"/>
                    </a:ext>
                  </a:extLst>
                </a:gridCol>
                <a:gridCol w="351551">
                  <a:extLst>
                    <a:ext uri="{9D8B030D-6E8A-4147-A177-3AD203B41FA5}">
                      <a16:colId xmlns:a16="http://schemas.microsoft.com/office/drawing/2014/main" val="3259894497"/>
                    </a:ext>
                  </a:extLst>
                </a:gridCol>
                <a:gridCol w="471466">
                  <a:extLst>
                    <a:ext uri="{9D8B030D-6E8A-4147-A177-3AD203B41FA5}">
                      <a16:colId xmlns:a16="http://schemas.microsoft.com/office/drawing/2014/main" val="4170535043"/>
                    </a:ext>
                  </a:extLst>
                </a:gridCol>
                <a:gridCol w="446984">
                  <a:extLst>
                    <a:ext uri="{9D8B030D-6E8A-4147-A177-3AD203B41FA5}">
                      <a16:colId xmlns:a16="http://schemas.microsoft.com/office/drawing/2014/main" val="2079070694"/>
                    </a:ext>
                  </a:extLst>
                </a:gridCol>
                <a:gridCol w="467981">
                  <a:extLst>
                    <a:ext uri="{9D8B030D-6E8A-4147-A177-3AD203B41FA5}">
                      <a16:colId xmlns:a16="http://schemas.microsoft.com/office/drawing/2014/main" val="4213315911"/>
                    </a:ext>
                  </a:extLst>
                </a:gridCol>
                <a:gridCol w="428572">
                  <a:extLst>
                    <a:ext uri="{9D8B030D-6E8A-4147-A177-3AD203B41FA5}">
                      <a16:colId xmlns:a16="http://schemas.microsoft.com/office/drawing/2014/main" val="2769999950"/>
                    </a:ext>
                  </a:extLst>
                </a:gridCol>
                <a:gridCol w="454906">
                  <a:extLst>
                    <a:ext uri="{9D8B030D-6E8A-4147-A177-3AD203B41FA5}">
                      <a16:colId xmlns:a16="http://schemas.microsoft.com/office/drawing/2014/main" val="135637185"/>
                    </a:ext>
                  </a:extLst>
                </a:gridCol>
                <a:gridCol w="399141">
                  <a:extLst>
                    <a:ext uri="{9D8B030D-6E8A-4147-A177-3AD203B41FA5}">
                      <a16:colId xmlns:a16="http://schemas.microsoft.com/office/drawing/2014/main" val="3038050475"/>
                    </a:ext>
                  </a:extLst>
                </a:gridCol>
                <a:gridCol w="399141">
                  <a:extLst>
                    <a:ext uri="{9D8B030D-6E8A-4147-A177-3AD203B41FA5}">
                      <a16:colId xmlns:a16="http://schemas.microsoft.com/office/drawing/2014/main" val="1979433044"/>
                    </a:ext>
                  </a:extLst>
                </a:gridCol>
                <a:gridCol w="399141">
                  <a:extLst>
                    <a:ext uri="{9D8B030D-6E8A-4147-A177-3AD203B41FA5}">
                      <a16:colId xmlns:a16="http://schemas.microsoft.com/office/drawing/2014/main" val="4270661649"/>
                    </a:ext>
                  </a:extLst>
                </a:gridCol>
                <a:gridCol w="399141">
                  <a:extLst>
                    <a:ext uri="{9D8B030D-6E8A-4147-A177-3AD203B41FA5}">
                      <a16:colId xmlns:a16="http://schemas.microsoft.com/office/drawing/2014/main" val="3027041370"/>
                    </a:ext>
                  </a:extLst>
                </a:gridCol>
                <a:gridCol w="399141">
                  <a:extLst>
                    <a:ext uri="{9D8B030D-6E8A-4147-A177-3AD203B41FA5}">
                      <a16:colId xmlns:a16="http://schemas.microsoft.com/office/drawing/2014/main" val="2852526216"/>
                    </a:ext>
                  </a:extLst>
                </a:gridCol>
                <a:gridCol w="399141">
                  <a:extLst>
                    <a:ext uri="{9D8B030D-6E8A-4147-A177-3AD203B41FA5}">
                      <a16:colId xmlns:a16="http://schemas.microsoft.com/office/drawing/2014/main" val="103420222"/>
                    </a:ext>
                  </a:extLst>
                </a:gridCol>
                <a:gridCol w="399141">
                  <a:extLst>
                    <a:ext uri="{9D8B030D-6E8A-4147-A177-3AD203B41FA5}">
                      <a16:colId xmlns:a16="http://schemas.microsoft.com/office/drawing/2014/main" val="1470405609"/>
                    </a:ext>
                  </a:extLst>
                </a:gridCol>
                <a:gridCol w="3685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DELAY_CH7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0D8DCC55-2473-2A17-AB75-4E2164EF6F5F}"/>
              </a:ext>
            </a:extLst>
          </p:cNvPr>
          <p:cNvGraphicFramePr>
            <a:graphicFrameLocks noGrp="1"/>
          </p:cNvGraphicFramePr>
          <p:nvPr>
            <p:extLst>
              <p:ext uri="{D42A27DB-BD31-4B8C-83A1-F6EECF244321}">
                <p14:modId xmlns:p14="http://schemas.microsoft.com/office/powerpoint/2010/main" val="3969967102"/>
              </p:ext>
            </p:extLst>
          </p:nvPr>
        </p:nvGraphicFramePr>
        <p:xfrm>
          <a:off x="377527" y="6355668"/>
          <a:ext cx="6084442" cy="372600"/>
        </p:xfrm>
        <a:graphic>
          <a:graphicData uri="http://schemas.openxmlformats.org/drawingml/2006/table">
            <a:tbl>
              <a:tblPr firstRow="1" bandRow="1">
                <a:tableStyleId>{5C22544A-7EE6-4342-B048-85BDC9FD1C3A}</a:tableStyleId>
              </a:tblPr>
              <a:tblGrid>
                <a:gridCol w="300411">
                  <a:extLst>
                    <a:ext uri="{9D8B030D-6E8A-4147-A177-3AD203B41FA5}">
                      <a16:colId xmlns:a16="http://schemas.microsoft.com/office/drawing/2014/main" val="657570846"/>
                    </a:ext>
                  </a:extLst>
                </a:gridCol>
                <a:gridCol w="351551">
                  <a:extLst>
                    <a:ext uri="{9D8B030D-6E8A-4147-A177-3AD203B41FA5}">
                      <a16:colId xmlns:a16="http://schemas.microsoft.com/office/drawing/2014/main" val="3259894497"/>
                    </a:ext>
                  </a:extLst>
                </a:gridCol>
                <a:gridCol w="471466">
                  <a:extLst>
                    <a:ext uri="{9D8B030D-6E8A-4147-A177-3AD203B41FA5}">
                      <a16:colId xmlns:a16="http://schemas.microsoft.com/office/drawing/2014/main" val="4170535043"/>
                    </a:ext>
                  </a:extLst>
                </a:gridCol>
                <a:gridCol w="442059">
                  <a:extLst>
                    <a:ext uri="{9D8B030D-6E8A-4147-A177-3AD203B41FA5}">
                      <a16:colId xmlns:a16="http://schemas.microsoft.com/office/drawing/2014/main" val="2079070694"/>
                    </a:ext>
                  </a:extLst>
                </a:gridCol>
                <a:gridCol w="472906">
                  <a:extLst>
                    <a:ext uri="{9D8B030D-6E8A-4147-A177-3AD203B41FA5}">
                      <a16:colId xmlns:a16="http://schemas.microsoft.com/office/drawing/2014/main" val="4213315911"/>
                    </a:ext>
                  </a:extLst>
                </a:gridCol>
                <a:gridCol w="418720">
                  <a:extLst>
                    <a:ext uri="{9D8B030D-6E8A-4147-A177-3AD203B41FA5}">
                      <a16:colId xmlns:a16="http://schemas.microsoft.com/office/drawing/2014/main" val="2769999950"/>
                    </a:ext>
                  </a:extLst>
                </a:gridCol>
                <a:gridCol w="464757">
                  <a:extLst>
                    <a:ext uri="{9D8B030D-6E8A-4147-A177-3AD203B41FA5}">
                      <a16:colId xmlns:a16="http://schemas.microsoft.com/office/drawing/2014/main" val="135637185"/>
                    </a:ext>
                  </a:extLst>
                </a:gridCol>
                <a:gridCol w="399141">
                  <a:extLst>
                    <a:ext uri="{9D8B030D-6E8A-4147-A177-3AD203B41FA5}">
                      <a16:colId xmlns:a16="http://schemas.microsoft.com/office/drawing/2014/main" val="3038050475"/>
                    </a:ext>
                  </a:extLst>
                </a:gridCol>
                <a:gridCol w="399141">
                  <a:extLst>
                    <a:ext uri="{9D8B030D-6E8A-4147-A177-3AD203B41FA5}">
                      <a16:colId xmlns:a16="http://schemas.microsoft.com/office/drawing/2014/main" val="1979433044"/>
                    </a:ext>
                  </a:extLst>
                </a:gridCol>
                <a:gridCol w="399141">
                  <a:extLst>
                    <a:ext uri="{9D8B030D-6E8A-4147-A177-3AD203B41FA5}">
                      <a16:colId xmlns:a16="http://schemas.microsoft.com/office/drawing/2014/main" val="4270661649"/>
                    </a:ext>
                  </a:extLst>
                </a:gridCol>
                <a:gridCol w="399141">
                  <a:extLst>
                    <a:ext uri="{9D8B030D-6E8A-4147-A177-3AD203B41FA5}">
                      <a16:colId xmlns:a16="http://schemas.microsoft.com/office/drawing/2014/main" val="3027041370"/>
                    </a:ext>
                  </a:extLst>
                </a:gridCol>
                <a:gridCol w="399141">
                  <a:extLst>
                    <a:ext uri="{9D8B030D-6E8A-4147-A177-3AD203B41FA5}">
                      <a16:colId xmlns:a16="http://schemas.microsoft.com/office/drawing/2014/main" val="2852526216"/>
                    </a:ext>
                  </a:extLst>
                </a:gridCol>
                <a:gridCol w="399141">
                  <a:extLst>
                    <a:ext uri="{9D8B030D-6E8A-4147-A177-3AD203B41FA5}">
                      <a16:colId xmlns:a16="http://schemas.microsoft.com/office/drawing/2014/main" val="103420222"/>
                    </a:ext>
                  </a:extLst>
                </a:gridCol>
                <a:gridCol w="399141">
                  <a:extLst>
                    <a:ext uri="{9D8B030D-6E8A-4147-A177-3AD203B41FA5}">
                      <a16:colId xmlns:a16="http://schemas.microsoft.com/office/drawing/2014/main" val="1470405609"/>
                    </a:ext>
                  </a:extLst>
                </a:gridCol>
                <a:gridCol w="3685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DELAY_CH8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6" name="표 35">
            <a:extLst>
              <a:ext uri="{FF2B5EF4-FFF2-40B4-BE49-F238E27FC236}">
                <a16:creationId xmlns:a16="http://schemas.microsoft.com/office/drawing/2014/main" id="{4E2DF619-18FE-7E1B-9F36-6FBB9EF52446}"/>
              </a:ext>
            </a:extLst>
          </p:cNvPr>
          <p:cNvGraphicFramePr>
            <a:graphicFrameLocks noGrp="1"/>
          </p:cNvGraphicFramePr>
          <p:nvPr>
            <p:extLst>
              <p:ext uri="{D42A27DB-BD31-4B8C-83A1-F6EECF244321}">
                <p14:modId xmlns:p14="http://schemas.microsoft.com/office/powerpoint/2010/main" val="3920691916"/>
              </p:ext>
            </p:extLst>
          </p:nvPr>
        </p:nvGraphicFramePr>
        <p:xfrm>
          <a:off x="377527" y="7116155"/>
          <a:ext cx="6084443" cy="372600"/>
        </p:xfrm>
        <a:graphic>
          <a:graphicData uri="http://schemas.openxmlformats.org/drawingml/2006/table">
            <a:tbl>
              <a:tblPr firstRow="1" bandRow="1">
                <a:tableStyleId>{5C22544A-7EE6-4342-B048-85BDC9FD1C3A}</a:tableStyleId>
              </a:tblPr>
              <a:tblGrid>
                <a:gridCol w="300411">
                  <a:extLst>
                    <a:ext uri="{9D8B030D-6E8A-4147-A177-3AD203B41FA5}">
                      <a16:colId xmlns:a16="http://schemas.microsoft.com/office/drawing/2014/main" val="657570846"/>
                    </a:ext>
                  </a:extLst>
                </a:gridCol>
                <a:gridCol w="351551">
                  <a:extLst>
                    <a:ext uri="{9D8B030D-6E8A-4147-A177-3AD203B41FA5}">
                      <a16:colId xmlns:a16="http://schemas.microsoft.com/office/drawing/2014/main" val="3259894497"/>
                    </a:ext>
                  </a:extLst>
                </a:gridCol>
                <a:gridCol w="480027">
                  <a:extLst>
                    <a:ext uri="{9D8B030D-6E8A-4147-A177-3AD203B41FA5}">
                      <a16:colId xmlns:a16="http://schemas.microsoft.com/office/drawing/2014/main" val="4170535043"/>
                    </a:ext>
                  </a:extLst>
                </a:gridCol>
                <a:gridCol w="433498">
                  <a:extLst>
                    <a:ext uri="{9D8B030D-6E8A-4147-A177-3AD203B41FA5}">
                      <a16:colId xmlns:a16="http://schemas.microsoft.com/office/drawing/2014/main" val="2079070694"/>
                    </a:ext>
                  </a:extLst>
                </a:gridCol>
                <a:gridCol w="467980">
                  <a:extLst>
                    <a:ext uri="{9D8B030D-6E8A-4147-A177-3AD203B41FA5}">
                      <a16:colId xmlns:a16="http://schemas.microsoft.com/office/drawing/2014/main" val="4213315911"/>
                    </a:ext>
                  </a:extLst>
                </a:gridCol>
                <a:gridCol w="413794">
                  <a:extLst>
                    <a:ext uri="{9D8B030D-6E8A-4147-A177-3AD203B41FA5}">
                      <a16:colId xmlns:a16="http://schemas.microsoft.com/office/drawing/2014/main" val="2769999950"/>
                    </a:ext>
                  </a:extLst>
                </a:gridCol>
                <a:gridCol w="474610">
                  <a:extLst>
                    <a:ext uri="{9D8B030D-6E8A-4147-A177-3AD203B41FA5}">
                      <a16:colId xmlns:a16="http://schemas.microsoft.com/office/drawing/2014/main" val="135637185"/>
                    </a:ext>
                  </a:extLst>
                </a:gridCol>
                <a:gridCol w="399141">
                  <a:extLst>
                    <a:ext uri="{9D8B030D-6E8A-4147-A177-3AD203B41FA5}">
                      <a16:colId xmlns:a16="http://schemas.microsoft.com/office/drawing/2014/main" val="3038050475"/>
                    </a:ext>
                  </a:extLst>
                </a:gridCol>
                <a:gridCol w="399141">
                  <a:extLst>
                    <a:ext uri="{9D8B030D-6E8A-4147-A177-3AD203B41FA5}">
                      <a16:colId xmlns:a16="http://schemas.microsoft.com/office/drawing/2014/main" val="1979433044"/>
                    </a:ext>
                  </a:extLst>
                </a:gridCol>
                <a:gridCol w="399141">
                  <a:extLst>
                    <a:ext uri="{9D8B030D-6E8A-4147-A177-3AD203B41FA5}">
                      <a16:colId xmlns:a16="http://schemas.microsoft.com/office/drawing/2014/main" val="4270661649"/>
                    </a:ext>
                  </a:extLst>
                </a:gridCol>
                <a:gridCol w="399141">
                  <a:extLst>
                    <a:ext uri="{9D8B030D-6E8A-4147-A177-3AD203B41FA5}">
                      <a16:colId xmlns:a16="http://schemas.microsoft.com/office/drawing/2014/main" val="3027041370"/>
                    </a:ext>
                  </a:extLst>
                </a:gridCol>
                <a:gridCol w="399141">
                  <a:extLst>
                    <a:ext uri="{9D8B030D-6E8A-4147-A177-3AD203B41FA5}">
                      <a16:colId xmlns:a16="http://schemas.microsoft.com/office/drawing/2014/main" val="2852526216"/>
                    </a:ext>
                  </a:extLst>
                </a:gridCol>
                <a:gridCol w="399141">
                  <a:extLst>
                    <a:ext uri="{9D8B030D-6E8A-4147-A177-3AD203B41FA5}">
                      <a16:colId xmlns:a16="http://schemas.microsoft.com/office/drawing/2014/main" val="103420222"/>
                    </a:ext>
                  </a:extLst>
                </a:gridCol>
                <a:gridCol w="399141">
                  <a:extLst>
                    <a:ext uri="{9D8B030D-6E8A-4147-A177-3AD203B41FA5}">
                      <a16:colId xmlns:a16="http://schemas.microsoft.com/office/drawing/2014/main" val="1470405609"/>
                    </a:ext>
                  </a:extLst>
                </a:gridCol>
                <a:gridCol w="3685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DELAY_CH9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7" name="표 36">
            <a:extLst>
              <a:ext uri="{FF2B5EF4-FFF2-40B4-BE49-F238E27FC236}">
                <a16:creationId xmlns:a16="http://schemas.microsoft.com/office/drawing/2014/main" id="{D9ADE477-6F0C-7D1B-219C-16AE1F3701F6}"/>
              </a:ext>
            </a:extLst>
          </p:cNvPr>
          <p:cNvGraphicFramePr>
            <a:graphicFrameLocks noGrp="1"/>
          </p:cNvGraphicFramePr>
          <p:nvPr>
            <p:extLst>
              <p:ext uri="{D42A27DB-BD31-4B8C-83A1-F6EECF244321}">
                <p14:modId xmlns:p14="http://schemas.microsoft.com/office/powerpoint/2010/main" val="43164525"/>
              </p:ext>
            </p:extLst>
          </p:nvPr>
        </p:nvGraphicFramePr>
        <p:xfrm>
          <a:off x="377527" y="7867985"/>
          <a:ext cx="6075893" cy="372600"/>
        </p:xfrm>
        <a:graphic>
          <a:graphicData uri="http://schemas.openxmlformats.org/drawingml/2006/table">
            <a:tbl>
              <a:tblPr firstRow="1" bandRow="1">
                <a:tableStyleId>{5C22544A-7EE6-4342-B048-85BDC9FD1C3A}</a:tableStyleId>
              </a:tblPr>
              <a:tblGrid>
                <a:gridCol w="299989">
                  <a:extLst>
                    <a:ext uri="{9D8B030D-6E8A-4147-A177-3AD203B41FA5}">
                      <a16:colId xmlns:a16="http://schemas.microsoft.com/office/drawing/2014/main" val="657570846"/>
                    </a:ext>
                  </a:extLst>
                </a:gridCol>
                <a:gridCol w="351057">
                  <a:extLst>
                    <a:ext uri="{9D8B030D-6E8A-4147-A177-3AD203B41FA5}">
                      <a16:colId xmlns:a16="http://schemas.microsoft.com/office/drawing/2014/main" val="3259894497"/>
                    </a:ext>
                  </a:extLst>
                </a:gridCol>
                <a:gridCol w="474433">
                  <a:extLst>
                    <a:ext uri="{9D8B030D-6E8A-4147-A177-3AD203B41FA5}">
                      <a16:colId xmlns:a16="http://schemas.microsoft.com/office/drawing/2014/main" val="4170535043"/>
                    </a:ext>
                  </a:extLst>
                </a:gridCol>
                <a:gridCol w="432889">
                  <a:extLst>
                    <a:ext uri="{9D8B030D-6E8A-4147-A177-3AD203B41FA5}">
                      <a16:colId xmlns:a16="http://schemas.microsoft.com/office/drawing/2014/main" val="2079070694"/>
                    </a:ext>
                  </a:extLst>
                </a:gridCol>
                <a:gridCol w="467324">
                  <a:extLst>
                    <a:ext uri="{9D8B030D-6E8A-4147-A177-3AD203B41FA5}">
                      <a16:colId xmlns:a16="http://schemas.microsoft.com/office/drawing/2014/main" val="4213315911"/>
                    </a:ext>
                  </a:extLst>
                </a:gridCol>
                <a:gridCol w="418131">
                  <a:extLst>
                    <a:ext uri="{9D8B030D-6E8A-4147-A177-3AD203B41FA5}">
                      <a16:colId xmlns:a16="http://schemas.microsoft.com/office/drawing/2014/main" val="2769999950"/>
                    </a:ext>
                  </a:extLst>
                </a:gridCol>
                <a:gridCol w="473943">
                  <a:extLst>
                    <a:ext uri="{9D8B030D-6E8A-4147-A177-3AD203B41FA5}">
                      <a16:colId xmlns:a16="http://schemas.microsoft.com/office/drawing/2014/main" val="135637185"/>
                    </a:ext>
                  </a:extLst>
                </a:gridCol>
                <a:gridCol w="398580">
                  <a:extLst>
                    <a:ext uri="{9D8B030D-6E8A-4147-A177-3AD203B41FA5}">
                      <a16:colId xmlns:a16="http://schemas.microsoft.com/office/drawing/2014/main" val="3038050475"/>
                    </a:ext>
                  </a:extLst>
                </a:gridCol>
                <a:gridCol w="398580">
                  <a:extLst>
                    <a:ext uri="{9D8B030D-6E8A-4147-A177-3AD203B41FA5}">
                      <a16:colId xmlns:a16="http://schemas.microsoft.com/office/drawing/2014/main" val="1979433044"/>
                    </a:ext>
                  </a:extLst>
                </a:gridCol>
                <a:gridCol w="398580">
                  <a:extLst>
                    <a:ext uri="{9D8B030D-6E8A-4147-A177-3AD203B41FA5}">
                      <a16:colId xmlns:a16="http://schemas.microsoft.com/office/drawing/2014/main" val="4270661649"/>
                    </a:ext>
                  </a:extLst>
                </a:gridCol>
                <a:gridCol w="398580">
                  <a:extLst>
                    <a:ext uri="{9D8B030D-6E8A-4147-A177-3AD203B41FA5}">
                      <a16:colId xmlns:a16="http://schemas.microsoft.com/office/drawing/2014/main" val="3027041370"/>
                    </a:ext>
                  </a:extLst>
                </a:gridCol>
                <a:gridCol w="398580">
                  <a:extLst>
                    <a:ext uri="{9D8B030D-6E8A-4147-A177-3AD203B41FA5}">
                      <a16:colId xmlns:a16="http://schemas.microsoft.com/office/drawing/2014/main" val="2852526216"/>
                    </a:ext>
                  </a:extLst>
                </a:gridCol>
                <a:gridCol w="398580">
                  <a:extLst>
                    <a:ext uri="{9D8B030D-6E8A-4147-A177-3AD203B41FA5}">
                      <a16:colId xmlns:a16="http://schemas.microsoft.com/office/drawing/2014/main" val="103420222"/>
                    </a:ext>
                  </a:extLst>
                </a:gridCol>
                <a:gridCol w="398580">
                  <a:extLst>
                    <a:ext uri="{9D8B030D-6E8A-4147-A177-3AD203B41FA5}">
                      <a16:colId xmlns:a16="http://schemas.microsoft.com/office/drawing/2014/main" val="1470405609"/>
                    </a:ext>
                  </a:extLst>
                </a:gridCol>
                <a:gridCol w="36806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DELAY_CH10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50388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표 11">
            <a:extLst>
              <a:ext uri="{FF2B5EF4-FFF2-40B4-BE49-F238E27FC236}">
                <a16:creationId xmlns:a16="http://schemas.microsoft.com/office/drawing/2014/main" id="{E4E2988D-D876-886B-F1C6-2A26A4476198}"/>
              </a:ext>
            </a:extLst>
          </p:cNvPr>
          <p:cNvGraphicFramePr>
            <a:graphicFrameLocks noGrp="1"/>
          </p:cNvGraphicFramePr>
          <p:nvPr>
            <p:extLst>
              <p:ext uri="{D42A27DB-BD31-4B8C-83A1-F6EECF244321}">
                <p14:modId xmlns:p14="http://schemas.microsoft.com/office/powerpoint/2010/main" val="442717152"/>
              </p:ext>
            </p:extLst>
          </p:nvPr>
        </p:nvGraphicFramePr>
        <p:xfrm>
          <a:off x="382229" y="5803865"/>
          <a:ext cx="6075482" cy="372600"/>
        </p:xfrm>
        <a:graphic>
          <a:graphicData uri="http://schemas.openxmlformats.org/drawingml/2006/table">
            <a:tbl>
              <a:tblPr firstRow="1" bandRow="1">
                <a:tableStyleId>{5C22544A-7EE6-4342-B048-85BDC9FD1C3A}</a:tableStyleId>
              </a:tblPr>
              <a:tblGrid>
                <a:gridCol w="290263">
                  <a:extLst>
                    <a:ext uri="{9D8B030D-6E8A-4147-A177-3AD203B41FA5}">
                      <a16:colId xmlns:a16="http://schemas.microsoft.com/office/drawing/2014/main" val="657570846"/>
                    </a:ext>
                  </a:extLst>
                </a:gridCol>
                <a:gridCol w="339675">
                  <a:extLst>
                    <a:ext uri="{9D8B030D-6E8A-4147-A177-3AD203B41FA5}">
                      <a16:colId xmlns:a16="http://schemas.microsoft.com/office/drawing/2014/main" val="3259894497"/>
                    </a:ext>
                  </a:extLst>
                </a:gridCol>
                <a:gridCol w="455539">
                  <a:extLst>
                    <a:ext uri="{9D8B030D-6E8A-4147-A177-3AD203B41FA5}">
                      <a16:colId xmlns:a16="http://schemas.microsoft.com/office/drawing/2014/main" val="4170535043"/>
                    </a:ext>
                  </a:extLst>
                </a:gridCol>
                <a:gridCol w="420494">
                  <a:extLst>
                    <a:ext uri="{9D8B030D-6E8A-4147-A177-3AD203B41FA5}">
                      <a16:colId xmlns:a16="http://schemas.microsoft.com/office/drawing/2014/main" val="2079070694"/>
                    </a:ext>
                  </a:extLst>
                </a:gridCol>
                <a:gridCol w="420494">
                  <a:extLst>
                    <a:ext uri="{9D8B030D-6E8A-4147-A177-3AD203B41FA5}">
                      <a16:colId xmlns:a16="http://schemas.microsoft.com/office/drawing/2014/main" val="4213315911"/>
                    </a:ext>
                  </a:extLst>
                </a:gridCol>
                <a:gridCol w="420494">
                  <a:extLst>
                    <a:ext uri="{9D8B030D-6E8A-4147-A177-3AD203B41FA5}">
                      <a16:colId xmlns:a16="http://schemas.microsoft.com/office/drawing/2014/main" val="2769999950"/>
                    </a:ext>
                  </a:extLst>
                </a:gridCol>
                <a:gridCol w="420494">
                  <a:extLst>
                    <a:ext uri="{9D8B030D-6E8A-4147-A177-3AD203B41FA5}">
                      <a16:colId xmlns:a16="http://schemas.microsoft.com/office/drawing/2014/main" val="135637185"/>
                    </a:ext>
                  </a:extLst>
                </a:gridCol>
                <a:gridCol w="420494">
                  <a:extLst>
                    <a:ext uri="{9D8B030D-6E8A-4147-A177-3AD203B41FA5}">
                      <a16:colId xmlns:a16="http://schemas.microsoft.com/office/drawing/2014/main" val="3038050475"/>
                    </a:ext>
                  </a:extLst>
                </a:gridCol>
                <a:gridCol w="420494">
                  <a:extLst>
                    <a:ext uri="{9D8B030D-6E8A-4147-A177-3AD203B41FA5}">
                      <a16:colId xmlns:a16="http://schemas.microsoft.com/office/drawing/2014/main" val="1979433044"/>
                    </a:ext>
                  </a:extLst>
                </a:gridCol>
                <a:gridCol w="420494">
                  <a:extLst>
                    <a:ext uri="{9D8B030D-6E8A-4147-A177-3AD203B41FA5}">
                      <a16:colId xmlns:a16="http://schemas.microsoft.com/office/drawing/2014/main" val="4270661649"/>
                    </a:ext>
                  </a:extLst>
                </a:gridCol>
                <a:gridCol w="420494">
                  <a:extLst>
                    <a:ext uri="{9D8B030D-6E8A-4147-A177-3AD203B41FA5}">
                      <a16:colId xmlns:a16="http://schemas.microsoft.com/office/drawing/2014/main" val="3027041370"/>
                    </a:ext>
                  </a:extLst>
                </a:gridCol>
                <a:gridCol w="411062">
                  <a:extLst>
                    <a:ext uri="{9D8B030D-6E8A-4147-A177-3AD203B41FA5}">
                      <a16:colId xmlns:a16="http://schemas.microsoft.com/office/drawing/2014/main" val="2852526216"/>
                    </a:ext>
                  </a:extLst>
                </a:gridCol>
                <a:gridCol w="411062">
                  <a:extLst>
                    <a:ext uri="{9D8B030D-6E8A-4147-A177-3AD203B41FA5}">
                      <a16:colId xmlns:a16="http://schemas.microsoft.com/office/drawing/2014/main" val="103420222"/>
                    </a:ext>
                  </a:extLst>
                </a:gridCol>
                <a:gridCol w="411062">
                  <a:extLst>
                    <a:ext uri="{9D8B030D-6E8A-4147-A177-3AD203B41FA5}">
                      <a16:colId xmlns:a16="http://schemas.microsoft.com/office/drawing/2014/main" val="1470405609"/>
                    </a:ext>
                  </a:extLst>
                </a:gridCol>
                <a:gridCol w="39286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0x848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ICTL_GLB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BGR_CTL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404942" y="845342"/>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DELAY_CH11</a:t>
            </a:r>
          </a:p>
        </p:txBody>
      </p:sp>
      <p:sp>
        <p:nvSpPr>
          <p:cNvPr id="2" name="TextBox 1">
            <a:extLst>
              <a:ext uri="{FF2B5EF4-FFF2-40B4-BE49-F238E27FC236}">
                <a16:creationId xmlns:a16="http://schemas.microsoft.com/office/drawing/2014/main" id="{6CA0F4EB-B7D5-FA81-AA07-5A8734351879}"/>
              </a:ext>
            </a:extLst>
          </p:cNvPr>
          <p:cNvSpPr txBox="1"/>
          <p:nvPr/>
        </p:nvSpPr>
        <p:spPr>
          <a:xfrm>
            <a:off x="404943" y="1578166"/>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DELAY_CH12</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865674041"/>
              </p:ext>
            </p:extLst>
          </p:nvPr>
        </p:nvGraphicFramePr>
        <p:xfrm>
          <a:off x="386687" y="2249791"/>
          <a:ext cx="6068088" cy="784345"/>
        </p:xfrm>
        <a:graphic>
          <a:graphicData uri="http://schemas.openxmlformats.org/drawingml/2006/table">
            <a:tbl>
              <a:tblPr firstRow="1" bandRow="1">
                <a:tableStyleId>{5C22544A-7EE6-4342-B048-85BDC9FD1C3A}</a:tableStyleId>
              </a:tblPr>
              <a:tblGrid>
                <a:gridCol w="440867">
                  <a:extLst>
                    <a:ext uri="{9D8B030D-6E8A-4147-A177-3AD203B41FA5}">
                      <a16:colId xmlns:a16="http://schemas.microsoft.com/office/drawing/2014/main" val="4170535043"/>
                    </a:ext>
                  </a:extLst>
                </a:gridCol>
                <a:gridCol w="1047599">
                  <a:extLst>
                    <a:ext uri="{9D8B030D-6E8A-4147-A177-3AD203B41FA5}">
                      <a16:colId xmlns:a16="http://schemas.microsoft.com/office/drawing/2014/main" val="2079070694"/>
                    </a:ext>
                  </a:extLst>
                </a:gridCol>
                <a:gridCol w="4579622">
                  <a:extLst>
                    <a:ext uri="{9D8B030D-6E8A-4147-A177-3AD203B41FA5}">
                      <a16:colId xmlns:a16="http://schemas.microsoft.com/office/drawing/2014/main" val="32595803"/>
                    </a:ext>
                  </a:extLst>
                </a:gridCol>
              </a:tblGrid>
              <a:tr h="300865">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sub-frame to start dimming out.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sub-vsync. Normally, the value can not exceed the (SF_SIZE-1) value. For more details, refer to the Figure. 6,7,8,9.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399454" y="3284785"/>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CLOCK GEN</a:t>
            </a:r>
          </a:p>
        </p:txBody>
      </p:sp>
      <p:sp>
        <p:nvSpPr>
          <p:cNvPr id="10" name="TextBox 9">
            <a:extLst>
              <a:ext uri="{FF2B5EF4-FFF2-40B4-BE49-F238E27FC236}">
                <a16:creationId xmlns:a16="http://schemas.microsoft.com/office/drawing/2014/main" id="{EAEED484-96C9-A12A-5DB3-D85F7CC0667C}"/>
              </a:ext>
            </a:extLst>
          </p:cNvPr>
          <p:cNvSpPr txBox="1"/>
          <p:nvPr/>
        </p:nvSpPr>
        <p:spPr>
          <a:xfrm>
            <a:off x="377771" y="5527298"/>
            <a:ext cx="608439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3973791063"/>
              </p:ext>
            </p:extLst>
          </p:nvPr>
        </p:nvGraphicFramePr>
        <p:xfrm>
          <a:off x="377907" y="3956065"/>
          <a:ext cx="6075460" cy="1296478"/>
        </p:xfrm>
        <a:graphic>
          <a:graphicData uri="http://schemas.openxmlformats.org/drawingml/2006/table">
            <a:tbl>
              <a:tblPr firstRow="1" bandRow="1">
                <a:tableStyleId>{5C22544A-7EE6-4342-B048-85BDC9FD1C3A}</a:tableStyleId>
              </a:tblPr>
              <a:tblGrid>
                <a:gridCol w="437794">
                  <a:extLst>
                    <a:ext uri="{9D8B030D-6E8A-4147-A177-3AD203B41FA5}">
                      <a16:colId xmlns:a16="http://schemas.microsoft.com/office/drawing/2014/main" val="4170535043"/>
                    </a:ext>
                  </a:extLst>
                </a:gridCol>
                <a:gridCol w="1147151">
                  <a:extLst>
                    <a:ext uri="{9D8B030D-6E8A-4147-A177-3AD203B41FA5}">
                      <a16:colId xmlns:a16="http://schemas.microsoft.com/office/drawing/2014/main" val="2079070694"/>
                    </a:ext>
                  </a:extLst>
                </a:gridCol>
                <a:gridCol w="4490515">
                  <a:extLst>
                    <a:ext uri="{9D8B030D-6E8A-4147-A177-3AD203B41FA5}">
                      <a16:colId xmlns:a16="http://schemas.microsoft.com/office/drawing/2014/main" val="32595803"/>
                    </a:ext>
                  </a:extLst>
                </a:gridCol>
              </a:tblGrid>
              <a:tr h="31290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000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zero level in logic high value ‘1’ when the XD12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3199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zero level in logic low value ‘0’ when the XD12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sp>
        <p:nvSpPr>
          <p:cNvPr id="3" name="TextBox 2">
            <a:extLst>
              <a:ext uri="{FF2B5EF4-FFF2-40B4-BE49-F238E27FC236}">
                <a16:creationId xmlns:a16="http://schemas.microsoft.com/office/drawing/2014/main" id="{CB8E3383-A088-65C2-BEE7-7447F233C5DB}"/>
              </a:ext>
            </a:extLst>
          </p:cNvPr>
          <p:cNvSpPr txBox="1"/>
          <p:nvPr/>
        </p:nvSpPr>
        <p:spPr>
          <a:xfrm>
            <a:off x="377771" y="6964181"/>
            <a:ext cx="60754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DCLK PERIOD</a:t>
            </a:r>
          </a:p>
        </p:txBody>
      </p:sp>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928476345"/>
              </p:ext>
            </p:extLst>
          </p:nvPr>
        </p:nvGraphicFramePr>
        <p:xfrm>
          <a:off x="386687" y="1110958"/>
          <a:ext cx="6075480" cy="372600"/>
        </p:xfrm>
        <a:graphic>
          <a:graphicData uri="http://schemas.openxmlformats.org/drawingml/2006/table">
            <a:tbl>
              <a:tblPr firstRow="1" bandRow="1">
                <a:tableStyleId>{5C22544A-7EE6-4342-B048-85BDC9FD1C3A}</a:tableStyleId>
              </a:tblPr>
              <a:tblGrid>
                <a:gridCol w="299969">
                  <a:extLst>
                    <a:ext uri="{9D8B030D-6E8A-4147-A177-3AD203B41FA5}">
                      <a16:colId xmlns:a16="http://schemas.microsoft.com/office/drawing/2014/main" val="657570846"/>
                    </a:ext>
                  </a:extLst>
                </a:gridCol>
                <a:gridCol w="351033">
                  <a:extLst>
                    <a:ext uri="{9D8B030D-6E8A-4147-A177-3AD203B41FA5}">
                      <a16:colId xmlns:a16="http://schemas.microsoft.com/office/drawing/2014/main" val="3259894497"/>
                    </a:ext>
                  </a:extLst>
                </a:gridCol>
                <a:gridCol w="470771">
                  <a:extLst>
                    <a:ext uri="{9D8B030D-6E8A-4147-A177-3AD203B41FA5}">
                      <a16:colId xmlns:a16="http://schemas.microsoft.com/office/drawing/2014/main" val="4170535043"/>
                    </a:ext>
                  </a:extLst>
                </a:gridCol>
                <a:gridCol w="432195">
                  <a:extLst>
                    <a:ext uri="{9D8B030D-6E8A-4147-A177-3AD203B41FA5}">
                      <a16:colId xmlns:a16="http://schemas.microsoft.com/office/drawing/2014/main" val="2079070694"/>
                    </a:ext>
                  </a:extLst>
                </a:gridCol>
                <a:gridCol w="423021">
                  <a:extLst>
                    <a:ext uri="{9D8B030D-6E8A-4147-A177-3AD203B41FA5}">
                      <a16:colId xmlns:a16="http://schemas.microsoft.com/office/drawing/2014/main" val="4213315911"/>
                    </a:ext>
                  </a:extLst>
                </a:gridCol>
                <a:gridCol w="457454">
                  <a:extLst>
                    <a:ext uri="{9D8B030D-6E8A-4147-A177-3AD203B41FA5}">
                      <a16:colId xmlns:a16="http://schemas.microsoft.com/office/drawing/2014/main" val="2769999950"/>
                    </a:ext>
                  </a:extLst>
                </a:gridCol>
                <a:gridCol w="483124">
                  <a:extLst>
                    <a:ext uri="{9D8B030D-6E8A-4147-A177-3AD203B41FA5}">
                      <a16:colId xmlns:a16="http://schemas.microsoft.com/office/drawing/2014/main" val="135637185"/>
                    </a:ext>
                  </a:extLst>
                </a:gridCol>
                <a:gridCol w="398553">
                  <a:extLst>
                    <a:ext uri="{9D8B030D-6E8A-4147-A177-3AD203B41FA5}">
                      <a16:colId xmlns:a16="http://schemas.microsoft.com/office/drawing/2014/main" val="3038050475"/>
                    </a:ext>
                  </a:extLst>
                </a:gridCol>
                <a:gridCol w="398553">
                  <a:extLst>
                    <a:ext uri="{9D8B030D-6E8A-4147-A177-3AD203B41FA5}">
                      <a16:colId xmlns:a16="http://schemas.microsoft.com/office/drawing/2014/main" val="1979433044"/>
                    </a:ext>
                  </a:extLst>
                </a:gridCol>
                <a:gridCol w="398553">
                  <a:extLst>
                    <a:ext uri="{9D8B030D-6E8A-4147-A177-3AD203B41FA5}">
                      <a16:colId xmlns:a16="http://schemas.microsoft.com/office/drawing/2014/main" val="4270661649"/>
                    </a:ext>
                  </a:extLst>
                </a:gridCol>
                <a:gridCol w="398553">
                  <a:extLst>
                    <a:ext uri="{9D8B030D-6E8A-4147-A177-3AD203B41FA5}">
                      <a16:colId xmlns:a16="http://schemas.microsoft.com/office/drawing/2014/main" val="3027041370"/>
                    </a:ext>
                  </a:extLst>
                </a:gridCol>
                <a:gridCol w="398553">
                  <a:extLst>
                    <a:ext uri="{9D8B030D-6E8A-4147-A177-3AD203B41FA5}">
                      <a16:colId xmlns:a16="http://schemas.microsoft.com/office/drawing/2014/main" val="2852526216"/>
                    </a:ext>
                  </a:extLst>
                </a:gridCol>
                <a:gridCol w="398553">
                  <a:extLst>
                    <a:ext uri="{9D8B030D-6E8A-4147-A177-3AD203B41FA5}">
                      <a16:colId xmlns:a16="http://schemas.microsoft.com/office/drawing/2014/main" val="103420222"/>
                    </a:ext>
                  </a:extLst>
                </a:gridCol>
                <a:gridCol w="398553">
                  <a:extLst>
                    <a:ext uri="{9D8B030D-6E8A-4147-A177-3AD203B41FA5}">
                      <a16:colId xmlns:a16="http://schemas.microsoft.com/office/drawing/2014/main" val="1470405609"/>
                    </a:ext>
                  </a:extLst>
                </a:gridCol>
                <a:gridCol w="3680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DELAY_CH11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1073773647"/>
              </p:ext>
            </p:extLst>
          </p:nvPr>
        </p:nvGraphicFramePr>
        <p:xfrm>
          <a:off x="386687" y="1842126"/>
          <a:ext cx="6066680" cy="372600"/>
        </p:xfrm>
        <a:graphic>
          <a:graphicData uri="http://schemas.openxmlformats.org/drawingml/2006/table">
            <a:tbl>
              <a:tblPr firstRow="1" bandRow="1">
                <a:tableStyleId>{5C22544A-7EE6-4342-B048-85BDC9FD1C3A}</a:tableStyleId>
              </a:tblPr>
              <a:tblGrid>
                <a:gridCol w="299534">
                  <a:extLst>
                    <a:ext uri="{9D8B030D-6E8A-4147-A177-3AD203B41FA5}">
                      <a16:colId xmlns:a16="http://schemas.microsoft.com/office/drawing/2014/main" val="657570846"/>
                    </a:ext>
                  </a:extLst>
                </a:gridCol>
                <a:gridCol w="350524">
                  <a:extLst>
                    <a:ext uri="{9D8B030D-6E8A-4147-A177-3AD203B41FA5}">
                      <a16:colId xmlns:a16="http://schemas.microsoft.com/office/drawing/2014/main" val="3259894497"/>
                    </a:ext>
                  </a:extLst>
                </a:gridCol>
                <a:gridCol w="470089">
                  <a:extLst>
                    <a:ext uri="{9D8B030D-6E8A-4147-A177-3AD203B41FA5}">
                      <a16:colId xmlns:a16="http://schemas.microsoft.com/office/drawing/2014/main" val="4170535043"/>
                    </a:ext>
                  </a:extLst>
                </a:gridCol>
                <a:gridCol w="416833">
                  <a:extLst>
                    <a:ext uri="{9D8B030D-6E8A-4147-A177-3AD203B41FA5}">
                      <a16:colId xmlns:a16="http://schemas.microsoft.com/office/drawing/2014/main" val="2079070694"/>
                    </a:ext>
                  </a:extLst>
                </a:gridCol>
                <a:gridCol w="432232">
                  <a:extLst>
                    <a:ext uri="{9D8B030D-6E8A-4147-A177-3AD203B41FA5}">
                      <a16:colId xmlns:a16="http://schemas.microsoft.com/office/drawing/2014/main" val="4213315911"/>
                    </a:ext>
                  </a:extLst>
                </a:gridCol>
                <a:gridCol w="456791">
                  <a:extLst>
                    <a:ext uri="{9D8B030D-6E8A-4147-A177-3AD203B41FA5}">
                      <a16:colId xmlns:a16="http://schemas.microsoft.com/office/drawing/2014/main" val="2769999950"/>
                    </a:ext>
                  </a:extLst>
                </a:gridCol>
                <a:gridCol w="487336">
                  <a:extLst>
                    <a:ext uri="{9D8B030D-6E8A-4147-A177-3AD203B41FA5}">
                      <a16:colId xmlns:a16="http://schemas.microsoft.com/office/drawing/2014/main" val="135637185"/>
                    </a:ext>
                  </a:extLst>
                </a:gridCol>
                <a:gridCol w="397976">
                  <a:extLst>
                    <a:ext uri="{9D8B030D-6E8A-4147-A177-3AD203B41FA5}">
                      <a16:colId xmlns:a16="http://schemas.microsoft.com/office/drawing/2014/main" val="3038050475"/>
                    </a:ext>
                  </a:extLst>
                </a:gridCol>
                <a:gridCol w="397976">
                  <a:extLst>
                    <a:ext uri="{9D8B030D-6E8A-4147-A177-3AD203B41FA5}">
                      <a16:colId xmlns:a16="http://schemas.microsoft.com/office/drawing/2014/main" val="1979433044"/>
                    </a:ext>
                  </a:extLst>
                </a:gridCol>
                <a:gridCol w="397976">
                  <a:extLst>
                    <a:ext uri="{9D8B030D-6E8A-4147-A177-3AD203B41FA5}">
                      <a16:colId xmlns:a16="http://schemas.microsoft.com/office/drawing/2014/main" val="4270661649"/>
                    </a:ext>
                  </a:extLst>
                </a:gridCol>
                <a:gridCol w="397976">
                  <a:extLst>
                    <a:ext uri="{9D8B030D-6E8A-4147-A177-3AD203B41FA5}">
                      <a16:colId xmlns:a16="http://schemas.microsoft.com/office/drawing/2014/main" val="3027041370"/>
                    </a:ext>
                  </a:extLst>
                </a:gridCol>
                <a:gridCol w="397976">
                  <a:extLst>
                    <a:ext uri="{9D8B030D-6E8A-4147-A177-3AD203B41FA5}">
                      <a16:colId xmlns:a16="http://schemas.microsoft.com/office/drawing/2014/main" val="2852526216"/>
                    </a:ext>
                  </a:extLst>
                </a:gridCol>
                <a:gridCol w="397976">
                  <a:extLst>
                    <a:ext uri="{9D8B030D-6E8A-4147-A177-3AD203B41FA5}">
                      <a16:colId xmlns:a16="http://schemas.microsoft.com/office/drawing/2014/main" val="103420222"/>
                    </a:ext>
                  </a:extLst>
                </a:gridCol>
                <a:gridCol w="397976">
                  <a:extLst>
                    <a:ext uri="{9D8B030D-6E8A-4147-A177-3AD203B41FA5}">
                      <a16:colId xmlns:a16="http://schemas.microsoft.com/office/drawing/2014/main" val="1470405609"/>
                    </a:ext>
                  </a:extLst>
                </a:gridCol>
                <a:gridCol w="36750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DELAY_CH12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4" name="표 23">
            <a:extLst>
              <a:ext uri="{FF2B5EF4-FFF2-40B4-BE49-F238E27FC236}">
                <a16:creationId xmlns:a16="http://schemas.microsoft.com/office/drawing/2014/main" id="{7E765DDB-2D6C-889C-799F-1747514EB4E4}"/>
              </a:ext>
            </a:extLst>
          </p:cNvPr>
          <p:cNvGraphicFramePr>
            <a:graphicFrameLocks noGrp="1"/>
          </p:cNvGraphicFramePr>
          <p:nvPr>
            <p:extLst>
              <p:ext uri="{D42A27DB-BD31-4B8C-83A1-F6EECF244321}">
                <p14:modId xmlns:p14="http://schemas.microsoft.com/office/powerpoint/2010/main" val="2324886524"/>
              </p:ext>
            </p:extLst>
          </p:nvPr>
        </p:nvGraphicFramePr>
        <p:xfrm>
          <a:off x="386687" y="7227533"/>
          <a:ext cx="6075485" cy="372600"/>
        </p:xfrm>
        <a:graphic>
          <a:graphicData uri="http://schemas.openxmlformats.org/drawingml/2006/table">
            <a:tbl>
              <a:tblPr firstRow="1" bandRow="1">
                <a:tableStyleId>{5C22544A-7EE6-4342-B048-85BDC9FD1C3A}</a:tableStyleId>
              </a:tblPr>
              <a:tblGrid>
                <a:gridCol w="282310">
                  <a:extLst>
                    <a:ext uri="{9D8B030D-6E8A-4147-A177-3AD203B41FA5}">
                      <a16:colId xmlns:a16="http://schemas.microsoft.com/office/drawing/2014/main" val="657570846"/>
                    </a:ext>
                  </a:extLst>
                </a:gridCol>
                <a:gridCol w="330368">
                  <a:extLst>
                    <a:ext uri="{9D8B030D-6E8A-4147-A177-3AD203B41FA5}">
                      <a16:colId xmlns:a16="http://schemas.microsoft.com/office/drawing/2014/main" val="3259894497"/>
                    </a:ext>
                  </a:extLst>
                </a:gridCol>
                <a:gridCol w="424568">
                  <a:extLst>
                    <a:ext uri="{9D8B030D-6E8A-4147-A177-3AD203B41FA5}">
                      <a16:colId xmlns:a16="http://schemas.microsoft.com/office/drawing/2014/main" val="4170535043"/>
                    </a:ext>
                  </a:extLst>
                </a:gridCol>
                <a:gridCol w="593925">
                  <a:extLst>
                    <a:ext uri="{9D8B030D-6E8A-4147-A177-3AD203B41FA5}">
                      <a16:colId xmlns:a16="http://schemas.microsoft.com/office/drawing/2014/main" val="2079070694"/>
                    </a:ext>
                  </a:extLst>
                </a:gridCol>
                <a:gridCol w="408973">
                  <a:extLst>
                    <a:ext uri="{9D8B030D-6E8A-4147-A177-3AD203B41FA5}">
                      <a16:colId xmlns:a16="http://schemas.microsoft.com/office/drawing/2014/main" val="4213315911"/>
                    </a:ext>
                  </a:extLst>
                </a:gridCol>
                <a:gridCol w="408973">
                  <a:extLst>
                    <a:ext uri="{9D8B030D-6E8A-4147-A177-3AD203B41FA5}">
                      <a16:colId xmlns:a16="http://schemas.microsoft.com/office/drawing/2014/main" val="2769999950"/>
                    </a:ext>
                  </a:extLst>
                </a:gridCol>
                <a:gridCol w="408973">
                  <a:extLst>
                    <a:ext uri="{9D8B030D-6E8A-4147-A177-3AD203B41FA5}">
                      <a16:colId xmlns:a16="http://schemas.microsoft.com/office/drawing/2014/main" val="135637185"/>
                    </a:ext>
                  </a:extLst>
                </a:gridCol>
                <a:gridCol w="408973">
                  <a:extLst>
                    <a:ext uri="{9D8B030D-6E8A-4147-A177-3AD203B41FA5}">
                      <a16:colId xmlns:a16="http://schemas.microsoft.com/office/drawing/2014/main" val="3038050475"/>
                    </a:ext>
                  </a:extLst>
                </a:gridCol>
                <a:gridCol w="408973">
                  <a:extLst>
                    <a:ext uri="{9D8B030D-6E8A-4147-A177-3AD203B41FA5}">
                      <a16:colId xmlns:a16="http://schemas.microsoft.com/office/drawing/2014/main" val="1979433044"/>
                    </a:ext>
                  </a:extLst>
                </a:gridCol>
                <a:gridCol w="408973">
                  <a:extLst>
                    <a:ext uri="{9D8B030D-6E8A-4147-A177-3AD203B41FA5}">
                      <a16:colId xmlns:a16="http://schemas.microsoft.com/office/drawing/2014/main" val="4270661649"/>
                    </a:ext>
                  </a:extLst>
                </a:gridCol>
                <a:gridCol w="408973">
                  <a:extLst>
                    <a:ext uri="{9D8B030D-6E8A-4147-A177-3AD203B41FA5}">
                      <a16:colId xmlns:a16="http://schemas.microsoft.com/office/drawing/2014/main" val="3027041370"/>
                    </a:ext>
                  </a:extLst>
                </a:gridCol>
                <a:gridCol w="399800">
                  <a:extLst>
                    <a:ext uri="{9D8B030D-6E8A-4147-A177-3AD203B41FA5}">
                      <a16:colId xmlns:a16="http://schemas.microsoft.com/office/drawing/2014/main" val="2852526216"/>
                    </a:ext>
                  </a:extLst>
                </a:gridCol>
                <a:gridCol w="399800">
                  <a:extLst>
                    <a:ext uri="{9D8B030D-6E8A-4147-A177-3AD203B41FA5}">
                      <a16:colId xmlns:a16="http://schemas.microsoft.com/office/drawing/2014/main" val="103420222"/>
                    </a:ext>
                  </a:extLst>
                </a:gridCol>
                <a:gridCol w="399800">
                  <a:extLst>
                    <a:ext uri="{9D8B030D-6E8A-4147-A177-3AD203B41FA5}">
                      <a16:colId xmlns:a16="http://schemas.microsoft.com/office/drawing/2014/main" val="1470405609"/>
                    </a:ext>
                  </a:extLst>
                </a:gridCol>
                <a:gridCol w="38210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DCLK_RST_E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DCLK_PERIOD [9:0]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5" name="표 4">
            <a:extLst>
              <a:ext uri="{FF2B5EF4-FFF2-40B4-BE49-F238E27FC236}">
                <a16:creationId xmlns:a16="http://schemas.microsoft.com/office/drawing/2014/main" id="{B13AB831-E474-2674-9CE6-6FE19C852BFF}"/>
              </a:ext>
            </a:extLst>
          </p:cNvPr>
          <p:cNvGraphicFramePr>
            <a:graphicFrameLocks noGrp="1"/>
          </p:cNvGraphicFramePr>
          <p:nvPr>
            <p:extLst>
              <p:ext uri="{D42A27DB-BD31-4B8C-83A1-F6EECF244321}">
                <p14:modId xmlns:p14="http://schemas.microsoft.com/office/powerpoint/2010/main" val="2545866629"/>
              </p:ext>
            </p:extLst>
          </p:nvPr>
        </p:nvGraphicFramePr>
        <p:xfrm>
          <a:off x="382229" y="3548399"/>
          <a:ext cx="6075482" cy="372600"/>
        </p:xfrm>
        <a:graphic>
          <a:graphicData uri="http://schemas.openxmlformats.org/drawingml/2006/table">
            <a:tbl>
              <a:tblPr firstRow="1" bandRow="1">
                <a:tableStyleId>{5C22544A-7EE6-4342-B048-85BDC9FD1C3A}</a:tableStyleId>
              </a:tblPr>
              <a:tblGrid>
                <a:gridCol w="290263">
                  <a:extLst>
                    <a:ext uri="{9D8B030D-6E8A-4147-A177-3AD203B41FA5}">
                      <a16:colId xmlns:a16="http://schemas.microsoft.com/office/drawing/2014/main" val="657570846"/>
                    </a:ext>
                  </a:extLst>
                </a:gridCol>
                <a:gridCol w="339675">
                  <a:extLst>
                    <a:ext uri="{9D8B030D-6E8A-4147-A177-3AD203B41FA5}">
                      <a16:colId xmlns:a16="http://schemas.microsoft.com/office/drawing/2014/main" val="3259894497"/>
                    </a:ext>
                  </a:extLst>
                </a:gridCol>
                <a:gridCol w="455539">
                  <a:extLst>
                    <a:ext uri="{9D8B030D-6E8A-4147-A177-3AD203B41FA5}">
                      <a16:colId xmlns:a16="http://schemas.microsoft.com/office/drawing/2014/main" val="4170535043"/>
                    </a:ext>
                  </a:extLst>
                </a:gridCol>
                <a:gridCol w="420494">
                  <a:extLst>
                    <a:ext uri="{9D8B030D-6E8A-4147-A177-3AD203B41FA5}">
                      <a16:colId xmlns:a16="http://schemas.microsoft.com/office/drawing/2014/main" val="2079070694"/>
                    </a:ext>
                  </a:extLst>
                </a:gridCol>
                <a:gridCol w="420494">
                  <a:extLst>
                    <a:ext uri="{9D8B030D-6E8A-4147-A177-3AD203B41FA5}">
                      <a16:colId xmlns:a16="http://schemas.microsoft.com/office/drawing/2014/main" val="4213315911"/>
                    </a:ext>
                  </a:extLst>
                </a:gridCol>
                <a:gridCol w="420494">
                  <a:extLst>
                    <a:ext uri="{9D8B030D-6E8A-4147-A177-3AD203B41FA5}">
                      <a16:colId xmlns:a16="http://schemas.microsoft.com/office/drawing/2014/main" val="2769999950"/>
                    </a:ext>
                  </a:extLst>
                </a:gridCol>
                <a:gridCol w="420494">
                  <a:extLst>
                    <a:ext uri="{9D8B030D-6E8A-4147-A177-3AD203B41FA5}">
                      <a16:colId xmlns:a16="http://schemas.microsoft.com/office/drawing/2014/main" val="135637185"/>
                    </a:ext>
                  </a:extLst>
                </a:gridCol>
                <a:gridCol w="420494">
                  <a:extLst>
                    <a:ext uri="{9D8B030D-6E8A-4147-A177-3AD203B41FA5}">
                      <a16:colId xmlns:a16="http://schemas.microsoft.com/office/drawing/2014/main" val="3038050475"/>
                    </a:ext>
                  </a:extLst>
                </a:gridCol>
                <a:gridCol w="420494">
                  <a:extLst>
                    <a:ext uri="{9D8B030D-6E8A-4147-A177-3AD203B41FA5}">
                      <a16:colId xmlns:a16="http://schemas.microsoft.com/office/drawing/2014/main" val="1979433044"/>
                    </a:ext>
                  </a:extLst>
                </a:gridCol>
                <a:gridCol w="420494">
                  <a:extLst>
                    <a:ext uri="{9D8B030D-6E8A-4147-A177-3AD203B41FA5}">
                      <a16:colId xmlns:a16="http://schemas.microsoft.com/office/drawing/2014/main" val="4270661649"/>
                    </a:ext>
                  </a:extLst>
                </a:gridCol>
                <a:gridCol w="420494">
                  <a:extLst>
                    <a:ext uri="{9D8B030D-6E8A-4147-A177-3AD203B41FA5}">
                      <a16:colId xmlns:a16="http://schemas.microsoft.com/office/drawing/2014/main" val="3027041370"/>
                    </a:ext>
                  </a:extLst>
                </a:gridCol>
                <a:gridCol w="411062">
                  <a:extLst>
                    <a:ext uri="{9D8B030D-6E8A-4147-A177-3AD203B41FA5}">
                      <a16:colId xmlns:a16="http://schemas.microsoft.com/office/drawing/2014/main" val="2852526216"/>
                    </a:ext>
                  </a:extLst>
                </a:gridCol>
                <a:gridCol w="411062">
                  <a:extLst>
                    <a:ext uri="{9D8B030D-6E8A-4147-A177-3AD203B41FA5}">
                      <a16:colId xmlns:a16="http://schemas.microsoft.com/office/drawing/2014/main" val="103420222"/>
                    </a:ext>
                  </a:extLst>
                </a:gridCol>
                <a:gridCol w="411062">
                  <a:extLst>
                    <a:ext uri="{9D8B030D-6E8A-4147-A177-3AD203B41FA5}">
                      <a16:colId xmlns:a16="http://schemas.microsoft.com/office/drawing/2014/main" val="1470405609"/>
                    </a:ext>
                  </a:extLst>
                </a:gridCol>
                <a:gridCol w="39286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[3:0]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[4:0]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B61058E0-349E-EE56-BBEE-21A44BFE4610}"/>
              </a:ext>
            </a:extLst>
          </p:cNvPr>
          <p:cNvGraphicFramePr>
            <a:graphicFrameLocks noGrp="1"/>
          </p:cNvGraphicFramePr>
          <p:nvPr>
            <p:extLst>
              <p:ext uri="{D42A27DB-BD31-4B8C-83A1-F6EECF244321}">
                <p14:modId xmlns:p14="http://schemas.microsoft.com/office/powerpoint/2010/main" val="3760870066"/>
              </p:ext>
            </p:extLst>
          </p:nvPr>
        </p:nvGraphicFramePr>
        <p:xfrm>
          <a:off x="377772" y="6211530"/>
          <a:ext cx="6084395" cy="507313"/>
        </p:xfrm>
        <a:graphic>
          <a:graphicData uri="http://schemas.openxmlformats.org/drawingml/2006/table">
            <a:tbl>
              <a:tblPr firstRow="1" bandRow="1">
                <a:tableStyleId>{5C22544A-7EE6-4342-B048-85BDC9FD1C3A}</a:tableStyleId>
              </a:tblPr>
              <a:tblGrid>
                <a:gridCol w="439749">
                  <a:extLst>
                    <a:ext uri="{9D8B030D-6E8A-4147-A177-3AD203B41FA5}">
                      <a16:colId xmlns:a16="http://schemas.microsoft.com/office/drawing/2014/main" val="4170535043"/>
                    </a:ext>
                  </a:extLst>
                </a:gridCol>
                <a:gridCol w="1152272">
                  <a:extLst>
                    <a:ext uri="{9D8B030D-6E8A-4147-A177-3AD203B41FA5}">
                      <a16:colId xmlns:a16="http://schemas.microsoft.com/office/drawing/2014/main" val="2079070694"/>
                    </a:ext>
                  </a:extLst>
                </a:gridCol>
                <a:gridCol w="4492374">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7819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0BA219F7-A8C1-3620-64F8-0F0774600D69}"/>
              </a:ext>
            </a:extLst>
          </p:cNvPr>
          <p:cNvGraphicFramePr>
            <a:graphicFrameLocks noGrp="1"/>
          </p:cNvGraphicFramePr>
          <p:nvPr>
            <p:extLst>
              <p:ext uri="{D42A27DB-BD31-4B8C-83A1-F6EECF244321}">
                <p14:modId xmlns:p14="http://schemas.microsoft.com/office/powerpoint/2010/main" val="2445794683"/>
              </p:ext>
            </p:extLst>
          </p:nvPr>
        </p:nvGraphicFramePr>
        <p:xfrm>
          <a:off x="386687" y="7638534"/>
          <a:ext cx="6084394" cy="1272280"/>
        </p:xfrm>
        <a:graphic>
          <a:graphicData uri="http://schemas.openxmlformats.org/drawingml/2006/table">
            <a:tbl>
              <a:tblPr firstRow="1" bandRow="1">
                <a:tableStyleId>{5C22544A-7EE6-4342-B048-85BDC9FD1C3A}</a:tableStyleId>
              </a:tblPr>
              <a:tblGrid>
                <a:gridCol w="439749">
                  <a:extLst>
                    <a:ext uri="{9D8B030D-6E8A-4147-A177-3AD203B41FA5}">
                      <a16:colId xmlns:a16="http://schemas.microsoft.com/office/drawing/2014/main" val="4170535043"/>
                    </a:ext>
                  </a:extLst>
                </a:gridCol>
                <a:gridCol w="1152272">
                  <a:extLst>
                    <a:ext uri="{9D8B030D-6E8A-4147-A177-3AD203B41FA5}">
                      <a16:colId xmlns:a16="http://schemas.microsoft.com/office/drawing/2014/main" val="2079070694"/>
                    </a:ext>
                  </a:extLst>
                </a:gridCol>
                <a:gridCol w="4492373">
                  <a:extLst>
                    <a:ext uri="{9D8B030D-6E8A-4147-A177-3AD203B41FA5}">
                      <a16:colId xmlns:a16="http://schemas.microsoft.com/office/drawing/2014/main" val="32595803"/>
                    </a:ext>
                  </a:extLst>
                </a:gridCol>
              </a:tblGrid>
              <a:tr h="30532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6485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DCLK_RST_E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this bit is set, the DCLK_PERIOD counter will be reset at every internal vsync. It is recommended to be set for expressing precise gradation at every frame sync.</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871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DCLK_PERIOD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kern="1200" dirty="0">
                          <a:solidFill>
                            <a:schemeClr val="dk1"/>
                          </a:solidFill>
                          <a:effectLst/>
                          <a:latin typeface="Arial" panose="020B0604020202020204" pitchFamily="34" charset="0"/>
                          <a:ea typeface="+mn-ea"/>
                          <a:cs typeface="Arial" panose="020B0604020202020204" pitchFamily="34" charset="0"/>
                        </a:rPr>
                        <a:t>An integer multiple </a:t>
                      </a:r>
                      <a:r>
                        <a:rPr lang="en-US" altLang="ko-KR" sz="900" b="0" i="0" kern="1200" dirty="0">
                          <a:solidFill>
                            <a:schemeClr val="dk1"/>
                          </a:solidFill>
                          <a:effectLst/>
                          <a:latin typeface="Arial" panose="020B0604020202020204" pitchFamily="34" charset="0"/>
                          <a:ea typeface="+mn-ea"/>
                          <a:cs typeface="Arial" panose="020B0604020202020204" pitchFamily="34" charset="0"/>
                        </a:rPr>
                        <a:t>of the DCLK_PERIOD must be equal to the SF_PERIOD. It is recommended to be set from 64 to 128 but depends on the system performance. Even if the SF_PERIOD value becomes different according to the frame period, it is better to select a value among 64 ~ 128 that can meet an integer multiple of the SF_PERIOD.</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7209862"/>
                  </a:ext>
                </a:extLst>
              </a:tr>
            </a:tbl>
          </a:graphicData>
        </a:graphic>
      </p:graphicFrame>
    </p:spTree>
    <p:extLst>
      <p:ext uri="{BB962C8B-B14F-4D97-AF65-F5344CB8AC3E}">
        <p14:creationId xmlns:p14="http://schemas.microsoft.com/office/powerpoint/2010/main" val="1749379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표 11">
            <a:extLst>
              <a:ext uri="{FF2B5EF4-FFF2-40B4-BE49-F238E27FC236}">
                <a16:creationId xmlns:a16="http://schemas.microsoft.com/office/drawing/2014/main" id="{E4E2988D-D876-886B-F1C6-2A26A4476198}"/>
              </a:ext>
            </a:extLst>
          </p:cNvPr>
          <p:cNvGraphicFramePr>
            <a:graphicFrameLocks noGrp="1"/>
          </p:cNvGraphicFramePr>
          <p:nvPr>
            <p:extLst>
              <p:ext uri="{D42A27DB-BD31-4B8C-83A1-F6EECF244321}">
                <p14:modId xmlns:p14="http://schemas.microsoft.com/office/powerpoint/2010/main" val="3223266264"/>
              </p:ext>
            </p:extLst>
          </p:nvPr>
        </p:nvGraphicFramePr>
        <p:xfrm>
          <a:off x="382228" y="6294884"/>
          <a:ext cx="6075482" cy="372600"/>
        </p:xfrm>
        <a:graphic>
          <a:graphicData uri="http://schemas.openxmlformats.org/drawingml/2006/table">
            <a:tbl>
              <a:tblPr firstRow="1" bandRow="1">
                <a:tableStyleId>{5C22544A-7EE6-4342-B048-85BDC9FD1C3A}</a:tableStyleId>
              </a:tblPr>
              <a:tblGrid>
                <a:gridCol w="290263">
                  <a:extLst>
                    <a:ext uri="{9D8B030D-6E8A-4147-A177-3AD203B41FA5}">
                      <a16:colId xmlns:a16="http://schemas.microsoft.com/office/drawing/2014/main" val="657570846"/>
                    </a:ext>
                  </a:extLst>
                </a:gridCol>
                <a:gridCol w="339675">
                  <a:extLst>
                    <a:ext uri="{9D8B030D-6E8A-4147-A177-3AD203B41FA5}">
                      <a16:colId xmlns:a16="http://schemas.microsoft.com/office/drawing/2014/main" val="3259894497"/>
                    </a:ext>
                  </a:extLst>
                </a:gridCol>
                <a:gridCol w="455539">
                  <a:extLst>
                    <a:ext uri="{9D8B030D-6E8A-4147-A177-3AD203B41FA5}">
                      <a16:colId xmlns:a16="http://schemas.microsoft.com/office/drawing/2014/main" val="4170535043"/>
                    </a:ext>
                  </a:extLst>
                </a:gridCol>
                <a:gridCol w="420494">
                  <a:extLst>
                    <a:ext uri="{9D8B030D-6E8A-4147-A177-3AD203B41FA5}">
                      <a16:colId xmlns:a16="http://schemas.microsoft.com/office/drawing/2014/main" val="2079070694"/>
                    </a:ext>
                  </a:extLst>
                </a:gridCol>
                <a:gridCol w="420494">
                  <a:extLst>
                    <a:ext uri="{9D8B030D-6E8A-4147-A177-3AD203B41FA5}">
                      <a16:colId xmlns:a16="http://schemas.microsoft.com/office/drawing/2014/main" val="4213315911"/>
                    </a:ext>
                  </a:extLst>
                </a:gridCol>
                <a:gridCol w="420494">
                  <a:extLst>
                    <a:ext uri="{9D8B030D-6E8A-4147-A177-3AD203B41FA5}">
                      <a16:colId xmlns:a16="http://schemas.microsoft.com/office/drawing/2014/main" val="2769999950"/>
                    </a:ext>
                  </a:extLst>
                </a:gridCol>
                <a:gridCol w="420494">
                  <a:extLst>
                    <a:ext uri="{9D8B030D-6E8A-4147-A177-3AD203B41FA5}">
                      <a16:colId xmlns:a16="http://schemas.microsoft.com/office/drawing/2014/main" val="135637185"/>
                    </a:ext>
                  </a:extLst>
                </a:gridCol>
                <a:gridCol w="420494">
                  <a:extLst>
                    <a:ext uri="{9D8B030D-6E8A-4147-A177-3AD203B41FA5}">
                      <a16:colId xmlns:a16="http://schemas.microsoft.com/office/drawing/2014/main" val="3038050475"/>
                    </a:ext>
                  </a:extLst>
                </a:gridCol>
                <a:gridCol w="420494">
                  <a:extLst>
                    <a:ext uri="{9D8B030D-6E8A-4147-A177-3AD203B41FA5}">
                      <a16:colId xmlns:a16="http://schemas.microsoft.com/office/drawing/2014/main" val="1979433044"/>
                    </a:ext>
                  </a:extLst>
                </a:gridCol>
                <a:gridCol w="420494">
                  <a:extLst>
                    <a:ext uri="{9D8B030D-6E8A-4147-A177-3AD203B41FA5}">
                      <a16:colId xmlns:a16="http://schemas.microsoft.com/office/drawing/2014/main" val="4270661649"/>
                    </a:ext>
                  </a:extLst>
                </a:gridCol>
                <a:gridCol w="420494">
                  <a:extLst>
                    <a:ext uri="{9D8B030D-6E8A-4147-A177-3AD203B41FA5}">
                      <a16:colId xmlns:a16="http://schemas.microsoft.com/office/drawing/2014/main" val="3027041370"/>
                    </a:ext>
                  </a:extLst>
                </a:gridCol>
                <a:gridCol w="411062">
                  <a:extLst>
                    <a:ext uri="{9D8B030D-6E8A-4147-A177-3AD203B41FA5}">
                      <a16:colId xmlns:a16="http://schemas.microsoft.com/office/drawing/2014/main" val="2852526216"/>
                    </a:ext>
                  </a:extLst>
                </a:gridCol>
                <a:gridCol w="411062">
                  <a:extLst>
                    <a:ext uri="{9D8B030D-6E8A-4147-A177-3AD203B41FA5}">
                      <a16:colId xmlns:a16="http://schemas.microsoft.com/office/drawing/2014/main" val="103420222"/>
                    </a:ext>
                  </a:extLst>
                </a:gridCol>
                <a:gridCol w="411062">
                  <a:extLst>
                    <a:ext uri="{9D8B030D-6E8A-4147-A177-3AD203B41FA5}">
                      <a16:colId xmlns:a16="http://schemas.microsoft.com/office/drawing/2014/main" val="1470405609"/>
                    </a:ext>
                  </a:extLst>
                </a:gridCol>
                <a:gridCol w="39286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OSC_COMP_TH_P [10:0]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4901721"/>
                  </a:ext>
                </a:extLst>
              </a:tr>
            </a:tbl>
          </a:graphicData>
        </a:graphic>
      </p:graphicFrame>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404942" y="845342"/>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MCLK LOCK</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1359896605"/>
              </p:ext>
            </p:extLst>
          </p:nvPr>
        </p:nvGraphicFramePr>
        <p:xfrm>
          <a:off x="380651" y="1961382"/>
          <a:ext cx="6072784" cy="1804548"/>
        </p:xfrm>
        <a:graphic>
          <a:graphicData uri="http://schemas.openxmlformats.org/drawingml/2006/table">
            <a:tbl>
              <a:tblPr firstRow="1" bandRow="1">
                <a:tableStyleId>{5C22544A-7EE6-4342-B048-85BDC9FD1C3A}</a:tableStyleId>
              </a:tblPr>
              <a:tblGrid>
                <a:gridCol w="443156">
                  <a:extLst>
                    <a:ext uri="{9D8B030D-6E8A-4147-A177-3AD203B41FA5}">
                      <a16:colId xmlns:a16="http://schemas.microsoft.com/office/drawing/2014/main" val="4170535043"/>
                    </a:ext>
                  </a:extLst>
                </a:gridCol>
                <a:gridCol w="965315">
                  <a:extLst>
                    <a:ext uri="{9D8B030D-6E8A-4147-A177-3AD203B41FA5}">
                      <a16:colId xmlns:a16="http://schemas.microsoft.com/office/drawing/2014/main" val="2079070694"/>
                    </a:ext>
                  </a:extLst>
                </a:gridCol>
                <a:gridCol w="4664313">
                  <a:extLst>
                    <a:ext uri="{9D8B030D-6E8A-4147-A177-3AD203B41FA5}">
                      <a16:colId xmlns:a16="http://schemas.microsoft.com/office/drawing/2014/main" val="32595803"/>
                    </a:ext>
                  </a:extLst>
                </a:gridCol>
              </a:tblGrid>
              <a:tr h="2432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MCLK LOCK function is used to calibrate the internal oscillator (=MCLK) to a target frequency owing to the temperature variation in a real-time, but for use, the exact period of </a:t>
                      </a:r>
                      <a:r>
                        <a:rPr lang="en-US" altLang="ko-KR" sz="900" b="0" i="0" dirty="0">
                          <a:solidFill>
                            <a:schemeClr val="tx1"/>
                          </a:solidFill>
                          <a:latin typeface="Arial" panose="020B0604020202020204" pitchFamily="34" charset="0"/>
                          <a:ea typeface="+mn-ea"/>
                          <a:cs typeface="Arial" panose="020B0604020202020204" pitchFamily="34" charset="0"/>
                        </a:rPr>
                        <a:t>SYNC commands must be continuously supplied to a XD. It should be careful that this bit must be cleared to 0 when changing the frame period, 100↔120hz, or free-sync mode especially</a:t>
                      </a:r>
                      <a:r>
                        <a:rPr lang="en-US" altLang="ko-KR" sz="900" b="0" dirty="0">
                          <a:solidFill>
                            <a:schemeClr val="tx1"/>
                          </a:solidFill>
                          <a:latin typeface="Arial" panose="020B0604020202020204" pitchFamily="34" charset="0"/>
                          <a:ea typeface="+mn-ea"/>
                          <a:cs typeface="Arial" panose="020B0604020202020204" pitchFamily="34" charset="0"/>
                        </a:rPr>
                        <a:t>. </a:t>
                      </a:r>
                      <a:r>
                        <a:rPr lang="en-US" altLang="ko-KR" sz="900" b="0" i="1" kern="1200" dirty="0">
                          <a:solidFill>
                            <a:schemeClr val="dk1"/>
                          </a:solidFill>
                          <a:effectLst/>
                          <a:latin typeface="Arial" panose="020B0604020202020204" pitchFamily="34" charset="0"/>
                          <a:ea typeface="+mn-ea"/>
                          <a:cs typeface="Arial" panose="020B0604020202020204" pitchFamily="34" charset="0"/>
                        </a:rPr>
                        <a:t>This bit should only be used when the SYNC command intervals are regular.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value will be refreshed with a written value at every internal vsync signal.</a:t>
                      </a:r>
                      <a:endParaRPr lang="en-US" altLang="ko-KR" sz="900" b="0" i="1" kern="1200" dirty="0">
                        <a:solidFill>
                          <a:schemeClr val="dk1"/>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MCLK_LOCK function disabled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MCLK_LOCK function enabled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value determines the number of MCLKs between the SYNC commands.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 SYNC command period (=frame period) / MCLK</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410840" y="3863354"/>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COMPENSATION</a:t>
            </a:r>
          </a:p>
        </p:txBody>
      </p:sp>
      <p:sp>
        <p:nvSpPr>
          <p:cNvPr id="10" name="TextBox 9">
            <a:extLst>
              <a:ext uri="{FF2B5EF4-FFF2-40B4-BE49-F238E27FC236}">
                <a16:creationId xmlns:a16="http://schemas.microsoft.com/office/drawing/2014/main" id="{EAEED484-96C9-A12A-5DB3-D85F7CC0667C}"/>
              </a:ext>
            </a:extLst>
          </p:cNvPr>
          <p:cNvSpPr txBox="1"/>
          <p:nvPr/>
        </p:nvSpPr>
        <p:spPr>
          <a:xfrm>
            <a:off x="377771" y="6018317"/>
            <a:ext cx="603091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COMPENSATION THRESHOLD POSITIVE / NEGATIVE</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3960506195"/>
              </p:ext>
            </p:extLst>
          </p:nvPr>
        </p:nvGraphicFramePr>
        <p:xfrm>
          <a:off x="386273" y="4527884"/>
          <a:ext cx="6085453" cy="1351837"/>
        </p:xfrm>
        <a:graphic>
          <a:graphicData uri="http://schemas.openxmlformats.org/drawingml/2006/table">
            <a:tbl>
              <a:tblPr firstRow="1" bandRow="1">
                <a:tableStyleId>{5C22544A-7EE6-4342-B048-85BDC9FD1C3A}</a:tableStyleId>
              </a:tblPr>
              <a:tblGrid>
                <a:gridCol w="437794">
                  <a:extLst>
                    <a:ext uri="{9D8B030D-6E8A-4147-A177-3AD203B41FA5}">
                      <a16:colId xmlns:a16="http://schemas.microsoft.com/office/drawing/2014/main" val="4170535043"/>
                    </a:ext>
                  </a:extLst>
                </a:gridCol>
                <a:gridCol w="1035903">
                  <a:extLst>
                    <a:ext uri="{9D8B030D-6E8A-4147-A177-3AD203B41FA5}">
                      <a16:colId xmlns:a16="http://schemas.microsoft.com/office/drawing/2014/main" val="2079070694"/>
                    </a:ext>
                  </a:extLst>
                </a:gridCol>
                <a:gridCol w="4611756">
                  <a:extLst>
                    <a:ext uri="{9D8B030D-6E8A-4147-A177-3AD203B41FA5}">
                      <a16:colId xmlns:a16="http://schemas.microsoft.com/office/drawing/2014/main" val="32595803"/>
                    </a:ext>
                  </a:extLst>
                </a:gridCol>
              </a:tblGrid>
              <a:tr h="24771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534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OSC_POL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compensation polarity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Positive characteristics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Negative characteristics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592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OSC_COMP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is containing the current compensated value during MCLK_LOCK_E=1, and the value will be kept even if the MCLK_LOCK_E becomes disabled. If this register will be written to some value in the middle of working, the compensating start newly from the written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3059687901"/>
              </p:ext>
            </p:extLst>
          </p:nvPr>
        </p:nvGraphicFramePr>
        <p:xfrm>
          <a:off x="386687" y="1110958"/>
          <a:ext cx="6075480" cy="372600"/>
        </p:xfrm>
        <a:graphic>
          <a:graphicData uri="http://schemas.openxmlformats.org/drawingml/2006/table">
            <a:tbl>
              <a:tblPr firstRow="1" bandRow="1">
                <a:tableStyleId>{5C22544A-7EE6-4342-B048-85BDC9FD1C3A}</a:tableStyleId>
              </a:tblPr>
              <a:tblGrid>
                <a:gridCol w="299969">
                  <a:extLst>
                    <a:ext uri="{9D8B030D-6E8A-4147-A177-3AD203B41FA5}">
                      <a16:colId xmlns:a16="http://schemas.microsoft.com/office/drawing/2014/main" val="657570846"/>
                    </a:ext>
                  </a:extLst>
                </a:gridCol>
                <a:gridCol w="351033">
                  <a:extLst>
                    <a:ext uri="{9D8B030D-6E8A-4147-A177-3AD203B41FA5}">
                      <a16:colId xmlns:a16="http://schemas.microsoft.com/office/drawing/2014/main" val="3259894497"/>
                    </a:ext>
                  </a:extLst>
                </a:gridCol>
                <a:gridCol w="470771">
                  <a:extLst>
                    <a:ext uri="{9D8B030D-6E8A-4147-A177-3AD203B41FA5}">
                      <a16:colId xmlns:a16="http://schemas.microsoft.com/office/drawing/2014/main" val="4170535043"/>
                    </a:ext>
                  </a:extLst>
                </a:gridCol>
                <a:gridCol w="432195">
                  <a:extLst>
                    <a:ext uri="{9D8B030D-6E8A-4147-A177-3AD203B41FA5}">
                      <a16:colId xmlns:a16="http://schemas.microsoft.com/office/drawing/2014/main" val="2079070694"/>
                    </a:ext>
                  </a:extLst>
                </a:gridCol>
                <a:gridCol w="423021">
                  <a:extLst>
                    <a:ext uri="{9D8B030D-6E8A-4147-A177-3AD203B41FA5}">
                      <a16:colId xmlns:a16="http://schemas.microsoft.com/office/drawing/2014/main" val="4213315911"/>
                    </a:ext>
                  </a:extLst>
                </a:gridCol>
                <a:gridCol w="457454">
                  <a:extLst>
                    <a:ext uri="{9D8B030D-6E8A-4147-A177-3AD203B41FA5}">
                      <a16:colId xmlns:a16="http://schemas.microsoft.com/office/drawing/2014/main" val="2769999950"/>
                    </a:ext>
                  </a:extLst>
                </a:gridCol>
                <a:gridCol w="483124">
                  <a:extLst>
                    <a:ext uri="{9D8B030D-6E8A-4147-A177-3AD203B41FA5}">
                      <a16:colId xmlns:a16="http://schemas.microsoft.com/office/drawing/2014/main" val="135637185"/>
                    </a:ext>
                  </a:extLst>
                </a:gridCol>
                <a:gridCol w="398553">
                  <a:extLst>
                    <a:ext uri="{9D8B030D-6E8A-4147-A177-3AD203B41FA5}">
                      <a16:colId xmlns:a16="http://schemas.microsoft.com/office/drawing/2014/main" val="3038050475"/>
                    </a:ext>
                  </a:extLst>
                </a:gridCol>
                <a:gridCol w="398553">
                  <a:extLst>
                    <a:ext uri="{9D8B030D-6E8A-4147-A177-3AD203B41FA5}">
                      <a16:colId xmlns:a16="http://schemas.microsoft.com/office/drawing/2014/main" val="1979433044"/>
                    </a:ext>
                  </a:extLst>
                </a:gridCol>
                <a:gridCol w="398553">
                  <a:extLst>
                    <a:ext uri="{9D8B030D-6E8A-4147-A177-3AD203B41FA5}">
                      <a16:colId xmlns:a16="http://schemas.microsoft.com/office/drawing/2014/main" val="4270661649"/>
                    </a:ext>
                  </a:extLst>
                </a:gridCol>
                <a:gridCol w="398553">
                  <a:extLst>
                    <a:ext uri="{9D8B030D-6E8A-4147-A177-3AD203B41FA5}">
                      <a16:colId xmlns:a16="http://schemas.microsoft.com/office/drawing/2014/main" val="3027041370"/>
                    </a:ext>
                  </a:extLst>
                </a:gridCol>
                <a:gridCol w="398553">
                  <a:extLst>
                    <a:ext uri="{9D8B030D-6E8A-4147-A177-3AD203B41FA5}">
                      <a16:colId xmlns:a16="http://schemas.microsoft.com/office/drawing/2014/main" val="2852526216"/>
                    </a:ext>
                  </a:extLst>
                </a:gridCol>
                <a:gridCol w="398553">
                  <a:extLst>
                    <a:ext uri="{9D8B030D-6E8A-4147-A177-3AD203B41FA5}">
                      <a16:colId xmlns:a16="http://schemas.microsoft.com/office/drawing/2014/main" val="103420222"/>
                    </a:ext>
                  </a:extLst>
                </a:gridCol>
                <a:gridCol w="398553">
                  <a:extLst>
                    <a:ext uri="{9D8B030D-6E8A-4147-A177-3AD203B41FA5}">
                      <a16:colId xmlns:a16="http://schemas.microsoft.com/office/drawing/2014/main" val="1470405609"/>
                    </a:ext>
                  </a:extLst>
                </a:gridCol>
                <a:gridCol w="3680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2943847244"/>
              </p:ext>
            </p:extLst>
          </p:nvPr>
        </p:nvGraphicFramePr>
        <p:xfrm>
          <a:off x="386687" y="1553915"/>
          <a:ext cx="6075479" cy="372600"/>
        </p:xfrm>
        <a:graphic>
          <a:graphicData uri="http://schemas.openxmlformats.org/drawingml/2006/table">
            <a:tbl>
              <a:tblPr firstRow="1" bandRow="1">
                <a:tableStyleId>{5C22544A-7EE6-4342-B048-85BDC9FD1C3A}</a:tableStyleId>
              </a:tblPr>
              <a:tblGrid>
                <a:gridCol w="283002">
                  <a:extLst>
                    <a:ext uri="{9D8B030D-6E8A-4147-A177-3AD203B41FA5}">
                      <a16:colId xmlns:a16="http://schemas.microsoft.com/office/drawing/2014/main" val="657570846"/>
                    </a:ext>
                  </a:extLst>
                </a:gridCol>
                <a:gridCol w="331178">
                  <a:extLst>
                    <a:ext uri="{9D8B030D-6E8A-4147-A177-3AD203B41FA5}">
                      <a16:colId xmlns:a16="http://schemas.microsoft.com/office/drawing/2014/main" val="3259894497"/>
                    </a:ext>
                  </a:extLst>
                </a:gridCol>
                <a:gridCol w="444143">
                  <a:extLst>
                    <a:ext uri="{9D8B030D-6E8A-4147-A177-3AD203B41FA5}">
                      <a16:colId xmlns:a16="http://schemas.microsoft.com/office/drawing/2014/main" val="4170535043"/>
                    </a:ext>
                  </a:extLst>
                </a:gridCol>
                <a:gridCol w="737468">
                  <a:extLst>
                    <a:ext uri="{9D8B030D-6E8A-4147-A177-3AD203B41FA5}">
                      <a16:colId xmlns:a16="http://schemas.microsoft.com/office/drawing/2014/main" val="2079070694"/>
                    </a:ext>
                  </a:extLst>
                </a:gridCol>
                <a:gridCol w="408375">
                  <a:extLst>
                    <a:ext uri="{9D8B030D-6E8A-4147-A177-3AD203B41FA5}">
                      <a16:colId xmlns:a16="http://schemas.microsoft.com/office/drawing/2014/main" val="4213315911"/>
                    </a:ext>
                  </a:extLst>
                </a:gridCol>
                <a:gridCol w="400165">
                  <a:extLst>
                    <a:ext uri="{9D8B030D-6E8A-4147-A177-3AD203B41FA5}">
                      <a16:colId xmlns:a16="http://schemas.microsoft.com/office/drawing/2014/main" val="2769999950"/>
                    </a:ext>
                  </a:extLst>
                </a:gridCol>
                <a:gridCol w="371386">
                  <a:extLst>
                    <a:ext uri="{9D8B030D-6E8A-4147-A177-3AD203B41FA5}">
                      <a16:colId xmlns:a16="http://schemas.microsoft.com/office/drawing/2014/main" val="135637185"/>
                    </a:ext>
                  </a:extLst>
                </a:gridCol>
                <a:gridCol w="384554">
                  <a:extLst>
                    <a:ext uri="{9D8B030D-6E8A-4147-A177-3AD203B41FA5}">
                      <a16:colId xmlns:a16="http://schemas.microsoft.com/office/drawing/2014/main" val="3038050475"/>
                    </a:ext>
                  </a:extLst>
                </a:gridCol>
                <a:gridCol w="397724">
                  <a:extLst>
                    <a:ext uri="{9D8B030D-6E8A-4147-A177-3AD203B41FA5}">
                      <a16:colId xmlns:a16="http://schemas.microsoft.com/office/drawing/2014/main" val="1979433044"/>
                    </a:ext>
                  </a:extLst>
                </a:gridCol>
                <a:gridCol w="392456">
                  <a:extLst>
                    <a:ext uri="{9D8B030D-6E8A-4147-A177-3AD203B41FA5}">
                      <a16:colId xmlns:a16="http://schemas.microsoft.com/office/drawing/2014/main" val="4270661649"/>
                    </a:ext>
                  </a:extLst>
                </a:gridCol>
                <a:gridCol w="400358">
                  <a:extLst>
                    <a:ext uri="{9D8B030D-6E8A-4147-A177-3AD203B41FA5}">
                      <a16:colId xmlns:a16="http://schemas.microsoft.com/office/drawing/2014/main" val="3027041370"/>
                    </a:ext>
                  </a:extLst>
                </a:gridCol>
                <a:gridCol w="389822">
                  <a:extLst>
                    <a:ext uri="{9D8B030D-6E8A-4147-A177-3AD203B41FA5}">
                      <a16:colId xmlns:a16="http://schemas.microsoft.com/office/drawing/2014/main" val="2852526216"/>
                    </a:ext>
                  </a:extLst>
                </a:gridCol>
                <a:gridCol w="374020">
                  <a:extLst>
                    <a:ext uri="{9D8B030D-6E8A-4147-A177-3AD203B41FA5}">
                      <a16:colId xmlns:a16="http://schemas.microsoft.com/office/drawing/2014/main" val="103420222"/>
                    </a:ext>
                  </a:extLst>
                </a:gridCol>
                <a:gridCol w="374019">
                  <a:extLst>
                    <a:ext uri="{9D8B030D-6E8A-4147-A177-3AD203B41FA5}">
                      <a16:colId xmlns:a16="http://schemas.microsoft.com/office/drawing/2014/main" val="1470405609"/>
                    </a:ext>
                  </a:extLst>
                </a:gridCol>
                <a:gridCol w="38680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MCLK_LOCK_E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 [17:12]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graphicFrame>
        <p:nvGraphicFramePr>
          <p:cNvPr id="5" name="표 4">
            <a:extLst>
              <a:ext uri="{FF2B5EF4-FFF2-40B4-BE49-F238E27FC236}">
                <a16:creationId xmlns:a16="http://schemas.microsoft.com/office/drawing/2014/main" id="{B13AB831-E474-2674-9CE6-6FE19C852BFF}"/>
              </a:ext>
            </a:extLst>
          </p:cNvPr>
          <p:cNvGraphicFramePr>
            <a:graphicFrameLocks noGrp="1"/>
          </p:cNvGraphicFramePr>
          <p:nvPr>
            <p:extLst>
              <p:ext uri="{D42A27DB-BD31-4B8C-83A1-F6EECF244321}">
                <p14:modId xmlns:p14="http://schemas.microsoft.com/office/powerpoint/2010/main" val="2477838417"/>
              </p:ext>
            </p:extLst>
          </p:nvPr>
        </p:nvGraphicFramePr>
        <p:xfrm>
          <a:off x="393615" y="4126968"/>
          <a:ext cx="6079941" cy="372600"/>
        </p:xfrm>
        <a:graphic>
          <a:graphicData uri="http://schemas.openxmlformats.org/drawingml/2006/table">
            <a:tbl>
              <a:tblPr firstRow="1" bandRow="1">
                <a:tableStyleId>{5C22544A-7EE6-4342-B048-85BDC9FD1C3A}</a:tableStyleId>
              </a:tblPr>
              <a:tblGrid>
                <a:gridCol w="282901">
                  <a:extLst>
                    <a:ext uri="{9D8B030D-6E8A-4147-A177-3AD203B41FA5}">
                      <a16:colId xmlns:a16="http://schemas.microsoft.com/office/drawing/2014/main" val="657570846"/>
                    </a:ext>
                  </a:extLst>
                </a:gridCol>
                <a:gridCol w="331059">
                  <a:extLst>
                    <a:ext uri="{9D8B030D-6E8A-4147-A177-3AD203B41FA5}">
                      <a16:colId xmlns:a16="http://schemas.microsoft.com/office/drawing/2014/main" val="3259894497"/>
                    </a:ext>
                  </a:extLst>
                </a:gridCol>
                <a:gridCol w="443985">
                  <a:extLst>
                    <a:ext uri="{9D8B030D-6E8A-4147-A177-3AD203B41FA5}">
                      <a16:colId xmlns:a16="http://schemas.microsoft.com/office/drawing/2014/main" val="4170535043"/>
                    </a:ext>
                  </a:extLst>
                </a:gridCol>
                <a:gridCol w="568383">
                  <a:extLst>
                    <a:ext uri="{9D8B030D-6E8A-4147-A177-3AD203B41FA5}">
                      <a16:colId xmlns:a16="http://schemas.microsoft.com/office/drawing/2014/main" val="2079070694"/>
                    </a:ext>
                  </a:extLst>
                </a:gridCol>
                <a:gridCol w="409829">
                  <a:extLst>
                    <a:ext uri="{9D8B030D-6E8A-4147-A177-3AD203B41FA5}">
                      <a16:colId xmlns:a16="http://schemas.microsoft.com/office/drawing/2014/main" val="4213315911"/>
                    </a:ext>
                  </a:extLst>
                </a:gridCol>
                <a:gridCol w="409829">
                  <a:extLst>
                    <a:ext uri="{9D8B030D-6E8A-4147-A177-3AD203B41FA5}">
                      <a16:colId xmlns:a16="http://schemas.microsoft.com/office/drawing/2014/main" val="2769999950"/>
                    </a:ext>
                  </a:extLst>
                </a:gridCol>
                <a:gridCol w="409829">
                  <a:extLst>
                    <a:ext uri="{9D8B030D-6E8A-4147-A177-3AD203B41FA5}">
                      <a16:colId xmlns:a16="http://schemas.microsoft.com/office/drawing/2014/main" val="135637185"/>
                    </a:ext>
                  </a:extLst>
                </a:gridCol>
                <a:gridCol w="409829">
                  <a:extLst>
                    <a:ext uri="{9D8B030D-6E8A-4147-A177-3AD203B41FA5}">
                      <a16:colId xmlns:a16="http://schemas.microsoft.com/office/drawing/2014/main" val="3038050475"/>
                    </a:ext>
                  </a:extLst>
                </a:gridCol>
                <a:gridCol w="409829">
                  <a:extLst>
                    <a:ext uri="{9D8B030D-6E8A-4147-A177-3AD203B41FA5}">
                      <a16:colId xmlns:a16="http://schemas.microsoft.com/office/drawing/2014/main" val="1979433044"/>
                    </a:ext>
                  </a:extLst>
                </a:gridCol>
                <a:gridCol w="409829">
                  <a:extLst>
                    <a:ext uri="{9D8B030D-6E8A-4147-A177-3AD203B41FA5}">
                      <a16:colId xmlns:a16="http://schemas.microsoft.com/office/drawing/2014/main" val="4270661649"/>
                    </a:ext>
                  </a:extLst>
                </a:gridCol>
                <a:gridCol w="409829">
                  <a:extLst>
                    <a:ext uri="{9D8B030D-6E8A-4147-A177-3AD203B41FA5}">
                      <a16:colId xmlns:a16="http://schemas.microsoft.com/office/drawing/2014/main" val="3027041370"/>
                    </a:ext>
                  </a:extLst>
                </a:gridCol>
                <a:gridCol w="400636">
                  <a:extLst>
                    <a:ext uri="{9D8B030D-6E8A-4147-A177-3AD203B41FA5}">
                      <a16:colId xmlns:a16="http://schemas.microsoft.com/office/drawing/2014/main" val="2852526216"/>
                    </a:ext>
                  </a:extLst>
                </a:gridCol>
                <a:gridCol w="400636">
                  <a:extLst>
                    <a:ext uri="{9D8B030D-6E8A-4147-A177-3AD203B41FA5}">
                      <a16:colId xmlns:a16="http://schemas.microsoft.com/office/drawing/2014/main" val="103420222"/>
                    </a:ext>
                  </a:extLst>
                </a:gridCol>
                <a:gridCol w="400636">
                  <a:extLst>
                    <a:ext uri="{9D8B030D-6E8A-4147-A177-3AD203B41FA5}">
                      <a16:colId xmlns:a16="http://schemas.microsoft.com/office/drawing/2014/main" val="1470405609"/>
                    </a:ext>
                  </a:extLst>
                </a:gridCol>
                <a:gridCol w="38290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OSC_POL</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OSC_COMP [4:0]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5165699"/>
                  </a:ext>
                </a:extLst>
              </a:tr>
            </a:tbl>
          </a:graphicData>
        </a:graphic>
      </p:graphicFrame>
      <p:graphicFrame>
        <p:nvGraphicFramePr>
          <p:cNvPr id="14" name="표 13">
            <a:extLst>
              <a:ext uri="{FF2B5EF4-FFF2-40B4-BE49-F238E27FC236}">
                <a16:creationId xmlns:a16="http://schemas.microsoft.com/office/drawing/2014/main" id="{B61058E0-349E-EE56-BBEE-21A44BFE4610}"/>
              </a:ext>
            </a:extLst>
          </p:cNvPr>
          <p:cNvGraphicFramePr>
            <a:graphicFrameLocks noGrp="1"/>
          </p:cNvGraphicFramePr>
          <p:nvPr>
            <p:extLst>
              <p:ext uri="{D42A27DB-BD31-4B8C-83A1-F6EECF244321}">
                <p14:modId xmlns:p14="http://schemas.microsoft.com/office/powerpoint/2010/main" val="4127107455"/>
              </p:ext>
            </p:extLst>
          </p:nvPr>
        </p:nvGraphicFramePr>
        <p:xfrm>
          <a:off x="377771" y="7134357"/>
          <a:ext cx="6073071" cy="1385991"/>
        </p:xfrm>
        <a:graphic>
          <a:graphicData uri="http://schemas.openxmlformats.org/drawingml/2006/table">
            <a:tbl>
              <a:tblPr firstRow="1" bandRow="1">
                <a:tableStyleId>{5C22544A-7EE6-4342-B048-85BDC9FD1C3A}</a:tableStyleId>
              </a:tblPr>
              <a:tblGrid>
                <a:gridCol w="326000">
                  <a:extLst>
                    <a:ext uri="{9D8B030D-6E8A-4147-A177-3AD203B41FA5}">
                      <a16:colId xmlns:a16="http://schemas.microsoft.com/office/drawing/2014/main" val="4170535043"/>
                    </a:ext>
                  </a:extLst>
                </a:gridCol>
                <a:gridCol w="1210089">
                  <a:extLst>
                    <a:ext uri="{9D8B030D-6E8A-4147-A177-3AD203B41FA5}">
                      <a16:colId xmlns:a16="http://schemas.microsoft.com/office/drawing/2014/main" val="2079070694"/>
                    </a:ext>
                  </a:extLst>
                </a:gridCol>
                <a:gridCol w="4536982">
                  <a:extLst>
                    <a:ext uri="{9D8B030D-6E8A-4147-A177-3AD203B41FA5}">
                      <a16:colId xmlns:a16="http://schemas.microsoft.com/office/drawing/2014/main" val="32595803"/>
                    </a:ext>
                  </a:extLst>
                </a:gridCol>
              </a:tblGrid>
              <a:tr h="262431">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678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OSC_COMP_TH_P</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OSC_COMP_TH_N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This value means the threshold that determines what to do with the compensation. The MCLK will be faster or slower 80khz per 184. Normally, it is recommended to use the default value.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700" b="0" i="0" kern="1200" dirty="0">
                          <a:solidFill>
                            <a:schemeClr val="dk1"/>
                          </a:solidFill>
                          <a:effectLst/>
                          <a:latin typeface="Arial" panose="020B0604020202020204" pitchFamily="34" charset="0"/>
                          <a:ea typeface="+mn-ea"/>
                          <a:cs typeface="Arial" panose="020B0604020202020204" pitchFamily="34" charset="0"/>
                        </a:rPr>
                        <a:t>       1. In case of MCLK_LOCK &gt; internal mclk counting value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700" b="0" i="0" kern="1200" dirty="0">
                          <a:solidFill>
                            <a:schemeClr val="dk1"/>
                          </a:solidFill>
                          <a:effectLst/>
                          <a:latin typeface="Arial" panose="020B0604020202020204" pitchFamily="34" charset="0"/>
                          <a:ea typeface="+mn-ea"/>
                          <a:cs typeface="Arial" panose="020B0604020202020204" pitchFamily="34" charset="0"/>
                        </a:rPr>
                        <a:t>           if the difference &gt; OSC_COMP_TH_P, then increase OSC_COMP by 1 and result in MCLK faster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700" b="0" i="0" kern="1200" dirty="0">
                          <a:solidFill>
                            <a:schemeClr val="dk1"/>
                          </a:solidFill>
                          <a:effectLst/>
                          <a:latin typeface="Arial" panose="020B0604020202020204" pitchFamily="34" charset="0"/>
                          <a:ea typeface="+mn-ea"/>
                          <a:cs typeface="Arial" panose="020B0604020202020204" pitchFamily="34" charset="0"/>
                        </a:rPr>
                        <a:t>       2. In case of MCLK_LOCK &lt; internal mclk counting value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700" b="0" i="0" kern="1200" dirty="0">
                          <a:solidFill>
                            <a:schemeClr val="dk1"/>
                          </a:solidFill>
                          <a:effectLst/>
                          <a:latin typeface="Arial" panose="020B0604020202020204" pitchFamily="34" charset="0"/>
                          <a:ea typeface="+mn-ea"/>
                          <a:cs typeface="Arial" panose="020B0604020202020204" pitchFamily="34" charset="0"/>
                        </a:rPr>
                        <a:t>           if the difference &gt; OSC_COMP_TH_N, then decrease OSC_COMP by 1 and result in MCLK slower</a:t>
                      </a:r>
                      <a:endParaRPr lang="en-US" altLang="ko-KR" sz="7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700" b="0" i="0" kern="1200" dirty="0">
                          <a:solidFill>
                            <a:schemeClr val="dk1"/>
                          </a:solidFill>
                          <a:effectLst/>
                          <a:latin typeface="Arial" panose="020B0604020202020204" pitchFamily="34" charset="0"/>
                          <a:ea typeface="+mn-ea"/>
                          <a:cs typeface="Arial" panose="020B0604020202020204" pitchFamily="34" charset="0"/>
                        </a:rPr>
                        <a:t>       3. Else : keep the current state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700" b="0" i="0" kern="1200" dirty="0">
                          <a:solidFill>
                            <a:schemeClr val="dk1"/>
                          </a:solidFill>
                          <a:effectLst/>
                          <a:latin typeface="Arial" panose="020B0604020202020204" pitchFamily="34" charset="0"/>
                          <a:ea typeface="+mn-ea"/>
                          <a:cs typeface="Arial" panose="020B0604020202020204" pitchFamily="34" charset="0"/>
                        </a:rPr>
                        <a:t>       4. The signs in the above equation, + and -, is exchanged each other if the OSC_POL is set.</a:t>
                      </a:r>
                      <a:endParaRPr lang="en-US" altLang="ko-KR"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 name="표 3">
            <a:extLst>
              <a:ext uri="{FF2B5EF4-FFF2-40B4-BE49-F238E27FC236}">
                <a16:creationId xmlns:a16="http://schemas.microsoft.com/office/drawing/2014/main" id="{35B05B1A-AC93-6BD6-271A-4107FA72FFDB}"/>
              </a:ext>
            </a:extLst>
          </p:cNvPr>
          <p:cNvGraphicFramePr>
            <a:graphicFrameLocks noGrp="1"/>
          </p:cNvGraphicFramePr>
          <p:nvPr>
            <p:extLst>
              <p:ext uri="{D42A27DB-BD31-4B8C-83A1-F6EECF244321}">
                <p14:modId xmlns:p14="http://schemas.microsoft.com/office/powerpoint/2010/main" val="995362763"/>
              </p:ext>
            </p:extLst>
          </p:nvPr>
        </p:nvGraphicFramePr>
        <p:xfrm>
          <a:off x="382228" y="6733441"/>
          <a:ext cx="6075482" cy="372600"/>
        </p:xfrm>
        <a:graphic>
          <a:graphicData uri="http://schemas.openxmlformats.org/drawingml/2006/table">
            <a:tbl>
              <a:tblPr firstRow="1" bandRow="1">
                <a:tableStyleId>{5C22544A-7EE6-4342-B048-85BDC9FD1C3A}</a:tableStyleId>
              </a:tblPr>
              <a:tblGrid>
                <a:gridCol w="290263">
                  <a:extLst>
                    <a:ext uri="{9D8B030D-6E8A-4147-A177-3AD203B41FA5}">
                      <a16:colId xmlns:a16="http://schemas.microsoft.com/office/drawing/2014/main" val="657570846"/>
                    </a:ext>
                  </a:extLst>
                </a:gridCol>
                <a:gridCol w="339675">
                  <a:extLst>
                    <a:ext uri="{9D8B030D-6E8A-4147-A177-3AD203B41FA5}">
                      <a16:colId xmlns:a16="http://schemas.microsoft.com/office/drawing/2014/main" val="3259894497"/>
                    </a:ext>
                  </a:extLst>
                </a:gridCol>
                <a:gridCol w="455539">
                  <a:extLst>
                    <a:ext uri="{9D8B030D-6E8A-4147-A177-3AD203B41FA5}">
                      <a16:colId xmlns:a16="http://schemas.microsoft.com/office/drawing/2014/main" val="4170535043"/>
                    </a:ext>
                  </a:extLst>
                </a:gridCol>
                <a:gridCol w="420494">
                  <a:extLst>
                    <a:ext uri="{9D8B030D-6E8A-4147-A177-3AD203B41FA5}">
                      <a16:colId xmlns:a16="http://schemas.microsoft.com/office/drawing/2014/main" val="2079070694"/>
                    </a:ext>
                  </a:extLst>
                </a:gridCol>
                <a:gridCol w="420494">
                  <a:extLst>
                    <a:ext uri="{9D8B030D-6E8A-4147-A177-3AD203B41FA5}">
                      <a16:colId xmlns:a16="http://schemas.microsoft.com/office/drawing/2014/main" val="4213315911"/>
                    </a:ext>
                  </a:extLst>
                </a:gridCol>
                <a:gridCol w="420494">
                  <a:extLst>
                    <a:ext uri="{9D8B030D-6E8A-4147-A177-3AD203B41FA5}">
                      <a16:colId xmlns:a16="http://schemas.microsoft.com/office/drawing/2014/main" val="2769999950"/>
                    </a:ext>
                  </a:extLst>
                </a:gridCol>
                <a:gridCol w="420494">
                  <a:extLst>
                    <a:ext uri="{9D8B030D-6E8A-4147-A177-3AD203B41FA5}">
                      <a16:colId xmlns:a16="http://schemas.microsoft.com/office/drawing/2014/main" val="135637185"/>
                    </a:ext>
                  </a:extLst>
                </a:gridCol>
                <a:gridCol w="420494">
                  <a:extLst>
                    <a:ext uri="{9D8B030D-6E8A-4147-A177-3AD203B41FA5}">
                      <a16:colId xmlns:a16="http://schemas.microsoft.com/office/drawing/2014/main" val="3038050475"/>
                    </a:ext>
                  </a:extLst>
                </a:gridCol>
                <a:gridCol w="420494">
                  <a:extLst>
                    <a:ext uri="{9D8B030D-6E8A-4147-A177-3AD203B41FA5}">
                      <a16:colId xmlns:a16="http://schemas.microsoft.com/office/drawing/2014/main" val="1979433044"/>
                    </a:ext>
                  </a:extLst>
                </a:gridCol>
                <a:gridCol w="420494">
                  <a:extLst>
                    <a:ext uri="{9D8B030D-6E8A-4147-A177-3AD203B41FA5}">
                      <a16:colId xmlns:a16="http://schemas.microsoft.com/office/drawing/2014/main" val="4270661649"/>
                    </a:ext>
                  </a:extLst>
                </a:gridCol>
                <a:gridCol w="420494">
                  <a:extLst>
                    <a:ext uri="{9D8B030D-6E8A-4147-A177-3AD203B41FA5}">
                      <a16:colId xmlns:a16="http://schemas.microsoft.com/office/drawing/2014/main" val="3027041370"/>
                    </a:ext>
                  </a:extLst>
                </a:gridCol>
                <a:gridCol w="411062">
                  <a:extLst>
                    <a:ext uri="{9D8B030D-6E8A-4147-A177-3AD203B41FA5}">
                      <a16:colId xmlns:a16="http://schemas.microsoft.com/office/drawing/2014/main" val="2852526216"/>
                    </a:ext>
                  </a:extLst>
                </a:gridCol>
                <a:gridCol w="411062">
                  <a:extLst>
                    <a:ext uri="{9D8B030D-6E8A-4147-A177-3AD203B41FA5}">
                      <a16:colId xmlns:a16="http://schemas.microsoft.com/office/drawing/2014/main" val="103420222"/>
                    </a:ext>
                  </a:extLst>
                </a:gridCol>
                <a:gridCol w="411062">
                  <a:extLst>
                    <a:ext uri="{9D8B030D-6E8A-4147-A177-3AD203B41FA5}">
                      <a16:colId xmlns:a16="http://schemas.microsoft.com/office/drawing/2014/main" val="1470405609"/>
                    </a:ext>
                  </a:extLst>
                </a:gridCol>
                <a:gridCol w="39286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OSC_COMP_TH_N [10:0]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4901721"/>
                  </a:ext>
                </a:extLst>
              </a:tr>
            </a:tbl>
          </a:graphicData>
        </a:graphic>
      </p:graphicFrame>
      <p:pic>
        <p:nvPicPr>
          <p:cNvPr id="17" name="그림 16">
            <a:extLst>
              <a:ext uri="{FF2B5EF4-FFF2-40B4-BE49-F238E27FC236}">
                <a16:creationId xmlns:a16="http://schemas.microsoft.com/office/drawing/2014/main" id="{FD37C577-26DD-A4EE-19E3-E92D707E8F5D}"/>
              </a:ext>
            </a:extLst>
          </p:cNvPr>
          <p:cNvPicPr>
            <a:picLocks noChangeAspect="1"/>
          </p:cNvPicPr>
          <p:nvPr/>
        </p:nvPicPr>
        <p:blipFill>
          <a:blip r:embed="rId2"/>
          <a:stretch>
            <a:fillRect/>
          </a:stretch>
        </p:blipFill>
        <p:spPr>
          <a:xfrm>
            <a:off x="1952550" y="8484453"/>
            <a:ext cx="4456133" cy="350539"/>
          </a:xfrm>
          <a:prstGeom prst="rect">
            <a:avLst/>
          </a:prstGeom>
        </p:spPr>
      </p:pic>
    </p:spTree>
    <p:extLst>
      <p:ext uri="{BB962C8B-B14F-4D97-AF65-F5344CB8AC3E}">
        <p14:creationId xmlns:p14="http://schemas.microsoft.com/office/powerpoint/2010/main" val="42013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399529" y="889078"/>
            <a:ext cx="60540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1793356454"/>
              </p:ext>
            </p:extLst>
          </p:nvPr>
        </p:nvGraphicFramePr>
        <p:xfrm>
          <a:off x="399058" y="1558437"/>
          <a:ext cx="6046192" cy="2515658"/>
        </p:xfrm>
        <a:graphic>
          <a:graphicData uri="http://schemas.openxmlformats.org/drawingml/2006/table">
            <a:tbl>
              <a:tblPr firstRow="1" bandRow="1">
                <a:tableStyleId>{5C22544A-7EE6-4342-B048-85BDC9FD1C3A}</a:tableStyleId>
              </a:tblPr>
              <a:tblGrid>
                <a:gridCol w="449151">
                  <a:extLst>
                    <a:ext uri="{9D8B030D-6E8A-4147-A177-3AD203B41FA5}">
                      <a16:colId xmlns:a16="http://schemas.microsoft.com/office/drawing/2014/main" val="4170535043"/>
                    </a:ext>
                  </a:extLst>
                </a:gridCol>
                <a:gridCol w="850609">
                  <a:extLst>
                    <a:ext uri="{9D8B030D-6E8A-4147-A177-3AD203B41FA5}">
                      <a16:colId xmlns:a16="http://schemas.microsoft.com/office/drawing/2014/main" val="2079070694"/>
                    </a:ext>
                  </a:extLst>
                </a:gridCol>
                <a:gridCol w="199431">
                  <a:extLst>
                    <a:ext uri="{9D8B030D-6E8A-4147-A177-3AD203B41FA5}">
                      <a16:colId xmlns:a16="http://schemas.microsoft.com/office/drawing/2014/main" val="2393941440"/>
                    </a:ext>
                  </a:extLst>
                </a:gridCol>
                <a:gridCol w="4547001">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7870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For testing, there are two purposes for use as follows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The MCLK divided by 16 is output to the D</a:t>
                      </a:r>
                      <a:r>
                        <a:rPr lang="en-US" altLang="ko-KR" sz="900" b="0" baseline="-25000" dirty="0">
                          <a:solidFill>
                            <a:schemeClr val="tx1"/>
                          </a:solidFill>
                          <a:latin typeface="Arial" panose="020B0604020202020204" pitchFamily="34" charset="0"/>
                          <a:ea typeface="+mn-ea"/>
                          <a:cs typeface="Arial" panose="020B0604020202020204" pitchFamily="34" charset="0"/>
                        </a:rPr>
                        <a:t>DIO</a:t>
                      </a:r>
                      <a:r>
                        <a:rPr lang="en-US" altLang="ko-KR" sz="900" b="0" dirty="0">
                          <a:solidFill>
                            <a:schemeClr val="tx1"/>
                          </a:solidFill>
                          <a:latin typeface="Arial" panose="020B0604020202020204" pitchFamily="34" charset="0"/>
                          <a:ea typeface="+mn-ea"/>
                          <a:cs typeface="Arial" panose="020B0604020202020204" pitchFamily="34" charset="0"/>
                        </a:rPr>
                        <a:t> pin for trimming the internal OSC.</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 Specially used with the LD_FIX_EN bit.</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6858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LD_FIX_EN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For testing, there are two purposes for use with the TEST_EN bit=1 as follows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The MAX_CURR_VREF reg value is continuously out to a current control logics.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 The LD_FIX value is continuously out to a current control logics without sync signals.</a:t>
                      </a:r>
                      <a:r>
                        <a:rPr lang="en-US" altLang="ko-KR" sz="900" b="0" dirty="0">
                          <a:solidFill>
                            <a:srgbClr val="FF0000"/>
                          </a:solidFill>
                          <a:latin typeface="Arial" panose="020B0604020202020204" pitchFamily="34" charset="0"/>
                          <a:ea typeface="+mn-ea"/>
                          <a:cs typeface="Arial" panose="020B0604020202020204" pitchFamily="34" charset="0"/>
                        </a:rPr>
                        <a:t> </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 the general registers or the OTP mirror registers, will be accessed. The OTP control registers address, 0x3A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extLst>
              <p:ext uri="{D42A27DB-BD31-4B8C-83A1-F6EECF244321}">
                <p14:modId xmlns:p14="http://schemas.microsoft.com/office/powerpoint/2010/main" val="1598951682"/>
              </p:ext>
            </p:extLst>
          </p:nvPr>
        </p:nvGraphicFramePr>
        <p:xfrm>
          <a:off x="404813" y="1116358"/>
          <a:ext cx="6046636" cy="372600"/>
        </p:xfrm>
        <a:graphic>
          <a:graphicData uri="http://schemas.openxmlformats.org/drawingml/2006/table">
            <a:tbl>
              <a:tblPr firstRow="1" bandRow="1">
                <a:tableStyleId>{5C22544A-7EE6-4342-B048-85BDC9FD1C3A}</a:tableStyleId>
              </a:tblPr>
              <a:tblGrid>
                <a:gridCol w="352395">
                  <a:extLst>
                    <a:ext uri="{9D8B030D-6E8A-4147-A177-3AD203B41FA5}">
                      <a16:colId xmlns:a16="http://schemas.microsoft.com/office/drawing/2014/main" val="657570846"/>
                    </a:ext>
                  </a:extLst>
                </a:gridCol>
                <a:gridCol w="380736">
                  <a:extLst>
                    <a:ext uri="{9D8B030D-6E8A-4147-A177-3AD203B41FA5}">
                      <a16:colId xmlns:a16="http://schemas.microsoft.com/office/drawing/2014/main" val="3259894497"/>
                    </a:ext>
                  </a:extLst>
                </a:gridCol>
                <a:gridCol w="487818">
                  <a:extLst>
                    <a:ext uri="{9D8B030D-6E8A-4147-A177-3AD203B41FA5}">
                      <a16:colId xmlns:a16="http://schemas.microsoft.com/office/drawing/2014/main" val="4170535043"/>
                    </a:ext>
                  </a:extLst>
                </a:gridCol>
                <a:gridCol w="442054">
                  <a:extLst>
                    <a:ext uri="{9D8B030D-6E8A-4147-A177-3AD203B41FA5}">
                      <a16:colId xmlns:a16="http://schemas.microsoft.com/office/drawing/2014/main" val="2079070694"/>
                    </a:ext>
                  </a:extLst>
                </a:gridCol>
                <a:gridCol w="452926">
                  <a:extLst>
                    <a:ext uri="{9D8B030D-6E8A-4147-A177-3AD203B41FA5}">
                      <a16:colId xmlns:a16="http://schemas.microsoft.com/office/drawing/2014/main" val="4213315911"/>
                    </a:ext>
                  </a:extLst>
                </a:gridCol>
                <a:gridCol w="361506">
                  <a:extLst>
                    <a:ext uri="{9D8B030D-6E8A-4147-A177-3AD203B41FA5}">
                      <a16:colId xmlns:a16="http://schemas.microsoft.com/office/drawing/2014/main" val="2769999950"/>
                    </a:ext>
                  </a:extLst>
                </a:gridCol>
                <a:gridCol w="361506">
                  <a:extLst>
                    <a:ext uri="{9D8B030D-6E8A-4147-A177-3AD203B41FA5}">
                      <a16:colId xmlns:a16="http://schemas.microsoft.com/office/drawing/2014/main" val="135637185"/>
                    </a:ext>
                  </a:extLst>
                </a:gridCol>
                <a:gridCol w="520160">
                  <a:extLst>
                    <a:ext uri="{9D8B030D-6E8A-4147-A177-3AD203B41FA5}">
                      <a16:colId xmlns:a16="http://schemas.microsoft.com/office/drawing/2014/main" val="3038050475"/>
                    </a:ext>
                  </a:extLst>
                </a:gridCol>
                <a:gridCol w="361506">
                  <a:extLst>
                    <a:ext uri="{9D8B030D-6E8A-4147-A177-3AD203B41FA5}">
                      <a16:colId xmlns:a16="http://schemas.microsoft.com/office/drawing/2014/main" val="1979433044"/>
                    </a:ext>
                  </a:extLst>
                </a:gridCol>
                <a:gridCol w="361506">
                  <a:extLst>
                    <a:ext uri="{9D8B030D-6E8A-4147-A177-3AD203B41FA5}">
                      <a16:colId xmlns:a16="http://schemas.microsoft.com/office/drawing/2014/main" val="4270661649"/>
                    </a:ext>
                  </a:extLst>
                </a:gridCol>
                <a:gridCol w="361506">
                  <a:extLst>
                    <a:ext uri="{9D8B030D-6E8A-4147-A177-3AD203B41FA5}">
                      <a16:colId xmlns:a16="http://schemas.microsoft.com/office/drawing/2014/main" val="3027041370"/>
                    </a:ext>
                  </a:extLst>
                </a:gridCol>
                <a:gridCol w="361506">
                  <a:extLst>
                    <a:ext uri="{9D8B030D-6E8A-4147-A177-3AD203B41FA5}">
                      <a16:colId xmlns:a16="http://schemas.microsoft.com/office/drawing/2014/main" val="2852526216"/>
                    </a:ext>
                  </a:extLst>
                </a:gridCol>
                <a:gridCol w="361506">
                  <a:extLst>
                    <a:ext uri="{9D8B030D-6E8A-4147-A177-3AD203B41FA5}">
                      <a16:colId xmlns:a16="http://schemas.microsoft.com/office/drawing/2014/main" val="103420222"/>
                    </a:ext>
                  </a:extLst>
                </a:gridCol>
                <a:gridCol w="361506">
                  <a:extLst>
                    <a:ext uri="{9D8B030D-6E8A-4147-A177-3AD203B41FA5}">
                      <a16:colId xmlns:a16="http://schemas.microsoft.com/office/drawing/2014/main" val="1470405609"/>
                    </a:ext>
                  </a:extLst>
                </a:gridCol>
                <a:gridCol w="51849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LD_FIX_EN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410942" y="4543110"/>
            <a:ext cx="603358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1208136780"/>
              </p:ext>
            </p:extLst>
          </p:nvPr>
        </p:nvGraphicFramePr>
        <p:xfrm>
          <a:off x="404813" y="6107622"/>
          <a:ext cx="6046638" cy="372600"/>
        </p:xfrm>
        <a:graphic>
          <a:graphicData uri="http://schemas.openxmlformats.org/drawingml/2006/table">
            <a:tbl>
              <a:tblPr firstRow="1" bandRow="1">
                <a:tableStyleId>{5C22544A-7EE6-4342-B048-85BDC9FD1C3A}</a:tableStyleId>
              </a:tblPr>
              <a:tblGrid>
                <a:gridCol w="334854">
                  <a:extLst>
                    <a:ext uri="{9D8B030D-6E8A-4147-A177-3AD203B41FA5}">
                      <a16:colId xmlns:a16="http://schemas.microsoft.com/office/drawing/2014/main" val="657570846"/>
                    </a:ext>
                  </a:extLst>
                </a:gridCol>
                <a:gridCol w="354720">
                  <a:extLst>
                    <a:ext uri="{9D8B030D-6E8A-4147-A177-3AD203B41FA5}">
                      <a16:colId xmlns:a16="http://schemas.microsoft.com/office/drawing/2014/main" val="3259894497"/>
                    </a:ext>
                  </a:extLst>
                </a:gridCol>
                <a:gridCol w="464806">
                  <a:extLst>
                    <a:ext uri="{9D8B030D-6E8A-4147-A177-3AD203B41FA5}">
                      <a16:colId xmlns:a16="http://schemas.microsoft.com/office/drawing/2014/main" val="4170535043"/>
                    </a:ext>
                  </a:extLst>
                </a:gridCol>
                <a:gridCol w="424033">
                  <a:extLst>
                    <a:ext uri="{9D8B030D-6E8A-4147-A177-3AD203B41FA5}">
                      <a16:colId xmlns:a16="http://schemas.microsoft.com/office/drawing/2014/main" val="2079070694"/>
                    </a:ext>
                  </a:extLst>
                </a:gridCol>
                <a:gridCol w="407725">
                  <a:extLst>
                    <a:ext uri="{9D8B030D-6E8A-4147-A177-3AD203B41FA5}">
                      <a16:colId xmlns:a16="http://schemas.microsoft.com/office/drawing/2014/main" val="4213315911"/>
                    </a:ext>
                  </a:extLst>
                </a:gridCol>
                <a:gridCol w="415879">
                  <a:extLst>
                    <a:ext uri="{9D8B030D-6E8A-4147-A177-3AD203B41FA5}">
                      <a16:colId xmlns:a16="http://schemas.microsoft.com/office/drawing/2014/main" val="2769999950"/>
                    </a:ext>
                  </a:extLst>
                </a:gridCol>
                <a:gridCol w="411802">
                  <a:extLst>
                    <a:ext uri="{9D8B030D-6E8A-4147-A177-3AD203B41FA5}">
                      <a16:colId xmlns:a16="http://schemas.microsoft.com/office/drawing/2014/main" val="135637185"/>
                    </a:ext>
                  </a:extLst>
                </a:gridCol>
                <a:gridCol w="411801">
                  <a:extLst>
                    <a:ext uri="{9D8B030D-6E8A-4147-A177-3AD203B41FA5}">
                      <a16:colId xmlns:a16="http://schemas.microsoft.com/office/drawing/2014/main" val="3038050475"/>
                    </a:ext>
                  </a:extLst>
                </a:gridCol>
                <a:gridCol w="411801">
                  <a:extLst>
                    <a:ext uri="{9D8B030D-6E8A-4147-A177-3AD203B41FA5}">
                      <a16:colId xmlns:a16="http://schemas.microsoft.com/office/drawing/2014/main" val="1979433044"/>
                    </a:ext>
                  </a:extLst>
                </a:gridCol>
                <a:gridCol w="415880">
                  <a:extLst>
                    <a:ext uri="{9D8B030D-6E8A-4147-A177-3AD203B41FA5}">
                      <a16:colId xmlns:a16="http://schemas.microsoft.com/office/drawing/2014/main" val="4270661649"/>
                    </a:ext>
                  </a:extLst>
                </a:gridCol>
                <a:gridCol w="398549">
                  <a:extLst>
                    <a:ext uri="{9D8B030D-6E8A-4147-A177-3AD203B41FA5}">
                      <a16:colId xmlns:a16="http://schemas.microsoft.com/office/drawing/2014/main" val="3027041370"/>
                    </a:ext>
                  </a:extLst>
                </a:gridCol>
                <a:gridCol w="398697">
                  <a:extLst>
                    <a:ext uri="{9D8B030D-6E8A-4147-A177-3AD203B41FA5}">
                      <a16:colId xmlns:a16="http://schemas.microsoft.com/office/drawing/2014/main" val="2852526216"/>
                    </a:ext>
                  </a:extLst>
                </a:gridCol>
                <a:gridCol w="398697">
                  <a:extLst>
                    <a:ext uri="{9D8B030D-6E8A-4147-A177-3AD203B41FA5}">
                      <a16:colId xmlns:a16="http://schemas.microsoft.com/office/drawing/2014/main" val="103420222"/>
                    </a:ext>
                  </a:extLst>
                </a:gridCol>
                <a:gridCol w="398697">
                  <a:extLst>
                    <a:ext uri="{9D8B030D-6E8A-4147-A177-3AD203B41FA5}">
                      <a16:colId xmlns:a16="http://schemas.microsoft.com/office/drawing/2014/main" val="1470405609"/>
                    </a:ext>
                  </a:extLst>
                </a:gridCol>
                <a:gridCol w="39869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10942" y="5844536"/>
            <a:ext cx="603964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399530" y="6644560"/>
            <a:ext cx="604500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399529" y="7471060"/>
            <a:ext cx="603601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44452996"/>
              </p:ext>
            </p:extLst>
          </p:nvPr>
        </p:nvGraphicFramePr>
        <p:xfrm>
          <a:off x="399529" y="7737676"/>
          <a:ext cx="6051920" cy="372600"/>
        </p:xfrm>
        <a:graphic>
          <a:graphicData uri="http://schemas.openxmlformats.org/drawingml/2006/table">
            <a:tbl>
              <a:tblPr firstRow="1" bandRow="1">
                <a:tableStyleId>{5C22544A-7EE6-4342-B048-85BDC9FD1C3A}</a:tableStyleId>
              </a:tblPr>
              <a:tblGrid>
                <a:gridCol w="351580">
                  <a:extLst>
                    <a:ext uri="{9D8B030D-6E8A-4147-A177-3AD203B41FA5}">
                      <a16:colId xmlns:a16="http://schemas.microsoft.com/office/drawing/2014/main" val="657570846"/>
                    </a:ext>
                  </a:extLst>
                </a:gridCol>
                <a:gridCol w="386577">
                  <a:extLst>
                    <a:ext uri="{9D8B030D-6E8A-4147-A177-3AD203B41FA5}">
                      <a16:colId xmlns:a16="http://schemas.microsoft.com/office/drawing/2014/main" val="3259894497"/>
                    </a:ext>
                  </a:extLst>
                </a:gridCol>
                <a:gridCol w="454327">
                  <a:extLst>
                    <a:ext uri="{9D8B030D-6E8A-4147-A177-3AD203B41FA5}">
                      <a16:colId xmlns:a16="http://schemas.microsoft.com/office/drawing/2014/main" val="4170535043"/>
                    </a:ext>
                  </a:extLst>
                </a:gridCol>
                <a:gridCol w="404953">
                  <a:extLst>
                    <a:ext uri="{9D8B030D-6E8A-4147-A177-3AD203B41FA5}">
                      <a16:colId xmlns:a16="http://schemas.microsoft.com/office/drawing/2014/main" val="2079070694"/>
                    </a:ext>
                  </a:extLst>
                </a:gridCol>
                <a:gridCol w="404953">
                  <a:extLst>
                    <a:ext uri="{9D8B030D-6E8A-4147-A177-3AD203B41FA5}">
                      <a16:colId xmlns:a16="http://schemas.microsoft.com/office/drawing/2014/main" val="4213315911"/>
                    </a:ext>
                  </a:extLst>
                </a:gridCol>
                <a:gridCol w="404953">
                  <a:extLst>
                    <a:ext uri="{9D8B030D-6E8A-4147-A177-3AD203B41FA5}">
                      <a16:colId xmlns:a16="http://schemas.microsoft.com/office/drawing/2014/main" val="2769999950"/>
                    </a:ext>
                  </a:extLst>
                </a:gridCol>
                <a:gridCol w="404953">
                  <a:extLst>
                    <a:ext uri="{9D8B030D-6E8A-4147-A177-3AD203B41FA5}">
                      <a16:colId xmlns:a16="http://schemas.microsoft.com/office/drawing/2014/main" val="135637185"/>
                    </a:ext>
                  </a:extLst>
                </a:gridCol>
                <a:gridCol w="404953">
                  <a:extLst>
                    <a:ext uri="{9D8B030D-6E8A-4147-A177-3AD203B41FA5}">
                      <a16:colId xmlns:a16="http://schemas.microsoft.com/office/drawing/2014/main" val="3038050475"/>
                    </a:ext>
                  </a:extLst>
                </a:gridCol>
                <a:gridCol w="404953">
                  <a:extLst>
                    <a:ext uri="{9D8B030D-6E8A-4147-A177-3AD203B41FA5}">
                      <a16:colId xmlns:a16="http://schemas.microsoft.com/office/drawing/2014/main" val="1979433044"/>
                    </a:ext>
                  </a:extLst>
                </a:gridCol>
                <a:gridCol w="404953">
                  <a:extLst>
                    <a:ext uri="{9D8B030D-6E8A-4147-A177-3AD203B41FA5}">
                      <a16:colId xmlns:a16="http://schemas.microsoft.com/office/drawing/2014/main" val="4270661649"/>
                    </a:ext>
                  </a:extLst>
                </a:gridCol>
                <a:gridCol w="404953">
                  <a:extLst>
                    <a:ext uri="{9D8B030D-6E8A-4147-A177-3AD203B41FA5}">
                      <a16:colId xmlns:a16="http://schemas.microsoft.com/office/drawing/2014/main" val="3027041370"/>
                    </a:ext>
                  </a:extLst>
                </a:gridCol>
                <a:gridCol w="404953">
                  <a:extLst>
                    <a:ext uri="{9D8B030D-6E8A-4147-A177-3AD203B41FA5}">
                      <a16:colId xmlns:a16="http://schemas.microsoft.com/office/drawing/2014/main" val="2852526216"/>
                    </a:ext>
                  </a:extLst>
                </a:gridCol>
                <a:gridCol w="404953">
                  <a:extLst>
                    <a:ext uri="{9D8B030D-6E8A-4147-A177-3AD203B41FA5}">
                      <a16:colId xmlns:a16="http://schemas.microsoft.com/office/drawing/2014/main" val="103420222"/>
                    </a:ext>
                  </a:extLst>
                </a:gridCol>
                <a:gridCol w="404953">
                  <a:extLst>
                    <a:ext uri="{9D8B030D-6E8A-4147-A177-3AD203B41FA5}">
                      <a16:colId xmlns:a16="http://schemas.microsoft.com/office/drawing/2014/main" val="1470405609"/>
                    </a:ext>
                  </a:extLst>
                </a:gridCol>
                <a:gridCol w="40495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936938915"/>
              </p:ext>
            </p:extLst>
          </p:nvPr>
        </p:nvGraphicFramePr>
        <p:xfrm>
          <a:off x="404813" y="5295388"/>
          <a:ext cx="6046639" cy="372600"/>
        </p:xfrm>
        <a:graphic>
          <a:graphicData uri="http://schemas.openxmlformats.org/drawingml/2006/table">
            <a:tbl>
              <a:tblPr firstRow="1" bandRow="1">
                <a:tableStyleId>{5C22544A-7EE6-4342-B048-85BDC9FD1C3A}</a:tableStyleId>
              </a:tblPr>
              <a:tblGrid>
                <a:gridCol w="344538">
                  <a:extLst>
                    <a:ext uri="{9D8B030D-6E8A-4147-A177-3AD203B41FA5}">
                      <a16:colId xmlns:a16="http://schemas.microsoft.com/office/drawing/2014/main" val="657570846"/>
                    </a:ext>
                  </a:extLst>
                </a:gridCol>
                <a:gridCol w="352205">
                  <a:extLst>
                    <a:ext uri="{9D8B030D-6E8A-4147-A177-3AD203B41FA5}">
                      <a16:colId xmlns:a16="http://schemas.microsoft.com/office/drawing/2014/main" val="3259894497"/>
                    </a:ext>
                  </a:extLst>
                </a:gridCol>
                <a:gridCol w="466878">
                  <a:extLst>
                    <a:ext uri="{9D8B030D-6E8A-4147-A177-3AD203B41FA5}">
                      <a16:colId xmlns:a16="http://schemas.microsoft.com/office/drawing/2014/main" val="4170535043"/>
                    </a:ext>
                  </a:extLst>
                </a:gridCol>
                <a:gridCol w="370489">
                  <a:extLst>
                    <a:ext uri="{9D8B030D-6E8A-4147-A177-3AD203B41FA5}">
                      <a16:colId xmlns:a16="http://schemas.microsoft.com/office/drawing/2014/main" val="2079070694"/>
                    </a:ext>
                  </a:extLst>
                </a:gridCol>
                <a:gridCol w="503745">
                  <a:extLst>
                    <a:ext uri="{9D8B030D-6E8A-4147-A177-3AD203B41FA5}">
                      <a16:colId xmlns:a16="http://schemas.microsoft.com/office/drawing/2014/main" val="4213315911"/>
                    </a:ext>
                  </a:extLst>
                </a:gridCol>
                <a:gridCol w="402065">
                  <a:extLst>
                    <a:ext uri="{9D8B030D-6E8A-4147-A177-3AD203B41FA5}">
                      <a16:colId xmlns:a16="http://schemas.microsoft.com/office/drawing/2014/main" val="2769999950"/>
                    </a:ext>
                  </a:extLst>
                </a:gridCol>
                <a:gridCol w="402065">
                  <a:extLst>
                    <a:ext uri="{9D8B030D-6E8A-4147-A177-3AD203B41FA5}">
                      <a16:colId xmlns:a16="http://schemas.microsoft.com/office/drawing/2014/main" val="135637185"/>
                    </a:ext>
                  </a:extLst>
                </a:gridCol>
                <a:gridCol w="402065">
                  <a:extLst>
                    <a:ext uri="{9D8B030D-6E8A-4147-A177-3AD203B41FA5}">
                      <a16:colId xmlns:a16="http://schemas.microsoft.com/office/drawing/2014/main" val="3038050475"/>
                    </a:ext>
                  </a:extLst>
                </a:gridCol>
                <a:gridCol w="402065">
                  <a:extLst>
                    <a:ext uri="{9D8B030D-6E8A-4147-A177-3AD203B41FA5}">
                      <a16:colId xmlns:a16="http://schemas.microsoft.com/office/drawing/2014/main" val="1979433044"/>
                    </a:ext>
                  </a:extLst>
                </a:gridCol>
                <a:gridCol w="402065">
                  <a:extLst>
                    <a:ext uri="{9D8B030D-6E8A-4147-A177-3AD203B41FA5}">
                      <a16:colId xmlns:a16="http://schemas.microsoft.com/office/drawing/2014/main" val="4270661649"/>
                    </a:ext>
                  </a:extLst>
                </a:gridCol>
                <a:gridCol w="402065">
                  <a:extLst>
                    <a:ext uri="{9D8B030D-6E8A-4147-A177-3AD203B41FA5}">
                      <a16:colId xmlns:a16="http://schemas.microsoft.com/office/drawing/2014/main" val="3027041370"/>
                    </a:ext>
                  </a:extLst>
                </a:gridCol>
                <a:gridCol w="402065">
                  <a:extLst>
                    <a:ext uri="{9D8B030D-6E8A-4147-A177-3AD203B41FA5}">
                      <a16:colId xmlns:a16="http://schemas.microsoft.com/office/drawing/2014/main" val="2852526216"/>
                    </a:ext>
                  </a:extLst>
                </a:gridCol>
                <a:gridCol w="402065">
                  <a:extLst>
                    <a:ext uri="{9D8B030D-6E8A-4147-A177-3AD203B41FA5}">
                      <a16:colId xmlns:a16="http://schemas.microsoft.com/office/drawing/2014/main" val="103420222"/>
                    </a:ext>
                  </a:extLst>
                </a:gridCol>
                <a:gridCol w="402065">
                  <a:extLst>
                    <a:ext uri="{9D8B030D-6E8A-4147-A177-3AD203B41FA5}">
                      <a16:colId xmlns:a16="http://schemas.microsoft.com/office/drawing/2014/main" val="1470405609"/>
                    </a:ext>
                  </a:extLst>
                </a:gridCol>
                <a:gridCol w="39019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1211318646"/>
              </p:ext>
            </p:extLst>
          </p:nvPr>
        </p:nvGraphicFramePr>
        <p:xfrm>
          <a:off x="404813" y="4804458"/>
          <a:ext cx="6046643" cy="372600"/>
        </p:xfrm>
        <a:graphic>
          <a:graphicData uri="http://schemas.openxmlformats.org/drawingml/2006/table">
            <a:tbl>
              <a:tblPr firstRow="1" bandRow="1">
                <a:tableStyleId>{5C22544A-7EE6-4342-B048-85BDC9FD1C3A}</a:tableStyleId>
              </a:tblPr>
              <a:tblGrid>
                <a:gridCol w="345503">
                  <a:extLst>
                    <a:ext uri="{9D8B030D-6E8A-4147-A177-3AD203B41FA5}">
                      <a16:colId xmlns:a16="http://schemas.microsoft.com/office/drawing/2014/main" val="657570846"/>
                    </a:ext>
                  </a:extLst>
                </a:gridCol>
                <a:gridCol w="357906">
                  <a:extLst>
                    <a:ext uri="{9D8B030D-6E8A-4147-A177-3AD203B41FA5}">
                      <a16:colId xmlns:a16="http://schemas.microsoft.com/office/drawing/2014/main" val="3259894497"/>
                    </a:ext>
                  </a:extLst>
                </a:gridCol>
                <a:gridCol w="465846">
                  <a:extLst>
                    <a:ext uri="{9D8B030D-6E8A-4147-A177-3AD203B41FA5}">
                      <a16:colId xmlns:a16="http://schemas.microsoft.com/office/drawing/2014/main" val="4170535043"/>
                    </a:ext>
                  </a:extLst>
                </a:gridCol>
                <a:gridCol w="327561">
                  <a:extLst>
                    <a:ext uri="{9D8B030D-6E8A-4147-A177-3AD203B41FA5}">
                      <a16:colId xmlns:a16="http://schemas.microsoft.com/office/drawing/2014/main" val="2079070694"/>
                    </a:ext>
                  </a:extLst>
                </a:gridCol>
                <a:gridCol w="418616">
                  <a:extLst>
                    <a:ext uri="{9D8B030D-6E8A-4147-A177-3AD203B41FA5}">
                      <a16:colId xmlns:a16="http://schemas.microsoft.com/office/drawing/2014/main" val="4213315911"/>
                    </a:ext>
                  </a:extLst>
                </a:gridCol>
                <a:gridCol w="334121">
                  <a:extLst>
                    <a:ext uri="{9D8B030D-6E8A-4147-A177-3AD203B41FA5}">
                      <a16:colId xmlns:a16="http://schemas.microsoft.com/office/drawing/2014/main" val="2769999950"/>
                    </a:ext>
                  </a:extLst>
                </a:gridCol>
                <a:gridCol w="334121">
                  <a:extLst>
                    <a:ext uri="{9D8B030D-6E8A-4147-A177-3AD203B41FA5}">
                      <a16:colId xmlns:a16="http://schemas.microsoft.com/office/drawing/2014/main" val="135637185"/>
                    </a:ext>
                  </a:extLst>
                </a:gridCol>
                <a:gridCol w="334121">
                  <a:extLst>
                    <a:ext uri="{9D8B030D-6E8A-4147-A177-3AD203B41FA5}">
                      <a16:colId xmlns:a16="http://schemas.microsoft.com/office/drawing/2014/main" val="3038050475"/>
                    </a:ext>
                  </a:extLst>
                </a:gridCol>
                <a:gridCol w="334121">
                  <a:extLst>
                    <a:ext uri="{9D8B030D-6E8A-4147-A177-3AD203B41FA5}">
                      <a16:colId xmlns:a16="http://schemas.microsoft.com/office/drawing/2014/main" val="1979433044"/>
                    </a:ext>
                  </a:extLst>
                </a:gridCol>
                <a:gridCol w="334121">
                  <a:extLst>
                    <a:ext uri="{9D8B030D-6E8A-4147-A177-3AD203B41FA5}">
                      <a16:colId xmlns:a16="http://schemas.microsoft.com/office/drawing/2014/main" val="4270661649"/>
                    </a:ext>
                  </a:extLst>
                </a:gridCol>
                <a:gridCol w="334121">
                  <a:extLst>
                    <a:ext uri="{9D8B030D-6E8A-4147-A177-3AD203B41FA5}">
                      <a16:colId xmlns:a16="http://schemas.microsoft.com/office/drawing/2014/main" val="3027041370"/>
                    </a:ext>
                  </a:extLst>
                </a:gridCol>
                <a:gridCol w="517119">
                  <a:extLst>
                    <a:ext uri="{9D8B030D-6E8A-4147-A177-3AD203B41FA5}">
                      <a16:colId xmlns:a16="http://schemas.microsoft.com/office/drawing/2014/main" val="2852526216"/>
                    </a:ext>
                  </a:extLst>
                </a:gridCol>
                <a:gridCol w="517119">
                  <a:extLst>
                    <a:ext uri="{9D8B030D-6E8A-4147-A177-3AD203B41FA5}">
                      <a16:colId xmlns:a16="http://schemas.microsoft.com/office/drawing/2014/main" val="103420222"/>
                    </a:ext>
                  </a:extLst>
                </a:gridCol>
                <a:gridCol w="517119">
                  <a:extLst>
                    <a:ext uri="{9D8B030D-6E8A-4147-A177-3AD203B41FA5}">
                      <a16:colId xmlns:a16="http://schemas.microsoft.com/office/drawing/2014/main" val="1470405609"/>
                    </a:ext>
                  </a:extLst>
                </a:gridCol>
                <a:gridCol w="57512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95B9A0BF-47AE-C803-0327-F82DAD28E211}"/>
              </a:ext>
            </a:extLst>
          </p:cNvPr>
          <p:cNvGraphicFramePr>
            <a:graphicFrameLocks noGrp="1"/>
          </p:cNvGraphicFramePr>
          <p:nvPr>
            <p:extLst>
              <p:ext uri="{D42A27DB-BD31-4B8C-83A1-F6EECF244321}">
                <p14:modId xmlns:p14="http://schemas.microsoft.com/office/powerpoint/2010/main" val="3516111785"/>
              </p:ext>
            </p:extLst>
          </p:nvPr>
        </p:nvGraphicFramePr>
        <p:xfrm>
          <a:off x="399529" y="6909748"/>
          <a:ext cx="6051926" cy="372600"/>
        </p:xfrm>
        <a:graphic>
          <a:graphicData uri="http://schemas.openxmlformats.org/drawingml/2006/table">
            <a:tbl>
              <a:tblPr firstRow="1" bandRow="1">
                <a:tableStyleId>{5C22544A-7EE6-4342-B048-85BDC9FD1C3A}</a:tableStyleId>
              </a:tblPr>
              <a:tblGrid>
                <a:gridCol w="350064">
                  <a:extLst>
                    <a:ext uri="{9D8B030D-6E8A-4147-A177-3AD203B41FA5}">
                      <a16:colId xmlns:a16="http://schemas.microsoft.com/office/drawing/2014/main" val="657570846"/>
                    </a:ext>
                  </a:extLst>
                </a:gridCol>
                <a:gridCol w="342087">
                  <a:extLst>
                    <a:ext uri="{9D8B030D-6E8A-4147-A177-3AD203B41FA5}">
                      <a16:colId xmlns:a16="http://schemas.microsoft.com/office/drawing/2014/main" val="3259894497"/>
                    </a:ext>
                  </a:extLst>
                </a:gridCol>
                <a:gridCol w="469294">
                  <a:extLst>
                    <a:ext uri="{9D8B030D-6E8A-4147-A177-3AD203B41FA5}">
                      <a16:colId xmlns:a16="http://schemas.microsoft.com/office/drawing/2014/main" val="4170535043"/>
                    </a:ext>
                  </a:extLst>
                </a:gridCol>
                <a:gridCol w="328408">
                  <a:extLst>
                    <a:ext uri="{9D8B030D-6E8A-4147-A177-3AD203B41FA5}">
                      <a16:colId xmlns:a16="http://schemas.microsoft.com/office/drawing/2014/main" val="2079070694"/>
                    </a:ext>
                  </a:extLst>
                </a:gridCol>
                <a:gridCol w="293592">
                  <a:extLst>
                    <a:ext uri="{9D8B030D-6E8A-4147-A177-3AD203B41FA5}">
                      <a16:colId xmlns:a16="http://schemas.microsoft.com/office/drawing/2014/main" val="4213315911"/>
                    </a:ext>
                  </a:extLst>
                </a:gridCol>
                <a:gridCol w="279092">
                  <a:extLst>
                    <a:ext uri="{9D8B030D-6E8A-4147-A177-3AD203B41FA5}">
                      <a16:colId xmlns:a16="http://schemas.microsoft.com/office/drawing/2014/main" val="2769999950"/>
                    </a:ext>
                  </a:extLst>
                </a:gridCol>
                <a:gridCol w="279242">
                  <a:extLst>
                    <a:ext uri="{9D8B030D-6E8A-4147-A177-3AD203B41FA5}">
                      <a16:colId xmlns:a16="http://schemas.microsoft.com/office/drawing/2014/main" val="135637185"/>
                    </a:ext>
                  </a:extLst>
                </a:gridCol>
                <a:gridCol w="279242">
                  <a:extLst>
                    <a:ext uri="{9D8B030D-6E8A-4147-A177-3AD203B41FA5}">
                      <a16:colId xmlns:a16="http://schemas.microsoft.com/office/drawing/2014/main" val="3038050475"/>
                    </a:ext>
                  </a:extLst>
                </a:gridCol>
                <a:gridCol w="279242">
                  <a:extLst>
                    <a:ext uri="{9D8B030D-6E8A-4147-A177-3AD203B41FA5}">
                      <a16:colId xmlns:a16="http://schemas.microsoft.com/office/drawing/2014/main" val="1979433044"/>
                    </a:ext>
                  </a:extLst>
                </a:gridCol>
                <a:gridCol w="279242">
                  <a:extLst>
                    <a:ext uri="{9D8B030D-6E8A-4147-A177-3AD203B41FA5}">
                      <a16:colId xmlns:a16="http://schemas.microsoft.com/office/drawing/2014/main" val="4270661649"/>
                    </a:ext>
                  </a:extLst>
                </a:gridCol>
                <a:gridCol w="279242">
                  <a:extLst>
                    <a:ext uri="{9D8B030D-6E8A-4147-A177-3AD203B41FA5}">
                      <a16:colId xmlns:a16="http://schemas.microsoft.com/office/drawing/2014/main" val="3027041370"/>
                    </a:ext>
                  </a:extLst>
                </a:gridCol>
                <a:gridCol w="279242">
                  <a:extLst>
                    <a:ext uri="{9D8B030D-6E8A-4147-A177-3AD203B41FA5}">
                      <a16:colId xmlns:a16="http://schemas.microsoft.com/office/drawing/2014/main" val="2852526216"/>
                    </a:ext>
                  </a:extLst>
                </a:gridCol>
                <a:gridCol w="279242">
                  <a:extLst>
                    <a:ext uri="{9D8B030D-6E8A-4147-A177-3AD203B41FA5}">
                      <a16:colId xmlns:a16="http://schemas.microsoft.com/office/drawing/2014/main" val="103420222"/>
                    </a:ext>
                  </a:extLst>
                </a:gridCol>
                <a:gridCol w="1016331">
                  <a:extLst>
                    <a:ext uri="{9D8B030D-6E8A-4147-A177-3AD203B41FA5}">
                      <a16:colId xmlns:a16="http://schemas.microsoft.com/office/drawing/2014/main" val="1470405609"/>
                    </a:ext>
                  </a:extLst>
                </a:gridCol>
                <a:gridCol w="10183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3" name="TextBox 22">
            <a:extLst>
              <a:ext uri="{FF2B5EF4-FFF2-40B4-BE49-F238E27FC236}">
                <a16:creationId xmlns:a16="http://schemas.microsoft.com/office/drawing/2014/main" id="{8ADA6022-234C-2371-6CB3-F17AF955CAB0}"/>
              </a:ext>
            </a:extLst>
          </p:cNvPr>
          <p:cNvSpPr txBox="1"/>
          <p:nvPr/>
        </p:nvSpPr>
        <p:spPr>
          <a:xfrm>
            <a:off x="399454" y="8267111"/>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3" name="표 2">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3180258402"/>
              </p:ext>
            </p:extLst>
          </p:nvPr>
        </p:nvGraphicFramePr>
        <p:xfrm>
          <a:off x="399454" y="8478482"/>
          <a:ext cx="6044003" cy="372600"/>
        </p:xfrm>
        <a:graphic>
          <a:graphicData uri="http://schemas.openxmlformats.org/drawingml/2006/table">
            <a:tbl>
              <a:tblPr firstRow="1" bandRow="1">
                <a:tableStyleId>{5C22544A-7EE6-4342-B048-85BDC9FD1C3A}</a:tableStyleId>
              </a:tblPr>
              <a:tblGrid>
                <a:gridCol w="338405">
                  <a:extLst>
                    <a:ext uri="{9D8B030D-6E8A-4147-A177-3AD203B41FA5}">
                      <a16:colId xmlns:a16="http://schemas.microsoft.com/office/drawing/2014/main" val="657570846"/>
                    </a:ext>
                  </a:extLst>
                </a:gridCol>
                <a:gridCol w="396012">
                  <a:extLst>
                    <a:ext uri="{9D8B030D-6E8A-4147-A177-3AD203B41FA5}">
                      <a16:colId xmlns:a16="http://schemas.microsoft.com/office/drawing/2014/main" val="3259894497"/>
                    </a:ext>
                  </a:extLst>
                </a:gridCol>
                <a:gridCol w="460561">
                  <a:extLst>
                    <a:ext uri="{9D8B030D-6E8A-4147-A177-3AD203B41FA5}">
                      <a16:colId xmlns:a16="http://schemas.microsoft.com/office/drawing/2014/main" val="4170535043"/>
                    </a:ext>
                  </a:extLst>
                </a:gridCol>
                <a:gridCol w="475685">
                  <a:extLst>
                    <a:ext uri="{9D8B030D-6E8A-4147-A177-3AD203B41FA5}">
                      <a16:colId xmlns:a16="http://schemas.microsoft.com/office/drawing/2014/main" val="2079070694"/>
                    </a:ext>
                  </a:extLst>
                </a:gridCol>
                <a:gridCol w="418251">
                  <a:extLst>
                    <a:ext uri="{9D8B030D-6E8A-4147-A177-3AD203B41FA5}">
                      <a16:colId xmlns:a16="http://schemas.microsoft.com/office/drawing/2014/main" val="4213315911"/>
                    </a:ext>
                  </a:extLst>
                </a:gridCol>
                <a:gridCol w="397152">
                  <a:extLst>
                    <a:ext uri="{9D8B030D-6E8A-4147-A177-3AD203B41FA5}">
                      <a16:colId xmlns:a16="http://schemas.microsoft.com/office/drawing/2014/main" val="2769999950"/>
                    </a:ext>
                  </a:extLst>
                </a:gridCol>
                <a:gridCol w="397152">
                  <a:extLst>
                    <a:ext uri="{9D8B030D-6E8A-4147-A177-3AD203B41FA5}">
                      <a16:colId xmlns:a16="http://schemas.microsoft.com/office/drawing/2014/main" val="135637185"/>
                    </a:ext>
                  </a:extLst>
                </a:gridCol>
                <a:gridCol w="397152">
                  <a:extLst>
                    <a:ext uri="{9D8B030D-6E8A-4147-A177-3AD203B41FA5}">
                      <a16:colId xmlns:a16="http://schemas.microsoft.com/office/drawing/2014/main" val="3038050475"/>
                    </a:ext>
                  </a:extLst>
                </a:gridCol>
                <a:gridCol w="397152">
                  <a:extLst>
                    <a:ext uri="{9D8B030D-6E8A-4147-A177-3AD203B41FA5}">
                      <a16:colId xmlns:a16="http://schemas.microsoft.com/office/drawing/2014/main" val="1979433044"/>
                    </a:ext>
                  </a:extLst>
                </a:gridCol>
                <a:gridCol w="397152">
                  <a:extLst>
                    <a:ext uri="{9D8B030D-6E8A-4147-A177-3AD203B41FA5}">
                      <a16:colId xmlns:a16="http://schemas.microsoft.com/office/drawing/2014/main" val="4270661649"/>
                    </a:ext>
                  </a:extLst>
                </a:gridCol>
                <a:gridCol w="397152">
                  <a:extLst>
                    <a:ext uri="{9D8B030D-6E8A-4147-A177-3AD203B41FA5}">
                      <a16:colId xmlns:a16="http://schemas.microsoft.com/office/drawing/2014/main" val="3027041370"/>
                    </a:ext>
                  </a:extLst>
                </a:gridCol>
                <a:gridCol w="397152">
                  <a:extLst>
                    <a:ext uri="{9D8B030D-6E8A-4147-A177-3AD203B41FA5}">
                      <a16:colId xmlns:a16="http://schemas.microsoft.com/office/drawing/2014/main" val="2852526216"/>
                    </a:ext>
                  </a:extLst>
                </a:gridCol>
                <a:gridCol w="397152">
                  <a:extLst>
                    <a:ext uri="{9D8B030D-6E8A-4147-A177-3AD203B41FA5}">
                      <a16:colId xmlns:a16="http://schemas.microsoft.com/office/drawing/2014/main" val="103420222"/>
                    </a:ext>
                  </a:extLst>
                </a:gridCol>
                <a:gridCol w="397152">
                  <a:extLst>
                    <a:ext uri="{9D8B030D-6E8A-4147-A177-3AD203B41FA5}">
                      <a16:colId xmlns:a16="http://schemas.microsoft.com/office/drawing/2014/main" val="1470405609"/>
                    </a:ext>
                  </a:extLst>
                </a:gridCol>
                <a:gridCol w="38072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07895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391811" y="1577242"/>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CTL</a:t>
            </a:r>
          </a:p>
        </p:txBody>
      </p:sp>
      <p:sp>
        <p:nvSpPr>
          <p:cNvPr id="12" name="TextBox 11">
            <a:extLst>
              <a:ext uri="{FF2B5EF4-FFF2-40B4-BE49-F238E27FC236}">
                <a16:creationId xmlns:a16="http://schemas.microsoft.com/office/drawing/2014/main" id="{704DB72B-2006-4821-8B38-D02A5A436DB3}"/>
              </a:ext>
            </a:extLst>
          </p:cNvPr>
          <p:cNvSpPr txBox="1"/>
          <p:nvPr/>
        </p:nvSpPr>
        <p:spPr>
          <a:xfrm>
            <a:off x="396635" y="992188"/>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a:t>
            </a:r>
          </a:p>
        </p:txBody>
      </p:sp>
      <p:graphicFrame>
        <p:nvGraphicFramePr>
          <p:cNvPr id="13" name="표 12">
            <a:extLst>
              <a:ext uri="{FF2B5EF4-FFF2-40B4-BE49-F238E27FC236}">
                <a16:creationId xmlns:a16="http://schemas.microsoft.com/office/drawing/2014/main" id="{3780A594-159F-7DCD-D930-9F425E6521FB}"/>
              </a:ext>
            </a:extLst>
          </p:cNvPr>
          <p:cNvGraphicFramePr>
            <a:graphicFrameLocks noGrp="1"/>
          </p:cNvGraphicFramePr>
          <p:nvPr>
            <p:extLst>
              <p:ext uri="{D42A27DB-BD31-4B8C-83A1-F6EECF244321}">
                <p14:modId xmlns:p14="http://schemas.microsoft.com/office/powerpoint/2010/main" val="874862164"/>
              </p:ext>
            </p:extLst>
          </p:nvPr>
        </p:nvGraphicFramePr>
        <p:xfrm>
          <a:off x="391799" y="1797592"/>
          <a:ext cx="6044000" cy="372600"/>
        </p:xfrm>
        <a:graphic>
          <a:graphicData uri="http://schemas.openxmlformats.org/drawingml/2006/table">
            <a:tbl>
              <a:tblPr firstRow="1" bandRow="1">
                <a:tableStyleId>{5C22544A-7EE6-4342-B048-85BDC9FD1C3A}</a:tableStyleId>
              </a:tblPr>
              <a:tblGrid>
                <a:gridCol w="338828">
                  <a:extLst>
                    <a:ext uri="{9D8B030D-6E8A-4147-A177-3AD203B41FA5}">
                      <a16:colId xmlns:a16="http://schemas.microsoft.com/office/drawing/2014/main" val="657570846"/>
                    </a:ext>
                  </a:extLst>
                </a:gridCol>
                <a:gridCol w="397500">
                  <a:extLst>
                    <a:ext uri="{9D8B030D-6E8A-4147-A177-3AD203B41FA5}">
                      <a16:colId xmlns:a16="http://schemas.microsoft.com/office/drawing/2014/main" val="3259894497"/>
                    </a:ext>
                  </a:extLst>
                </a:gridCol>
                <a:gridCol w="459963">
                  <a:extLst>
                    <a:ext uri="{9D8B030D-6E8A-4147-A177-3AD203B41FA5}">
                      <a16:colId xmlns:a16="http://schemas.microsoft.com/office/drawing/2014/main" val="4170535043"/>
                    </a:ext>
                  </a:extLst>
                </a:gridCol>
                <a:gridCol w="403178">
                  <a:extLst>
                    <a:ext uri="{9D8B030D-6E8A-4147-A177-3AD203B41FA5}">
                      <a16:colId xmlns:a16="http://schemas.microsoft.com/office/drawing/2014/main" val="2079070694"/>
                    </a:ext>
                  </a:extLst>
                </a:gridCol>
                <a:gridCol w="425892">
                  <a:extLst>
                    <a:ext uri="{9D8B030D-6E8A-4147-A177-3AD203B41FA5}">
                      <a16:colId xmlns:a16="http://schemas.microsoft.com/office/drawing/2014/main" val="4213315911"/>
                    </a:ext>
                  </a:extLst>
                </a:gridCol>
                <a:gridCol w="420213">
                  <a:extLst>
                    <a:ext uri="{9D8B030D-6E8A-4147-A177-3AD203B41FA5}">
                      <a16:colId xmlns:a16="http://schemas.microsoft.com/office/drawing/2014/main" val="2769999950"/>
                    </a:ext>
                  </a:extLst>
                </a:gridCol>
                <a:gridCol w="414535">
                  <a:extLst>
                    <a:ext uri="{9D8B030D-6E8A-4147-A177-3AD203B41FA5}">
                      <a16:colId xmlns:a16="http://schemas.microsoft.com/office/drawing/2014/main" val="135637185"/>
                    </a:ext>
                  </a:extLst>
                </a:gridCol>
                <a:gridCol w="420213">
                  <a:extLst>
                    <a:ext uri="{9D8B030D-6E8A-4147-A177-3AD203B41FA5}">
                      <a16:colId xmlns:a16="http://schemas.microsoft.com/office/drawing/2014/main" val="3038050475"/>
                    </a:ext>
                  </a:extLst>
                </a:gridCol>
                <a:gridCol w="414535">
                  <a:extLst>
                    <a:ext uri="{9D8B030D-6E8A-4147-A177-3AD203B41FA5}">
                      <a16:colId xmlns:a16="http://schemas.microsoft.com/office/drawing/2014/main" val="1979433044"/>
                    </a:ext>
                  </a:extLst>
                </a:gridCol>
                <a:gridCol w="393546">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VREF_CTL [4:0]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5" name="표 4">
            <a:extLst>
              <a:ext uri="{FF2B5EF4-FFF2-40B4-BE49-F238E27FC236}">
                <a16:creationId xmlns:a16="http://schemas.microsoft.com/office/drawing/2014/main" id="{15D0392E-6F76-D51A-169C-C703D102B1D4}"/>
              </a:ext>
            </a:extLst>
          </p:cNvPr>
          <p:cNvGraphicFramePr>
            <a:graphicFrameLocks noGrp="1"/>
          </p:cNvGraphicFramePr>
          <p:nvPr>
            <p:extLst>
              <p:ext uri="{D42A27DB-BD31-4B8C-83A1-F6EECF244321}">
                <p14:modId xmlns:p14="http://schemas.microsoft.com/office/powerpoint/2010/main" val="3496611598"/>
              </p:ext>
            </p:extLst>
          </p:nvPr>
        </p:nvGraphicFramePr>
        <p:xfrm>
          <a:off x="386687" y="2387455"/>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42D9E868-6B5A-B0AC-6C60-D80C31049C47}"/>
              </a:ext>
            </a:extLst>
          </p:cNvPr>
          <p:cNvGraphicFramePr>
            <a:graphicFrameLocks noGrp="1"/>
          </p:cNvGraphicFramePr>
          <p:nvPr>
            <p:extLst>
              <p:ext uri="{D42A27DB-BD31-4B8C-83A1-F6EECF244321}">
                <p14:modId xmlns:p14="http://schemas.microsoft.com/office/powerpoint/2010/main" val="550052008"/>
              </p:ext>
            </p:extLst>
          </p:nvPr>
        </p:nvGraphicFramePr>
        <p:xfrm>
          <a:off x="398454" y="1201845"/>
          <a:ext cx="6045003" cy="372600"/>
        </p:xfrm>
        <a:graphic>
          <a:graphicData uri="http://schemas.openxmlformats.org/drawingml/2006/table">
            <a:tbl>
              <a:tblPr firstRow="1" bandRow="1">
                <a:tableStyleId>{5C22544A-7EE6-4342-B048-85BDC9FD1C3A}</a:tableStyleId>
              </a:tblPr>
              <a:tblGrid>
                <a:gridCol w="344563">
                  <a:extLst>
                    <a:ext uri="{9D8B030D-6E8A-4147-A177-3AD203B41FA5}">
                      <a16:colId xmlns:a16="http://schemas.microsoft.com/office/drawing/2014/main" val="657570846"/>
                    </a:ext>
                  </a:extLst>
                </a:gridCol>
                <a:gridCol w="391886">
                  <a:extLst>
                    <a:ext uri="{9D8B030D-6E8A-4147-A177-3AD203B41FA5}">
                      <a16:colId xmlns:a16="http://schemas.microsoft.com/office/drawing/2014/main" val="3259894497"/>
                    </a:ext>
                  </a:extLst>
                </a:gridCol>
                <a:gridCol w="465719">
                  <a:extLst>
                    <a:ext uri="{9D8B030D-6E8A-4147-A177-3AD203B41FA5}">
                      <a16:colId xmlns:a16="http://schemas.microsoft.com/office/drawing/2014/main" val="4170535043"/>
                    </a:ext>
                  </a:extLst>
                </a:gridCol>
                <a:gridCol w="420283">
                  <a:extLst>
                    <a:ext uri="{9D8B030D-6E8A-4147-A177-3AD203B41FA5}">
                      <a16:colId xmlns:a16="http://schemas.microsoft.com/office/drawing/2014/main" val="2079070694"/>
                    </a:ext>
                  </a:extLst>
                </a:gridCol>
                <a:gridCol w="397565">
                  <a:extLst>
                    <a:ext uri="{9D8B030D-6E8A-4147-A177-3AD203B41FA5}">
                      <a16:colId xmlns:a16="http://schemas.microsoft.com/office/drawing/2014/main" val="4213315911"/>
                    </a:ext>
                  </a:extLst>
                </a:gridCol>
                <a:gridCol w="414604">
                  <a:extLst>
                    <a:ext uri="{9D8B030D-6E8A-4147-A177-3AD203B41FA5}">
                      <a16:colId xmlns:a16="http://schemas.microsoft.com/office/drawing/2014/main" val="2769999950"/>
                    </a:ext>
                  </a:extLst>
                </a:gridCol>
                <a:gridCol w="414604">
                  <a:extLst>
                    <a:ext uri="{9D8B030D-6E8A-4147-A177-3AD203B41FA5}">
                      <a16:colId xmlns:a16="http://schemas.microsoft.com/office/drawing/2014/main" val="135637185"/>
                    </a:ext>
                  </a:extLst>
                </a:gridCol>
                <a:gridCol w="394044">
                  <a:extLst>
                    <a:ext uri="{9D8B030D-6E8A-4147-A177-3AD203B41FA5}">
                      <a16:colId xmlns:a16="http://schemas.microsoft.com/office/drawing/2014/main" val="3038050475"/>
                    </a:ext>
                  </a:extLst>
                </a:gridCol>
                <a:gridCol w="422907">
                  <a:extLst>
                    <a:ext uri="{9D8B030D-6E8A-4147-A177-3AD203B41FA5}">
                      <a16:colId xmlns:a16="http://schemas.microsoft.com/office/drawing/2014/main" val="1979433044"/>
                    </a:ext>
                  </a:extLst>
                </a:gridCol>
                <a:gridCol w="422907">
                  <a:extLst>
                    <a:ext uri="{9D8B030D-6E8A-4147-A177-3AD203B41FA5}">
                      <a16:colId xmlns:a16="http://schemas.microsoft.com/office/drawing/2014/main" val="4270661649"/>
                    </a:ext>
                  </a:extLst>
                </a:gridCol>
                <a:gridCol w="422907">
                  <a:extLst>
                    <a:ext uri="{9D8B030D-6E8A-4147-A177-3AD203B41FA5}">
                      <a16:colId xmlns:a16="http://schemas.microsoft.com/office/drawing/2014/main" val="3027041370"/>
                    </a:ext>
                  </a:extLst>
                </a:gridCol>
                <a:gridCol w="422907">
                  <a:extLst>
                    <a:ext uri="{9D8B030D-6E8A-4147-A177-3AD203B41FA5}">
                      <a16:colId xmlns:a16="http://schemas.microsoft.com/office/drawing/2014/main" val="2852526216"/>
                    </a:ext>
                  </a:extLst>
                </a:gridCol>
                <a:gridCol w="422907">
                  <a:extLst>
                    <a:ext uri="{9D8B030D-6E8A-4147-A177-3AD203B41FA5}">
                      <a16:colId xmlns:a16="http://schemas.microsoft.com/office/drawing/2014/main" val="103420222"/>
                    </a:ext>
                  </a:extLst>
                </a:gridCol>
                <a:gridCol w="342142">
                  <a:extLst>
                    <a:ext uri="{9D8B030D-6E8A-4147-A177-3AD203B41FA5}">
                      <a16:colId xmlns:a16="http://schemas.microsoft.com/office/drawing/2014/main" val="1470405609"/>
                    </a:ext>
                  </a:extLst>
                </a:gridCol>
                <a:gridCol w="34505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6A7FA619-4E35-FB0E-C207-1DA325083542}"/>
              </a:ext>
            </a:extLst>
          </p:cNvPr>
          <p:cNvSpPr txBox="1"/>
          <p:nvPr/>
        </p:nvSpPr>
        <p:spPr>
          <a:xfrm>
            <a:off x="391414" y="2169508"/>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2572155396"/>
              </p:ext>
            </p:extLst>
          </p:nvPr>
        </p:nvGraphicFramePr>
        <p:xfrm>
          <a:off x="402465" y="2978701"/>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7192" y="2758444"/>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4248404773"/>
              </p:ext>
            </p:extLst>
          </p:nvPr>
        </p:nvGraphicFramePr>
        <p:xfrm>
          <a:off x="394524" y="3563506"/>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01475" y="3355488"/>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3954924497"/>
              </p:ext>
            </p:extLst>
          </p:nvPr>
        </p:nvGraphicFramePr>
        <p:xfrm>
          <a:off x="394524" y="4150629"/>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1475" y="3938340"/>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2884663124"/>
              </p:ext>
            </p:extLst>
          </p:nvPr>
        </p:nvGraphicFramePr>
        <p:xfrm>
          <a:off x="401475" y="4739429"/>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404968" y="4526304"/>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1065907254"/>
              </p:ext>
            </p:extLst>
          </p:nvPr>
        </p:nvGraphicFramePr>
        <p:xfrm>
          <a:off x="401474" y="5327962"/>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404968" y="5114837"/>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1224689698"/>
              </p:ext>
            </p:extLst>
          </p:nvPr>
        </p:nvGraphicFramePr>
        <p:xfrm>
          <a:off x="394524" y="5922175"/>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9251" y="5700522"/>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2105578944"/>
              </p:ext>
            </p:extLst>
          </p:nvPr>
        </p:nvGraphicFramePr>
        <p:xfrm>
          <a:off x="394524" y="6517849"/>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9251" y="6300414"/>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1914525907"/>
              </p:ext>
            </p:extLst>
          </p:nvPr>
        </p:nvGraphicFramePr>
        <p:xfrm>
          <a:off x="382150" y="7118441"/>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6877" y="6896788"/>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1925253509"/>
              </p:ext>
            </p:extLst>
          </p:nvPr>
        </p:nvGraphicFramePr>
        <p:xfrm>
          <a:off x="382150" y="7714115"/>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86877" y="7496680"/>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10</a:t>
            </a:r>
          </a:p>
        </p:txBody>
      </p:sp>
      <p:sp>
        <p:nvSpPr>
          <p:cNvPr id="44" name="TextBox 43">
            <a:extLst>
              <a:ext uri="{FF2B5EF4-FFF2-40B4-BE49-F238E27FC236}">
                <a16:creationId xmlns:a16="http://schemas.microsoft.com/office/drawing/2014/main" id="{AAAFFE48-B134-698C-5B30-978ED7CABDAD}"/>
              </a:ext>
            </a:extLst>
          </p:cNvPr>
          <p:cNvSpPr txBox="1"/>
          <p:nvPr/>
        </p:nvSpPr>
        <p:spPr>
          <a:xfrm>
            <a:off x="390798" y="8092267"/>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11</a:t>
            </a:r>
          </a:p>
        </p:txBody>
      </p:sp>
      <p:graphicFrame>
        <p:nvGraphicFramePr>
          <p:cNvPr id="47" name="표 46">
            <a:extLst>
              <a:ext uri="{FF2B5EF4-FFF2-40B4-BE49-F238E27FC236}">
                <a16:creationId xmlns:a16="http://schemas.microsoft.com/office/drawing/2014/main" id="{AF109EAD-C0E0-2AC5-1980-1573B1096C44}"/>
              </a:ext>
            </a:extLst>
          </p:cNvPr>
          <p:cNvGraphicFramePr>
            <a:graphicFrameLocks noGrp="1"/>
          </p:cNvGraphicFramePr>
          <p:nvPr>
            <p:extLst>
              <p:ext uri="{D42A27DB-BD31-4B8C-83A1-F6EECF244321}">
                <p14:modId xmlns:p14="http://schemas.microsoft.com/office/powerpoint/2010/main" val="1406145696"/>
              </p:ext>
            </p:extLst>
          </p:nvPr>
        </p:nvGraphicFramePr>
        <p:xfrm>
          <a:off x="382149" y="8319796"/>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2597739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391553" y="1582787"/>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4287767517"/>
              </p:ext>
            </p:extLst>
          </p:nvPr>
        </p:nvGraphicFramePr>
        <p:xfrm>
          <a:off x="397062" y="2402469"/>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1789" y="2182212"/>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1274358539"/>
              </p:ext>
            </p:extLst>
          </p:nvPr>
        </p:nvGraphicFramePr>
        <p:xfrm>
          <a:off x="387579" y="2987641"/>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394530" y="2779623"/>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2007407507"/>
              </p:ext>
            </p:extLst>
          </p:nvPr>
        </p:nvGraphicFramePr>
        <p:xfrm>
          <a:off x="390546" y="3576008"/>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397497" y="3363719"/>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1825857446"/>
              </p:ext>
            </p:extLst>
          </p:nvPr>
        </p:nvGraphicFramePr>
        <p:xfrm>
          <a:off x="386687" y="4169123"/>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0180" y="3955998"/>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1035441604"/>
              </p:ext>
            </p:extLst>
          </p:nvPr>
        </p:nvGraphicFramePr>
        <p:xfrm>
          <a:off x="386687" y="4757010"/>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0181" y="4543885"/>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2658087823"/>
              </p:ext>
            </p:extLst>
          </p:nvPr>
        </p:nvGraphicFramePr>
        <p:xfrm>
          <a:off x="397828" y="5354226"/>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402555" y="5132573"/>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3597538470"/>
              </p:ext>
            </p:extLst>
          </p:nvPr>
        </p:nvGraphicFramePr>
        <p:xfrm>
          <a:off x="397828" y="5955580"/>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402555" y="5738145"/>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1664969287"/>
              </p:ext>
            </p:extLst>
          </p:nvPr>
        </p:nvGraphicFramePr>
        <p:xfrm>
          <a:off x="397828" y="6556150"/>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402555" y="6334497"/>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2521710961"/>
              </p:ext>
            </p:extLst>
          </p:nvPr>
        </p:nvGraphicFramePr>
        <p:xfrm>
          <a:off x="397828" y="7157504"/>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402555" y="6940069"/>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1206257510"/>
              </p:ext>
            </p:extLst>
          </p:nvPr>
        </p:nvGraphicFramePr>
        <p:xfrm>
          <a:off x="397259" y="1807162"/>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extLst>
              <p:ext uri="{D42A27DB-BD31-4B8C-83A1-F6EECF244321}">
                <p14:modId xmlns:p14="http://schemas.microsoft.com/office/powerpoint/2010/main" val="1483939263"/>
              </p:ext>
            </p:extLst>
          </p:nvPr>
        </p:nvGraphicFramePr>
        <p:xfrm>
          <a:off x="391745" y="8349499"/>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96472" y="8127846"/>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extLst>
              <p:ext uri="{D42A27DB-BD31-4B8C-83A1-F6EECF244321}">
                <p14:modId xmlns:p14="http://schemas.microsoft.com/office/powerpoint/2010/main" val="1939047491"/>
              </p:ext>
            </p:extLst>
          </p:nvPr>
        </p:nvGraphicFramePr>
        <p:xfrm>
          <a:off x="395604" y="7752973"/>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400331" y="7535538"/>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11</a:t>
            </a:r>
          </a:p>
        </p:txBody>
      </p:sp>
      <p:sp>
        <p:nvSpPr>
          <p:cNvPr id="14" name="TextBox 13">
            <a:extLst>
              <a:ext uri="{FF2B5EF4-FFF2-40B4-BE49-F238E27FC236}">
                <a16:creationId xmlns:a16="http://schemas.microsoft.com/office/drawing/2014/main" id="{CFD83B64-93EF-171B-6E86-420E523CDECF}"/>
              </a:ext>
            </a:extLst>
          </p:cNvPr>
          <p:cNvSpPr txBox="1"/>
          <p:nvPr/>
        </p:nvSpPr>
        <p:spPr>
          <a:xfrm>
            <a:off x="399454" y="992188"/>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12</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graphicFrame>
        <p:nvGraphicFramePr>
          <p:cNvPr id="17" name="표 16">
            <a:extLst>
              <a:ext uri="{FF2B5EF4-FFF2-40B4-BE49-F238E27FC236}">
                <a16:creationId xmlns:a16="http://schemas.microsoft.com/office/drawing/2014/main" id="{0DEB3BD2-1A77-50F5-86C4-673522278E28}"/>
              </a:ext>
            </a:extLst>
          </p:cNvPr>
          <p:cNvGraphicFramePr>
            <a:graphicFrameLocks noGrp="1"/>
          </p:cNvGraphicFramePr>
          <p:nvPr>
            <p:extLst>
              <p:ext uri="{D42A27DB-BD31-4B8C-83A1-F6EECF244321}">
                <p14:modId xmlns:p14="http://schemas.microsoft.com/office/powerpoint/2010/main" val="4145504270"/>
              </p:ext>
            </p:extLst>
          </p:nvPr>
        </p:nvGraphicFramePr>
        <p:xfrm>
          <a:off x="400456" y="1212985"/>
          <a:ext cx="6043999" cy="372600"/>
        </p:xfrm>
        <a:graphic>
          <a:graphicData uri="http://schemas.openxmlformats.org/drawingml/2006/table">
            <a:tbl>
              <a:tblPr firstRow="1" bandRow="1">
                <a:tableStyleId>{5C22544A-7EE6-4342-B048-85BDC9FD1C3A}</a:tableStyleId>
              </a:tblPr>
              <a:tblGrid>
                <a:gridCol w="328472">
                  <a:extLst>
                    <a:ext uri="{9D8B030D-6E8A-4147-A177-3AD203B41FA5}">
                      <a16:colId xmlns:a16="http://schemas.microsoft.com/office/drawing/2014/main" val="657570846"/>
                    </a:ext>
                  </a:extLst>
                </a:gridCol>
                <a:gridCol w="403178">
                  <a:extLst>
                    <a:ext uri="{9D8B030D-6E8A-4147-A177-3AD203B41FA5}">
                      <a16:colId xmlns:a16="http://schemas.microsoft.com/office/drawing/2014/main" val="3259894497"/>
                    </a:ext>
                  </a:extLst>
                </a:gridCol>
                <a:gridCol w="459964">
                  <a:extLst>
                    <a:ext uri="{9D8B030D-6E8A-4147-A177-3AD203B41FA5}">
                      <a16:colId xmlns:a16="http://schemas.microsoft.com/office/drawing/2014/main" val="4170535043"/>
                    </a:ext>
                  </a:extLst>
                </a:gridCol>
                <a:gridCol w="414535">
                  <a:extLst>
                    <a:ext uri="{9D8B030D-6E8A-4147-A177-3AD203B41FA5}">
                      <a16:colId xmlns:a16="http://schemas.microsoft.com/office/drawing/2014/main" val="2079070694"/>
                    </a:ext>
                  </a:extLst>
                </a:gridCol>
                <a:gridCol w="420213">
                  <a:extLst>
                    <a:ext uri="{9D8B030D-6E8A-4147-A177-3AD203B41FA5}">
                      <a16:colId xmlns:a16="http://schemas.microsoft.com/office/drawing/2014/main" val="4213315911"/>
                    </a:ext>
                  </a:extLst>
                </a:gridCol>
                <a:gridCol w="414535">
                  <a:extLst>
                    <a:ext uri="{9D8B030D-6E8A-4147-A177-3AD203B41FA5}">
                      <a16:colId xmlns:a16="http://schemas.microsoft.com/office/drawing/2014/main" val="2769999950"/>
                    </a:ext>
                  </a:extLst>
                </a:gridCol>
                <a:gridCol w="420213">
                  <a:extLst>
                    <a:ext uri="{9D8B030D-6E8A-4147-A177-3AD203B41FA5}">
                      <a16:colId xmlns:a16="http://schemas.microsoft.com/office/drawing/2014/main" val="135637185"/>
                    </a:ext>
                  </a:extLst>
                </a:gridCol>
                <a:gridCol w="414535">
                  <a:extLst>
                    <a:ext uri="{9D8B030D-6E8A-4147-A177-3AD203B41FA5}">
                      <a16:colId xmlns:a16="http://schemas.microsoft.com/office/drawing/2014/main" val="3038050475"/>
                    </a:ext>
                  </a:extLst>
                </a:gridCol>
                <a:gridCol w="389920">
                  <a:extLst>
                    <a:ext uri="{9D8B030D-6E8A-4147-A177-3AD203B41FA5}">
                      <a16:colId xmlns:a16="http://schemas.microsoft.com/office/drawing/2014/main" val="1979433044"/>
                    </a:ext>
                  </a:extLst>
                </a:gridCol>
                <a:gridCol w="422837">
                  <a:extLst>
                    <a:ext uri="{9D8B030D-6E8A-4147-A177-3AD203B41FA5}">
                      <a16:colId xmlns:a16="http://schemas.microsoft.com/office/drawing/2014/main" val="4270661649"/>
                    </a:ext>
                  </a:extLst>
                </a:gridCol>
                <a:gridCol w="422837">
                  <a:extLst>
                    <a:ext uri="{9D8B030D-6E8A-4147-A177-3AD203B41FA5}">
                      <a16:colId xmlns:a16="http://schemas.microsoft.com/office/drawing/2014/main" val="3027041370"/>
                    </a:ext>
                  </a:extLst>
                </a:gridCol>
                <a:gridCol w="422837">
                  <a:extLst>
                    <a:ext uri="{9D8B030D-6E8A-4147-A177-3AD203B41FA5}">
                      <a16:colId xmlns:a16="http://schemas.microsoft.com/office/drawing/2014/main" val="2852526216"/>
                    </a:ext>
                  </a:extLst>
                </a:gridCol>
                <a:gridCol w="422837">
                  <a:extLst>
                    <a:ext uri="{9D8B030D-6E8A-4147-A177-3AD203B41FA5}">
                      <a16:colId xmlns:a16="http://schemas.microsoft.com/office/drawing/2014/main" val="103420222"/>
                    </a:ext>
                  </a:extLst>
                </a:gridCol>
                <a:gridCol w="342085">
                  <a:extLst>
                    <a:ext uri="{9D8B030D-6E8A-4147-A177-3AD203B41FA5}">
                      <a16:colId xmlns:a16="http://schemas.microsoft.com/office/drawing/2014/main" val="1470405609"/>
                    </a:ext>
                  </a:extLst>
                </a:gridCol>
                <a:gridCol w="3450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91854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561246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8" name="object 9">
            <a:extLst>
              <a:ext uri="{FF2B5EF4-FFF2-40B4-BE49-F238E27FC236}">
                <a16:creationId xmlns:a16="http://schemas.microsoft.com/office/drawing/2014/main" id="{9F189BD7-D622-4E4F-3672-36BC4415B3D3}"/>
              </a:ext>
            </a:extLst>
          </p:cNvPr>
          <p:cNvSpPr txBox="1"/>
          <p:nvPr/>
        </p:nvSpPr>
        <p:spPr>
          <a:xfrm>
            <a:off x="761343" y="8237376"/>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30" name="object 84">
            <a:extLst>
              <a:ext uri="{FF2B5EF4-FFF2-40B4-BE49-F238E27FC236}">
                <a16:creationId xmlns:a16="http://schemas.microsoft.com/office/drawing/2014/main" id="{438BECE6-CD34-AEDC-93C5-5BAB662EE8D5}"/>
              </a:ext>
            </a:extLst>
          </p:cNvPr>
          <p:cNvSpPr txBox="1"/>
          <p:nvPr/>
        </p:nvSpPr>
        <p:spPr>
          <a:xfrm>
            <a:off x="2193723" y="4853182"/>
            <a:ext cx="2848910"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 9.  Reflow Soldering information</a:t>
            </a:r>
          </a:p>
        </p:txBody>
      </p:sp>
      <p:graphicFrame>
        <p:nvGraphicFramePr>
          <p:cNvPr id="31" name="object 8">
            <a:extLst>
              <a:ext uri="{FF2B5EF4-FFF2-40B4-BE49-F238E27FC236}">
                <a16:creationId xmlns:a16="http://schemas.microsoft.com/office/drawing/2014/main" id="{E3D38743-D012-DD02-21FF-2BAE052DB7B5}"/>
              </a:ext>
            </a:extLst>
          </p:cNvPr>
          <p:cNvGraphicFramePr>
            <a:graphicFrameLocks noGrp="1"/>
          </p:cNvGraphicFramePr>
          <p:nvPr>
            <p:extLst>
              <p:ext uri="{D42A27DB-BD31-4B8C-83A1-F6EECF244321}">
                <p14:modId xmlns:p14="http://schemas.microsoft.com/office/powerpoint/2010/main" val="1745658374"/>
              </p:ext>
            </p:extLst>
          </p:nvPr>
        </p:nvGraphicFramePr>
        <p:xfrm>
          <a:off x="761343" y="5851766"/>
          <a:ext cx="5023180" cy="1945788"/>
        </p:xfrm>
        <a:graphic>
          <a:graphicData uri="http://schemas.openxmlformats.org/drawingml/2006/table">
            <a:tbl>
              <a:tblPr firstRow="1" bandRow="1">
                <a:tableStyleId>{2D5ABB26-0587-4C30-8999-92F81FD0307C}</a:tableStyleId>
              </a:tblPr>
              <a:tblGrid>
                <a:gridCol w="2636874">
                  <a:extLst>
                    <a:ext uri="{9D8B030D-6E8A-4147-A177-3AD203B41FA5}">
                      <a16:colId xmlns:a16="http://schemas.microsoft.com/office/drawing/2014/main" val="20000"/>
                    </a:ext>
                  </a:extLst>
                </a:gridCol>
                <a:gridCol w="2386306">
                  <a:extLst>
                    <a:ext uri="{9D8B030D-6E8A-4147-A177-3AD203B41FA5}">
                      <a16:colId xmlns:a16="http://schemas.microsoft.com/office/drawing/2014/main" val="20001"/>
                    </a:ext>
                  </a:extLst>
                </a:gridCol>
              </a:tblGrid>
              <a:tr h="244349">
                <a:tc>
                  <a:txBody>
                    <a:body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tc>
                  <a:txBody>
                    <a:body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0"/>
                  </a:ext>
                </a:extLst>
              </a:tr>
              <a:tr h="244349">
                <a:tc>
                  <a:txBody>
                    <a:body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353"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0499" marR="0" marT="4353"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44973">
                <a:tc>
                  <a:txBody>
                    <a:body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73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0499"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46216">
                <a:tc>
                  <a:txBody>
                    <a:body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73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0499"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44349">
                <a:tc>
                  <a:txBody>
                    <a:body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68580" algn="l">
                        <a:lnSpc>
                          <a:spcPct val="100000"/>
                        </a:lnSpc>
                        <a:spcBef>
                          <a:spcPts val="30"/>
                        </a:spcBef>
                      </a:pPr>
                      <a:r>
                        <a:rPr sz="800" spc="-5" dirty="0">
                          <a:latin typeface="Arial" panose="020B0604020202020204" pitchFamily="34" charset="0"/>
                          <a:cs typeface="Arial" panose="020B0604020202020204" pitchFamily="34" charset="0"/>
                        </a:rPr>
                        <a:t>260</a:t>
                      </a:r>
                      <a:r>
                        <a:rPr sz="800" spc="-2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+5/-0</a:t>
                      </a:r>
                      <a:r>
                        <a:rPr sz="800" spc="19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0499" marR="0" marT="373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44349">
                <a:tc>
                  <a:txBody>
                    <a:body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73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0499"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44349">
                <a:tc>
                  <a:txBody>
                    <a:body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0499" marR="0" marT="373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32854">
                <a:tc>
                  <a:txBody>
                    <a:body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73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0499"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2" name="object 11">
            <a:extLst>
              <a:ext uri="{FF2B5EF4-FFF2-40B4-BE49-F238E27FC236}">
                <a16:creationId xmlns:a16="http://schemas.microsoft.com/office/drawing/2014/main" id="{3F337B4E-EA6E-AA3C-9BB1-FEB3936099DD}"/>
              </a:ext>
            </a:extLst>
          </p:cNvPr>
          <p:cNvSpPr txBox="1"/>
          <p:nvPr/>
        </p:nvSpPr>
        <p:spPr>
          <a:xfrm>
            <a:off x="706661" y="5649135"/>
            <a:ext cx="2974128"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5</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Reflow Soldering Parameter </a:t>
            </a:r>
            <a:endParaRPr kumimoji="0" sz="881" dirty="0">
              <a:solidFill>
                <a:prstClr val="black"/>
              </a:solidFill>
              <a:latin typeface="Arial" panose="020B0604020202020204" pitchFamily="34" charset="0"/>
              <a:ea typeface="+mn-ea"/>
              <a:cs typeface="Arial" panose="020B0604020202020204" pitchFamily="34" charset="0"/>
            </a:endParaRPr>
          </a:p>
        </p:txBody>
      </p:sp>
      <p:pic>
        <p:nvPicPr>
          <p:cNvPr id="33" name="그림 32">
            <a:extLst>
              <a:ext uri="{FF2B5EF4-FFF2-40B4-BE49-F238E27FC236}">
                <a16:creationId xmlns:a16="http://schemas.microsoft.com/office/drawing/2014/main" id="{795FBC3D-A5F6-C217-0FDD-05A73E398A30}"/>
              </a:ext>
            </a:extLst>
          </p:cNvPr>
          <p:cNvPicPr>
            <a:picLocks noChangeAspect="1"/>
          </p:cNvPicPr>
          <p:nvPr/>
        </p:nvPicPr>
        <p:blipFill>
          <a:blip r:embed="rId2"/>
          <a:stretch>
            <a:fillRect/>
          </a:stretch>
        </p:blipFill>
        <p:spPr>
          <a:xfrm>
            <a:off x="1123016" y="1929396"/>
            <a:ext cx="4377102" cy="2604779"/>
          </a:xfrm>
          <a:prstGeom prst="rect">
            <a:avLst/>
          </a:prstGeom>
        </p:spPr>
      </p:pic>
      <p:sp>
        <p:nvSpPr>
          <p:cNvPr id="34" name="object 39">
            <a:extLst>
              <a:ext uri="{FF2B5EF4-FFF2-40B4-BE49-F238E27FC236}">
                <a16:creationId xmlns:a16="http://schemas.microsoft.com/office/drawing/2014/main" id="{577A1DDE-2D46-5FB3-88F6-DAC296C3841F}"/>
              </a:ext>
            </a:extLst>
          </p:cNvPr>
          <p:cNvSpPr txBox="1"/>
          <p:nvPr/>
        </p:nvSpPr>
        <p:spPr>
          <a:xfrm>
            <a:off x="2693428" y="1586860"/>
            <a:ext cx="1471144" cy="163635"/>
          </a:xfrm>
          <a:prstGeom prst="rect">
            <a:avLst/>
          </a:prstGeom>
        </p:spPr>
        <p:txBody>
          <a:bodyPr vert="horz" wrap="square" lIns="0" tIns="12700" rIns="0" bIns="0" rtlCol="0">
            <a:spAutoFit/>
          </a:bodyPr>
          <a:lstStyle/>
          <a:p>
            <a:pPr>
              <a:lnSpc>
                <a:spcPct val="100000"/>
              </a:lnSpc>
            </a:pPr>
            <a:r>
              <a:rPr sz="980" b="1" spc="-5" dirty="0">
                <a:latin typeface="Arial"/>
                <a:cs typeface="Arial"/>
              </a:rPr>
              <a:t>JEDEC</a:t>
            </a:r>
            <a:r>
              <a:rPr sz="980" b="1" spc="-60" dirty="0">
                <a:latin typeface="Arial"/>
                <a:cs typeface="Arial"/>
              </a:rPr>
              <a:t> </a:t>
            </a:r>
            <a:r>
              <a:rPr sz="980" b="1" spc="-5" dirty="0">
                <a:latin typeface="Arial"/>
                <a:cs typeface="Arial"/>
              </a:rPr>
              <a:t>J-STD-020D</a:t>
            </a:r>
            <a:endParaRPr sz="980" dirty="0">
              <a:latin typeface="Arial"/>
              <a:cs typeface="Arial"/>
            </a:endParaRPr>
          </a:p>
        </p:txBody>
      </p:sp>
    </p:spTree>
    <p:extLst>
      <p:ext uri="{BB962C8B-B14F-4D97-AF65-F5344CB8AC3E}">
        <p14:creationId xmlns:p14="http://schemas.microsoft.com/office/powerpoint/2010/main" val="7566176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200952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pSp>
        <p:nvGrpSpPr>
          <p:cNvPr id="27" name="그룹 26">
            <a:extLst>
              <a:ext uri="{FF2B5EF4-FFF2-40B4-BE49-F238E27FC236}">
                <a16:creationId xmlns:a16="http://schemas.microsoft.com/office/drawing/2014/main" id="{CF3CE0F5-819C-C686-5CA4-F29528E6F4F9}"/>
              </a:ext>
            </a:extLst>
          </p:cNvPr>
          <p:cNvGrpSpPr/>
          <p:nvPr/>
        </p:nvGrpSpPr>
        <p:grpSpPr>
          <a:xfrm>
            <a:off x="483152" y="1649413"/>
            <a:ext cx="6077668" cy="4922252"/>
            <a:chOff x="483152" y="1497013"/>
            <a:chExt cx="6077668" cy="4922252"/>
          </a:xfrm>
        </p:grpSpPr>
        <p:grpSp>
          <p:nvGrpSpPr>
            <p:cNvPr id="21" name="그룹 20">
              <a:extLst>
                <a:ext uri="{FF2B5EF4-FFF2-40B4-BE49-F238E27FC236}">
                  <a16:creationId xmlns:a16="http://schemas.microsoft.com/office/drawing/2014/main" id="{F59594F1-4EBD-B251-3127-CF1DA27794D0}"/>
                </a:ext>
              </a:extLst>
            </p:cNvPr>
            <p:cNvGrpSpPr/>
            <p:nvPr/>
          </p:nvGrpSpPr>
          <p:grpSpPr>
            <a:xfrm>
              <a:off x="1505837" y="1497013"/>
              <a:ext cx="5054983" cy="3228955"/>
              <a:chOff x="1505837" y="1497013"/>
              <a:chExt cx="5054983" cy="3228955"/>
            </a:xfrm>
          </p:grpSpPr>
          <p:pic>
            <p:nvPicPr>
              <p:cNvPr id="2" name="그림 1">
                <a:extLst>
                  <a:ext uri="{FF2B5EF4-FFF2-40B4-BE49-F238E27FC236}">
                    <a16:creationId xmlns:a16="http://schemas.microsoft.com/office/drawing/2014/main" id="{2A11FBD6-C7F0-F5E0-A2CE-70FF1FF38B63}"/>
                  </a:ext>
                </a:extLst>
              </p:cNvPr>
              <p:cNvPicPr>
                <a:picLocks noChangeAspect="1"/>
              </p:cNvPicPr>
              <p:nvPr/>
            </p:nvPicPr>
            <p:blipFill rotWithShape="1">
              <a:blip r:embed="rId2"/>
              <a:srcRect t="7136"/>
              <a:stretch/>
            </p:blipFill>
            <p:spPr>
              <a:xfrm>
                <a:off x="3394288" y="1828264"/>
                <a:ext cx="3166532" cy="2897704"/>
              </a:xfrm>
              <a:prstGeom prst="rect">
                <a:avLst/>
              </a:prstGeom>
            </p:spPr>
          </p:pic>
          <p:sp>
            <p:nvSpPr>
              <p:cNvPr id="15" name="TextBox 14">
                <a:extLst>
                  <a:ext uri="{FF2B5EF4-FFF2-40B4-BE49-F238E27FC236}">
                    <a16:creationId xmlns:a16="http://schemas.microsoft.com/office/drawing/2014/main" id="{0CB09810-A151-C751-9644-0DADE9A706F0}"/>
                  </a:ext>
                </a:extLst>
              </p:cNvPr>
              <p:cNvSpPr txBox="1"/>
              <p:nvPr/>
            </p:nvSpPr>
            <p:spPr>
              <a:xfrm>
                <a:off x="1505837" y="1497013"/>
                <a:ext cx="873957" cy="261610"/>
              </a:xfrm>
              <a:prstGeom prst="rect">
                <a:avLst/>
              </a:prstGeom>
              <a:noFill/>
            </p:spPr>
            <p:txBody>
              <a:bodyPr wrap="none" rtlCol="0">
                <a:spAutoFit/>
              </a:bodyPr>
              <a:lstStyle/>
              <a:p>
                <a:r>
                  <a:rPr lang="en-US" altLang="ko-KR" sz="1100" dirty="0">
                    <a:latin typeface="Arial" panose="020B0604020202020204" pitchFamily="34" charset="0"/>
                    <a:cs typeface="Arial" panose="020B0604020202020204" pitchFamily="34" charset="0"/>
                  </a:rPr>
                  <a:t>TOP VIEW</a:t>
                </a:r>
                <a:endParaRPr lang="ko-KR" altLang="en-US" sz="1100"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40700C89-2519-CBD2-F48D-BD62E4479CF3}"/>
                  </a:ext>
                </a:extLst>
              </p:cNvPr>
              <p:cNvSpPr txBox="1"/>
              <p:nvPr/>
            </p:nvSpPr>
            <p:spPr>
              <a:xfrm>
                <a:off x="4320251" y="1497013"/>
                <a:ext cx="1186543" cy="261610"/>
              </a:xfrm>
              <a:prstGeom prst="rect">
                <a:avLst/>
              </a:prstGeom>
              <a:noFill/>
            </p:spPr>
            <p:txBody>
              <a:bodyPr wrap="none" rtlCol="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dirty="0"/>
                  <a:t>BOTTOM VIEW</a:t>
                </a:r>
                <a:endParaRPr lang="ko-KR" altLang="en-US" dirty="0"/>
              </a:p>
            </p:txBody>
          </p:sp>
        </p:grpSp>
        <p:grpSp>
          <p:nvGrpSpPr>
            <p:cNvPr id="17" name="그룹 16">
              <a:extLst>
                <a:ext uri="{FF2B5EF4-FFF2-40B4-BE49-F238E27FC236}">
                  <a16:creationId xmlns:a16="http://schemas.microsoft.com/office/drawing/2014/main" id="{014E59CC-F235-2B27-5F6F-D6422C2D4A33}"/>
                </a:ext>
              </a:extLst>
            </p:cNvPr>
            <p:cNvGrpSpPr/>
            <p:nvPr/>
          </p:nvGrpSpPr>
          <p:grpSpPr>
            <a:xfrm>
              <a:off x="483152" y="2252662"/>
              <a:ext cx="2541987" cy="4166603"/>
              <a:chOff x="483152" y="2252662"/>
              <a:chExt cx="2541987" cy="4166603"/>
            </a:xfrm>
          </p:grpSpPr>
          <p:grpSp>
            <p:nvGrpSpPr>
              <p:cNvPr id="10" name="그룹 9">
                <a:extLst>
                  <a:ext uri="{FF2B5EF4-FFF2-40B4-BE49-F238E27FC236}">
                    <a16:creationId xmlns:a16="http://schemas.microsoft.com/office/drawing/2014/main" id="{9C60ED0E-AD57-0C1A-6F93-CC0040ACB422}"/>
                  </a:ext>
                </a:extLst>
              </p:cNvPr>
              <p:cNvGrpSpPr/>
              <p:nvPr/>
            </p:nvGrpSpPr>
            <p:grpSpPr>
              <a:xfrm>
                <a:off x="981702" y="2252662"/>
                <a:ext cx="2017514" cy="2017631"/>
                <a:chOff x="934465" y="2137885"/>
                <a:chExt cx="1602000" cy="1602000"/>
              </a:xfrm>
            </p:grpSpPr>
            <p:sp>
              <p:nvSpPr>
                <p:cNvPr id="11" name="직사각형 10">
                  <a:extLst>
                    <a:ext uri="{FF2B5EF4-FFF2-40B4-BE49-F238E27FC236}">
                      <a16:creationId xmlns:a16="http://schemas.microsoft.com/office/drawing/2014/main" id="{3D19DF92-9F59-3044-EBFA-EF0F11AFF2A3}"/>
                    </a:ext>
                  </a:extLst>
                </p:cNvPr>
                <p:cNvSpPr/>
                <p:nvPr/>
              </p:nvSpPr>
              <p:spPr>
                <a:xfrm>
                  <a:off x="934465" y="2137885"/>
                  <a:ext cx="1602000" cy="160200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타원 12">
                  <a:extLst>
                    <a:ext uri="{FF2B5EF4-FFF2-40B4-BE49-F238E27FC236}">
                      <a16:creationId xmlns:a16="http://schemas.microsoft.com/office/drawing/2014/main" id="{287340AB-B6AD-5634-ADF7-FE1FA3F09C12}"/>
                    </a:ext>
                  </a:extLst>
                </p:cNvPr>
                <p:cNvSpPr/>
                <p:nvPr/>
              </p:nvSpPr>
              <p:spPr>
                <a:xfrm>
                  <a:off x="1068746" y="3568638"/>
                  <a:ext cx="72000" cy="72000"/>
                </a:xfrm>
                <a:prstGeom prst="ellipse">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TextBox 13">
                  <a:extLst>
                    <a:ext uri="{FF2B5EF4-FFF2-40B4-BE49-F238E27FC236}">
                      <a16:creationId xmlns:a16="http://schemas.microsoft.com/office/drawing/2014/main" id="{2248BB79-0FCB-EFD4-CFAB-E3B39ACC1951}"/>
                    </a:ext>
                  </a:extLst>
                </p:cNvPr>
                <p:cNvSpPr txBox="1"/>
                <p:nvPr/>
              </p:nvSpPr>
              <p:spPr>
                <a:xfrm>
                  <a:off x="951974" y="3353975"/>
                  <a:ext cx="473206" cy="230832"/>
                </a:xfrm>
                <a:prstGeom prst="rect">
                  <a:avLst/>
                </a:prstGeom>
                <a:noFill/>
                <a:ln w="12700">
                  <a:noFill/>
                </a:ln>
              </p:spPr>
              <p:txBody>
                <a:bodyPr wrap="none" rtlCol="0">
                  <a:spAutoFit/>
                </a:bodyPr>
                <a:lstStyle/>
                <a:p>
                  <a:r>
                    <a:rPr lang="en-US" altLang="ko-KR" sz="900" dirty="0"/>
                    <a:t>Pin #1</a:t>
                  </a:r>
                  <a:endParaRPr lang="ko-KR" altLang="en-US" sz="900" dirty="0"/>
                </a:p>
              </p:txBody>
            </p:sp>
          </p:grpSp>
          <p:cxnSp>
            <p:nvCxnSpPr>
              <p:cNvPr id="16" name="직선 연결선 15">
                <a:extLst>
                  <a:ext uri="{FF2B5EF4-FFF2-40B4-BE49-F238E27FC236}">
                    <a16:creationId xmlns:a16="http://schemas.microsoft.com/office/drawing/2014/main" id="{E19A48B9-465F-F4D6-3E89-3F5D2910A501}"/>
                  </a:ext>
                </a:extLst>
              </p:cNvPr>
              <p:cNvCxnSpPr>
                <a:cxnSpLocks/>
              </p:cNvCxnSpPr>
              <p:nvPr/>
            </p:nvCxnSpPr>
            <p:spPr>
              <a:xfrm flipH="1">
                <a:off x="496545" y="2252662"/>
                <a:ext cx="31736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E56C4A0A-FF8D-5068-A502-B7BAD42ED1C7}"/>
                  </a:ext>
                </a:extLst>
              </p:cNvPr>
              <p:cNvCxnSpPr/>
              <p:nvPr/>
            </p:nvCxnSpPr>
            <p:spPr>
              <a:xfrm>
                <a:off x="655226" y="2274750"/>
                <a:ext cx="0" cy="1949621"/>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46D4D303-6224-F151-37E5-B0A4D8D7A78B}"/>
                  </a:ext>
                </a:extLst>
              </p:cNvPr>
              <p:cNvCxnSpPr>
                <a:cxnSpLocks/>
              </p:cNvCxnSpPr>
              <p:nvPr/>
            </p:nvCxnSpPr>
            <p:spPr>
              <a:xfrm flipH="1">
                <a:off x="483152" y="4242886"/>
                <a:ext cx="31736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61E345FC-BBC1-3AB8-A8F7-63ED9CDE56BB}"/>
                  </a:ext>
                </a:extLst>
              </p:cNvPr>
              <p:cNvCxnSpPr>
                <a:cxnSpLocks/>
              </p:cNvCxnSpPr>
              <p:nvPr/>
            </p:nvCxnSpPr>
            <p:spPr>
              <a:xfrm rot="5400000" flipH="1" flipV="1">
                <a:off x="827547" y="4562041"/>
                <a:ext cx="31738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A62870C1-DF60-9007-6351-2B99C6751217}"/>
                  </a:ext>
                </a:extLst>
              </p:cNvPr>
              <p:cNvCxnSpPr>
                <a:cxnSpLocks/>
              </p:cNvCxnSpPr>
              <p:nvPr/>
            </p:nvCxnSpPr>
            <p:spPr>
              <a:xfrm rot="5400000" flipH="1" flipV="1">
                <a:off x="2834622" y="4560826"/>
                <a:ext cx="31738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D46AC9AF-AC12-D6DA-8BED-08211461B132}"/>
                  </a:ext>
                </a:extLst>
              </p:cNvPr>
              <p:cNvCxnSpPr>
                <a:cxnSpLocks/>
              </p:cNvCxnSpPr>
              <p:nvPr/>
            </p:nvCxnSpPr>
            <p:spPr>
              <a:xfrm flipH="1">
                <a:off x="988651" y="4567521"/>
                <a:ext cx="1994845" cy="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F1D99D7-953D-A0B1-E3C7-F81D54B49737}"/>
                  </a:ext>
                </a:extLst>
              </p:cNvPr>
              <p:cNvSpPr txBox="1"/>
              <p:nvPr/>
            </p:nvSpPr>
            <p:spPr>
              <a:xfrm>
                <a:off x="571375" y="3061325"/>
                <a:ext cx="178369" cy="304761"/>
              </a:xfrm>
              <a:prstGeom prst="rect">
                <a:avLst/>
              </a:prstGeom>
              <a:solidFill>
                <a:schemeClr val="bg1"/>
              </a:solidFill>
            </p:spPr>
            <p:txBody>
              <a:bodyPr wrap="none" lIns="36000" tIns="36000" rIns="36000" bIns="36000" rtlCol="0" anchor="ctr" anchorCtr="0">
                <a:spAutoFit/>
              </a:bodyPr>
              <a:lstStyle/>
              <a:p>
                <a:r>
                  <a:rPr lang="en-US" altLang="ko-KR" sz="1100" dirty="0"/>
                  <a:t>E</a:t>
                </a:r>
                <a:endParaRPr lang="ko-KR" altLang="en-US" sz="1100" dirty="0"/>
              </a:p>
            </p:txBody>
          </p:sp>
          <p:pic>
            <p:nvPicPr>
              <p:cNvPr id="26" name="그림 25">
                <a:extLst>
                  <a:ext uri="{FF2B5EF4-FFF2-40B4-BE49-F238E27FC236}">
                    <a16:creationId xmlns:a16="http://schemas.microsoft.com/office/drawing/2014/main" id="{449C47C4-7FB3-1946-5F54-68E969EBDA12}"/>
                  </a:ext>
                </a:extLst>
              </p:cNvPr>
              <p:cNvPicPr>
                <a:picLocks noChangeAspect="1"/>
              </p:cNvPicPr>
              <p:nvPr/>
            </p:nvPicPr>
            <p:blipFill>
              <a:blip r:embed="rId3"/>
              <a:stretch>
                <a:fillRect/>
              </a:stretch>
            </p:blipFill>
            <p:spPr>
              <a:xfrm>
                <a:off x="522470" y="5645735"/>
                <a:ext cx="2502669" cy="773530"/>
              </a:xfrm>
              <a:prstGeom prst="rect">
                <a:avLst/>
              </a:prstGeom>
            </p:spPr>
          </p:pic>
          <p:sp>
            <p:nvSpPr>
              <p:cNvPr id="43" name="TextBox 42">
                <a:extLst>
                  <a:ext uri="{FF2B5EF4-FFF2-40B4-BE49-F238E27FC236}">
                    <a16:creationId xmlns:a16="http://schemas.microsoft.com/office/drawing/2014/main" id="{A5F43BF8-D5E2-952B-D8F5-804FC641D419}"/>
                  </a:ext>
                </a:extLst>
              </p:cNvPr>
              <p:cNvSpPr txBox="1"/>
              <p:nvPr/>
            </p:nvSpPr>
            <p:spPr>
              <a:xfrm>
                <a:off x="1851186" y="4409258"/>
                <a:ext cx="200574" cy="304761"/>
              </a:xfrm>
              <a:prstGeom prst="rect">
                <a:avLst/>
              </a:prstGeom>
              <a:solidFill>
                <a:schemeClr val="bg1"/>
              </a:solidFill>
            </p:spPr>
            <p:txBody>
              <a:bodyPr wrap="none" lIns="36000" tIns="36000" rIns="36000" bIns="36000" rtlCol="0" anchor="ctr" anchorCtr="0">
                <a:spAutoFit/>
              </a:bodyPr>
              <a:lstStyle/>
              <a:p>
                <a:r>
                  <a:rPr lang="en-US" altLang="ko-KR" sz="1100" dirty="0"/>
                  <a:t>D</a:t>
                </a:r>
                <a:endParaRPr lang="ko-KR" altLang="en-US" sz="1100" dirty="0"/>
              </a:p>
            </p:txBody>
          </p:sp>
        </p:grpSp>
      </p:grpSp>
      <p:sp>
        <p:nvSpPr>
          <p:cNvPr id="6" name="object 32">
            <a:extLst>
              <a:ext uri="{FF2B5EF4-FFF2-40B4-BE49-F238E27FC236}">
                <a16:creationId xmlns:a16="http://schemas.microsoft.com/office/drawing/2014/main" id="{8FF61967-72D4-AF26-0B96-EDE115AD5632}"/>
              </a:ext>
            </a:extLst>
          </p:cNvPr>
          <p:cNvSpPr txBox="1"/>
          <p:nvPr/>
        </p:nvSpPr>
        <p:spPr>
          <a:xfrm>
            <a:off x="5680576" y="5174390"/>
            <a:ext cx="53467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a:cs typeface="Arial"/>
              </a:rPr>
              <a:t>Unit</a:t>
            </a:r>
            <a:r>
              <a:rPr sz="1000" spc="-50" dirty="0">
                <a:latin typeface="Arial"/>
                <a:cs typeface="Arial"/>
              </a:rPr>
              <a:t> </a:t>
            </a:r>
            <a:r>
              <a:rPr sz="1000" dirty="0">
                <a:latin typeface="Arial"/>
                <a:cs typeface="Arial"/>
              </a:rPr>
              <a:t>:mm</a:t>
            </a:r>
          </a:p>
        </p:txBody>
      </p:sp>
      <p:graphicFrame>
        <p:nvGraphicFramePr>
          <p:cNvPr id="7" name="object 2">
            <a:extLst>
              <a:ext uri="{FF2B5EF4-FFF2-40B4-BE49-F238E27FC236}">
                <a16:creationId xmlns:a16="http://schemas.microsoft.com/office/drawing/2014/main" id="{0B9B7991-237F-E7E6-7D59-BFB5F34D7471}"/>
              </a:ext>
            </a:extLst>
          </p:cNvPr>
          <p:cNvGraphicFramePr>
            <a:graphicFrameLocks noGrp="1"/>
          </p:cNvGraphicFramePr>
          <p:nvPr>
            <p:extLst>
              <p:ext uri="{D42A27DB-BD31-4B8C-83A1-F6EECF244321}">
                <p14:modId xmlns:p14="http://schemas.microsoft.com/office/powerpoint/2010/main" val="3125486367"/>
              </p:ext>
            </p:extLst>
          </p:nvPr>
        </p:nvGraphicFramePr>
        <p:xfrm>
          <a:off x="3850753" y="5214077"/>
          <a:ext cx="2369072" cy="3687036"/>
        </p:xfrm>
        <a:graphic>
          <a:graphicData uri="http://schemas.openxmlformats.org/drawingml/2006/table">
            <a:tbl>
              <a:tblPr firstRow="1" bandRow="1">
                <a:tableStyleId>{2D5ABB26-0587-4C30-8999-92F81FD0307C}</a:tableStyleId>
              </a:tblPr>
              <a:tblGrid>
                <a:gridCol w="696900">
                  <a:extLst>
                    <a:ext uri="{9D8B030D-6E8A-4147-A177-3AD203B41FA5}">
                      <a16:colId xmlns:a16="http://schemas.microsoft.com/office/drawing/2014/main" val="20000"/>
                    </a:ext>
                  </a:extLst>
                </a:gridCol>
                <a:gridCol w="558812">
                  <a:extLst>
                    <a:ext uri="{9D8B030D-6E8A-4147-A177-3AD203B41FA5}">
                      <a16:colId xmlns:a16="http://schemas.microsoft.com/office/drawing/2014/main" val="20001"/>
                    </a:ext>
                  </a:extLst>
                </a:gridCol>
                <a:gridCol w="547687">
                  <a:extLst>
                    <a:ext uri="{9D8B030D-6E8A-4147-A177-3AD203B41FA5}">
                      <a16:colId xmlns:a16="http://schemas.microsoft.com/office/drawing/2014/main" val="4065758931"/>
                    </a:ext>
                  </a:extLst>
                </a:gridCol>
                <a:gridCol w="565673">
                  <a:extLst>
                    <a:ext uri="{9D8B030D-6E8A-4147-A177-3AD203B41FA5}">
                      <a16:colId xmlns:a16="http://schemas.microsoft.com/office/drawing/2014/main" val="20002"/>
                    </a:ext>
                  </a:extLst>
                </a:gridCol>
              </a:tblGrid>
              <a:tr h="263224">
                <a:tc rowSpan="2">
                  <a:txBody>
                    <a:bodyPr/>
                    <a:lstStyle/>
                    <a:p>
                      <a:pPr marL="0" indent="0" algn="ctr">
                        <a:lnSpc>
                          <a:spcPct val="100000"/>
                        </a:lnSpc>
                        <a:spcBef>
                          <a:spcPts val="185"/>
                        </a:spcBef>
                      </a:pPr>
                      <a:r>
                        <a:rPr lang="en-US" sz="1000" b="1" dirty="0">
                          <a:latin typeface="Calibri"/>
                          <a:cs typeface="Calibri"/>
                        </a:rPr>
                        <a:t>Symbol</a:t>
                      </a:r>
                      <a:endParaRPr sz="1000" b="1" dirty="0">
                        <a:latin typeface="Calibri"/>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gridSpan="3">
                  <a:txBody>
                    <a:bodyPr/>
                    <a:lstStyle/>
                    <a:p>
                      <a:pPr marL="63500" algn="ctr">
                        <a:lnSpc>
                          <a:spcPct val="100000"/>
                        </a:lnSpc>
                        <a:spcBef>
                          <a:spcPts val="185"/>
                        </a:spcBef>
                      </a:pPr>
                      <a:r>
                        <a:rPr lang="en-US" sz="1000" b="1" dirty="0">
                          <a:latin typeface="Calibri"/>
                          <a:cs typeface="Calibri"/>
                        </a:rPr>
                        <a:t>Dimensions in mm</a:t>
                      </a:r>
                      <a:endParaRPr sz="1000" b="1" dirty="0">
                        <a:latin typeface="Calibri"/>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63224">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1000" b="1" kern="1200" spc="-10" dirty="0">
                          <a:solidFill>
                            <a:schemeClr val="tx1"/>
                          </a:solidFill>
                          <a:latin typeface="Calibri"/>
                          <a:ea typeface="+mn-ea"/>
                          <a:cs typeface="Calibri"/>
                        </a:rPr>
                        <a:t>Min</a:t>
                      </a:r>
                      <a:endParaRPr sz="1000" b="1"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0" indent="0" algn="ctr" defTabSz="685800" rtl="0" eaLnBrk="1" latinLnBrk="1" hangingPunct="1">
                        <a:lnSpc>
                          <a:spcPct val="100000"/>
                        </a:lnSpc>
                        <a:spcBef>
                          <a:spcPts val="185"/>
                        </a:spcBef>
                      </a:pPr>
                      <a:r>
                        <a:rPr lang="en-US" sz="1000" b="1" kern="1200" spc="-10" dirty="0">
                          <a:solidFill>
                            <a:schemeClr val="tx1"/>
                          </a:solidFill>
                          <a:latin typeface="Calibri"/>
                          <a:ea typeface="+mn-ea"/>
                          <a:cs typeface="Calibri"/>
                        </a:rPr>
                        <a:t>Nom</a:t>
                      </a:r>
                      <a:endParaRPr sz="1000" b="1"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0" indent="0" algn="ctr" defTabSz="685800" rtl="0" eaLnBrk="1" latinLnBrk="1" hangingPunct="1">
                        <a:lnSpc>
                          <a:spcPct val="100000"/>
                        </a:lnSpc>
                        <a:spcBef>
                          <a:spcPts val="185"/>
                        </a:spcBef>
                      </a:pPr>
                      <a:r>
                        <a:rPr lang="en-US" sz="1000" b="1" kern="1200" spc="-10" dirty="0">
                          <a:solidFill>
                            <a:schemeClr val="tx1"/>
                          </a:solidFill>
                          <a:latin typeface="Calibri"/>
                          <a:ea typeface="+mn-ea"/>
                          <a:cs typeface="Calibri"/>
                        </a:rPr>
                        <a:t>Max</a:t>
                      </a:r>
                      <a:endParaRPr sz="1000" b="1"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1"/>
                  </a:ext>
                </a:extLst>
              </a:tr>
              <a:tr h="263224">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0.50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0.55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0.60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r h="263224">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A1</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0.00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0.05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3"/>
                  </a:ext>
                </a:extLst>
              </a:tr>
              <a:tr h="263224">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A3</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0.152 REF</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63224">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b</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0.15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0.20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0.25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5"/>
                  </a:ext>
                </a:extLst>
              </a:tr>
              <a:tr h="263224">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b1</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0.08</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0.13</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0.18</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6"/>
                  </a:ext>
                </a:extLst>
              </a:tr>
              <a:tr h="263224">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D</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2.90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3.00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3.10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7"/>
                  </a:ext>
                </a:extLst>
              </a:tr>
              <a:tr h="263224">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D1</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1.25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1.30</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1.35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8"/>
                  </a:ext>
                </a:extLst>
              </a:tr>
              <a:tr h="263224">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E</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2.90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3.00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3.10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9"/>
                  </a:ext>
                </a:extLst>
              </a:tr>
              <a:tr h="263224">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E1</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1.75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1.80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1.85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10"/>
                  </a:ext>
                </a:extLst>
              </a:tr>
              <a:tr h="263224">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e </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0.40 BSC</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64174">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K</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0.25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0.30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0.35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12"/>
                  </a:ext>
                </a:extLst>
              </a:tr>
              <a:tr h="264174">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L</a:t>
                      </a:r>
                      <a:endParaRPr sz="1000" kern="1200" spc="-10" dirty="0">
                        <a:solidFill>
                          <a:schemeClr val="tx1"/>
                        </a:solidFill>
                        <a:latin typeface="Calibri"/>
                        <a:ea typeface="+mn-ea"/>
                        <a:cs typeface="Calibri"/>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0.25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0.30</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1000" kern="1200" spc="-10" dirty="0">
                          <a:solidFill>
                            <a:schemeClr val="tx1"/>
                          </a:solidFill>
                          <a:latin typeface="Calibri"/>
                          <a:ea typeface="+mn-ea"/>
                          <a:cs typeface="Calibri"/>
                        </a:rPr>
                        <a:t>0.35</a:t>
                      </a: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12" name="TextBox 11">
            <a:extLst>
              <a:ext uri="{FF2B5EF4-FFF2-40B4-BE49-F238E27FC236}">
                <a16:creationId xmlns:a16="http://schemas.microsoft.com/office/drawing/2014/main" id="{C0A64E1C-33EA-1238-5141-A68DDCF8FC0C}"/>
              </a:ext>
            </a:extLst>
          </p:cNvPr>
          <p:cNvSpPr txBox="1"/>
          <p:nvPr/>
        </p:nvSpPr>
        <p:spPr>
          <a:xfrm>
            <a:off x="1505837" y="5363579"/>
            <a:ext cx="1024003" cy="261610"/>
          </a:xfrm>
          <a:prstGeom prst="rect">
            <a:avLst/>
          </a:prstGeom>
          <a:noFill/>
        </p:spPr>
        <p:txBody>
          <a:bodyPr wrap="square" rtlCol="0">
            <a:spAutoFit/>
          </a:bodyPr>
          <a:lstStyle/>
          <a:p>
            <a:r>
              <a:rPr lang="en-US" altLang="ko-KR" sz="1100" dirty="0">
                <a:latin typeface="Arial" panose="020B0604020202020204" pitchFamily="34" charset="0"/>
                <a:cs typeface="Arial" panose="020B0604020202020204" pitchFamily="34" charset="0"/>
              </a:rPr>
              <a:t>SIDE VIEW</a:t>
            </a:r>
            <a:endParaRPr lang="ko-KR" altLang="en-US" sz="1100" dirty="0">
              <a:latin typeface="Arial" panose="020B0604020202020204" pitchFamily="34" charset="0"/>
              <a:cs typeface="Arial" panose="020B0604020202020204" pitchFamily="34" charset="0"/>
            </a:endParaRPr>
          </a:p>
        </p:txBody>
      </p:sp>
      <p:sp>
        <p:nvSpPr>
          <p:cNvPr id="8" name="object 84">
            <a:extLst>
              <a:ext uri="{FF2B5EF4-FFF2-40B4-BE49-F238E27FC236}">
                <a16:creationId xmlns:a16="http://schemas.microsoft.com/office/drawing/2014/main" id="{1E9A1E01-6F1D-EB23-92C6-9C650F0B90D6}"/>
              </a:ext>
            </a:extLst>
          </p:cNvPr>
          <p:cNvSpPr txBox="1"/>
          <p:nvPr/>
        </p:nvSpPr>
        <p:spPr>
          <a:xfrm>
            <a:off x="1206500" y="7191692"/>
            <a:ext cx="1949450"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 10. Package Outline</a:t>
            </a:r>
          </a:p>
        </p:txBody>
      </p:sp>
      <p:sp>
        <p:nvSpPr>
          <p:cNvPr id="28" name="object 3">
            <a:extLst>
              <a:ext uri="{FF2B5EF4-FFF2-40B4-BE49-F238E27FC236}">
                <a16:creationId xmlns:a16="http://schemas.microsoft.com/office/drawing/2014/main" id="{21C39B93-B2F1-FB91-1EEE-E0B3D0A972CA}"/>
              </a:ext>
            </a:extLst>
          </p:cNvPr>
          <p:cNvSpPr txBox="1"/>
          <p:nvPr/>
        </p:nvSpPr>
        <p:spPr>
          <a:xfrm>
            <a:off x="1514787" y="1225160"/>
            <a:ext cx="3781715" cy="271853"/>
          </a:xfrm>
          <a:prstGeom prst="rect">
            <a:avLst/>
          </a:prstGeom>
        </p:spPr>
        <p:txBody>
          <a:bodyPr vert="horz" wrap="square" lIns="0" tIns="60309" rIns="0" bIns="0" rtlCol="0">
            <a:spAutoFit/>
          </a:bodyPr>
          <a:lstStyle/>
          <a:p>
            <a:pPr algn="ctr" defTabSz="895327" fontAlgn="auto">
              <a:spcBef>
                <a:spcPts val="474"/>
              </a:spcBef>
              <a:spcAft>
                <a:spcPts val="0"/>
              </a:spcAft>
            </a:pPr>
            <a:r>
              <a:rPr lang="en-US" altLang="ko-KR" sz="1371" b="1" spc="-20" dirty="0">
                <a:solidFill>
                  <a:prstClr val="black"/>
                </a:solidFill>
                <a:latin typeface="Arial"/>
                <a:ea typeface="맑은 고딕" panose="020B0503020000020004" pitchFamily="50" charset="-127"/>
                <a:cs typeface="Arial"/>
              </a:rPr>
              <a:t>Q</a:t>
            </a:r>
            <a:r>
              <a:rPr kumimoji="0" lang="en-US" altLang="ko-KR" sz="1371" b="1" spc="-20" dirty="0">
                <a:solidFill>
                  <a:prstClr val="black"/>
                </a:solidFill>
                <a:latin typeface="Arial"/>
                <a:ea typeface="맑은 고딕" panose="020B0503020000020004" pitchFamily="50" charset="-127"/>
                <a:cs typeface="Arial"/>
              </a:rPr>
              <a:t>FN 3030-24L </a:t>
            </a:r>
            <a:r>
              <a:rPr kumimoji="0" lang="en-US" altLang="ko-KR" sz="1371" b="1" spc="-5" dirty="0">
                <a:solidFill>
                  <a:prstClr val="black"/>
                </a:solidFill>
                <a:latin typeface="Arial"/>
                <a:ea typeface="맑은 고딕" panose="020B0503020000020004" pitchFamily="50" charset="-127"/>
                <a:cs typeface="Arial"/>
              </a:rPr>
              <a:t> Package</a:t>
            </a:r>
            <a:r>
              <a:rPr kumimoji="0" lang="en-US" altLang="ko-KR" sz="1371" b="1" spc="-73" dirty="0">
                <a:solidFill>
                  <a:prstClr val="black"/>
                </a:solidFill>
                <a:latin typeface="Arial"/>
                <a:ea typeface="맑은 고딕" panose="020B0503020000020004" pitchFamily="50" charset="-127"/>
                <a:cs typeface="Arial"/>
              </a:rPr>
              <a:t> </a:t>
            </a:r>
            <a:r>
              <a:rPr kumimoji="0" lang="en-US" altLang="ko-KR" sz="1371" b="1" spc="-5" dirty="0">
                <a:solidFill>
                  <a:prstClr val="black"/>
                </a:solidFill>
                <a:latin typeface="Arial"/>
                <a:ea typeface="맑은 고딕" panose="020B0503020000020004" pitchFamily="50" charset="-127"/>
                <a:cs typeface="Arial"/>
              </a:rPr>
              <a:t>Outline</a:t>
            </a:r>
            <a:endParaRPr kumimoji="0" lang="en-US" altLang="ko-KR" sz="1371" b="1" dirty="0">
              <a:solidFill>
                <a:prstClr val="black"/>
              </a:solidFill>
              <a:latin typeface="Arial"/>
              <a:ea typeface="맑은 고딕" panose="020B0503020000020004" pitchFamily="50" charset="-127"/>
              <a:cs typeface="Arial"/>
            </a:endParaRPr>
          </a:p>
        </p:txBody>
      </p:sp>
    </p:spTree>
    <p:extLst>
      <p:ext uri="{BB962C8B-B14F-4D97-AF65-F5344CB8AC3E}">
        <p14:creationId xmlns:p14="http://schemas.microsoft.com/office/powerpoint/2010/main" val="24319634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20037" y="774866"/>
            <a:ext cx="356617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pic>
        <p:nvPicPr>
          <p:cNvPr id="2" name="그림 1">
            <a:extLst>
              <a:ext uri="{FF2B5EF4-FFF2-40B4-BE49-F238E27FC236}">
                <a16:creationId xmlns:a16="http://schemas.microsoft.com/office/drawing/2014/main" id="{50DD466F-9B47-792A-F435-9A24E8AC7310}"/>
              </a:ext>
            </a:extLst>
          </p:cNvPr>
          <p:cNvPicPr>
            <a:picLocks noChangeAspect="1"/>
          </p:cNvPicPr>
          <p:nvPr/>
        </p:nvPicPr>
        <p:blipFill>
          <a:blip r:embed="rId2"/>
          <a:stretch>
            <a:fillRect/>
          </a:stretch>
        </p:blipFill>
        <p:spPr>
          <a:xfrm>
            <a:off x="404813" y="1676400"/>
            <a:ext cx="3674887" cy="2990717"/>
          </a:xfrm>
          <a:prstGeom prst="rect">
            <a:avLst/>
          </a:prstGeom>
        </p:spPr>
      </p:pic>
      <p:grpSp>
        <p:nvGrpSpPr>
          <p:cNvPr id="6" name="그룹 5">
            <a:extLst>
              <a:ext uri="{FF2B5EF4-FFF2-40B4-BE49-F238E27FC236}">
                <a16:creationId xmlns:a16="http://schemas.microsoft.com/office/drawing/2014/main" id="{E446668B-293A-3483-CAD4-0C200CA3B1DF}"/>
              </a:ext>
            </a:extLst>
          </p:cNvPr>
          <p:cNvGrpSpPr/>
          <p:nvPr/>
        </p:nvGrpSpPr>
        <p:grpSpPr>
          <a:xfrm>
            <a:off x="404813" y="6928308"/>
            <a:ext cx="6048622" cy="1910892"/>
            <a:chOff x="291219" y="7387206"/>
            <a:chExt cx="6048622" cy="1910892"/>
          </a:xfrm>
        </p:grpSpPr>
        <p:grpSp>
          <p:nvGrpSpPr>
            <p:cNvPr id="7" name="그룹 6">
              <a:extLst>
                <a:ext uri="{FF2B5EF4-FFF2-40B4-BE49-F238E27FC236}">
                  <a16:creationId xmlns:a16="http://schemas.microsoft.com/office/drawing/2014/main" id="{9C5D1598-38F6-135A-3CCD-4A17839DBE12}"/>
                </a:ext>
              </a:extLst>
            </p:cNvPr>
            <p:cNvGrpSpPr/>
            <p:nvPr/>
          </p:nvGrpSpPr>
          <p:grpSpPr>
            <a:xfrm>
              <a:off x="291219" y="7387206"/>
              <a:ext cx="6048622" cy="1910892"/>
              <a:chOff x="291219" y="7387206"/>
              <a:chExt cx="6048622" cy="1910892"/>
            </a:xfrm>
          </p:grpSpPr>
          <p:sp>
            <p:nvSpPr>
              <p:cNvPr id="11" name="Rectangle 12">
                <a:extLst>
                  <a:ext uri="{FF2B5EF4-FFF2-40B4-BE49-F238E27FC236}">
                    <a16:creationId xmlns:a16="http://schemas.microsoft.com/office/drawing/2014/main" id="{201D264A-6AF6-1CDB-4950-FC82C16BB403}"/>
                  </a:ext>
                </a:extLst>
              </p:cNvPr>
              <p:cNvSpPr>
                <a:spLocks noChangeArrowheads="1"/>
              </p:cNvSpPr>
              <p:nvPr/>
            </p:nvSpPr>
            <p:spPr bwMode="auto">
              <a:xfrm>
                <a:off x="291219" y="7387206"/>
                <a:ext cx="6048622" cy="46166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mj-lt"/>
                    <a:ea typeface="맑은 고딕" panose="020B0503020000020004" pitchFamily="50" charset="-127"/>
                    <a:cs typeface="Times New Roman" panose="02020603050405020304" pitchFamily="18"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mj-lt"/>
                </a:endParaRPr>
              </a:p>
            </p:txBody>
          </p:sp>
          <p:sp>
            <p:nvSpPr>
              <p:cNvPr id="12" name="Rectangle 15">
                <a:extLst>
                  <a:ext uri="{FF2B5EF4-FFF2-40B4-BE49-F238E27FC236}">
                    <a16:creationId xmlns:a16="http://schemas.microsoft.com/office/drawing/2014/main" id="{704F35AC-A487-7546-1D39-F10B838E7C60}"/>
                  </a:ext>
                </a:extLst>
              </p:cNvPr>
              <p:cNvSpPr>
                <a:spLocks noChangeArrowheads="1"/>
              </p:cNvSpPr>
              <p:nvPr/>
            </p:nvSpPr>
            <p:spPr bwMode="auto">
              <a:xfrm>
                <a:off x="291219" y="7913103"/>
                <a:ext cx="6048622" cy="138499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mj-lt"/>
                    <a:ea typeface="맑은 고딕" panose="020B0503020000020004" pitchFamily="50" charset="-127"/>
                    <a:cs typeface="Times New Roman" panose="02020603050405020304" pitchFamily="18"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mj-lt"/>
                </a:endParaRPr>
              </a:p>
            </p:txBody>
          </p:sp>
        </p:grpSp>
        <p:pic>
          <p:nvPicPr>
            <p:cNvPr id="8" name="그림 1">
              <a:extLst>
                <a:ext uri="{FF2B5EF4-FFF2-40B4-BE49-F238E27FC236}">
                  <a16:creationId xmlns:a16="http://schemas.microsoft.com/office/drawing/2014/main" id="{99D8BFCE-6ABA-3771-675E-7278D23840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3798" y="7405679"/>
              <a:ext cx="100553" cy="146962"/>
            </a:xfrm>
            <a:prstGeom prst="rect">
              <a:avLst/>
            </a:prstGeom>
            <a:noFill/>
            <a:extLst>
              <a:ext uri="{909E8E84-426E-40DD-AFC4-6F175D3DCCD1}">
                <a14:hiddenFill xmlns:a14="http://schemas.microsoft.com/office/drawing/2010/main">
                  <a:solidFill>
                    <a:srgbClr val="FFFFFF"/>
                  </a:solidFill>
                </a14:hiddenFill>
              </a:ext>
            </a:extLst>
          </p:spPr>
        </p:pic>
        <p:pic>
          <p:nvPicPr>
            <p:cNvPr id="10" name="그림 1">
              <a:extLst>
                <a:ext uri="{FF2B5EF4-FFF2-40B4-BE49-F238E27FC236}">
                  <a16:creationId xmlns:a16="http://schemas.microsoft.com/office/drawing/2014/main" id="{C8D5D4AD-C951-8E40-EC01-1A2F6B57C6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670" y="7941651"/>
              <a:ext cx="91652" cy="133953"/>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object 32">
            <a:extLst>
              <a:ext uri="{FF2B5EF4-FFF2-40B4-BE49-F238E27FC236}">
                <a16:creationId xmlns:a16="http://schemas.microsoft.com/office/drawing/2014/main" id="{01FC4212-14F3-2DCF-B11F-3A37E9E55FFD}"/>
              </a:ext>
            </a:extLst>
          </p:cNvPr>
          <p:cNvSpPr txBox="1"/>
          <p:nvPr/>
        </p:nvSpPr>
        <p:spPr>
          <a:xfrm>
            <a:off x="5952490" y="1466851"/>
            <a:ext cx="534670" cy="135293"/>
          </a:xfrm>
          <a:prstGeom prst="rect">
            <a:avLst/>
          </a:prstGeom>
        </p:spPr>
        <p:txBody>
          <a:bodyPr vert="horz" wrap="square" lIns="0" tIns="12065" rIns="0" bIns="0" rtlCol="0">
            <a:spAutoFit/>
          </a:bodyPr>
          <a:lstStyle/>
          <a:p>
            <a:pPr marL="12700">
              <a:lnSpc>
                <a:spcPct val="100000"/>
              </a:lnSpc>
              <a:spcBef>
                <a:spcPts val="95"/>
              </a:spcBef>
            </a:pPr>
            <a:r>
              <a:rPr sz="800" spc="-10" dirty="0">
                <a:latin typeface="Arial"/>
                <a:cs typeface="Arial"/>
              </a:rPr>
              <a:t>Unit</a:t>
            </a:r>
            <a:r>
              <a:rPr sz="800" spc="-50" dirty="0">
                <a:latin typeface="Arial"/>
                <a:cs typeface="Arial"/>
              </a:rPr>
              <a:t> </a:t>
            </a:r>
            <a:r>
              <a:rPr sz="800" dirty="0">
                <a:latin typeface="Arial"/>
                <a:cs typeface="Arial"/>
              </a:rPr>
              <a:t>:mm</a:t>
            </a:r>
          </a:p>
        </p:txBody>
      </p:sp>
      <p:sp>
        <p:nvSpPr>
          <p:cNvPr id="16" name="object 7">
            <a:extLst>
              <a:ext uri="{FF2B5EF4-FFF2-40B4-BE49-F238E27FC236}">
                <a16:creationId xmlns:a16="http://schemas.microsoft.com/office/drawing/2014/main" id="{C3D957A8-A41B-4D1D-2A10-D63EDA8DD481}"/>
              </a:ext>
            </a:extLst>
          </p:cNvPr>
          <p:cNvSpPr txBox="1"/>
          <p:nvPr/>
        </p:nvSpPr>
        <p:spPr>
          <a:xfrm>
            <a:off x="500156" y="6158840"/>
            <a:ext cx="5633943" cy="405113"/>
          </a:xfrm>
          <a:prstGeom prst="rect">
            <a:avLst/>
          </a:prstGeom>
        </p:spPr>
        <p:txBody>
          <a:bodyPr vert="horz" wrap="square" lIns="0" tIns="19750" rIns="0" bIns="0" rtlCol="0">
            <a:spAutoFit/>
          </a:bodyPr>
          <a:lstStyle/>
          <a:p>
            <a:pPr marL="11286" marR="4515" defTabSz="895327" fontAlgn="auto">
              <a:lnSpc>
                <a:spcPct val="150000"/>
              </a:lnSpc>
              <a:spcBef>
                <a:spcPts val="156"/>
              </a:spcBef>
              <a:spcAft>
                <a:spcPts val="0"/>
              </a:spcAft>
            </a:pPr>
            <a:r>
              <a:rPr kumimoji="0" sz="889" spc="-5" dirty="0">
                <a:solidFill>
                  <a:prstClr val="black"/>
                </a:solidFill>
                <a:latin typeface="Arial"/>
                <a:ea typeface="+mn-ea"/>
                <a:cs typeface="Arial"/>
              </a:rPr>
              <a:t>Note: The</a:t>
            </a:r>
            <a:r>
              <a:rPr kumimoji="0" sz="889" spc="14" dirty="0">
                <a:solidFill>
                  <a:prstClr val="black"/>
                </a:solidFill>
                <a:latin typeface="Arial"/>
                <a:ea typeface="+mn-ea"/>
                <a:cs typeface="Arial"/>
              </a:rPr>
              <a:t> </a:t>
            </a:r>
            <a:r>
              <a:rPr kumimoji="0" sz="889" spc="-5" dirty="0">
                <a:solidFill>
                  <a:prstClr val="black"/>
                </a:solidFill>
                <a:latin typeface="Arial"/>
                <a:ea typeface="+mn-ea"/>
                <a:cs typeface="Arial"/>
              </a:rPr>
              <a:t>reflow</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peak</a:t>
            </a:r>
            <a:r>
              <a:rPr kumimoji="0" sz="889" spc="9" dirty="0">
                <a:solidFill>
                  <a:prstClr val="black"/>
                </a:solidFill>
                <a:latin typeface="Arial"/>
                <a:ea typeface="+mn-ea"/>
                <a:cs typeface="Arial"/>
              </a:rPr>
              <a:t> </a:t>
            </a:r>
            <a:r>
              <a:rPr kumimoji="0" sz="889" spc="-5" dirty="0">
                <a:solidFill>
                  <a:prstClr val="black"/>
                </a:solidFill>
                <a:latin typeface="Arial"/>
                <a:ea typeface="+mn-ea"/>
                <a:cs typeface="Arial"/>
              </a:rPr>
              <a:t>soldering</a:t>
            </a:r>
            <a:r>
              <a:rPr kumimoji="0" sz="889" spc="14" dirty="0">
                <a:solidFill>
                  <a:prstClr val="black"/>
                </a:solidFill>
                <a:latin typeface="Arial"/>
                <a:ea typeface="+mn-ea"/>
                <a:cs typeface="Arial"/>
              </a:rPr>
              <a:t> </a:t>
            </a:r>
            <a:r>
              <a:rPr kumimoji="0" sz="889" spc="-5" dirty="0">
                <a:solidFill>
                  <a:prstClr val="black"/>
                </a:solidFill>
                <a:latin typeface="Arial"/>
                <a:ea typeface="+mn-ea"/>
                <a:cs typeface="Arial"/>
              </a:rPr>
              <a:t>temperature</a:t>
            </a:r>
            <a:r>
              <a:rPr kumimoji="0" sz="889" spc="14" dirty="0">
                <a:solidFill>
                  <a:prstClr val="black"/>
                </a:solidFill>
                <a:latin typeface="Arial"/>
                <a:ea typeface="+mn-ea"/>
                <a:cs typeface="Arial"/>
              </a:rPr>
              <a:t> </a:t>
            </a:r>
            <a:r>
              <a:rPr kumimoji="0" sz="889" spc="-9" dirty="0">
                <a:solidFill>
                  <a:prstClr val="black"/>
                </a:solidFill>
                <a:latin typeface="Arial"/>
                <a:ea typeface="+mn-ea"/>
                <a:cs typeface="Arial"/>
              </a:rPr>
              <a:t>is</a:t>
            </a:r>
            <a:r>
              <a:rPr kumimoji="0" sz="889" spc="23" dirty="0">
                <a:solidFill>
                  <a:prstClr val="black"/>
                </a:solidFill>
                <a:latin typeface="Arial"/>
                <a:ea typeface="+mn-ea"/>
                <a:cs typeface="Arial"/>
              </a:rPr>
              <a:t> </a:t>
            </a:r>
            <a:r>
              <a:rPr kumimoji="0" sz="889" spc="-9" dirty="0">
                <a:solidFill>
                  <a:prstClr val="black"/>
                </a:solidFill>
                <a:latin typeface="Arial"/>
                <a:ea typeface="+mn-ea"/>
                <a:cs typeface="Arial"/>
              </a:rPr>
              <a:t>peak</a:t>
            </a:r>
            <a:r>
              <a:rPr kumimoji="0" sz="889" spc="26" dirty="0">
                <a:solidFill>
                  <a:prstClr val="black"/>
                </a:solidFill>
                <a:latin typeface="Arial"/>
                <a:ea typeface="+mn-ea"/>
                <a:cs typeface="Arial"/>
              </a:rPr>
              <a:t> </a:t>
            </a:r>
            <a:r>
              <a:rPr kumimoji="0" sz="889" spc="-5" dirty="0">
                <a:solidFill>
                  <a:prstClr val="black"/>
                </a:solidFill>
                <a:latin typeface="Arial"/>
                <a:ea typeface="+mn-ea"/>
                <a:cs typeface="Arial"/>
              </a:rPr>
              <a:t>260°C</a:t>
            </a:r>
            <a:r>
              <a:rPr kumimoji="0" sz="889" spc="17" dirty="0">
                <a:solidFill>
                  <a:prstClr val="black"/>
                </a:solidFill>
                <a:latin typeface="Arial"/>
                <a:ea typeface="+mn-ea"/>
                <a:cs typeface="Arial"/>
              </a:rPr>
              <a:t> </a:t>
            </a:r>
            <a:r>
              <a:rPr kumimoji="0" sz="889" spc="-5" dirty="0">
                <a:solidFill>
                  <a:prstClr val="black"/>
                </a:solidFill>
                <a:latin typeface="Arial"/>
                <a:ea typeface="+mn-ea"/>
                <a:cs typeface="Arial"/>
              </a:rPr>
              <a:t>and</a:t>
            </a:r>
            <a:r>
              <a:rPr kumimoji="0" sz="889" spc="14" dirty="0">
                <a:solidFill>
                  <a:prstClr val="black"/>
                </a:solidFill>
                <a:latin typeface="Arial"/>
                <a:ea typeface="+mn-ea"/>
                <a:cs typeface="Arial"/>
              </a:rPr>
              <a:t> </a:t>
            </a:r>
            <a:r>
              <a:rPr kumimoji="0" sz="889" spc="-9" dirty="0">
                <a:solidFill>
                  <a:prstClr val="black"/>
                </a:solidFill>
                <a:latin typeface="Arial"/>
                <a:ea typeface="+mn-ea"/>
                <a:cs typeface="Arial"/>
              </a:rPr>
              <a:t>it</a:t>
            </a:r>
            <a:r>
              <a:rPr kumimoji="0" sz="889" spc="17" dirty="0">
                <a:solidFill>
                  <a:prstClr val="black"/>
                </a:solidFill>
                <a:latin typeface="Arial"/>
                <a:ea typeface="+mn-ea"/>
                <a:cs typeface="Arial"/>
              </a:rPr>
              <a:t> </a:t>
            </a:r>
            <a:r>
              <a:rPr kumimoji="0" sz="889" spc="-9" dirty="0">
                <a:solidFill>
                  <a:prstClr val="black"/>
                </a:solidFill>
                <a:latin typeface="Arial"/>
                <a:ea typeface="+mn-ea"/>
                <a:cs typeface="Arial"/>
              </a:rPr>
              <a:t>is</a:t>
            </a:r>
            <a:r>
              <a:rPr kumimoji="0" sz="889" spc="9" dirty="0">
                <a:solidFill>
                  <a:prstClr val="black"/>
                </a:solidFill>
                <a:latin typeface="Arial"/>
                <a:ea typeface="+mn-ea"/>
                <a:cs typeface="Arial"/>
              </a:rPr>
              <a:t> </a:t>
            </a:r>
            <a:r>
              <a:rPr kumimoji="0" sz="889" spc="-5" dirty="0">
                <a:solidFill>
                  <a:prstClr val="black"/>
                </a:solidFill>
                <a:latin typeface="Arial"/>
                <a:ea typeface="+mn-ea"/>
                <a:cs typeface="Arial"/>
              </a:rPr>
              <a:t>specified</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based</a:t>
            </a:r>
            <a:r>
              <a:rPr kumimoji="0" sz="889" spc="5" dirty="0">
                <a:solidFill>
                  <a:prstClr val="black"/>
                </a:solidFill>
                <a:latin typeface="Arial"/>
                <a:ea typeface="+mn-ea"/>
                <a:cs typeface="Arial"/>
              </a:rPr>
              <a:t> </a:t>
            </a:r>
            <a:r>
              <a:rPr kumimoji="0" sz="889" dirty="0">
                <a:solidFill>
                  <a:prstClr val="black"/>
                </a:solidFill>
                <a:latin typeface="Arial"/>
                <a:ea typeface="+mn-ea"/>
                <a:cs typeface="Arial"/>
              </a:rPr>
              <a:t>on</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IPC/JEDEC</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J-STD- </a:t>
            </a:r>
            <a:r>
              <a:rPr kumimoji="0" sz="889" spc="-231" dirty="0">
                <a:solidFill>
                  <a:prstClr val="black"/>
                </a:solidFill>
                <a:latin typeface="Arial"/>
                <a:ea typeface="+mn-ea"/>
                <a:cs typeface="Arial"/>
              </a:rPr>
              <a:t> </a:t>
            </a:r>
            <a:r>
              <a:rPr kumimoji="0" sz="889" spc="-9" dirty="0">
                <a:solidFill>
                  <a:prstClr val="black"/>
                </a:solidFill>
                <a:latin typeface="Arial"/>
                <a:ea typeface="+mn-ea"/>
                <a:cs typeface="Arial"/>
              </a:rPr>
              <a:t>020</a:t>
            </a:r>
            <a:r>
              <a:rPr kumimoji="0" sz="889" dirty="0">
                <a:solidFill>
                  <a:prstClr val="black"/>
                </a:solidFill>
                <a:latin typeface="Arial"/>
                <a:ea typeface="+mn-ea"/>
                <a:cs typeface="Arial"/>
              </a:rPr>
              <a:t> </a:t>
            </a:r>
            <a:r>
              <a:rPr kumimoji="0" sz="889" spc="-5" dirty="0">
                <a:solidFill>
                  <a:prstClr val="black"/>
                </a:solidFill>
                <a:latin typeface="Arial"/>
                <a:ea typeface="+mn-ea"/>
                <a:cs typeface="Arial"/>
              </a:rPr>
              <a:t>“Moisture/Reflow</a:t>
            </a:r>
            <a:r>
              <a:rPr kumimoji="0" sz="889" spc="14" dirty="0">
                <a:solidFill>
                  <a:prstClr val="black"/>
                </a:solidFill>
                <a:latin typeface="Arial"/>
                <a:ea typeface="+mn-ea"/>
                <a:cs typeface="Arial"/>
              </a:rPr>
              <a:t> </a:t>
            </a:r>
            <a:r>
              <a:rPr kumimoji="0" sz="889" spc="-5" dirty="0">
                <a:solidFill>
                  <a:prstClr val="black"/>
                </a:solidFill>
                <a:latin typeface="Arial"/>
                <a:ea typeface="+mn-ea"/>
                <a:cs typeface="Arial"/>
              </a:rPr>
              <a:t>Sensitivity</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Classification</a:t>
            </a:r>
            <a:r>
              <a:rPr kumimoji="0" sz="889" spc="5" dirty="0">
                <a:solidFill>
                  <a:prstClr val="black"/>
                </a:solidFill>
                <a:latin typeface="Arial"/>
                <a:ea typeface="+mn-ea"/>
                <a:cs typeface="Arial"/>
              </a:rPr>
              <a:t> </a:t>
            </a:r>
            <a:r>
              <a:rPr kumimoji="0" sz="889" spc="-5" dirty="0">
                <a:solidFill>
                  <a:prstClr val="black"/>
                </a:solidFill>
                <a:latin typeface="Arial"/>
                <a:ea typeface="+mn-ea"/>
                <a:cs typeface="Arial"/>
              </a:rPr>
              <a:t>for</a:t>
            </a:r>
            <a:r>
              <a:rPr kumimoji="0" sz="889" spc="14" dirty="0">
                <a:solidFill>
                  <a:prstClr val="black"/>
                </a:solidFill>
                <a:latin typeface="Arial"/>
                <a:ea typeface="+mn-ea"/>
                <a:cs typeface="Arial"/>
              </a:rPr>
              <a:t> </a:t>
            </a:r>
            <a:r>
              <a:rPr kumimoji="0" sz="889" spc="-5" dirty="0">
                <a:solidFill>
                  <a:prstClr val="black"/>
                </a:solidFill>
                <a:latin typeface="Arial"/>
                <a:ea typeface="+mn-ea"/>
                <a:cs typeface="Arial"/>
              </a:rPr>
              <a:t>Non-Hermetic</a:t>
            </a:r>
            <a:r>
              <a:rPr kumimoji="0" sz="889" spc="9" dirty="0">
                <a:solidFill>
                  <a:prstClr val="black"/>
                </a:solidFill>
                <a:latin typeface="Arial"/>
                <a:ea typeface="+mn-ea"/>
                <a:cs typeface="Arial"/>
              </a:rPr>
              <a:t> </a:t>
            </a:r>
            <a:r>
              <a:rPr kumimoji="0" sz="889" spc="-5" dirty="0">
                <a:solidFill>
                  <a:prstClr val="black"/>
                </a:solidFill>
                <a:latin typeface="Arial"/>
                <a:ea typeface="+mn-ea"/>
                <a:cs typeface="Arial"/>
              </a:rPr>
              <a:t>Solid</a:t>
            </a:r>
            <a:r>
              <a:rPr kumimoji="0" sz="889" spc="9" dirty="0">
                <a:solidFill>
                  <a:prstClr val="black"/>
                </a:solidFill>
                <a:latin typeface="Arial"/>
                <a:ea typeface="+mn-ea"/>
                <a:cs typeface="Arial"/>
              </a:rPr>
              <a:t> </a:t>
            </a:r>
            <a:r>
              <a:rPr kumimoji="0" sz="889" spc="-5" dirty="0">
                <a:solidFill>
                  <a:prstClr val="black"/>
                </a:solidFill>
                <a:latin typeface="Arial"/>
                <a:ea typeface="+mn-ea"/>
                <a:cs typeface="Arial"/>
              </a:rPr>
              <a:t>State</a:t>
            </a:r>
            <a:r>
              <a:rPr kumimoji="0" sz="889" spc="5" dirty="0">
                <a:solidFill>
                  <a:prstClr val="black"/>
                </a:solidFill>
                <a:latin typeface="Arial"/>
                <a:ea typeface="+mn-ea"/>
                <a:cs typeface="Arial"/>
              </a:rPr>
              <a:t> </a:t>
            </a:r>
            <a:r>
              <a:rPr kumimoji="0" sz="889" dirty="0">
                <a:solidFill>
                  <a:prstClr val="black"/>
                </a:solidFill>
                <a:latin typeface="Arial"/>
                <a:ea typeface="+mn-ea"/>
                <a:cs typeface="Arial"/>
              </a:rPr>
              <a:t>Surface </a:t>
            </a:r>
            <a:r>
              <a:rPr kumimoji="0" sz="889" spc="-5" dirty="0">
                <a:solidFill>
                  <a:prstClr val="black"/>
                </a:solidFill>
                <a:latin typeface="Arial"/>
                <a:ea typeface="+mn-ea"/>
                <a:cs typeface="Arial"/>
              </a:rPr>
              <a:t>Mount</a:t>
            </a:r>
            <a:r>
              <a:rPr kumimoji="0" sz="889" spc="5" dirty="0">
                <a:solidFill>
                  <a:prstClr val="black"/>
                </a:solidFill>
                <a:latin typeface="Arial"/>
                <a:ea typeface="+mn-ea"/>
                <a:cs typeface="Arial"/>
              </a:rPr>
              <a:t> </a:t>
            </a:r>
            <a:r>
              <a:rPr kumimoji="0" sz="889" dirty="0">
                <a:solidFill>
                  <a:prstClr val="black"/>
                </a:solidFill>
                <a:latin typeface="Arial"/>
                <a:ea typeface="+mn-ea"/>
                <a:cs typeface="Arial"/>
              </a:rPr>
              <a:t>Devices”</a:t>
            </a:r>
          </a:p>
        </p:txBody>
      </p:sp>
      <p:graphicFrame>
        <p:nvGraphicFramePr>
          <p:cNvPr id="14" name="object 2">
            <a:extLst>
              <a:ext uri="{FF2B5EF4-FFF2-40B4-BE49-F238E27FC236}">
                <a16:creationId xmlns:a16="http://schemas.microsoft.com/office/drawing/2014/main" id="{0DA3FDB8-0BB8-62D3-FA2F-DE8AFC70CBAD}"/>
              </a:ext>
            </a:extLst>
          </p:cNvPr>
          <p:cNvGraphicFramePr>
            <a:graphicFrameLocks noGrp="1"/>
          </p:cNvGraphicFramePr>
          <p:nvPr>
            <p:extLst>
              <p:ext uri="{D42A27DB-BD31-4B8C-83A1-F6EECF244321}">
                <p14:modId xmlns:p14="http://schemas.microsoft.com/office/powerpoint/2010/main" val="3896029793"/>
              </p:ext>
            </p:extLst>
          </p:nvPr>
        </p:nvGraphicFramePr>
        <p:xfrm>
          <a:off x="4564615" y="1676400"/>
          <a:ext cx="1925085" cy="2984373"/>
        </p:xfrm>
        <a:graphic>
          <a:graphicData uri="http://schemas.openxmlformats.org/drawingml/2006/table">
            <a:tbl>
              <a:tblPr firstRow="1" bandRow="1">
                <a:tableStyleId>{2D5ABB26-0587-4C30-8999-92F81FD0307C}</a:tableStyleId>
              </a:tblPr>
              <a:tblGrid>
                <a:gridCol w="424451">
                  <a:extLst>
                    <a:ext uri="{9D8B030D-6E8A-4147-A177-3AD203B41FA5}">
                      <a16:colId xmlns:a16="http://schemas.microsoft.com/office/drawing/2014/main" val="20000"/>
                    </a:ext>
                  </a:extLst>
                </a:gridCol>
                <a:gridCol w="667700">
                  <a:extLst>
                    <a:ext uri="{9D8B030D-6E8A-4147-A177-3AD203B41FA5}">
                      <a16:colId xmlns:a16="http://schemas.microsoft.com/office/drawing/2014/main" val="20001"/>
                    </a:ext>
                  </a:extLst>
                </a:gridCol>
                <a:gridCol w="832934">
                  <a:extLst>
                    <a:ext uri="{9D8B030D-6E8A-4147-A177-3AD203B41FA5}">
                      <a16:colId xmlns:a16="http://schemas.microsoft.com/office/drawing/2014/main" val="20002"/>
                    </a:ext>
                  </a:extLst>
                </a:gridCol>
              </a:tblGrid>
              <a:tr h="169226">
                <a:tc>
                  <a:txBody>
                    <a:bodyPr/>
                    <a:lstStyle/>
                    <a:p>
                      <a:pPr marL="63500">
                        <a:lnSpc>
                          <a:spcPct val="100000"/>
                        </a:lnSpc>
                        <a:spcBef>
                          <a:spcPts val="185"/>
                        </a:spcBef>
                      </a:pPr>
                      <a:r>
                        <a:rPr sz="1000" spc="-10" dirty="0">
                          <a:latin typeface="Calibri"/>
                          <a:cs typeface="Calibri"/>
                        </a:rPr>
                        <a:t>Dim</a:t>
                      </a:r>
                      <a:endParaRPr sz="1000" dirty="0">
                        <a:latin typeface="Calibri"/>
                        <a:cs typeface="Calibri"/>
                      </a:endParaRP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63500">
                        <a:lnSpc>
                          <a:spcPct val="100000"/>
                        </a:lnSpc>
                        <a:spcBef>
                          <a:spcPts val="185"/>
                        </a:spcBef>
                      </a:pPr>
                      <a:r>
                        <a:rPr sz="1000" spc="-5" dirty="0">
                          <a:latin typeface="Calibri"/>
                          <a:cs typeface="Calibri"/>
                        </a:rPr>
                        <a:t>Value(mm)</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64135">
                        <a:lnSpc>
                          <a:spcPct val="100000"/>
                        </a:lnSpc>
                        <a:spcBef>
                          <a:spcPts val="185"/>
                        </a:spcBef>
                      </a:pPr>
                      <a:r>
                        <a:rPr sz="1000" spc="-5" dirty="0">
                          <a:latin typeface="Calibri"/>
                          <a:cs typeface="Calibri"/>
                        </a:rPr>
                        <a:t>Margin(Typ+)</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r h="169353">
                <a:tc>
                  <a:txBody>
                    <a:bodyPr/>
                    <a:lstStyle/>
                    <a:p>
                      <a:pPr marL="63500" algn="ctr">
                        <a:lnSpc>
                          <a:spcPct val="100000"/>
                        </a:lnSpc>
                        <a:spcBef>
                          <a:spcPts val="185"/>
                        </a:spcBef>
                      </a:pPr>
                      <a:r>
                        <a:rPr sz="1000" dirty="0">
                          <a:latin typeface="Calibri"/>
                          <a:cs typeface="Calibri"/>
                        </a:rPr>
                        <a:t>X</a:t>
                      </a: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1000" dirty="0">
                          <a:latin typeface="Calibri"/>
                          <a:cs typeface="Calibri"/>
                        </a:rPr>
                        <a:t>0.5</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1000" dirty="0">
                          <a:latin typeface="Calibri"/>
                          <a:cs typeface="Calibri"/>
                        </a:rPr>
                        <a:t>+0.2</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1000" dirty="0">
                          <a:latin typeface="Calibri"/>
                          <a:cs typeface="Calibri"/>
                        </a:rPr>
                        <a:t>Y</a:t>
                      </a: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1000" dirty="0">
                          <a:latin typeface="Calibri"/>
                          <a:cs typeface="Calibri"/>
                        </a:rPr>
                        <a:t>0.2</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1000" dirty="0">
                          <a:latin typeface="Calibri"/>
                          <a:cs typeface="Calibri"/>
                        </a:rPr>
                        <a:t>0</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1000" dirty="0">
                          <a:latin typeface="Calibri"/>
                          <a:cs typeface="Calibri"/>
                        </a:rPr>
                        <a:t>C</a:t>
                      </a: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1000" dirty="0">
                          <a:latin typeface="Calibri"/>
                          <a:cs typeface="Calibri"/>
                        </a:rPr>
                        <a:t>0.4</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1000" dirty="0">
                          <a:latin typeface="Calibri"/>
                          <a:cs typeface="Calibri"/>
                        </a:rPr>
                        <a:t>0</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1000" spc="-10" dirty="0">
                          <a:latin typeface="Calibri"/>
                          <a:cs typeface="Calibri"/>
                        </a:rPr>
                        <a:t>X1</a:t>
                      </a:r>
                      <a:endParaRPr sz="1000" dirty="0">
                        <a:latin typeface="Calibri"/>
                        <a:cs typeface="Calibri"/>
                      </a:endParaRP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1000" dirty="0">
                          <a:latin typeface="Calibri"/>
                          <a:cs typeface="Calibri"/>
                        </a:rPr>
                        <a:t>0.5</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1000" dirty="0">
                          <a:latin typeface="Calibri"/>
                          <a:cs typeface="Calibri"/>
                        </a:rPr>
                        <a:t>+0.2</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1000" spc="-15" dirty="0">
                          <a:latin typeface="Calibri"/>
                          <a:cs typeface="Calibri"/>
                        </a:rPr>
                        <a:t>Y1</a:t>
                      </a:r>
                      <a:endParaRPr sz="1000" dirty="0">
                        <a:latin typeface="Calibri"/>
                        <a:cs typeface="Calibri"/>
                      </a:endParaRP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1000" dirty="0">
                          <a:latin typeface="Calibri"/>
                          <a:cs typeface="Calibri"/>
                        </a:rPr>
                        <a:t>0.5</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1000" dirty="0">
                          <a:latin typeface="Calibri"/>
                          <a:cs typeface="Calibri"/>
                        </a:rPr>
                        <a:t>+0.2</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1000" spc="-10" dirty="0">
                          <a:latin typeface="Calibri"/>
                          <a:cs typeface="Calibri"/>
                        </a:rPr>
                        <a:t>X2</a:t>
                      </a:r>
                      <a:endParaRPr sz="1000" dirty="0">
                        <a:latin typeface="Calibri"/>
                        <a:cs typeface="Calibri"/>
                      </a:endParaRP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1000" dirty="0">
                          <a:latin typeface="Calibri"/>
                          <a:cs typeface="Calibri"/>
                        </a:rPr>
                        <a:t>1.4</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1000" dirty="0">
                          <a:latin typeface="Calibri"/>
                          <a:cs typeface="Calibri"/>
                        </a:rPr>
                        <a:t>+0.1</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1000" spc="-15" dirty="0">
                          <a:latin typeface="Calibri"/>
                          <a:cs typeface="Calibri"/>
                        </a:rPr>
                        <a:t>Y2</a:t>
                      </a:r>
                      <a:endParaRPr sz="1000" dirty="0">
                        <a:latin typeface="Calibri"/>
                        <a:cs typeface="Calibri"/>
                      </a:endParaRP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1000" dirty="0">
                          <a:latin typeface="Calibri"/>
                          <a:cs typeface="Calibri"/>
                        </a:rPr>
                        <a:t>1.9</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1000" dirty="0">
                          <a:latin typeface="Calibri"/>
                          <a:cs typeface="Calibri"/>
                        </a:rPr>
                        <a:t>+0.1</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1000" spc="-10" dirty="0">
                          <a:latin typeface="Calibri"/>
                          <a:cs typeface="Calibri"/>
                        </a:rPr>
                        <a:t>X3</a:t>
                      </a:r>
                      <a:endParaRPr sz="1000" dirty="0">
                        <a:latin typeface="Calibri"/>
                        <a:cs typeface="Calibri"/>
                      </a:endParaRP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1000" dirty="0">
                          <a:latin typeface="Calibri"/>
                          <a:cs typeface="Calibri"/>
                        </a:rPr>
                        <a:t>1.1</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1000" dirty="0">
                          <a:latin typeface="Calibri"/>
                          <a:cs typeface="Calibri"/>
                        </a:rPr>
                        <a:t>+0.1</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1000" spc="-15" dirty="0">
                          <a:latin typeface="Calibri"/>
                          <a:cs typeface="Calibri"/>
                        </a:rPr>
                        <a:t>Y3</a:t>
                      </a:r>
                      <a:endParaRPr sz="1000" dirty="0">
                        <a:latin typeface="Calibri"/>
                        <a:cs typeface="Calibri"/>
                      </a:endParaRP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1000" dirty="0">
                          <a:latin typeface="Calibri"/>
                          <a:cs typeface="Calibri"/>
                        </a:rPr>
                        <a:t>1.6</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1000" dirty="0">
                          <a:latin typeface="Calibri"/>
                          <a:cs typeface="Calibri"/>
                        </a:rPr>
                        <a:t>+0.1</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1000" spc="-10" dirty="0">
                          <a:latin typeface="Calibri"/>
                          <a:cs typeface="Calibri"/>
                        </a:rPr>
                        <a:t>X4</a:t>
                      </a:r>
                      <a:endParaRPr sz="1000" dirty="0">
                        <a:latin typeface="Calibri"/>
                        <a:cs typeface="Calibri"/>
                      </a:endParaRP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1000" dirty="0">
                          <a:latin typeface="Calibri"/>
                          <a:cs typeface="Calibri"/>
                        </a:rPr>
                        <a:t>3.2</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1000" dirty="0">
                          <a:latin typeface="Calibri"/>
                          <a:cs typeface="Calibri"/>
                        </a:rPr>
                        <a:t>+0.2</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1000" spc="-15" dirty="0">
                          <a:latin typeface="Calibri"/>
                          <a:cs typeface="Calibri"/>
                        </a:rPr>
                        <a:t>Y4</a:t>
                      </a:r>
                      <a:endParaRPr sz="1000" dirty="0">
                        <a:latin typeface="Calibri"/>
                        <a:cs typeface="Calibri"/>
                      </a:endParaRP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1000" dirty="0">
                          <a:latin typeface="Calibri"/>
                          <a:cs typeface="Calibri"/>
                        </a:rPr>
                        <a:t>3.2</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1000" dirty="0">
                          <a:latin typeface="Calibri"/>
                          <a:cs typeface="Calibri"/>
                        </a:rPr>
                        <a:t>+0.2</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1000" dirty="0">
                          <a:latin typeface="Calibri"/>
                          <a:cs typeface="Calibri"/>
                        </a:rPr>
                        <a:t>G</a:t>
                      </a: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1000" dirty="0">
                          <a:latin typeface="Calibri"/>
                          <a:cs typeface="Calibri"/>
                        </a:rPr>
                        <a:t>0.2</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1000" dirty="0">
                          <a:latin typeface="Calibri"/>
                          <a:cs typeface="Calibri"/>
                        </a:rPr>
                        <a:t>0</a:t>
                      </a:r>
                      <a:endParaRPr sz="1000" dirty="0">
                        <a:latin typeface="Calibri"/>
                        <a:cs typeface="Calibri"/>
                      </a:endParaRPr>
                    </a:p>
                  </a:txBody>
                  <a:tcPr marL="0" marR="0" marT="23005"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1000" spc="-10" dirty="0">
                          <a:latin typeface="Calibri"/>
                          <a:cs typeface="Calibri"/>
                        </a:rPr>
                        <a:t>G1</a:t>
                      </a:r>
                      <a:endParaRPr sz="1000" dirty="0">
                        <a:latin typeface="Calibri"/>
                        <a:cs typeface="Calibri"/>
                      </a:endParaRPr>
                    </a:p>
                  </a:txBody>
                  <a:tcPr marL="0" marR="0" marT="23627"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1000" dirty="0">
                          <a:latin typeface="Calibri"/>
                          <a:cs typeface="Calibri"/>
                        </a:rPr>
                        <a:t>0.3</a:t>
                      </a:r>
                      <a:endParaRPr sz="1000" dirty="0">
                        <a:latin typeface="Calibri"/>
                        <a:cs typeface="Calibri"/>
                      </a:endParaRPr>
                    </a:p>
                  </a:txBody>
                  <a:tcPr marL="0" marR="0" marT="23627"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1000" dirty="0">
                          <a:latin typeface="Calibri"/>
                          <a:cs typeface="Calibri"/>
                        </a:rPr>
                        <a:t>0</a:t>
                      </a:r>
                      <a:endParaRPr sz="1000" dirty="0">
                        <a:latin typeface="Calibri"/>
                        <a:cs typeface="Calibri"/>
                      </a:endParaRPr>
                    </a:p>
                  </a:txBody>
                  <a:tcPr marL="0" marR="0" marT="23627"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1000" spc="-10" dirty="0">
                          <a:latin typeface="Calibri"/>
                          <a:cs typeface="Calibri"/>
                        </a:rPr>
                        <a:t>G2</a:t>
                      </a:r>
                      <a:endParaRPr sz="1000" dirty="0">
                        <a:latin typeface="Calibri"/>
                        <a:cs typeface="Calibri"/>
                      </a:endParaRPr>
                    </a:p>
                  </a:txBody>
                  <a:tcPr marL="0" marR="0" marT="23627"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1000" dirty="0">
                          <a:latin typeface="Calibri"/>
                          <a:cs typeface="Calibri"/>
                        </a:rPr>
                        <a:t>0.1</a:t>
                      </a:r>
                      <a:endParaRPr sz="1000" dirty="0">
                        <a:latin typeface="Calibri"/>
                        <a:cs typeface="Calibri"/>
                      </a:endParaRPr>
                    </a:p>
                  </a:txBody>
                  <a:tcPr marL="0" marR="0" marT="23627"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1000" dirty="0">
                          <a:latin typeface="Calibri"/>
                          <a:cs typeface="Calibri"/>
                        </a:rPr>
                        <a:t>0</a:t>
                      </a:r>
                      <a:endParaRPr sz="1000" dirty="0">
                        <a:latin typeface="Calibri"/>
                        <a:cs typeface="Calibri"/>
                      </a:endParaRPr>
                    </a:p>
                  </a:txBody>
                  <a:tcPr marL="0" marR="0" marT="23627"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1000" spc="-10" dirty="0">
                          <a:latin typeface="Calibri"/>
                          <a:cs typeface="Calibri"/>
                        </a:rPr>
                        <a:t>G3</a:t>
                      </a:r>
                      <a:endParaRPr sz="1000" dirty="0">
                        <a:latin typeface="Calibri"/>
                        <a:cs typeface="Calibri"/>
                      </a:endParaRPr>
                    </a:p>
                  </a:txBody>
                  <a:tcPr marL="0" marR="0" marT="23627"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1000" dirty="0">
                          <a:latin typeface="Calibri"/>
                          <a:cs typeface="Calibri"/>
                        </a:rPr>
                        <a:t>0.1</a:t>
                      </a:r>
                      <a:endParaRPr sz="1000" dirty="0">
                        <a:latin typeface="Calibri"/>
                        <a:cs typeface="Calibri"/>
                      </a:endParaRPr>
                    </a:p>
                  </a:txBody>
                  <a:tcPr marL="0" marR="0" marT="23627"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1000" dirty="0">
                          <a:latin typeface="Calibri"/>
                          <a:cs typeface="Calibri"/>
                        </a:rPr>
                        <a:t>0</a:t>
                      </a:r>
                      <a:endParaRPr sz="1000" dirty="0">
                        <a:latin typeface="Calibri"/>
                        <a:cs typeface="Calibri"/>
                      </a:endParaRPr>
                    </a:p>
                  </a:txBody>
                  <a:tcPr marL="0" marR="0" marT="23627"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1000" spc="-15" dirty="0">
                          <a:latin typeface="Calibri"/>
                          <a:cs typeface="Calibri"/>
                        </a:rPr>
                        <a:t>G4</a:t>
                      </a:r>
                      <a:endParaRPr sz="1000" dirty="0">
                        <a:latin typeface="Calibri"/>
                        <a:cs typeface="Calibri"/>
                      </a:endParaRPr>
                    </a:p>
                  </a:txBody>
                  <a:tcPr marL="0" marR="0" marT="23627"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1000" dirty="0">
                          <a:latin typeface="Calibri"/>
                          <a:cs typeface="Calibri"/>
                        </a:rPr>
                        <a:t>0.1</a:t>
                      </a:r>
                      <a:endParaRPr sz="1000" dirty="0">
                        <a:latin typeface="Calibri"/>
                        <a:cs typeface="Calibri"/>
                      </a:endParaRPr>
                    </a:p>
                  </a:txBody>
                  <a:tcPr marL="0" marR="0" marT="23627"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1000" dirty="0">
                          <a:latin typeface="Calibri"/>
                          <a:cs typeface="Calibri"/>
                        </a:rPr>
                        <a:t>0</a:t>
                      </a:r>
                      <a:endParaRPr sz="1000" dirty="0">
                        <a:latin typeface="Calibri"/>
                        <a:cs typeface="Calibri"/>
                      </a:endParaRPr>
                    </a:p>
                  </a:txBody>
                  <a:tcPr marL="0" marR="0" marT="23627" marB="0">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bl>
          </a:graphicData>
        </a:graphic>
      </p:graphicFrame>
      <p:sp>
        <p:nvSpPr>
          <p:cNvPr id="18" name="object 84">
            <a:extLst>
              <a:ext uri="{FF2B5EF4-FFF2-40B4-BE49-F238E27FC236}">
                <a16:creationId xmlns:a16="http://schemas.microsoft.com/office/drawing/2014/main" id="{E30F228C-2DA5-3423-A961-6C3D1420DF3F}"/>
              </a:ext>
            </a:extLst>
          </p:cNvPr>
          <p:cNvSpPr txBox="1"/>
          <p:nvPr/>
        </p:nvSpPr>
        <p:spPr>
          <a:xfrm>
            <a:off x="2317750" y="5045392"/>
            <a:ext cx="2848910"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 11. Recommended Footprint</a:t>
            </a:r>
          </a:p>
        </p:txBody>
      </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6F863B-59A5-4DCE-B63F-FE618623F17F}">
  <ds:schemaRefs>
    <ds:schemaRef ds:uri="http://purl.org/dc/terms/"/>
    <ds:schemaRef ds:uri="http://schemas.openxmlformats.org/package/2006/metadata/core-properties"/>
    <ds:schemaRef ds:uri="http://www.w3.org/XML/1998/namespace"/>
    <ds:schemaRef ds:uri="http://schemas.microsoft.com/office/2006/metadata/properties"/>
    <ds:schemaRef ds:uri="http://purl.org/dc/elements/1.1/"/>
    <ds:schemaRef ds:uri="http://purl.org/dc/dcmitype/"/>
    <ds:schemaRef ds:uri="b68af7c0-9cef-4e12-8243-523fceba86ee"/>
    <ds:schemaRef ds:uri="http://schemas.microsoft.com/office/2006/documentManagement/types"/>
    <ds:schemaRef ds:uri="http://schemas.microsoft.com/office/infopath/2007/PartnerControls"/>
  </ds:schemaRefs>
</ds:datastoreItem>
</file>

<file path=customXml/itemProps2.xml><?xml version="1.0" encoding="utf-8"?>
<ds:datastoreItem xmlns:ds="http://schemas.openxmlformats.org/officeDocument/2006/customXml" ds:itemID="{E4F76A09-908A-4E45-A9CC-081CB8515A48}">
  <ds:schemaRefs>
    <ds:schemaRef ds:uri="http://schemas.microsoft.com/sharepoint/v3/contenttype/forms"/>
  </ds:schemaRefs>
</ds:datastoreItem>
</file>

<file path=customXml/itemProps3.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35466</TotalTime>
  <Words>8344</Words>
  <Application>Microsoft Office PowerPoint</Application>
  <PresentationFormat>A4 용지(210x297mm)</PresentationFormat>
  <Paragraphs>2706</Paragraphs>
  <Slides>25</Slides>
  <Notes>0</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25</vt:i4>
      </vt:variant>
    </vt:vector>
  </HeadingPairs>
  <TitlesOfParts>
    <vt:vector size="33" baseType="lpstr">
      <vt:lpstr>Microsoft GothicNeo</vt:lpstr>
      <vt:lpstr>굴림</vt:lpstr>
      <vt:lpstr>맑은 고딕</vt:lpstr>
      <vt:lpstr>Arial</vt:lpstr>
      <vt:lpstr>Calibri</vt:lpstr>
      <vt:lpstr>Calibri Light</vt:lpstr>
      <vt:lpstr>Times New Roman</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윤 진수</cp:lastModifiedBy>
  <cp:revision>1422</cp:revision>
  <cp:lastPrinted>2023-08-01T07:21:23Z</cp:lastPrinted>
  <dcterms:created xsi:type="dcterms:W3CDTF">2020-06-17T04:27:48Z</dcterms:created>
  <dcterms:modified xsi:type="dcterms:W3CDTF">2024-07-18T06:39:55Z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