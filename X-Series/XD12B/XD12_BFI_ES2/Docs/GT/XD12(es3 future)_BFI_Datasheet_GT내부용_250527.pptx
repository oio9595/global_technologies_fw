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38"/>
  </p:notesMasterIdLst>
  <p:handoutMasterIdLst>
    <p:handoutMasterId r:id="rId39"/>
  </p:handoutMasterIdLst>
  <p:sldIdLst>
    <p:sldId id="266" r:id="rId5"/>
    <p:sldId id="385" r:id="rId6"/>
    <p:sldId id="277" r:id="rId7"/>
    <p:sldId id="278" r:id="rId8"/>
    <p:sldId id="279" r:id="rId9"/>
    <p:sldId id="420" r:id="rId10"/>
    <p:sldId id="276" r:id="rId11"/>
    <p:sldId id="417" r:id="rId12"/>
    <p:sldId id="418" r:id="rId13"/>
    <p:sldId id="287" r:id="rId14"/>
    <p:sldId id="426" r:id="rId15"/>
    <p:sldId id="419" r:id="rId16"/>
    <p:sldId id="425" r:id="rId17"/>
    <p:sldId id="427" r:id="rId18"/>
    <p:sldId id="293" r:id="rId19"/>
    <p:sldId id="429" r:id="rId20"/>
    <p:sldId id="330" r:id="rId21"/>
    <p:sldId id="407" r:id="rId22"/>
    <p:sldId id="412" r:id="rId23"/>
    <p:sldId id="423" r:id="rId24"/>
    <p:sldId id="414" r:id="rId25"/>
    <p:sldId id="353" r:id="rId26"/>
    <p:sldId id="409" r:id="rId27"/>
    <p:sldId id="430" r:id="rId28"/>
    <p:sldId id="422" r:id="rId29"/>
    <p:sldId id="428" r:id="rId30"/>
    <p:sldId id="424" r:id="rId31"/>
    <p:sldId id="415" r:id="rId32"/>
    <p:sldId id="410" r:id="rId33"/>
    <p:sldId id="416" r:id="rId34"/>
    <p:sldId id="413" r:id="rId35"/>
    <p:sldId id="431" r:id="rId36"/>
    <p:sldId id="348" r:id="rId37"/>
  </p:sldIdLst>
  <p:sldSz cx="6858000" cy="9906000" type="A4"/>
  <p:notesSz cx="6791325" cy="99218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0" userDrawn="1">
          <p15:clr>
            <a:srgbClr val="A4A3A4"/>
          </p15:clr>
        </p15:guide>
        <p15:guide id="4" orient="horz" pos="5910" userDrawn="1">
          <p15:clr>
            <a:srgbClr val="A4A3A4"/>
          </p15:clr>
        </p15:guide>
        <p15:guide id="5" pos="4110" userDrawn="1">
          <p15:clr>
            <a:srgbClr val="A4A3A4"/>
          </p15:clr>
        </p15:guide>
        <p15:guide id="9" orient="horz" pos="2689" userDrawn="1">
          <p15:clr>
            <a:srgbClr val="A4A3A4"/>
          </p15:clr>
        </p15:guide>
        <p15:guide id="10" pos="255" userDrawn="1">
          <p15:clr>
            <a:srgbClr val="A4A3A4"/>
          </p15:clr>
        </p15:guide>
        <p15:guide id="12" pos="580" userDrawn="1">
          <p15:clr>
            <a:srgbClr val="A4A3A4"/>
          </p15:clr>
        </p15:guide>
        <p15:guide id="13" pos="1988" userDrawn="1">
          <p15:clr>
            <a:srgbClr val="A4A3A4"/>
          </p15:clr>
        </p15:guide>
        <p15:guide id="14" pos="2511" userDrawn="1">
          <p15:clr>
            <a:srgbClr val="A4A3A4"/>
          </p15:clr>
        </p15:guide>
        <p15:guide id="15" pos="3906" userDrawn="1">
          <p15:clr>
            <a:srgbClr val="A4A3A4"/>
          </p15:clr>
        </p15:guide>
        <p15:guide id="16" orient="horz" pos="943" userDrawn="1">
          <p15:clr>
            <a:srgbClr val="A4A3A4"/>
          </p15:clr>
        </p15:guide>
        <p15:guide id="17" orient="horz" pos="2054" userDrawn="1">
          <p15:clr>
            <a:srgbClr val="A4A3A4"/>
          </p15:clr>
        </p15:guide>
        <p15:guide id="18" orient="horz" pos="3800" userDrawn="1">
          <p15:clr>
            <a:srgbClr val="A4A3A4"/>
          </p15:clr>
        </p15:guide>
        <p15:guide id="19" orient="horz" pos="4390" userDrawn="1">
          <p15:clr>
            <a:srgbClr val="A4A3A4"/>
          </p15:clr>
        </p15:guide>
        <p15:guide id="20" orient="horz" pos="5568" userDrawn="1">
          <p15:clr>
            <a:srgbClr val="A4A3A4"/>
          </p15:clr>
        </p15:guide>
        <p15:guide id="21" orient="horz" pos="1419" userDrawn="1">
          <p15:clr>
            <a:srgbClr val="A4A3A4"/>
          </p15:clr>
        </p15:guide>
        <p15:guide id="22" orient="horz" pos="1056" userDrawn="1">
          <p15:clr>
            <a:srgbClr val="A4A3A4"/>
          </p15:clr>
        </p15:guide>
        <p15:guide id="23" orient="horz" pos="716"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on dongkook" initials="sd" lastIdx="1" clrIdx="0">
    <p:extLst>
      <p:ext uri="{19B8F6BF-5375-455C-9EA6-DF929625EA0E}">
        <p15:presenceInfo xmlns:p15="http://schemas.microsoft.com/office/powerpoint/2012/main" userId="99770237f39f986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E8E8"/>
    <a:srgbClr val="FF00FF"/>
    <a:srgbClr val="FFFFCC"/>
    <a:srgbClr val="0033CC"/>
    <a:srgbClr val="CCFFFF"/>
    <a:srgbClr val="EAFAEA"/>
    <a:srgbClr val="C7F1C7"/>
    <a:srgbClr val="33CC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505E3EF-67EA-436B-97B2-0124C06EBD24}" styleName="보통 스타일 4 - 강조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190" autoAdjust="0"/>
    <p:restoredTop sz="97202" autoAdjust="0"/>
  </p:normalViewPr>
  <p:slideViewPr>
    <p:cSldViewPr snapToGrid="0">
      <p:cViewPr>
        <p:scale>
          <a:sx n="188" d="100"/>
          <a:sy n="188" d="100"/>
        </p:scale>
        <p:origin x="1352" y="-1868"/>
      </p:cViewPr>
      <p:guideLst>
        <p:guide orient="horz" pos="240"/>
        <p:guide orient="horz" pos="5910"/>
        <p:guide pos="4110"/>
        <p:guide orient="horz" pos="2689"/>
        <p:guide pos="255"/>
        <p:guide pos="580"/>
        <p:guide pos="1988"/>
        <p:guide pos="2511"/>
        <p:guide pos="3906"/>
        <p:guide orient="horz" pos="943"/>
        <p:guide orient="horz" pos="2054"/>
        <p:guide orient="horz" pos="3800"/>
        <p:guide orient="horz" pos="4390"/>
        <p:guide orient="horz" pos="5568"/>
        <p:guide orient="horz" pos="1419"/>
        <p:guide orient="horz" pos="1056"/>
        <p:guide orient="horz" pos="716"/>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3" d="100"/>
          <a:sy n="83" d="100"/>
        </p:scale>
        <p:origin x="3096" y="11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handoutMaster" Target="handoutMasters/handout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6BD34A0D-62E5-4126-B420-4B8945E29C66}"/>
              </a:ext>
            </a:extLst>
          </p:cNvPr>
          <p:cNvSpPr>
            <a:spLocks noGrp="1"/>
          </p:cNvSpPr>
          <p:nvPr>
            <p:ph type="hdr" sz="quarter"/>
          </p:nvPr>
        </p:nvSpPr>
        <p:spPr>
          <a:xfrm>
            <a:off x="0" y="0"/>
            <a:ext cx="2943648" cy="496650"/>
          </a:xfrm>
          <a:prstGeom prst="rect">
            <a:avLst/>
          </a:prstGeom>
        </p:spPr>
        <p:txBody>
          <a:bodyPr vert="horz" lIns="91376" tIns="45688" rIns="91376" bIns="45688" rtlCol="0"/>
          <a:lstStyle>
            <a:lvl1pPr algn="l">
              <a:defRPr sz="1200"/>
            </a:lvl1pPr>
          </a:lstStyle>
          <a:p>
            <a:endParaRPr lang="ko-KR" altLang="en-US" dirty="0"/>
          </a:p>
        </p:txBody>
      </p:sp>
      <p:sp>
        <p:nvSpPr>
          <p:cNvPr id="3" name="날짜 개체 틀 2">
            <a:extLst>
              <a:ext uri="{FF2B5EF4-FFF2-40B4-BE49-F238E27FC236}">
                <a16:creationId xmlns:a16="http://schemas.microsoft.com/office/drawing/2014/main" id="{6CD09051-50E8-45CF-8F91-5640B4F504F1}"/>
              </a:ext>
            </a:extLst>
          </p:cNvPr>
          <p:cNvSpPr>
            <a:spLocks noGrp="1"/>
          </p:cNvSpPr>
          <p:nvPr>
            <p:ph type="dt" sz="quarter" idx="1"/>
          </p:nvPr>
        </p:nvSpPr>
        <p:spPr>
          <a:xfrm>
            <a:off x="3846092" y="0"/>
            <a:ext cx="2943648" cy="496650"/>
          </a:xfrm>
          <a:prstGeom prst="rect">
            <a:avLst/>
          </a:prstGeom>
        </p:spPr>
        <p:txBody>
          <a:bodyPr vert="horz" lIns="91376" tIns="45688" rIns="91376" bIns="45688" rtlCol="0"/>
          <a:lstStyle>
            <a:lvl1pPr algn="r">
              <a:defRPr sz="1200"/>
            </a:lvl1pPr>
          </a:lstStyle>
          <a:p>
            <a:fld id="{2281637F-B6E0-4E7F-AD60-C289DCB0986F}" type="datetimeFigureOut">
              <a:rPr lang="ko-KR" altLang="en-US" smtClean="0"/>
              <a:t>2025-06-05</a:t>
            </a:fld>
            <a:endParaRPr lang="ko-KR" altLang="en-US" dirty="0"/>
          </a:p>
        </p:txBody>
      </p:sp>
      <p:sp>
        <p:nvSpPr>
          <p:cNvPr id="4" name="바닥글 개체 틀 3">
            <a:extLst>
              <a:ext uri="{FF2B5EF4-FFF2-40B4-BE49-F238E27FC236}">
                <a16:creationId xmlns:a16="http://schemas.microsoft.com/office/drawing/2014/main" id="{DDF8D031-E1F4-4D34-8C66-5F846CCEFA41}"/>
              </a:ext>
            </a:extLst>
          </p:cNvPr>
          <p:cNvSpPr>
            <a:spLocks noGrp="1"/>
          </p:cNvSpPr>
          <p:nvPr>
            <p:ph type="ftr" sz="quarter" idx="2"/>
          </p:nvPr>
        </p:nvSpPr>
        <p:spPr>
          <a:xfrm>
            <a:off x="0" y="9425225"/>
            <a:ext cx="2943648" cy="496650"/>
          </a:xfrm>
          <a:prstGeom prst="rect">
            <a:avLst/>
          </a:prstGeom>
        </p:spPr>
        <p:txBody>
          <a:bodyPr vert="horz" lIns="91376" tIns="45688" rIns="91376" bIns="45688" rtlCol="0" anchor="b"/>
          <a:lstStyle>
            <a:lvl1pPr algn="l">
              <a:defRPr sz="1200"/>
            </a:lvl1pPr>
          </a:lstStyle>
          <a:p>
            <a:endParaRPr lang="ko-KR" altLang="en-US" dirty="0"/>
          </a:p>
        </p:txBody>
      </p:sp>
      <p:sp>
        <p:nvSpPr>
          <p:cNvPr id="5" name="슬라이드 번호 개체 틀 4">
            <a:extLst>
              <a:ext uri="{FF2B5EF4-FFF2-40B4-BE49-F238E27FC236}">
                <a16:creationId xmlns:a16="http://schemas.microsoft.com/office/drawing/2014/main" id="{4D21CD1D-D96D-4EBE-978F-F2636A42F1C9}"/>
              </a:ext>
            </a:extLst>
          </p:cNvPr>
          <p:cNvSpPr>
            <a:spLocks noGrp="1"/>
          </p:cNvSpPr>
          <p:nvPr>
            <p:ph type="sldNum" sz="quarter" idx="3"/>
          </p:nvPr>
        </p:nvSpPr>
        <p:spPr>
          <a:xfrm>
            <a:off x="3846092" y="9425225"/>
            <a:ext cx="2943648" cy="496650"/>
          </a:xfrm>
          <a:prstGeom prst="rect">
            <a:avLst/>
          </a:prstGeom>
        </p:spPr>
        <p:txBody>
          <a:bodyPr vert="horz" lIns="91376" tIns="45688" rIns="91376" bIns="45688" rtlCol="0" anchor="b"/>
          <a:lstStyle>
            <a:lvl1pPr algn="r">
              <a:defRPr sz="1200"/>
            </a:lvl1pPr>
          </a:lstStyle>
          <a:p>
            <a:fld id="{BB9A4DEB-4C72-49D7-9C33-58C15789186D}" type="slidenum">
              <a:rPr lang="ko-KR" altLang="en-US" smtClean="0"/>
              <a:t>‹#›</a:t>
            </a:fld>
            <a:endParaRPr lang="ko-KR" altLang="en-US" dirty="0"/>
          </a:p>
        </p:txBody>
      </p:sp>
    </p:spTree>
    <p:extLst>
      <p:ext uri="{BB962C8B-B14F-4D97-AF65-F5344CB8AC3E}">
        <p14:creationId xmlns:p14="http://schemas.microsoft.com/office/powerpoint/2010/main" val="3703748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1" y="0"/>
            <a:ext cx="2942907" cy="497817"/>
          </a:xfrm>
          <a:prstGeom prst="rect">
            <a:avLst/>
          </a:prstGeom>
        </p:spPr>
        <p:txBody>
          <a:bodyPr vert="horz" lIns="91376" tIns="45688" rIns="91376" bIns="45688" rtlCol="0"/>
          <a:lstStyle>
            <a:lvl1pPr algn="l">
              <a:defRPr sz="1200"/>
            </a:lvl1pPr>
          </a:lstStyle>
          <a:p>
            <a:endParaRPr lang="ko-KR" altLang="en-US" dirty="0"/>
          </a:p>
        </p:txBody>
      </p:sp>
      <p:sp>
        <p:nvSpPr>
          <p:cNvPr id="3" name="날짜 개체 틀 2"/>
          <p:cNvSpPr>
            <a:spLocks noGrp="1"/>
          </p:cNvSpPr>
          <p:nvPr>
            <p:ph type="dt" idx="1"/>
          </p:nvPr>
        </p:nvSpPr>
        <p:spPr>
          <a:xfrm>
            <a:off x="3846847" y="0"/>
            <a:ext cx="2942907" cy="497817"/>
          </a:xfrm>
          <a:prstGeom prst="rect">
            <a:avLst/>
          </a:prstGeom>
        </p:spPr>
        <p:txBody>
          <a:bodyPr vert="horz" lIns="91376" tIns="45688" rIns="91376" bIns="45688" rtlCol="0"/>
          <a:lstStyle>
            <a:lvl1pPr algn="r">
              <a:defRPr sz="1200"/>
            </a:lvl1pPr>
          </a:lstStyle>
          <a:p>
            <a:fld id="{1905B5A4-DDD3-42F4-9B43-01BA73DC80EA}" type="datetimeFigureOut">
              <a:rPr lang="ko-KR" altLang="en-US" smtClean="0"/>
              <a:t>2025-06-05</a:t>
            </a:fld>
            <a:endParaRPr lang="ko-KR" altLang="en-US" dirty="0"/>
          </a:p>
        </p:txBody>
      </p:sp>
      <p:sp>
        <p:nvSpPr>
          <p:cNvPr id="4" name="슬라이드 이미지 개체 틀 3"/>
          <p:cNvSpPr>
            <a:spLocks noGrp="1" noRot="1" noChangeAspect="1"/>
          </p:cNvSpPr>
          <p:nvPr>
            <p:ph type="sldImg" idx="2"/>
          </p:nvPr>
        </p:nvSpPr>
        <p:spPr>
          <a:xfrm>
            <a:off x="2236788" y="1241425"/>
            <a:ext cx="2317750" cy="3348038"/>
          </a:xfrm>
          <a:prstGeom prst="rect">
            <a:avLst/>
          </a:prstGeom>
          <a:noFill/>
          <a:ln w="12700">
            <a:solidFill>
              <a:prstClr val="black"/>
            </a:solidFill>
          </a:ln>
        </p:spPr>
        <p:txBody>
          <a:bodyPr vert="horz" lIns="91376" tIns="45688" rIns="91376" bIns="45688" rtlCol="0" anchor="ctr"/>
          <a:lstStyle/>
          <a:p>
            <a:endParaRPr lang="ko-KR" altLang="en-US" dirty="0"/>
          </a:p>
        </p:txBody>
      </p:sp>
      <p:sp>
        <p:nvSpPr>
          <p:cNvPr id="5" name="슬라이드 노트 개체 틀 4"/>
          <p:cNvSpPr>
            <a:spLocks noGrp="1"/>
          </p:cNvSpPr>
          <p:nvPr>
            <p:ph type="body" sz="quarter" idx="3"/>
          </p:nvPr>
        </p:nvSpPr>
        <p:spPr>
          <a:xfrm>
            <a:off x="679133" y="4774902"/>
            <a:ext cx="5433060" cy="3906739"/>
          </a:xfrm>
          <a:prstGeom prst="rect">
            <a:avLst/>
          </a:prstGeom>
        </p:spPr>
        <p:txBody>
          <a:bodyPr vert="horz" lIns="91376" tIns="45688" rIns="91376" bIns="45688"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1" y="9424060"/>
            <a:ext cx="2942907" cy="497816"/>
          </a:xfrm>
          <a:prstGeom prst="rect">
            <a:avLst/>
          </a:prstGeom>
        </p:spPr>
        <p:txBody>
          <a:bodyPr vert="horz" lIns="91376" tIns="45688" rIns="91376" bIns="45688" rtlCol="0" anchor="b"/>
          <a:lstStyle>
            <a:lvl1pPr algn="l">
              <a:defRPr sz="1200"/>
            </a:lvl1pPr>
          </a:lstStyle>
          <a:p>
            <a:endParaRPr lang="ko-KR" altLang="en-US" dirty="0"/>
          </a:p>
        </p:txBody>
      </p:sp>
      <p:sp>
        <p:nvSpPr>
          <p:cNvPr id="7" name="슬라이드 번호 개체 틀 6"/>
          <p:cNvSpPr>
            <a:spLocks noGrp="1"/>
          </p:cNvSpPr>
          <p:nvPr>
            <p:ph type="sldNum" sz="quarter" idx="5"/>
          </p:nvPr>
        </p:nvSpPr>
        <p:spPr>
          <a:xfrm>
            <a:off x="3846847" y="9424060"/>
            <a:ext cx="2942907" cy="497816"/>
          </a:xfrm>
          <a:prstGeom prst="rect">
            <a:avLst/>
          </a:prstGeom>
        </p:spPr>
        <p:txBody>
          <a:bodyPr vert="horz" lIns="91376" tIns="45688" rIns="91376" bIns="45688" rtlCol="0" anchor="b"/>
          <a:lstStyle>
            <a:lvl1pPr algn="r">
              <a:defRPr sz="1200"/>
            </a:lvl1pPr>
          </a:lstStyle>
          <a:p>
            <a:fld id="{E0166A3B-8ACD-4EFC-80A7-344EDF6621A2}" type="slidenum">
              <a:rPr lang="ko-KR" altLang="en-US" smtClean="0"/>
              <a:t>‹#›</a:t>
            </a:fld>
            <a:endParaRPr lang="ko-KR" altLang="en-US" dirty="0"/>
          </a:p>
        </p:txBody>
      </p:sp>
    </p:spTree>
    <p:extLst>
      <p:ext uri="{BB962C8B-B14F-4D97-AF65-F5344CB8AC3E}">
        <p14:creationId xmlns:p14="http://schemas.microsoft.com/office/powerpoint/2010/main" val="283462906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2610357" y="1599438"/>
            <a:ext cx="1637284" cy="492488"/>
          </a:xfrm>
          <a:prstGeom prst="rect">
            <a:avLst/>
          </a:prstGeom>
        </p:spPr>
        <p:txBody>
          <a:bodyPr lIns="0" tIns="0" rIns="0" bIns="0"/>
          <a:lstStyle>
            <a:lvl1pPr>
              <a:defRPr sz="3133" b="1" i="0">
                <a:solidFill>
                  <a:srgbClr val="7E7E7E"/>
                </a:solidFill>
                <a:latin typeface="Arial"/>
                <a:cs typeface="Arial"/>
              </a:defRPr>
            </a:lvl1pPr>
          </a:lstStyle>
          <a:p>
            <a:endParaRPr dirty="0"/>
          </a:p>
        </p:txBody>
      </p:sp>
      <p:sp>
        <p:nvSpPr>
          <p:cNvPr id="3" name="Holder 3"/>
          <p:cNvSpPr>
            <a:spLocks noGrp="1"/>
          </p:cNvSpPr>
          <p:nvPr>
            <p:ph type="body" idx="1"/>
          </p:nvPr>
        </p:nvSpPr>
        <p:spPr>
          <a:xfrm>
            <a:off x="471488" y="2637014"/>
            <a:ext cx="5915025" cy="6285266"/>
          </a:xfrm>
          <a:prstGeom prst="rect">
            <a:avLst/>
          </a:prstGeom>
        </p:spPr>
        <p:txBody>
          <a:bodyPr lIns="0" tIns="0" rIns="0" bIns="0"/>
          <a:lstStyle>
            <a:lvl1pPr>
              <a:defRPr/>
            </a:lvl1pPr>
          </a:lstStyle>
          <a:p>
            <a:endParaRPr dirty="0"/>
          </a:p>
        </p:txBody>
      </p:sp>
      <p:grpSp>
        <p:nvGrpSpPr>
          <p:cNvPr id="8" name="그룹 7">
            <a:extLst>
              <a:ext uri="{FF2B5EF4-FFF2-40B4-BE49-F238E27FC236}">
                <a16:creationId xmlns:a16="http://schemas.microsoft.com/office/drawing/2014/main" id="{2FCD22CD-A9EE-E210-7AD8-AFD633C45516}"/>
              </a:ext>
            </a:extLst>
          </p:cNvPr>
          <p:cNvGrpSpPr/>
          <p:nvPr userDrawn="1"/>
        </p:nvGrpSpPr>
        <p:grpSpPr>
          <a:xfrm>
            <a:off x="4366818" y="433977"/>
            <a:ext cx="2088304" cy="752967"/>
            <a:chOff x="4136310" y="299116"/>
            <a:chExt cx="2597866" cy="873507"/>
          </a:xfrm>
        </p:grpSpPr>
        <p:pic>
          <p:nvPicPr>
            <p:cNvPr id="9" name="그림 8">
              <a:extLst>
                <a:ext uri="{FF2B5EF4-FFF2-40B4-BE49-F238E27FC236}">
                  <a16:creationId xmlns:a16="http://schemas.microsoft.com/office/drawing/2014/main" id="{7038390E-AB2E-9D84-6BA0-EE882BF9F91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6310" y="299116"/>
              <a:ext cx="639895" cy="873507"/>
            </a:xfrm>
            <a:prstGeom prst="rect">
              <a:avLst/>
            </a:prstGeom>
          </p:spPr>
        </p:pic>
        <p:sp>
          <p:nvSpPr>
            <p:cNvPr id="10" name="TextBox 9">
              <a:extLst>
                <a:ext uri="{FF2B5EF4-FFF2-40B4-BE49-F238E27FC236}">
                  <a16:creationId xmlns:a16="http://schemas.microsoft.com/office/drawing/2014/main" id="{678F61E0-9BDD-6BD9-EB3D-41608A839E0B}"/>
                </a:ext>
              </a:extLst>
            </p:cNvPr>
            <p:cNvSpPr txBox="1"/>
            <p:nvPr/>
          </p:nvSpPr>
          <p:spPr>
            <a:xfrm>
              <a:off x="4604472" y="550651"/>
              <a:ext cx="2129704" cy="351840"/>
            </a:xfrm>
            <a:prstGeom prst="rect">
              <a:avLst/>
            </a:prstGeom>
            <a:noFill/>
          </p:spPr>
          <p:txBody>
            <a:bodyPr wrap="square" rtlCol="0">
              <a:spAutoFit/>
            </a:bodyPr>
            <a:lstStyle/>
            <a:p>
              <a:pPr defTabSz="841696" fontAlgn="auto" latinLnBrk="0">
                <a:spcBef>
                  <a:spcPts val="0"/>
                </a:spcBef>
                <a:spcAft>
                  <a:spcPts val="0"/>
                </a:spcAft>
                <a:defRPr/>
              </a:pPr>
              <a:r>
                <a:rPr kumimoji="0" lang="en-US" altLang="ko-KR" sz="1371" kern="0" dirty="0">
                  <a:solidFill>
                    <a:prstClr val="black"/>
                  </a:solidFill>
                  <a:latin typeface="Calibri"/>
                  <a:ea typeface="맑은 고딕" panose="020B0503020000020004" pitchFamily="50" charset="-127"/>
                </a:rPr>
                <a:t>Global Technologies</a:t>
              </a:r>
              <a:endParaRPr kumimoji="0" lang="ko-KR" altLang="en-US" sz="1371" kern="0" dirty="0">
                <a:solidFill>
                  <a:prstClr val="black"/>
                </a:solidFill>
                <a:latin typeface="Calibri"/>
                <a:ea typeface="맑은 고딕" panose="020B0503020000020004" pitchFamily="50" charset="-127"/>
              </a:endParaRPr>
            </a:p>
          </p:txBody>
        </p:sp>
      </p:grpSp>
    </p:spTree>
    <p:extLst>
      <p:ext uri="{BB962C8B-B14F-4D97-AF65-F5344CB8AC3E}">
        <p14:creationId xmlns:p14="http://schemas.microsoft.com/office/powerpoint/2010/main" val="8755389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cxnSp>
        <p:nvCxnSpPr>
          <p:cNvPr id="7" name="직선 연결선 6">
            <a:extLst>
              <a:ext uri="{FF2B5EF4-FFF2-40B4-BE49-F238E27FC236}">
                <a16:creationId xmlns:a16="http://schemas.microsoft.com/office/drawing/2014/main" id="{FC6C40EC-0F6C-C824-EF25-F07C52217003}"/>
              </a:ext>
            </a:extLst>
          </p:cNvPr>
          <p:cNvCxnSpPr/>
          <p:nvPr userDrawn="1"/>
        </p:nvCxnSpPr>
        <p:spPr>
          <a:xfrm>
            <a:off x="404813" y="723000"/>
            <a:ext cx="6048375"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Holder 2">
            <a:extLst>
              <a:ext uri="{FF2B5EF4-FFF2-40B4-BE49-F238E27FC236}">
                <a16:creationId xmlns:a16="http://schemas.microsoft.com/office/drawing/2014/main" id="{56F15421-7FDC-AF5F-7050-18B6BB28B9AB}"/>
              </a:ext>
            </a:extLst>
          </p:cNvPr>
          <p:cNvSpPr>
            <a:spLocks noGrp="1"/>
          </p:cNvSpPr>
          <p:nvPr>
            <p:ph type="title"/>
          </p:nvPr>
        </p:nvSpPr>
        <p:spPr>
          <a:xfrm>
            <a:off x="2610357" y="1599438"/>
            <a:ext cx="1637284" cy="492488"/>
          </a:xfrm>
          <a:prstGeom prst="rect">
            <a:avLst/>
          </a:prstGeom>
        </p:spPr>
        <p:txBody>
          <a:bodyPr lIns="0" tIns="0" rIns="0" bIns="0"/>
          <a:lstStyle>
            <a:lvl1pPr>
              <a:defRPr sz="3133" b="1" i="0">
                <a:solidFill>
                  <a:srgbClr val="7E7E7E"/>
                </a:solidFill>
                <a:latin typeface="Arial"/>
                <a:cs typeface="Arial"/>
              </a:defRPr>
            </a:lvl1pPr>
          </a:lstStyle>
          <a:p>
            <a:endParaRPr dirty="0"/>
          </a:p>
        </p:txBody>
      </p:sp>
      <p:sp>
        <p:nvSpPr>
          <p:cNvPr id="9" name="Holder 3">
            <a:extLst>
              <a:ext uri="{FF2B5EF4-FFF2-40B4-BE49-F238E27FC236}">
                <a16:creationId xmlns:a16="http://schemas.microsoft.com/office/drawing/2014/main" id="{F7D19935-977E-EB05-03F2-58E9B62E7215}"/>
              </a:ext>
            </a:extLst>
          </p:cNvPr>
          <p:cNvSpPr>
            <a:spLocks noGrp="1"/>
          </p:cNvSpPr>
          <p:nvPr>
            <p:ph type="body" idx="1"/>
          </p:nvPr>
        </p:nvSpPr>
        <p:spPr>
          <a:xfrm>
            <a:off x="342900" y="2278383"/>
            <a:ext cx="6172200" cy="276999"/>
          </a:xfrm>
          <a:prstGeom prst="rect">
            <a:avLst/>
          </a:prstGeom>
        </p:spPr>
        <p:txBody>
          <a:bodyPr lIns="0" tIns="0" rIns="0" bIns="0"/>
          <a:lstStyle>
            <a:lvl1pPr>
              <a:defRPr/>
            </a:lvl1pPr>
          </a:lstStyle>
          <a:p>
            <a:endParaRPr dirty="0"/>
          </a:p>
        </p:txBody>
      </p:sp>
      <p:sp>
        <p:nvSpPr>
          <p:cNvPr id="10" name="object 4">
            <a:extLst>
              <a:ext uri="{FF2B5EF4-FFF2-40B4-BE49-F238E27FC236}">
                <a16:creationId xmlns:a16="http://schemas.microsoft.com/office/drawing/2014/main" id="{2978683C-BA9C-6C5C-A746-031BC95F64E6}"/>
              </a:ext>
            </a:extLst>
          </p:cNvPr>
          <p:cNvSpPr txBox="1"/>
          <p:nvPr userDrawn="1"/>
        </p:nvSpPr>
        <p:spPr>
          <a:xfrm>
            <a:off x="464061" y="398874"/>
            <a:ext cx="1606039" cy="283400"/>
          </a:xfrm>
          <a:prstGeom prst="rect">
            <a:avLst/>
          </a:prstGeom>
        </p:spPr>
        <p:txBody>
          <a:bodyPr vert="horz" wrap="square" lIns="0" tIns="12435" rIns="0" bIns="0" rtlCol="0">
            <a:spAutoFit/>
          </a:bodyPr>
          <a:lstStyle/>
          <a:p>
            <a:pPr marL="12435" defTabSz="895327" fontAlgn="auto">
              <a:spcBef>
                <a:spcPts val="98"/>
              </a:spcBef>
              <a:spcAft>
                <a:spcPts val="0"/>
              </a:spcAft>
            </a:pPr>
            <a:r>
              <a:rPr lang="en-US" sz="1760" b="1" dirty="0">
                <a:solidFill>
                  <a:srgbClr val="7E7E7E"/>
                </a:solidFill>
                <a:latin typeface="Arial"/>
                <a:ea typeface="+mj-ea"/>
                <a:cs typeface="Arial"/>
              </a:rPr>
              <a:t>XD12</a:t>
            </a:r>
            <a:endParaRPr sz="1760" b="1" dirty="0">
              <a:solidFill>
                <a:srgbClr val="0000FF"/>
              </a:solidFill>
              <a:latin typeface="Arial"/>
              <a:ea typeface="+mj-ea"/>
              <a:cs typeface="Arial"/>
            </a:endParaRPr>
          </a:p>
        </p:txBody>
      </p:sp>
    </p:spTree>
    <p:extLst>
      <p:ext uri="{BB962C8B-B14F-4D97-AF65-F5344CB8AC3E}">
        <p14:creationId xmlns:p14="http://schemas.microsoft.com/office/powerpoint/2010/main" val="2380017233"/>
      </p:ext>
    </p:extLst>
  </p:cSld>
  <p:clrMapOvr>
    <a:masterClrMapping/>
  </p:clrMapOvr>
  <p:extLst>
    <p:ext uri="{DCECCB84-F9BA-43D5-87BE-67443E8EF086}">
      <p15:sldGuideLst xmlns:p15="http://schemas.microsoft.com/office/powerpoint/2012/main">
        <p15:guide id="1" orient="horz" pos="3120">
          <p15:clr>
            <a:srgbClr val="FBAE40"/>
          </p15:clr>
        </p15:guide>
        <p15:guide id="2" pos="261">
          <p15:clr>
            <a:srgbClr val="FBAE40"/>
          </p15:clr>
        </p15:guide>
        <p15:guide id="3" pos="4059">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a:prstGeom prst="rect">
            <a:avLst/>
          </a:prstGeom>
        </p:spPr>
        <p:txBody>
          <a:bodyPr anchor="b"/>
          <a:lstStyle>
            <a:lvl1pPr algn="ctr">
              <a:defRPr sz="4500"/>
            </a:lvl1pPr>
          </a:lstStyle>
          <a:p>
            <a:r>
              <a:rPr lang="ko-KR" altLang="en-US"/>
              <a:t>마스터 제목 스타일 편집</a:t>
            </a:r>
            <a:endParaRPr lang="en-US" dirty="0"/>
          </a:p>
        </p:txBody>
      </p:sp>
      <p:sp>
        <p:nvSpPr>
          <p:cNvPr id="3" name="Subtitle 2"/>
          <p:cNvSpPr>
            <a:spLocks noGrp="1"/>
          </p:cNvSpPr>
          <p:nvPr>
            <p:ph type="subTitle" idx="1"/>
          </p:nvPr>
        </p:nvSpPr>
        <p:spPr>
          <a:xfrm>
            <a:off x="857250" y="5202944"/>
            <a:ext cx="5143500" cy="2391656"/>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ko-KR" altLang="en-US"/>
              <a:t>클릭하여 마스터 부제목 스타일 편집</a:t>
            </a:r>
            <a:endParaRPr lang="en-US" dirty="0"/>
          </a:p>
        </p:txBody>
      </p:sp>
    </p:spTree>
    <p:extLst>
      <p:ext uri="{BB962C8B-B14F-4D97-AF65-F5344CB8AC3E}">
        <p14:creationId xmlns:p14="http://schemas.microsoft.com/office/powerpoint/2010/main" val="2371163162"/>
      </p:ext>
    </p:extLst>
  </p:cSld>
  <p:clrMapOvr>
    <a:masterClrMapping/>
  </p:clrMapOvr>
  <p:extLst>
    <p:ext uri="{DCECCB84-F9BA-43D5-87BE-67443E8EF086}">
      <p15:sldGuideLst xmlns:p15="http://schemas.microsoft.com/office/powerpoint/2012/main">
        <p15:guide id="1" orient="horz" pos="3120" userDrawn="1">
          <p15:clr>
            <a:srgbClr val="FBAE40"/>
          </p15:clr>
        </p15:guide>
        <p15:guide id="2" pos="21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Content Placeholder 2"/>
          <p:cNvSpPr>
            <a:spLocks noGrp="1"/>
          </p:cNvSpPr>
          <p:nvPr>
            <p:ph idx="1"/>
          </p:nvPr>
        </p:nvSpPr>
        <p:spPr>
          <a:xfrm>
            <a:off x="471488" y="2637014"/>
            <a:ext cx="5915025"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2025-06-05</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5596100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a:prstGeom prst="rect">
            <a:avLst/>
          </a:prstGeom>
        </p:spPr>
        <p:txBody>
          <a:bodyPr anchor="b"/>
          <a:lstStyle>
            <a:lvl1pPr>
              <a:defRPr sz="4500"/>
            </a:lvl1pPr>
          </a:lstStyle>
          <a:p>
            <a:r>
              <a:rPr lang="ko-KR" altLang="en-US"/>
              <a:t>마스터 제목 스타일 편집</a:t>
            </a:r>
            <a:endParaRPr lang="en-US" dirty="0"/>
          </a:p>
        </p:txBody>
      </p:sp>
      <p:sp>
        <p:nvSpPr>
          <p:cNvPr id="3" name="Text Placeholder 2"/>
          <p:cNvSpPr>
            <a:spLocks noGrp="1"/>
          </p:cNvSpPr>
          <p:nvPr>
            <p:ph type="body" idx="1"/>
          </p:nvPr>
        </p:nvSpPr>
        <p:spPr>
          <a:xfrm>
            <a:off x="467916" y="6629226"/>
            <a:ext cx="5915025" cy="2166937"/>
          </a:xfrm>
          <a:prstGeom prst="rect">
            <a:avLst/>
          </a:prstGeo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2025-06-05</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3583204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471488" y="2637014"/>
            <a:ext cx="2914650"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Content Placeholder 3"/>
          <p:cNvSpPr>
            <a:spLocks noGrp="1"/>
          </p:cNvSpPr>
          <p:nvPr>
            <p:ph sz="half" idx="2"/>
          </p:nvPr>
        </p:nvSpPr>
        <p:spPr>
          <a:xfrm>
            <a:off x="3471863" y="2637014"/>
            <a:ext cx="2914650"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2025-06-05</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5076686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a:prstGeom prst="rect">
            <a:avLst/>
          </a:prstGeo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472381" y="2428347"/>
            <a:ext cx="2901255" cy="1190095"/>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472381" y="3618442"/>
            <a:ext cx="2901255" cy="5322183"/>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Text Placeholder 4"/>
          <p:cNvSpPr>
            <a:spLocks noGrp="1"/>
          </p:cNvSpPr>
          <p:nvPr>
            <p:ph type="body" sz="quarter" idx="3"/>
          </p:nvPr>
        </p:nvSpPr>
        <p:spPr>
          <a:xfrm>
            <a:off x="3471863" y="2428347"/>
            <a:ext cx="2915543" cy="1190095"/>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3471863" y="3618442"/>
            <a:ext cx="2915543" cy="5322183"/>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7" name="Date Placeholder 6"/>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2025-06-05</a:t>
            </a:fld>
            <a:endParaRPr lang="ko-KR" altLang="en-US" dirty="0"/>
          </a:p>
        </p:txBody>
      </p:sp>
      <p:sp>
        <p:nvSpPr>
          <p:cNvPr id="8" name="Footer Placeholder 7"/>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9" name="Slide Number Placeholder 8"/>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17025575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Date Placeholder 2"/>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2025-06-05</a:t>
            </a:fld>
            <a:endParaRPr lang="ko-KR" altLang="en-US" dirty="0"/>
          </a:p>
        </p:txBody>
      </p:sp>
      <p:sp>
        <p:nvSpPr>
          <p:cNvPr id="4" name="Footer Placeholder 3"/>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5" name="Slide Number Placeholder 4"/>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191415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2025-06-05</a:t>
            </a:fld>
            <a:endParaRPr lang="ko-KR" altLang="en-US" dirty="0"/>
          </a:p>
        </p:txBody>
      </p:sp>
      <p:sp>
        <p:nvSpPr>
          <p:cNvPr id="3" name="Footer Placeholder 2"/>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4" name="Slide Number Placeholder 3"/>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3408585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a:prstGeom prst="rect">
            <a:avLst/>
          </a:prstGeom>
        </p:spPr>
        <p:txBody>
          <a:bodyPr anchor="b"/>
          <a:lstStyle>
            <a:lvl1pPr>
              <a:defRPr sz="2400"/>
            </a:lvl1pPr>
          </a:lstStyle>
          <a:p>
            <a:r>
              <a:rPr lang="ko-KR" altLang="en-US"/>
              <a:t>마스터 제목 스타일 편집</a:t>
            </a:r>
            <a:endParaRPr lang="en-US" dirty="0"/>
          </a:p>
        </p:txBody>
      </p:sp>
      <p:sp>
        <p:nvSpPr>
          <p:cNvPr id="3" name="Content Placeholder 2"/>
          <p:cNvSpPr>
            <a:spLocks noGrp="1"/>
          </p:cNvSpPr>
          <p:nvPr>
            <p:ph idx="1"/>
          </p:nvPr>
        </p:nvSpPr>
        <p:spPr>
          <a:xfrm>
            <a:off x="2915543" y="1426283"/>
            <a:ext cx="3471863" cy="7039681"/>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Text Placeholder 3"/>
          <p:cNvSpPr>
            <a:spLocks noGrp="1"/>
          </p:cNvSpPr>
          <p:nvPr>
            <p:ph type="body" sz="half" idx="2"/>
          </p:nvPr>
        </p:nvSpPr>
        <p:spPr>
          <a:xfrm>
            <a:off x="472381" y="2971800"/>
            <a:ext cx="2211884" cy="5505627"/>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2025-06-05</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069352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a:prstGeom prst="rect">
            <a:avLst/>
          </a:prstGeom>
        </p:spPr>
        <p:txBody>
          <a:bodyPr anchor="b"/>
          <a:lstStyle>
            <a:lvl1pPr>
              <a:defRPr sz="2400"/>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2915543" y="1426283"/>
            <a:ext cx="3471863" cy="7039681"/>
          </a:xfrm>
          <a:prstGeom prst="rect">
            <a:avLst/>
          </a:prstGeo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ko-KR" altLang="en-US" dirty="0"/>
              <a:t>그림을 추가하려면 아이콘을 클릭하십시오</a:t>
            </a:r>
            <a:endParaRPr lang="en-US" dirty="0"/>
          </a:p>
        </p:txBody>
      </p:sp>
      <p:sp>
        <p:nvSpPr>
          <p:cNvPr id="4" name="Text Placeholder 3"/>
          <p:cNvSpPr>
            <a:spLocks noGrp="1"/>
          </p:cNvSpPr>
          <p:nvPr>
            <p:ph type="body" sz="half" idx="2"/>
          </p:nvPr>
        </p:nvSpPr>
        <p:spPr>
          <a:xfrm>
            <a:off x="472381" y="2971800"/>
            <a:ext cx="2211884" cy="5505627"/>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2025-06-05</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1805499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471488" y="2637014"/>
            <a:ext cx="5915025" cy="6285266"/>
          </a:xfrm>
          <a:prstGeom prst="rect">
            <a:avLst/>
          </a:prstGeo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2025-06-05</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5154540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a:prstGeom prst="rect">
            <a:avLst/>
          </a:prstGeom>
        </p:spPr>
        <p:txBody>
          <a:bodyPr vert="eaVert"/>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471488" y="527403"/>
            <a:ext cx="4350544" cy="8394877"/>
          </a:xfrm>
          <a:prstGeom prst="rect">
            <a:avLst/>
          </a:prstGeo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2025-06-05</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955134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hyperlink" Target="http://glbltech.com/" TargetMode="Externa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ko-KR" altLang="en-US" dirty="0"/>
              <a:t>마스터 제목 스타일 편집</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endParaRPr lang="en-US" dirty="0"/>
          </a:p>
        </p:txBody>
      </p:sp>
      <p:sp>
        <p:nvSpPr>
          <p:cNvPr id="4" name="object 9">
            <a:extLst>
              <a:ext uri="{FF2B5EF4-FFF2-40B4-BE49-F238E27FC236}">
                <a16:creationId xmlns:a16="http://schemas.microsoft.com/office/drawing/2014/main" id="{451BF618-E9B3-EC23-A10B-0CB97A947104}"/>
              </a:ext>
            </a:extLst>
          </p:cNvPr>
          <p:cNvSpPr txBox="1"/>
          <p:nvPr userDrawn="1"/>
        </p:nvSpPr>
        <p:spPr>
          <a:xfrm>
            <a:off x="414000" y="8981992"/>
            <a:ext cx="1990968" cy="283849"/>
          </a:xfrm>
          <a:prstGeom prst="rect">
            <a:avLst/>
          </a:prstGeom>
        </p:spPr>
        <p:txBody>
          <a:bodyPr vert="horz" wrap="square" lIns="0" tIns="12435" rIns="0" bIns="0" rtlCol="0">
            <a:spAutoFit/>
          </a:bodyPr>
          <a:lstStyle/>
          <a:p>
            <a:pPr marL="12435" defTabSz="895327" fontAlgn="auto">
              <a:spcBef>
                <a:spcPts val="98"/>
              </a:spcBef>
              <a:spcAft>
                <a:spcPts val="0"/>
              </a:spcAft>
            </a:pPr>
            <a:r>
              <a:rPr kumimoji="0" sz="1763" b="1" spc="-5" dirty="0">
                <a:solidFill>
                  <a:srgbClr val="FF0000"/>
                </a:solidFill>
                <a:latin typeface="Calibri"/>
                <a:ea typeface="+mn-ea"/>
                <a:cs typeface="Perpetua Titling MT"/>
              </a:rPr>
              <a:t>CONFIDENTIAL</a:t>
            </a:r>
            <a:endParaRPr kumimoji="0" sz="1763" dirty="0">
              <a:solidFill>
                <a:prstClr val="black"/>
              </a:solidFill>
              <a:latin typeface="Calibri"/>
              <a:ea typeface="+mn-ea"/>
              <a:cs typeface="Perpetua Titling MT"/>
            </a:endParaRPr>
          </a:p>
        </p:txBody>
      </p:sp>
      <p:sp>
        <p:nvSpPr>
          <p:cNvPr id="9" name="슬라이드 번호 개체 틀 3">
            <a:hlinkClick r:id="rId15"/>
            <a:extLst>
              <a:ext uri="{FF2B5EF4-FFF2-40B4-BE49-F238E27FC236}">
                <a16:creationId xmlns:a16="http://schemas.microsoft.com/office/drawing/2014/main" id="{7EEE58CB-7CB8-E53E-08F2-9ED6093EF097}"/>
              </a:ext>
            </a:extLst>
          </p:cNvPr>
          <p:cNvSpPr txBox="1">
            <a:spLocks/>
          </p:cNvSpPr>
          <p:nvPr userDrawn="1"/>
        </p:nvSpPr>
        <p:spPr>
          <a:xfrm>
            <a:off x="5115682" y="9408000"/>
            <a:ext cx="1327982" cy="180500"/>
          </a:xfrm>
          <a:prstGeom prst="rect">
            <a:avLst/>
          </a:prstGeom>
        </p:spPr>
        <p:txBody>
          <a:bodyPr vert="horz" lIns="0" tIns="0" rIns="0" bIns="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447663" fontAlgn="auto">
              <a:spcBef>
                <a:spcPts val="0"/>
              </a:spcBef>
              <a:spcAft>
                <a:spcPts val="0"/>
              </a:spcAft>
            </a:pPr>
            <a:r>
              <a:rPr kumimoji="0" lang="en-US" altLang="ko-KR" sz="881" dirty="0">
                <a:solidFill>
                  <a:prstClr val="black"/>
                </a:solidFill>
                <a:latin typeface="Arial" panose="020B0604020202020204" pitchFamily="34" charset="0"/>
                <a:ea typeface="맑은 고딕" panose="020B0503020000020004" pitchFamily="50" charset="-127"/>
                <a:cs typeface="Arial" panose="020B0604020202020204" pitchFamily="34" charset="0"/>
              </a:rPr>
              <a:t>http://www.glbltech.com/</a:t>
            </a:r>
            <a:endParaRPr kumimoji="0" lang="ko-KR" altLang="en-US" sz="881" dirty="0">
              <a:solidFill>
                <a:prstClr val="black"/>
              </a:solidFill>
              <a:latin typeface="Arial" panose="020B0604020202020204" pitchFamily="34" charset="0"/>
              <a:ea typeface="맑은 고딕" panose="020B0503020000020004" pitchFamily="50" charset="-127"/>
              <a:cs typeface="Arial" panose="020B0604020202020204" pitchFamily="34" charset="0"/>
            </a:endParaRPr>
          </a:p>
        </p:txBody>
      </p:sp>
      <p:sp>
        <p:nvSpPr>
          <p:cNvPr id="10" name="object 38">
            <a:extLst>
              <a:ext uri="{FF2B5EF4-FFF2-40B4-BE49-F238E27FC236}">
                <a16:creationId xmlns:a16="http://schemas.microsoft.com/office/drawing/2014/main" id="{1B5D1032-3349-06CD-5B46-8A6262F0EE24}"/>
              </a:ext>
            </a:extLst>
          </p:cNvPr>
          <p:cNvSpPr txBox="1">
            <a:spLocks/>
          </p:cNvSpPr>
          <p:nvPr userDrawn="1"/>
        </p:nvSpPr>
        <p:spPr>
          <a:xfrm>
            <a:off x="3311568" y="9452164"/>
            <a:ext cx="476888" cy="135550"/>
          </a:xfrm>
          <a:prstGeom prst="rect">
            <a:avLst/>
          </a:prstGeom>
        </p:spPr>
        <p:txBody>
          <a:bodyPr vert="horz" wrap="square" lIns="0" tIns="0" rIns="0" bIns="0" rtlCol="0">
            <a:no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defTabSz="447663" fontAlgn="auto" latinLnBrk="0">
              <a:spcBef>
                <a:spcPts val="0"/>
              </a:spcBef>
              <a:spcAft>
                <a:spcPts val="0"/>
              </a:spcAft>
              <a:defRPr/>
            </a:pPr>
            <a:r>
              <a:rPr kumimoji="0" lang="en-US" sz="881" dirty="0">
                <a:solidFill>
                  <a:prstClr val="black"/>
                </a:solidFill>
                <a:latin typeface="Arial" panose="020B0604020202020204" pitchFamily="34" charset="0"/>
                <a:ea typeface="맑은 고딕" panose="020B0503020000020004" pitchFamily="50" charset="-127"/>
                <a:cs typeface="Arial" panose="020B0604020202020204" pitchFamily="34" charset="0"/>
              </a:rPr>
              <a:t>Page </a:t>
            </a:r>
            <a:fld id="{81D60167-4931-47E6-BA6A-407CBD079E47}" type="slidenum">
              <a:rPr kumimoji="0" sz="881">
                <a:solidFill>
                  <a:prstClr val="black"/>
                </a:solidFill>
                <a:latin typeface="Arial" panose="020B0604020202020204" pitchFamily="34" charset="0"/>
                <a:ea typeface="맑은 고딕" panose="020B0503020000020004" pitchFamily="50" charset="-127"/>
                <a:cs typeface="Arial" panose="020B0604020202020204" pitchFamily="34" charset="0"/>
              </a:rPr>
              <a:pPr algn="ctr" defTabSz="447663" fontAlgn="auto" latinLnBrk="0">
                <a:spcBef>
                  <a:spcPts val="0"/>
                </a:spcBef>
                <a:spcAft>
                  <a:spcPts val="0"/>
                </a:spcAft>
                <a:defRPr/>
              </a:pPr>
              <a:t>‹#›</a:t>
            </a:fld>
            <a:endParaRPr kumimoji="0" sz="881" dirty="0">
              <a:solidFill>
                <a:prstClr val="black"/>
              </a:solidFill>
              <a:latin typeface="Arial" panose="020B0604020202020204" pitchFamily="34" charset="0"/>
              <a:ea typeface="맑은 고딕" panose="020B0503020000020004" pitchFamily="50" charset="-127"/>
              <a:cs typeface="Arial" panose="020B0604020202020204" pitchFamily="34" charset="0"/>
            </a:endParaRPr>
          </a:p>
        </p:txBody>
      </p:sp>
      <p:sp>
        <p:nvSpPr>
          <p:cNvPr id="11" name="슬라이드 번호 개체 틀 3">
            <a:extLst>
              <a:ext uri="{FF2B5EF4-FFF2-40B4-BE49-F238E27FC236}">
                <a16:creationId xmlns:a16="http://schemas.microsoft.com/office/drawing/2014/main" id="{64B1755F-10B5-8238-A9A8-9B4A613AC068}"/>
              </a:ext>
            </a:extLst>
          </p:cNvPr>
          <p:cNvSpPr txBox="1">
            <a:spLocks/>
          </p:cNvSpPr>
          <p:nvPr userDrawn="1"/>
        </p:nvSpPr>
        <p:spPr>
          <a:xfrm>
            <a:off x="404813" y="9425597"/>
            <a:ext cx="1977867" cy="162903"/>
          </a:xfrm>
          <a:prstGeom prst="rect">
            <a:avLst/>
          </a:prstGeom>
        </p:spPr>
        <p:txBody>
          <a:bodyPr vert="horz" lIns="0" tIns="0" rIns="89533" bIns="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defTabSz="447663" fontAlgn="auto">
              <a:spcBef>
                <a:spcPts val="0"/>
              </a:spcBef>
              <a:spcAft>
                <a:spcPts val="0"/>
              </a:spcAft>
            </a:pPr>
            <a:r>
              <a:rPr kumimoji="0" lang="en-US" altLang="ko-KR" sz="881" dirty="0">
                <a:solidFill>
                  <a:prstClr val="black"/>
                </a:solidFill>
                <a:latin typeface="Arial" panose="020B0604020202020204" pitchFamily="34" charset="0"/>
                <a:ea typeface="맑은 고딕" panose="020B0503020000020004" pitchFamily="50" charset="-127"/>
                <a:cs typeface="Arial" panose="020B0604020202020204" pitchFamily="34" charset="0"/>
              </a:rPr>
              <a:t>Dated  2. MAY. 2025  Rev. 04</a:t>
            </a:r>
          </a:p>
        </p:txBody>
      </p:sp>
      <p:cxnSp>
        <p:nvCxnSpPr>
          <p:cNvPr id="12" name="직선 연결선 11">
            <a:extLst>
              <a:ext uri="{FF2B5EF4-FFF2-40B4-BE49-F238E27FC236}">
                <a16:creationId xmlns:a16="http://schemas.microsoft.com/office/drawing/2014/main" id="{BD0A5AB9-9B4F-97CA-0A77-1385281C935F}"/>
              </a:ext>
            </a:extLst>
          </p:cNvPr>
          <p:cNvCxnSpPr/>
          <p:nvPr userDrawn="1"/>
        </p:nvCxnSpPr>
        <p:spPr>
          <a:xfrm>
            <a:off x="404813" y="9363000"/>
            <a:ext cx="6048375"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221D7178-AD5F-E658-4BAA-AE90DC328EA3}"/>
              </a:ext>
            </a:extLst>
          </p:cNvPr>
          <p:cNvSpPr txBox="1"/>
          <p:nvPr userDrawn="1"/>
        </p:nvSpPr>
        <p:spPr>
          <a:xfrm rot="18900000">
            <a:off x="1408261" y="4537501"/>
            <a:ext cx="3806614" cy="830997"/>
          </a:xfrm>
          <a:prstGeom prst="rect">
            <a:avLst/>
          </a:prstGeom>
          <a:noFill/>
        </p:spPr>
        <p:txBody>
          <a:bodyPr wrap="none" lIns="0" tIns="0" rIns="0" bIns="0" rtlCol="0" anchor="ctr" anchorCtr="0">
            <a:spAutoFit/>
          </a:bodyPr>
          <a:lstStyle/>
          <a:p>
            <a:r>
              <a:rPr lang="en-US" altLang="ko-KR" sz="5400" b="1" dirty="0">
                <a:solidFill>
                  <a:srgbClr val="E8E8E8"/>
                </a:solidFill>
                <a:latin typeface="Arial" panose="020B0604020202020204" pitchFamily="34" charset="0"/>
                <a:cs typeface="Arial" panose="020B0604020202020204" pitchFamily="34" charset="0"/>
              </a:rPr>
              <a:t>Preliminary</a:t>
            </a:r>
            <a:endParaRPr lang="ko-KR" altLang="en-US" sz="5400" b="1" dirty="0">
              <a:solidFill>
                <a:srgbClr val="E8E8E8"/>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79806652"/>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Lst>
  <p:txStyles>
    <p:titleStyle>
      <a:lvl1pPr algn="l" defTabSz="685800" rtl="0" eaLnBrk="1" latinLnBrk="1"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1"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1"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1"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1" hangingPunct="1">
        <a:defRPr sz="1350" kern="1200">
          <a:solidFill>
            <a:schemeClr val="tx1"/>
          </a:solidFill>
          <a:latin typeface="+mn-lt"/>
          <a:ea typeface="+mn-ea"/>
          <a:cs typeface="+mn-cs"/>
        </a:defRPr>
      </a:lvl1pPr>
      <a:lvl2pPr marL="342900" algn="l" defTabSz="685800" rtl="0" eaLnBrk="1" latinLnBrk="1" hangingPunct="1">
        <a:defRPr sz="1350" kern="1200">
          <a:solidFill>
            <a:schemeClr val="tx1"/>
          </a:solidFill>
          <a:latin typeface="+mn-lt"/>
          <a:ea typeface="+mn-ea"/>
          <a:cs typeface="+mn-cs"/>
        </a:defRPr>
      </a:lvl2pPr>
      <a:lvl3pPr marL="685800" algn="l" defTabSz="685800" rtl="0" eaLnBrk="1" latinLnBrk="1" hangingPunct="1">
        <a:defRPr sz="1350" kern="1200">
          <a:solidFill>
            <a:schemeClr val="tx1"/>
          </a:solidFill>
          <a:latin typeface="+mn-lt"/>
          <a:ea typeface="+mn-ea"/>
          <a:cs typeface="+mn-cs"/>
        </a:defRPr>
      </a:lvl3pPr>
      <a:lvl4pPr marL="1028700" algn="l" defTabSz="685800" rtl="0" eaLnBrk="1" latinLnBrk="1" hangingPunct="1">
        <a:defRPr sz="1350" kern="1200">
          <a:solidFill>
            <a:schemeClr val="tx1"/>
          </a:solidFill>
          <a:latin typeface="+mn-lt"/>
          <a:ea typeface="+mn-ea"/>
          <a:cs typeface="+mn-cs"/>
        </a:defRPr>
      </a:lvl4pPr>
      <a:lvl5pPr marL="1371600" algn="l" defTabSz="685800" rtl="0" eaLnBrk="1" latinLnBrk="1" hangingPunct="1">
        <a:defRPr sz="1350" kern="1200">
          <a:solidFill>
            <a:schemeClr val="tx1"/>
          </a:solidFill>
          <a:latin typeface="+mn-lt"/>
          <a:ea typeface="+mn-ea"/>
          <a:cs typeface="+mn-cs"/>
        </a:defRPr>
      </a:lvl5pPr>
      <a:lvl6pPr marL="1714500" algn="l" defTabSz="685800" rtl="0" eaLnBrk="1" latinLnBrk="1" hangingPunct="1">
        <a:defRPr sz="1350" kern="1200">
          <a:solidFill>
            <a:schemeClr val="tx1"/>
          </a:solidFill>
          <a:latin typeface="+mn-lt"/>
          <a:ea typeface="+mn-ea"/>
          <a:cs typeface="+mn-cs"/>
        </a:defRPr>
      </a:lvl6pPr>
      <a:lvl7pPr marL="2057400" algn="l" defTabSz="685800" rtl="0" eaLnBrk="1" latinLnBrk="1" hangingPunct="1">
        <a:defRPr sz="1350" kern="1200">
          <a:solidFill>
            <a:schemeClr val="tx1"/>
          </a:solidFill>
          <a:latin typeface="+mn-lt"/>
          <a:ea typeface="+mn-ea"/>
          <a:cs typeface="+mn-cs"/>
        </a:defRPr>
      </a:lvl7pPr>
      <a:lvl8pPr marL="2400300" algn="l" defTabSz="685800" rtl="0" eaLnBrk="1" latinLnBrk="1" hangingPunct="1">
        <a:defRPr sz="1350" kern="1200">
          <a:solidFill>
            <a:schemeClr val="tx1"/>
          </a:solidFill>
          <a:latin typeface="+mn-lt"/>
          <a:ea typeface="+mn-ea"/>
          <a:cs typeface="+mn-cs"/>
        </a:defRPr>
      </a:lvl8pPr>
      <a:lvl9pPr marL="2743200" algn="l" defTabSz="685800" rtl="0" eaLnBrk="1" latinLnBrk="1"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20" userDrawn="1">
          <p15:clr>
            <a:srgbClr val="F26B43"/>
          </p15:clr>
        </p15:guide>
        <p15:guide id="2" pos="216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 Id="rId5" Type="http://schemas.openxmlformats.org/officeDocument/2006/relationships/image" Target="../media/image16.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9A06CC78-9F83-436A-9A0F-12F273C5E8B4}"/>
              </a:ext>
            </a:extLst>
          </p:cNvPr>
          <p:cNvSpPr txBox="1"/>
          <p:nvPr/>
        </p:nvSpPr>
        <p:spPr>
          <a:xfrm>
            <a:off x="2622335" y="1624048"/>
            <a:ext cx="1025922" cy="492443"/>
          </a:xfrm>
          <a:prstGeom prst="rect">
            <a:avLst/>
          </a:prstGeom>
          <a:noFill/>
        </p:spPr>
        <p:txBody>
          <a:bodyPr wrap="none" lIns="0" tIns="0" rIns="0" bIns="0" rtlCol="0">
            <a:spAutoFit/>
          </a:bodyPr>
          <a:lstStyle/>
          <a:p>
            <a:r>
              <a:rPr lang="en-US" altLang="ko-KR" sz="3200" b="1" dirty="0">
                <a:solidFill>
                  <a:schemeClr val="bg1">
                    <a:lumMod val="50000"/>
                  </a:schemeClr>
                </a:solidFill>
                <a:latin typeface="Arial" panose="020B0604020202020204" pitchFamily="34" charset="0"/>
                <a:cs typeface="Arial" panose="020B0604020202020204" pitchFamily="34" charset="0"/>
              </a:rPr>
              <a:t>XD12</a:t>
            </a:r>
            <a:endParaRPr lang="ko-KR" altLang="en-US" sz="3200" b="1" dirty="0">
              <a:solidFill>
                <a:schemeClr val="bg1">
                  <a:lumMod val="50000"/>
                </a:schemeClr>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3351C546-D4C1-4FC4-9AD8-956625090B6D}"/>
              </a:ext>
            </a:extLst>
          </p:cNvPr>
          <p:cNvSpPr txBox="1"/>
          <p:nvPr/>
        </p:nvSpPr>
        <p:spPr>
          <a:xfrm>
            <a:off x="2633691" y="2211029"/>
            <a:ext cx="2841483" cy="307777"/>
          </a:xfrm>
          <a:prstGeom prst="rect">
            <a:avLst/>
          </a:prstGeom>
          <a:noFill/>
        </p:spPr>
        <p:txBody>
          <a:bodyPr wrap="none" lIns="0" rtlCol="0">
            <a:spAutoFit/>
          </a:bodyPr>
          <a:lstStyle/>
          <a:p>
            <a:r>
              <a:rPr lang="en-US" altLang="ko-KR" sz="1400" b="1" dirty="0">
                <a:solidFill>
                  <a:schemeClr val="bg1">
                    <a:lumMod val="50000"/>
                  </a:schemeClr>
                </a:solidFill>
                <a:latin typeface="Arial" panose="020B0604020202020204" pitchFamily="34" charset="0"/>
                <a:cs typeface="Arial" panose="020B0604020202020204" pitchFamily="34" charset="0"/>
              </a:rPr>
              <a:t>The LED</a:t>
            </a:r>
            <a:r>
              <a:rPr lang="ko-KR" altLang="en-US" sz="1400" b="1" dirty="0">
                <a:solidFill>
                  <a:schemeClr val="bg1">
                    <a:lumMod val="50000"/>
                  </a:schemeClr>
                </a:solidFill>
                <a:latin typeface="Arial" panose="020B0604020202020204" pitchFamily="34" charset="0"/>
                <a:cs typeface="Arial" panose="020B0604020202020204" pitchFamily="34" charset="0"/>
              </a:rPr>
              <a:t> </a:t>
            </a:r>
            <a:r>
              <a:rPr lang="en-US" altLang="ko-KR" sz="1400" b="1" dirty="0">
                <a:solidFill>
                  <a:schemeClr val="bg1">
                    <a:lumMod val="50000"/>
                  </a:schemeClr>
                </a:solidFill>
                <a:latin typeface="Arial" panose="020B0604020202020204" pitchFamily="34" charset="0"/>
                <a:cs typeface="Arial" panose="020B0604020202020204" pitchFamily="34" charset="0"/>
              </a:rPr>
              <a:t>Current Sink Driver IC</a:t>
            </a:r>
            <a:endParaRPr lang="ko-KR" altLang="en-US" sz="1400" b="1" dirty="0">
              <a:solidFill>
                <a:schemeClr val="bg1">
                  <a:lumMod val="50000"/>
                </a:schemeClr>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105BB2A0-CA1A-4992-AAF9-F7F876D0920C}"/>
              </a:ext>
            </a:extLst>
          </p:cNvPr>
          <p:cNvSpPr txBox="1"/>
          <p:nvPr/>
        </p:nvSpPr>
        <p:spPr>
          <a:xfrm>
            <a:off x="393456" y="3909214"/>
            <a:ext cx="1800000" cy="215444"/>
          </a:xfrm>
          <a:prstGeom prst="rect">
            <a:avLst/>
          </a:prstGeom>
          <a:noFill/>
        </p:spPr>
        <p:txBody>
          <a:bodyPr wrap="square" lIns="0" tIns="0" rIns="0" bIns="0" rtlCol="0">
            <a:spAutoFit/>
          </a:bodyPr>
          <a:lstStyle/>
          <a:p>
            <a:r>
              <a:rPr lang="en-US" altLang="ko-KR" sz="1400" b="1" dirty="0">
                <a:latin typeface="Arial" panose="020B0604020202020204" pitchFamily="34" charset="0"/>
                <a:cs typeface="Arial" panose="020B0604020202020204" pitchFamily="34" charset="0"/>
              </a:rPr>
              <a:t>General Description</a:t>
            </a:r>
            <a:endParaRPr lang="ko-KR" altLang="en-US" sz="1400" b="1" dirty="0">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6675BEFE-2745-40D7-8726-3D0F5317B01B}"/>
              </a:ext>
            </a:extLst>
          </p:cNvPr>
          <p:cNvSpPr txBox="1"/>
          <p:nvPr/>
        </p:nvSpPr>
        <p:spPr>
          <a:xfrm>
            <a:off x="2622336" y="3911154"/>
            <a:ext cx="3766354" cy="1384995"/>
          </a:xfrm>
          <a:prstGeom prst="rect">
            <a:avLst/>
          </a:prstGeom>
          <a:noFill/>
        </p:spPr>
        <p:txBody>
          <a:bodyPr wrap="square" lIns="0" tIns="0" rIns="0" bIns="0" rtlCol="0">
            <a:spAutoFit/>
          </a:bodyPr>
          <a:lstStyle/>
          <a:p>
            <a:pPr algn="just"/>
            <a:r>
              <a:rPr lang="en-US" altLang="ko-KR" sz="1000" dirty="0">
                <a:effectLst/>
                <a:latin typeface="Arial" panose="020B0604020202020204" pitchFamily="34" charset="0"/>
                <a:ea typeface="Arial" panose="020B0604020202020204" pitchFamily="34" charset="0"/>
                <a:cs typeface="Arial" panose="020B0604020202020204" pitchFamily="34" charset="0"/>
              </a:rPr>
              <a:t>The XD12 is a compact </a:t>
            </a:r>
            <a:r>
              <a:rPr lang="en-US" altLang="ko-KR" sz="1000" dirty="0">
                <a:latin typeface="Arial" panose="020B0604020202020204" pitchFamily="34" charset="0"/>
                <a:ea typeface="Arial" panose="020B0604020202020204" pitchFamily="34" charset="0"/>
                <a:cs typeface="Arial" panose="020B0604020202020204" pitchFamily="34" charset="0"/>
              </a:rPr>
              <a:t>IC featuring 12-channel current sink control drivers optimized for LED lighting solution.  The XD12 driver is used together with a XC24 controller as a companion chip.  A lot of the  XD12 drivers can be daisied each other to the XC24 channels and controlled through a serial interface by a XC24 controller.</a:t>
            </a:r>
          </a:p>
          <a:p>
            <a:pPr algn="just"/>
            <a:endParaRPr lang="en-US" altLang="ko-KR" sz="1000" dirty="0">
              <a:effectLst/>
              <a:latin typeface="Arial" panose="020B0604020202020204" pitchFamily="34" charset="0"/>
              <a:ea typeface="Arial" panose="020B0604020202020204" pitchFamily="34" charset="0"/>
              <a:cs typeface="Arial" panose="020B0604020202020204" pitchFamily="34" charset="0"/>
            </a:endParaRPr>
          </a:p>
          <a:p>
            <a:pPr algn="just"/>
            <a:r>
              <a:rPr lang="en-US" altLang="ko-KR" sz="1000" dirty="0">
                <a:latin typeface="Arial" panose="020B0604020202020204" pitchFamily="34" charset="0"/>
                <a:cs typeface="Arial" panose="020B0604020202020204" pitchFamily="34" charset="0"/>
              </a:rPr>
              <a:t>The XD12 supports monitoring the fault event, a feedback control for the LED power efficiency, a self-protection features like as a Thermal/LED OPEN/SHORT, and Over/Under-Voltage detection.</a:t>
            </a:r>
          </a:p>
        </p:txBody>
      </p:sp>
      <p:sp>
        <p:nvSpPr>
          <p:cNvPr id="33" name="TextBox 32">
            <a:extLst>
              <a:ext uri="{FF2B5EF4-FFF2-40B4-BE49-F238E27FC236}">
                <a16:creationId xmlns:a16="http://schemas.microsoft.com/office/drawing/2014/main" id="{014AD39C-3B16-4EC8-B3D3-D8F1117370B5}"/>
              </a:ext>
            </a:extLst>
          </p:cNvPr>
          <p:cNvSpPr txBox="1"/>
          <p:nvPr/>
        </p:nvSpPr>
        <p:spPr>
          <a:xfrm>
            <a:off x="2622335" y="2580779"/>
            <a:ext cx="962764" cy="261610"/>
          </a:xfrm>
          <a:prstGeom prst="rect">
            <a:avLst/>
          </a:prstGeom>
          <a:noFill/>
        </p:spPr>
        <p:txBody>
          <a:bodyPr wrap="none" lIns="0" rtlCol="0">
            <a:spAutoFit/>
          </a:bodyPr>
          <a:lstStyle/>
          <a:p>
            <a:r>
              <a:rPr lang="en-US" altLang="ko-KR" sz="1100" b="1" dirty="0">
                <a:solidFill>
                  <a:schemeClr val="bg1">
                    <a:lumMod val="50000"/>
                  </a:schemeClr>
                </a:solidFill>
                <a:latin typeface="Arial" panose="020B0604020202020204" pitchFamily="34" charset="0"/>
                <a:cs typeface="Arial" panose="020B0604020202020204" pitchFamily="34" charset="0"/>
              </a:rPr>
              <a:t>12 Channels </a:t>
            </a:r>
            <a:endParaRPr lang="ko-KR" altLang="en-US" sz="1100" b="1" dirty="0">
              <a:solidFill>
                <a:schemeClr val="bg1">
                  <a:lumMod val="50000"/>
                </a:schemeClr>
              </a:solidFill>
              <a:latin typeface="Arial" panose="020B0604020202020204" pitchFamily="34" charset="0"/>
              <a:cs typeface="Arial" panose="020B0604020202020204" pitchFamily="34" charset="0"/>
            </a:endParaRPr>
          </a:p>
        </p:txBody>
      </p:sp>
      <p:sp>
        <p:nvSpPr>
          <p:cNvPr id="37" name="TextBox 36">
            <a:extLst>
              <a:ext uri="{FF2B5EF4-FFF2-40B4-BE49-F238E27FC236}">
                <a16:creationId xmlns:a16="http://schemas.microsoft.com/office/drawing/2014/main" id="{0C9D8F7A-0457-48C9-9A23-F46C4BDD3432}"/>
              </a:ext>
            </a:extLst>
          </p:cNvPr>
          <p:cNvSpPr txBox="1"/>
          <p:nvPr/>
        </p:nvSpPr>
        <p:spPr>
          <a:xfrm>
            <a:off x="393456" y="7484417"/>
            <a:ext cx="1800000" cy="215444"/>
          </a:xfrm>
          <a:prstGeom prst="rect">
            <a:avLst/>
          </a:prstGeom>
          <a:noFill/>
        </p:spPr>
        <p:txBody>
          <a:bodyPr wrap="square" lIns="0" tIns="0" rIns="0" bIns="0" rtlCol="0">
            <a:spAutoFit/>
          </a:bodyPr>
          <a:lstStyle/>
          <a:p>
            <a:r>
              <a:rPr lang="en-US" altLang="ko-KR" sz="1400" b="1" dirty="0">
                <a:latin typeface="Arial" panose="020B0604020202020204" pitchFamily="34" charset="0"/>
                <a:cs typeface="Arial" panose="020B0604020202020204" pitchFamily="34" charset="0"/>
              </a:rPr>
              <a:t>Application</a:t>
            </a:r>
            <a:endParaRPr lang="ko-KR" altLang="en-US" sz="1400" b="1" dirty="0">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8D67C485-ABE7-4B33-85EE-599EA97A8C6B}"/>
              </a:ext>
            </a:extLst>
          </p:cNvPr>
          <p:cNvSpPr txBox="1"/>
          <p:nvPr/>
        </p:nvSpPr>
        <p:spPr>
          <a:xfrm>
            <a:off x="2633691" y="7541083"/>
            <a:ext cx="3946113" cy="153888"/>
          </a:xfrm>
          <a:prstGeom prst="rect">
            <a:avLst/>
          </a:prstGeom>
          <a:noFill/>
        </p:spPr>
        <p:txBody>
          <a:bodyPr wrap="square" lIns="0" tIns="0" rIns="0" bIns="0" rtlCol="0">
            <a:spAutoFit/>
          </a:bodyPr>
          <a:lstStyle/>
          <a:p>
            <a:r>
              <a:rPr lang="en-US" altLang="ko-KR" sz="1000" dirty="0">
                <a:latin typeface="Arial" panose="020B0604020202020204" pitchFamily="34" charset="0"/>
                <a:cs typeface="Arial" panose="020B0604020202020204" pitchFamily="34" charset="0"/>
              </a:rPr>
              <a:t>LED back-lighting with local dimming control</a:t>
            </a:r>
          </a:p>
        </p:txBody>
      </p:sp>
      <p:grpSp>
        <p:nvGrpSpPr>
          <p:cNvPr id="2" name="그룹 1">
            <a:extLst>
              <a:ext uri="{FF2B5EF4-FFF2-40B4-BE49-F238E27FC236}">
                <a16:creationId xmlns:a16="http://schemas.microsoft.com/office/drawing/2014/main" id="{6C3AE02B-FA85-D5E1-9E9A-4D744280F1E1}"/>
              </a:ext>
            </a:extLst>
          </p:cNvPr>
          <p:cNvGrpSpPr/>
          <p:nvPr/>
        </p:nvGrpSpPr>
        <p:grpSpPr>
          <a:xfrm>
            <a:off x="4366818" y="433977"/>
            <a:ext cx="2088304" cy="752967"/>
            <a:chOff x="4136310" y="299116"/>
            <a:chExt cx="2597866" cy="873507"/>
          </a:xfrm>
        </p:grpSpPr>
        <p:pic>
          <p:nvPicPr>
            <p:cNvPr id="3" name="그림 2">
              <a:extLst>
                <a:ext uri="{FF2B5EF4-FFF2-40B4-BE49-F238E27FC236}">
                  <a16:creationId xmlns:a16="http://schemas.microsoft.com/office/drawing/2014/main" id="{5E6E8B54-D78E-A385-9A5E-612DFC0BD92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6310" y="299116"/>
              <a:ext cx="639895" cy="873507"/>
            </a:xfrm>
            <a:prstGeom prst="rect">
              <a:avLst/>
            </a:prstGeom>
          </p:spPr>
        </p:pic>
        <p:sp>
          <p:nvSpPr>
            <p:cNvPr id="7" name="TextBox 6">
              <a:extLst>
                <a:ext uri="{FF2B5EF4-FFF2-40B4-BE49-F238E27FC236}">
                  <a16:creationId xmlns:a16="http://schemas.microsoft.com/office/drawing/2014/main" id="{CD680508-1D21-B8C2-4122-C25AF38E9DCA}"/>
                </a:ext>
              </a:extLst>
            </p:cNvPr>
            <p:cNvSpPr txBox="1"/>
            <p:nvPr/>
          </p:nvSpPr>
          <p:spPr>
            <a:xfrm>
              <a:off x="4604472" y="550651"/>
              <a:ext cx="2129704" cy="351840"/>
            </a:xfrm>
            <a:prstGeom prst="rect">
              <a:avLst/>
            </a:prstGeom>
            <a:noFill/>
          </p:spPr>
          <p:txBody>
            <a:bodyPr wrap="square" rtlCol="0">
              <a:spAutoFit/>
            </a:bodyPr>
            <a:lstStyle/>
            <a:p>
              <a:pPr defTabSz="841696" fontAlgn="auto" latinLnBrk="0">
                <a:spcBef>
                  <a:spcPts val="0"/>
                </a:spcBef>
                <a:spcAft>
                  <a:spcPts val="0"/>
                </a:spcAft>
                <a:defRPr/>
              </a:pPr>
              <a:r>
                <a:rPr kumimoji="0" lang="en-US" altLang="ko-KR" sz="1371" kern="0" dirty="0">
                  <a:solidFill>
                    <a:prstClr val="black"/>
                  </a:solidFill>
                  <a:latin typeface="Calibri"/>
                  <a:ea typeface="맑은 고딕" panose="020B0503020000020004" pitchFamily="50" charset="-127"/>
                </a:rPr>
                <a:t>Global Technologies</a:t>
              </a:r>
              <a:endParaRPr kumimoji="0" lang="ko-KR" altLang="en-US" sz="1371" kern="0" dirty="0">
                <a:solidFill>
                  <a:prstClr val="black"/>
                </a:solidFill>
                <a:latin typeface="Calibri"/>
                <a:ea typeface="맑은 고딕" panose="020B0503020000020004" pitchFamily="50" charset="-127"/>
              </a:endParaRPr>
            </a:p>
          </p:txBody>
        </p:sp>
      </p:grpSp>
    </p:spTree>
    <p:extLst>
      <p:ext uri="{BB962C8B-B14F-4D97-AF65-F5344CB8AC3E}">
        <p14:creationId xmlns:p14="http://schemas.microsoft.com/office/powerpoint/2010/main" val="18141791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F3D50322-94E0-446F-9F13-DCD22B08D5D8}"/>
              </a:ext>
            </a:extLst>
          </p:cNvPr>
          <p:cNvSpPr txBox="1"/>
          <p:nvPr/>
        </p:nvSpPr>
        <p:spPr>
          <a:xfrm>
            <a:off x="390027"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AC3E16D9-A788-49BA-8106-BEE884D02ED2}"/>
              </a:ext>
            </a:extLst>
          </p:cNvPr>
          <p:cNvSpPr txBox="1"/>
          <p:nvPr/>
        </p:nvSpPr>
        <p:spPr>
          <a:xfrm>
            <a:off x="420038" y="775683"/>
            <a:ext cx="738344"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Feature</a:t>
            </a:r>
            <a:endParaRPr lang="ko-KR" altLang="en-US" sz="1200"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9EE0DD9E-9FC9-075A-1D58-E68C916D7964}"/>
              </a:ext>
            </a:extLst>
          </p:cNvPr>
          <p:cNvSpPr txBox="1"/>
          <p:nvPr/>
        </p:nvSpPr>
        <p:spPr>
          <a:xfrm>
            <a:off x="420038" y="1268992"/>
            <a:ext cx="6024417" cy="5090561"/>
          </a:xfrm>
          <a:prstGeom prst="rect">
            <a:avLst/>
          </a:prstGeom>
          <a:noFill/>
        </p:spPr>
        <p:txBody>
          <a:bodyPr wrap="square" lIns="0">
            <a:spAutoFit/>
          </a:bodyPr>
          <a:lstStyle/>
          <a:p>
            <a:pPr marL="108000" marR="137795" lvl="0" indent="108000">
              <a:lnSpc>
                <a:spcPct val="150000"/>
              </a:lnSpc>
              <a:spcBef>
                <a:spcPts val="385"/>
              </a:spcBef>
              <a:spcAft>
                <a:spcPts val="0"/>
              </a:spcAft>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Bi-directional 1-wire </a:t>
            </a:r>
            <a:r>
              <a:rPr lang="en-US" altLang="ko-KR" sz="1000" dirty="0">
                <a:latin typeface="Arial" panose="020B0604020202020204" pitchFamily="34" charset="0"/>
                <a:ea typeface="Arial" panose="020B0604020202020204" pitchFamily="34" charset="0"/>
                <a:cs typeface="굴림" panose="020B0600000101010101" pitchFamily="50" charset="-127"/>
              </a:rPr>
              <a:t>interface </a:t>
            </a:r>
            <a:r>
              <a:rPr lang="en-US" altLang="ko-KR" sz="1000" dirty="0">
                <a:effectLst/>
                <a:latin typeface="Arial" panose="020B0604020202020204" pitchFamily="34" charset="0"/>
                <a:ea typeface="Arial" panose="020B0604020202020204" pitchFamily="34" charset="0"/>
                <a:cs typeface="굴림" panose="020B0600000101010101" pitchFamily="50" charset="-127"/>
              </a:rPr>
              <a:t>and configurable transmit rate</a:t>
            </a:r>
          </a:p>
          <a:p>
            <a:pPr marL="108000" marR="137795" lvl="0" indent="108000">
              <a:lnSpc>
                <a:spcPct val="150000"/>
              </a:lnSpc>
              <a:spcBef>
                <a:spcPts val="385"/>
              </a:spcBef>
              <a:spcAft>
                <a:spcPts val="0"/>
              </a:spcAft>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Daisied connection between devices </a:t>
            </a:r>
            <a:r>
              <a:rPr lang="en-US" altLang="ko-KR" sz="1000" dirty="0">
                <a:latin typeface="Arial" panose="020B0604020202020204" pitchFamily="34" charset="0"/>
                <a:ea typeface="Arial" panose="020B0604020202020204" pitchFamily="34" charset="0"/>
                <a:cs typeface="굴림" panose="020B0600000101010101" pitchFamily="50" charset="-127"/>
              </a:rPr>
              <a:t>and p</a:t>
            </a:r>
            <a:r>
              <a:rPr lang="en-US" altLang="ko-KR" sz="1000" dirty="0">
                <a:effectLst/>
                <a:latin typeface="Arial" panose="020B0604020202020204" pitchFamily="34" charset="0"/>
                <a:ea typeface="Arial" panose="020B0604020202020204" pitchFamily="34" charset="0"/>
                <a:cs typeface="굴림" panose="020B0600000101010101" pitchFamily="50" charset="-127"/>
              </a:rPr>
              <a:t>in layout for designing single layer PCB</a:t>
            </a:r>
          </a:p>
          <a:p>
            <a:pPr marL="108000" marR="137795" lvl="0" indent="108000">
              <a:lnSpc>
                <a:spcPct val="150000"/>
              </a:lnSpc>
              <a:spcBef>
                <a:spcPts val="385"/>
              </a:spcBef>
              <a:spcAft>
                <a:spcPts val="0"/>
              </a:spcAft>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12 indepe</a:t>
            </a:r>
            <a:r>
              <a:rPr lang="en-US" altLang="ko-KR" sz="1000" dirty="0">
                <a:latin typeface="Arial" panose="020B0604020202020204" pitchFamily="34" charset="0"/>
                <a:ea typeface="Arial" panose="020B0604020202020204" pitchFamily="34" charset="0"/>
                <a:cs typeface="굴림" panose="020B0600000101010101" pitchFamily="50" charset="-127"/>
              </a:rPr>
              <a:t>ndent dimming control channels in a package</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10"/>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Maximum</a:t>
            </a:r>
            <a:r>
              <a:rPr lang="en-US" altLang="ko-KR" sz="1000" spc="-20" dirty="0">
                <a:effectLst/>
                <a:latin typeface="Arial" panose="020B0604020202020204" pitchFamily="34" charset="0"/>
                <a:ea typeface="Arial" panose="020B0604020202020204" pitchFamily="34" charset="0"/>
                <a:cs typeface="굴림" panose="020B0600000101010101" pitchFamily="50" charset="-127"/>
              </a:rPr>
              <a:t> 40</a:t>
            </a:r>
            <a:r>
              <a:rPr lang="en-US" altLang="ko-KR" sz="1000" dirty="0">
                <a:effectLst/>
                <a:latin typeface="Arial" panose="020B0604020202020204" pitchFamily="34" charset="0"/>
                <a:ea typeface="Arial" panose="020B0604020202020204" pitchFamily="34" charset="0"/>
                <a:cs typeface="굴림" panose="020B0600000101010101" pitchFamily="50" charset="-127"/>
              </a:rPr>
              <a:t>V</a:t>
            </a:r>
            <a:r>
              <a:rPr lang="en-US" altLang="ko-KR" sz="1000" spc="-5" dirty="0">
                <a:effectLst/>
                <a:latin typeface="Arial" panose="020B0604020202020204" pitchFamily="34" charset="0"/>
                <a:ea typeface="Arial" panose="020B0604020202020204" pitchFamily="34" charset="0"/>
                <a:cs typeface="굴림" panose="020B0600000101010101" pitchFamily="50" charset="-127"/>
              </a:rPr>
              <a:t> headroom</a:t>
            </a:r>
            <a:r>
              <a:rPr lang="en-US" altLang="ko-KR" sz="1000" spc="-10" dirty="0">
                <a:effectLst/>
                <a:latin typeface="Arial" panose="020B0604020202020204" pitchFamily="34" charset="0"/>
                <a:ea typeface="Arial" panose="020B0604020202020204" pitchFamily="34" charset="0"/>
                <a:cs typeface="굴림" panose="020B0600000101010101" pitchFamily="50" charset="-127"/>
              </a:rPr>
              <a:t> </a:t>
            </a:r>
            <a:r>
              <a:rPr lang="en-US" altLang="ko-KR" sz="1000" dirty="0">
                <a:effectLst/>
                <a:latin typeface="Arial" panose="020B0604020202020204" pitchFamily="34" charset="0"/>
                <a:ea typeface="Arial" panose="020B0604020202020204" pitchFamily="34" charset="0"/>
                <a:cs typeface="굴림" panose="020B0600000101010101" pitchFamily="50" charset="-127"/>
              </a:rPr>
              <a:t>voltage</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1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Configurable device’s max output current level (4/8/12/16/24/32/46/64mA)</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10"/>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12-bit DAC global </a:t>
            </a:r>
            <a:r>
              <a:rPr lang="en-US" altLang="ko-KR" sz="1000" dirty="0">
                <a:latin typeface="Arial" panose="020B0604020202020204" pitchFamily="34" charset="0"/>
                <a:ea typeface="Arial" panose="020B0604020202020204" pitchFamily="34" charset="0"/>
                <a:cs typeface="굴림" panose="020B0600000101010101" pitchFamily="50" charset="-127"/>
              </a:rPr>
              <a:t>max</a:t>
            </a:r>
            <a:r>
              <a:rPr lang="ko-KR" altLang="en-US" sz="1000" dirty="0">
                <a:latin typeface="Arial" panose="020B0604020202020204" pitchFamily="34" charset="0"/>
                <a:ea typeface="Arial" panose="020B0604020202020204" pitchFamily="34" charset="0"/>
                <a:cs typeface="굴림" panose="020B0600000101010101" pitchFamily="50" charset="-127"/>
              </a:rPr>
              <a:t> </a:t>
            </a:r>
            <a:r>
              <a:rPr lang="en-US" altLang="ko-KR" sz="1000" dirty="0">
                <a:latin typeface="Arial" panose="020B0604020202020204" pitchFamily="34" charset="0"/>
                <a:ea typeface="Arial" panose="020B0604020202020204" pitchFamily="34" charset="0"/>
                <a:cs typeface="굴림" panose="020B0600000101010101" pitchFamily="50" charset="-127"/>
              </a:rPr>
              <a:t>current</a:t>
            </a:r>
            <a:r>
              <a:rPr lang="en-US" altLang="ko-KR" sz="1000" dirty="0">
                <a:effectLst/>
                <a:latin typeface="Arial" panose="020B0604020202020204" pitchFamily="34" charset="0"/>
                <a:ea typeface="Arial" panose="020B0604020202020204" pitchFamily="34" charset="0"/>
                <a:cs typeface="굴림" panose="020B0600000101010101" pitchFamily="50" charset="-127"/>
              </a:rPr>
              <a:t> control</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2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16-bit </a:t>
            </a:r>
            <a:r>
              <a:rPr lang="en-US" altLang="ko-KR" sz="1000" dirty="0">
                <a:latin typeface="Arial" panose="020B0604020202020204" pitchFamily="34" charset="0"/>
                <a:ea typeface="Arial" panose="020B0604020202020204" pitchFamily="34" charset="0"/>
                <a:cs typeface="굴림" panose="020B0600000101010101" pitchFamily="50" charset="-127"/>
              </a:rPr>
              <a:t>DC</a:t>
            </a:r>
            <a:r>
              <a:rPr lang="en-US" altLang="ko-KR" sz="1000" dirty="0">
                <a:effectLst/>
                <a:latin typeface="Arial" panose="020B0604020202020204" pitchFamily="34" charset="0"/>
                <a:ea typeface="Arial" panose="020B0604020202020204" pitchFamily="34" charset="0"/>
                <a:cs typeface="굴림" panose="020B0600000101010101" pitchFamily="50" charset="-127"/>
              </a:rPr>
              <a:t> brightness control</a:t>
            </a:r>
          </a:p>
          <a:p>
            <a:pPr marL="108000" lvl="0" indent="108000">
              <a:lnSpc>
                <a:spcPct val="150000"/>
              </a:lnSpc>
              <a:spcBef>
                <a:spcPts val="32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Support configurable black sub-frame insertion</a:t>
            </a:r>
            <a:endParaRPr lang="en-US"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2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Sink current </a:t>
            </a:r>
            <a:r>
              <a:rPr lang="en-US" altLang="ko-KR" sz="1000" dirty="0">
                <a:effectLst/>
                <a:latin typeface="Arial" panose="020B0604020202020204" pitchFamily="34" charset="0"/>
                <a:ea typeface="Arial" panose="020B0604020202020204" pitchFamily="34" charset="0"/>
                <a:cs typeface="Arial" panose="020B0604020202020204" pitchFamily="34" charset="0"/>
              </a:rPr>
              <a:t>accuracy </a:t>
            </a:r>
            <a:r>
              <a:rPr lang="en-US" altLang="ko-KR" sz="1000" dirty="0">
                <a:effectLst/>
                <a:latin typeface="Arial" panose="020B0604020202020204" pitchFamily="34" charset="0"/>
                <a:ea typeface="Microsoft GothicNeo" panose="020B0500000101010101" pitchFamily="50" charset="-127"/>
                <a:cs typeface="Arial" panose="020B0604020202020204" pitchFamily="34" charset="0"/>
              </a:rPr>
              <a:t>±2% (Configured max current * 1)</a:t>
            </a:r>
            <a:endParaRPr lang="ko-KR" altLang="ko-KR" sz="1000" dirty="0">
              <a:effectLst/>
              <a:latin typeface="Arial" panose="020B0604020202020204" pitchFamily="34" charset="0"/>
              <a:ea typeface="Arial" panose="020B0604020202020204" pitchFamily="34" charset="0"/>
              <a:cs typeface="Arial" panose="020B0604020202020204" pitchFamily="34" charset="0"/>
            </a:endParaRPr>
          </a:p>
          <a:p>
            <a:pPr marL="108000" lvl="0" indent="108000">
              <a:lnSpc>
                <a:spcPct val="150000"/>
              </a:lnSpc>
              <a:spcBef>
                <a:spcPts val="310"/>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Sync controllability between </a:t>
            </a:r>
            <a:r>
              <a:rPr lang="en-US" altLang="ko-KR" sz="1000" dirty="0">
                <a:latin typeface="Arial" panose="020B0604020202020204" pitchFamily="34" charset="0"/>
                <a:ea typeface="Arial" panose="020B0604020202020204" pitchFamily="34" charset="0"/>
                <a:cs typeface="굴림" panose="020B0600000101010101" pitchFamily="50" charset="-127"/>
              </a:rPr>
              <a:t>devices</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indent="108000">
              <a:lnSpc>
                <a:spcPct val="150000"/>
              </a:lnSpc>
              <a:spcBef>
                <a:spcPts val="31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Configurable LED</a:t>
            </a:r>
            <a:r>
              <a:rPr lang="ko-KR" altLang="en-US" sz="1000" dirty="0">
                <a:latin typeface="Arial" panose="020B0604020202020204" pitchFamily="34" charset="0"/>
                <a:ea typeface="Arial" panose="020B0604020202020204" pitchFamily="34" charset="0"/>
                <a:cs typeface="굴림" panose="020B0600000101010101" pitchFamily="50" charset="-127"/>
              </a:rPr>
              <a:t> </a:t>
            </a:r>
            <a:r>
              <a:rPr lang="en-US" altLang="ko-KR" sz="1000" dirty="0">
                <a:latin typeface="Arial" panose="020B0604020202020204" pitchFamily="34" charset="0"/>
                <a:ea typeface="Arial" panose="020B0604020202020204" pitchFamily="34" charset="0"/>
                <a:cs typeface="굴림" panose="020B0600000101010101" pitchFamily="50" charset="-127"/>
              </a:rPr>
              <a:t>OPEN detection and protection</a:t>
            </a:r>
          </a:p>
          <a:p>
            <a:pPr marL="108000" indent="108000">
              <a:lnSpc>
                <a:spcPct val="150000"/>
              </a:lnSpc>
              <a:spcBef>
                <a:spcPts val="31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Configurable LED SHORT detection level (3/4/6/8/12/16/24/36V) and protection</a:t>
            </a:r>
          </a:p>
          <a:p>
            <a:pPr marL="108000" indent="108000">
              <a:lnSpc>
                <a:spcPct val="150000"/>
              </a:lnSpc>
              <a:spcBef>
                <a:spcPts val="31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Configurable FB operation level (0.4/0.5/0.6/0.7/0.85/1.0/1.15/1.3V)</a:t>
            </a:r>
          </a:p>
          <a:p>
            <a:pPr marL="108000" indent="108000">
              <a:lnSpc>
                <a:spcPct val="150000"/>
              </a:lnSpc>
              <a:spcBef>
                <a:spcPts val="31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Configurable Over-Temperature</a:t>
            </a:r>
            <a:r>
              <a:rPr lang="en-US" altLang="ko-KR" sz="1000" dirty="0">
                <a:effectLst/>
                <a:latin typeface="Arial" panose="020B0604020202020204" pitchFamily="34" charset="0"/>
                <a:ea typeface="Arial" panose="020B0604020202020204" pitchFamily="34" charset="0"/>
                <a:cs typeface="Arial" panose="020B0604020202020204" pitchFamily="34" charset="0"/>
              </a:rPr>
              <a:t> @ 135</a:t>
            </a:r>
            <a:r>
              <a:rPr lang="en-US" altLang="ko-KR" sz="1000" dirty="0">
                <a:effectLst/>
                <a:latin typeface="Arial" panose="020B0604020202020204" pitchFamily="34" charset="0"/>
                <a:ea typeface="Yu Mincho Light" panose="02020300000000000000" pitchFamily="18" charset="-128"/>
                <a:cs typeface="Arial" panose="020B0604020202020204" pitchFamily="34" charset="0"/>
              </a:rPr>
              <a:t>℃</a:t>
            </a:r>
          </a:p>
          <a:p>
            <a:pPr marL="108000" indent="108000">
              <a:lnSpc>
                <a:spcPct val="150000"/>
              </a:lnSpc>
              <a:spcBef>
                <a:spcPts val="315"/>
              </a:spcBef>
              <a:buFont typeface="굴림" panose="020B0600000101010101" pitchFamily="50" charset="-127"/>
              <a:buChar char="•"/>
              <a:tabLst>
                <a:tab pos="460375" algn="l"/>
              </a:tabLst>
            </a:pPr>
            <a:r>
              <a:rPr lang="en-US" altLang="ko-KR" sz="1000" dirty="0">
                <a:latin typeface="Arial" panose="020B0604020202020204" pitchFamily="34" charset="0"/>
                <a:ea typeface="Yu Mincho Light" panose="02020300000000000000" pitchFamily="18" charset="-128"/>
                <a:cs typeface="Arial" panose="020B0604020202020204" pitchFamily="34" charset="0"/>
              </a:rPr>
              <a:t>Configurable Over/Under-Voltage of internal LDO</a:t>
            </a:r>
            <a:endParaRPr lang="en-US" altLang="ko-KR" sz="1000" dirty="0">
              <a:latin typeface="Arial" panose="020B0604020202020204" pitchFamily="34" charset="0"/>
              <a:ea typeface="Arial" panose="020B0604020202020204" pitchFamily="34" charset="0"/>
              <a:cs typeface="Arial" panose="020B0604020202020204" pitchFamily="34" charset="0"/>
            </a:endParaRPr>
          </a:p>
          <a:p>
            <a:pPr marL="108000" indent="108000">
              <a:lnSpc>
                <a:spcPct val="150000"/>
              </a:lnSpc>
              <a:spcBef>
                <a:spcPts val="31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Supply voltage 4.5 ~ 5.0V</a:t>
            </a:r>
          </a:p>
          <a:p>
            <a:pPr marL="108000" indent="108000">
              <a:lnSpc>
                <a:spcPct val="150000"/>
              </a:lnSpc>
              <a:spcBef>
                <a:spcPts val="31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24-PIN </a:t>
            </a:r>
            <a:r>
              <a:rPr lang="en-US" altLang="ko-KR" sz="1000" dirty="0">
                <a:latin typeface="Arial" panose="020B0604020202020204" pitchFamily="34" charset="0"/>
                <a:ea typeface="Arial" panose="020B0604020202020204" pitchFamily="34" charset="0"/>
                <a:cs typeface="굴림" panose="020B0600000101010101" pitchFamily="50" charset="-127"/>
              </a:rPr>
              <a:t>QFN 3030 package</a:t>
            </a:r>
            <a:endParaRPr lang="en-US"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indent="108000">
              <a:lnSpc>
                <a:spcPct val="15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Latch-up Immunity, </a:t>
            </a:r>
            <a:r>
              <a:rPr lang="en-US" altLang="ko-KR" sz="1000" dirty="0">
                <a:effectLst/>
                <a:latin typeface="Arial" panose="020B0604020202020204" pitchFamily="34" charset="0"/>
                <a:ea typeface="Arial" panose="020B0604020202020204" pitchFamily="34" charset="0"/>
              </a:rPr>
              <a:t>I</a:t>
            </a:r>
            <a:r>
              <a:rPr lang="en-US" altLang="ko-KR" sz="1000" baseline="-25000" dirty="0">
                <a:effectLst/>
                <a:latin typeface="Arial" panose="020B0604020202020204" pitchFamily="34" charset="0"/>
                <a:ea typeface="Arial" panose="020B0604020202020204" pitchFamily="34" charset="0"/>
              </a:rPr>
              <a:t>LATCH</a:t>
            </a:r>
            <a:r>
              <a:rPr lang="en-US" altLang="ko-KR" sz="1000" dirty="0">
                <a:latin typeface="Arial" panose="020B0604020202020204" pitchFamily="34" charset="0"/>
                <a:cs typeface="Arial" panose="020B0604020202020204" pitchFamily="34" charset="0"/>
              </a:rPr>
              <a:t>  (JEDEC JESD78D Nov 2011) : ±100mA</a:t>
            </a:r>
          </a:p>
          <a:p>
            <a:pPr marL="108000" indent="108000">
              <a:lnSpc>
                <a:spcPct val="15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ESD protection, ESD</a:t>
            </a:r>
            <a:r>
              <a:rPr lang="en-US" altLang="ko-KR" sz="1000" baseline="-25000" dirty="0">
                <a:latin typeface="Arial" panose="020B0604020202020204" pitchFamily="34" charset="0"/>
                <a:cs typeface="Arial" panose="020B0604020202020204" pitchFamily="34" charset="0"/>
              </a:rPr>
              <a:t>HBM</a:t>
            </a:r>
            <a:r>
              <a:rPr lang="en-US" altLang="ko-KR" sz="1000" dirty="0">
                <a:latin typeface="Arial" panose="020B0604020202020204" pitchFamily="34" charset="0"/>
                <a:cs typeface="Arial" panose="020B0604020202020204" pitchFamily="34" charset="0"/>
              </a:rPr>
              <a:t>  (Norm: MIL 883 E Method 3015 Human Body Model) : ±2KV</a:t>
            </a:r>
          </a:p>
        </p:txBody>
      </p:sp>
    </p:spTree>
    <p:extLst>
      <p:ext uri="{BB962C8B-B14F-4D97-AF65-F5344CB8AC3E}">
        <p14:creationId xmlns:p14="http://schemas.microsoft.com/office/powerpoint/2010/main" val="42294247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3258D35A-631D-4626-90DE-C1C5A9445CDD}"/>
              </a:ext>
            </a:extLst>
          </p:cNvPr>
          <p:cNvSpPr txBox="1"/>
          <p:nvPr/>
        </p:nvSpPr>
        <p:spPr>
          <a:xfrm>
            <a:off x="420038" y="5476227"/>
            <a:ext cx="1682512"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Application Circuit</a:t>
            </a:r>
            <a:endParaRPr lang="ko-KR" altLang="en-US" sz="1200" dirty="0">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AC3E16D9-A788-49BA-8106-BEE884D02ED2}"/>
              </a:ext>
            </a:extLst>
          </p:cNvPr>
          <p:cNvSpPr txBox="1"/>
          <p:nvPr/>
        </p:nvSpPr>
        <p:spPr>
          <a:xfrm>
            <a:off x="420038" y="775683"/>
            <a:ext cx="1347485"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Block Diagram</a:t>
            </a:r>
            <a:endParaRPr lang="ko-KR" altLang="en-US" sz="12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7E78E9E8-011B-8E52-4EEB-9EF4FE4AC79C}"/>
              </a:ext>
            </a:extLst>
          </p:cNvPr>
          <p:cNvSpPr txBox="1"/>
          <p:nvPr/>
        </p:nvSpPr>
        <p:spPr>
          <a:xfrm>
            <a:off x="390027"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7" name="object 84">
            <a:extLst>
              <a:ext uri="{FF2B5EF4-FFF2-40B4-BE49-F238E27FC236}">
                <a16:creationId xmlns:a16="http://schemas.microsoft.com/office/drawing/2014/main" id="{92C24942-18BA-F0B3-A66D-927A605E8108}"/>
              </a:ext>
            </a:extLst>
          </p:cNvPr>
          <p:cNvSpPr txBox="1"/>
          <p:nvPr/>
        </p:nvSpPr>
        <p:spPr>
          <a:xfrm>
            <a:off x="2740031" y="4849926"/>
            <a:ext cx="1377941" cy="138499"/>
          </a:xfrm>
          <a:prstGeom prst="rect">
            <a:avLst/>
          </a:prstGeom>
        </p:spPr>
        <p:txBody>
          <a:bodyPr vert="horz" wrap="none" lIns="0" tIns="0" rIns="0" bIns="0" rtlCol="0" anchor="ctr" anchorCtr="0">
            <a:spAutoFit/>
          </a:bodyPr>
          <a:lstStyle/>
          <a:p>
            <a:pPr marL="12435" algn="ctr"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a:t>
            </a:r>
            <a:r>
              <a:rPr lang="en-US" sz="900" b="1" spc="15" dirty="0">
                <a:solidFill>
                  <a:prstClr val="black"/>
                </a:solidFill>
                <a:latin typeface="Arial" panose="020B0604020202020204" pitchFamily="34" charset="0"/>
                <a:cs typeface="Arial" panose="020B0604020202020204" pitchFamily="34" charset="0"/>
              </a:rPr>
              <a:t>ure</a:t>
            </a:r>
            <a:r>
              <a:rPr kumimoji="0" lang="en-US" sz="900" b="1" spc="15" dirty="0">
                <a:solidFill>
                  <a:prstClr val="black"/>
                </a:solidFill>
                <a:latin typeface="Arial" panose="020B0604020202020204" pitchFamily="34" charset="0"/>
                <a:ea typeface="+mn-ea"/>
                <a:cs typeface="Arial" panose="020B0604020202020204" pitchFamily="34" charset="0"/>
              </a:rPr>
              <a:t> 1. Block Diagram</a:t>
            </a:r>
          </a:p>
        </p:txBody>
      </p:sp>
      <p:pic>
        <p:nvPicPr>
          <p:cNvPr id="4" name="그림 3">
            <a:extLst>
              <a:ext uri="{FF2B5EF4-FFF2-40B4-BE49-F238E27FC236}">
                <a16:creationId xmlns:a16="http://schemas.microsoft.com/office/drawing/2014/main" id="{66DF9CA7-85E0-3D78-C836-DE591C81F137}"/>
              </a:ext>
            </a:extLst>
          </p:cNvPr>
          <p:cNvPicPr>
            <a:picLocks noChangeAspect="1"/>
          </p:cNvPicPr>
          <p:nvPr/>
        </p:nvPicPr>
        <p:blipFill>
          <a:blip r:embed="rId2"/>
          <a:stretch>
            <a:fillRect/>
          </a:stretch>
        </p:blipFill>
        <p:spPr>
          <a:xfrm>
            <a:off x="404811" y="6026007"/>
            <a:ext cx="6084188" cy="2251905"/>
          </a:xfrm>
          <a:prstGeom prst="rect">
            <a:avLst/>
          </a:prstGeom>
        </p:spPr>
      </p:pic>
      <p:sp>
        <p:nvSpPr>
          <p:cNvPr id="8" name="object 84">
            <a:extLst>
              <a:ext uri="{FF2B5EF4-FFF2-40B4-BE49-F238E27FC236}">
                <a16:creationId xmlns:a16="http://schemas.microsoft.com/office/drawing/2014/main" id="{7FEE2E92-D26D-E884-C2F8-559976A729A1}"/>
              </a:ext>
            </a:extLst>
          </p:cNvPr>
          <p:cNvSpPr txBox="1"/>
          <p:nvPr/>
        </p:nvSpPr>
        <p:spPr>
          <a:xfrm>
            <a:off x="2608262" y="8410241"/>
            <a:ext cx="1641475" cy="138499"/>
          </a:xfrm>
          <a:prstGeom prst="rect">
            <a:avLst/>
          </a:prstGeom>
        </p:spPr>
        <p:txBody>
          <a:bodyPr vert="horz" wrap="none" lIns="0" tIns="0" rIns="0" bIns="0" rtlCol="0" anchor="ctr" anchorCtr="0">
            <a:spAutoFit/>
          </a:bodyPr>
          <a:lstStyle/>
          <a:p>
            <a:pPr marL="12435" algn="ctr"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2.  Application Circuit</a:t>
            </a:r>
          </a:p>
        </p:txBody>
      </p:sp>
      <p:pic>
        <p:nvPicPr>
          <p:cNvPr id="10" name="그림 9">
            <a:extLst>
              <a:ext uri="{FF2B5EF4-FFF2-40B4-BE49-F238E27FC236}">
                <a16:creationId xmlns:a16="http://schemas.microsoft.com/office/drawing/2014/main" id="{AF4BE2C8-7678-DE45-6A74-E81A56F0345A}"/>
              </a:ext>
            </a:extLst>
          </p:cNvPr>
          <p:cNvPicPr>
            <a:picLocks noChangeAspect="1"/>
          </p:cNvPicPr>
          <p:nvPr/>
        </p:nvPicPr>
        <p:blipFill>
          <a:blip r:embed="rId3"/>
          <a:stretch>
            <a:fillRect/>
          </a:stretch>
        </p:blipFill>
        <p:spPr>
          <a:xfrm>
            <a:off x="1538999" y="1156747"/>
            <a:ext cx="3780000" cy="3451176"/>
          </a:xfrm>
          <a:prstGeom prst="rect">
            <a:avLst/>
          </a:prstGeom>
        </p:spPr>
      </p:pic>
    </p:spTree>
    <p:extLst>
      <p:ext uri="{BB962C8B-B14F-4D97-AF65-F5344CB8AC3E}">
        <p14:creationId xmlns:p14="http://schemas.microsoft.com/office/powerpoint/2010/main" val="74552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AC3E16D9-A788-49BA-8106-BEE884D02ED2}"/>
              </a:ext>
            </a:extLst>
          </p:cNvPr>
          <p:cNvSpPr txBox="1"/>
          <p:nvPr/>
        </p:nvSpPr>
        <p:spPr>
          <a:xfrm>
            <a:off x="420038" y="775689"/>
            <a:ext cx="2055434"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Pin diagram (Top View)</a:t>
            </a:r>
          </a:p>
        </p:txBody>
      </p:sp>
      <p:sp>
        <p:nvSpPr>
          <p:cNvPr id="3" name="TextBox 2">
            <a:extLst>
              <a:ext uri="{FF2B5EF4-FFF2-40B4-BE49-F238E27FC236}">
                <a16:creationId xmlns:a16="http://schemas.microsoft.com/office/drawing/2014/main" id="{0673D932-0DC3-C4F2-313D-40C20553AED9}"/>
              </a:ext>
            </a:extLst>
          </p:cNvPr>
          <p:cNvSpPr txBox="1"/>
          <p:nvPr/>
        </p:nvSpPr>
        <p:spPr>
          <a:xfrm>
            <a:off x="390027"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graphicFrame>
        <p:nvGraphicFramePr>
          <p:cNvPr id="5" name="표 4">
            <a:extLst>
              <a:ext uri="{FF2B5EF4-FFF2-40B4-BE49-F238E27FC236}">
                <a16:creationId xmlns:a16="http://schemas.microsoft.com/office/drawing/2014/main" id="{7366868F-F20C-0B60-EEBE-D115A91BDE1F}"/>
              </a:ext>
            </a:extLst>
          </p:cNvPr>
          <p:cNvGraphicFramePr>
            <a:graphicFrameLocks noGrp="1"/>
          </p:cNvGraphicFramePr>
          <p:nvPr>
            <p:extLst>
              <p:ext uri="{D42A27DB-BD31-4B8C-83A1-F6EECF244321}">
                <p14:modId xmlns:p14="http://schemas.microsoft.com/office/powerpoint/2010/main" val="2354772189"/>
              </p:ext>
            </p:extLst>
          </p:nvPr>
        </p:nvGraphicFramePr>
        <p:xfrm>
          <a:off x="404814" y="4658307"/>
          <a:ext cx="6042618" cy="4172192"/>
        </p:xfrm>
        <a:graphic>
          <a:graphicData uri="http://schemas.openxmlformats.org/drawingml/2006/table">
            <a:tbl>
              <a:tblPr>
                <a:tableStyleId>{5C22544A-7EE6-4342-B048-85BDC9FD1C3A}</a:tableStyleId>
              </a:tblPr>
              <a:tblGrid>
                <a:gridCol w="858910">
                  <a:extLst>
                    <a:ext uri="{9D8B030D-6E8A-4147-A177-3AD203B41FA5}">
                      <a16:colId xmlns:a16="http://schemas.microsoft.com/office/drawing/2014/main" val="1199541810"/>
                    </a:ext>
                  </a:extLst>
                </a:gridCol>
                <a:gridCol w="569870">
                  <a:extLst>
                    <a:ext uri="{9D8B030D-6E8A-4147-A177-3AD203B41FA5}">
                      <a16:colId xmlns:a16="http://schemas.microsoft.com/office/drawing/2014/main" val="2771136683"/>
                    </a:ext>
                  </a:extLst>
                </a:gridCol>
                <a:gridCol w="537307">
                  <a:extLst>
                    <a:ext uri="{9D8B030D-6E8A-4147-A177-3AD203B41FA5}">
                      <a16:colId xmlns:a16="http://schemas.microsoft.com/office/drawing/2014/main" val="112759525"/>
                    </a:ext>
                  </a:extLst>
                </a:gridCol>
                <a:gridCol w="952313">
                  <a:extLst>
                    <a:ext uri="{9D8B030D-6E8A-4147-A177-3AD203B41FA5}">
                      <a16:colId xmlns:a16="http://schemas.microsoft.com/office/drawing/2014/main" val="3900317923"/>
                    </a:ext>
                  </a:extLst>
                </a:gridCol>
                <a:gridCol w="1587681">
                  <a:extLst>
                    <a:ext uri="{9D8B030D-6E8A-4147-A177-3AD203B41FA5}">
                      <a16:colId xmlns:a16="http://schemas.microsoft.com/office/drawing/2014/main" val="3382103366"/>
                    </a:ext>
                  </a:extLst>
                </a:gridCol>
                <a:gridCol w="1536537">
                  <a:extLst>
                    <a:ext uri="{9D8B030D-6E8A-4147-A177-3AD203B41FA5}">
                      <a16:colId xmlns:a16="http://schemas.microsoft.com/office/drawing/2014/main" val="915546717"/>
                    </a:ext>
                  </a:extLst>
                </a:gridCol>
              </a:tblGrid>
              <a:tr h="0">
                <a:tc>
                  <a:txBody>
                    <a:bodyPr/>
                    <a:lstStyle/>
                    <a:p>
                      <a:pPr algn="ctr" fontAlgn="ctr"/>
                      <a:r>
                        <a:rPr lang="en-US" sz="900" b="1" u="none" strike="noStrike" dirty="0">
                          <a:effectLst/>
                          <a:latin typeface="Arial" panose="020B0604020202020204" pitchFamily="34" charset="0"/>
                          <a:cs typeface="Arial" panose="020B0604020202020204" pitchFamily="34" charset="0"/>
                        </a:rPr>
                        <a:t>Pin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90000" marB="9000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Pin No.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90000" marB="90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90000" marB="90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Type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90000" marB="90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90000" marB="90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p>
                  </a:txBody>
                  <a:tcPr marL="0" marR="0" marT="90000" marB="9000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4142273324"/>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7398132"/>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altLang="ko-KR" sz="900" b="0"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96008213"/>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3</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7949854"/>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4</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0537586"/>
                  </a:ext>
                </a:extLst>
              </a:tr>
              <a:tr h="263036">
                <a:tc>
                  <a:txBody>
                    <a:bodyPr/>
                    <a:lstStyle/>
                    <a:p>
                      <a:pPr algn="ctr" fontAlgn="ctr"/>
                      <a:r>
                        <a:rPr lang="en-US" altLang="ko-KR" sz="900" b="0" i="0" u="none" strike="noStrike" baseline="0" dirty="0">
                          <a:solidFill>
                            <a:srgbClr val="0066FF"/>
                          </a:solidFill>
                          <a:effectLst/>
                          <a:latin typeface="Arial" panose="020B0604020202020204" pitchFamily="34" charset="0"/>
                          <a:ea typeface="+mn-ea"/>
                          <a:cs typeface="Arial" panose="020B0604020202020204" pitchFamily="34" charset="0"/>
                        </a:rPr>
                        <a:t>FBO</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FF00FF"/>
                          </a:solidFill>
                          <a:effectLst/>
                          <a:latin typeface="Arial" panose="020B0604020202020204" pitchFamily="34" charset="0"/>
                          <a:ea typeface="+mn-ea"/>
                          <a:cs typeface="Arial" panose="020B0604020202020204" pitchFamily="34" charset="0"/>
                        </a:rPr>
                        <a:t>VSI</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00CC00"/>
                          </a:solidFill>
                          <a:effectLst/>
                          <a:latin typeface="Arial" panose="020B0604020202020204" pitchFamily="34" charset="0"/>
                          <a:ea typeface="+mn-ea"/>
                          <a:cs typeface="Arial" panose="020B0604020202020204" pitchFamily="34" charset="0"/>
                        </a:rPr>
                        <a:t>FBO </a:t>
                      </a:r>
                      <a:r>
                        <a:rPr lang="en-US" altLang="ko-KR" sz="900" b="0" i="0" u="none" strike="noStrike" baseline="30000" dirty="0">
                          <a:solidFill>
                            <a:schemeClr val="tx1"/>
                          </a:solidFill>
                          <a:effectLst/>
                          <a:latin typeface="Arial" panose="020B0604020202020204" pitchFamily="34" charset="0"/>
                          <a:ea typeface="+mn-ea"/>
                          <a:cs typeface="Arial" panose="020B0604020202020204" pitchFamily="34" charset="0"/>
                        </a:rPr>
                        <a:t>1)</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5</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lnSpc>
                          <a:spcPts val="800"/>
                        </a:lnSpc>
                      </a:pPr>
                      <a:r>
                        <a:rPr lang="en-US" altLang="ko-KR" sz="900" b="0" i="0" u="none" strike="noStrike" baseline="0" dirty="0">
                          <a:solidFill>
                            <a:srgbClr val="000000"/>
                          </a:solidFill>
                          <a:effectLst/>
                          <a:latin typeface="Arial" panose="020B0604020202020204" pitchFamily="34" charset="0"/>
                          <a:ea typeface="+mn-ea"/>
                          <a:cs typeface="Arial" panose="020B0604020202020204" pitchFamily="34" charset="0"/>
                        </a:rPr>
                        <a:t> </a:t>
                      </a:r>
                      <a:r>
                        <a:rPr lang="en-US" altLang="ko-KR" sz="900" b="0" i="0" u="none" strike="noStrike" baseline="0" dirty="0">
                          <a:solidFill>
                            <a:srgbClr val="0066FF"/>
                          </a:solidFill>
                          <a:effectLst/>
                          <a:latin typeface="Arial" panose="020B0604020202020204" pitchFamily="34" charset="0"/>
                          <a:ea typeface="+mn-ea"/>
                          <a:cs typeface="Arial" panose="020B0604020202020204" pitchFamily="34" charset="0"/>
                        </a:rPr>
                        <a:t>FBO</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000000"/>
                          </a:solidFill>
                          <a:effectLst/>
                          <a:latin typeface="Arial" panose="020B0604020202020204" pitchFamily="34" charset="0"/>
                          <a:ea typeface="+mn-ea"/>
                          <a:cs typeface="Arial" panose="020B0604020202020204" pitchFamily="34" charset="0"/>
                        </a:rPr>
                        <a:t> </a:t>
                      </a:r>
                      <a:r>
                        <a:rPr lang="en-US" altLang="ko-KR" sz="900" b="0" i="0" u="none" strike="noStrike" baseline="0" dirty="0">
                          <a:solidFill>
                            <a:srgbClr val="FF00FF"/>
                          </a:solidFill>
                          <a:effectLst/>
                          <a:latin typeface="Arial" panose="020B0604020202020204" pitchFamily="34" charset="0"/>
                          <a:ea typeface="+mn-ea"/>
                          <a:cs typeface="Arial" panose="020B0604020202020204" pitchFamily="34" charset="0"/>
                        </a:rPr>
                        <a:t>VSI</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000000"/>
                          </a:solidFill>
                          <a:effectLst/>
                          <a:latin typeface="Arial" panose="020B0604020202020204" pitchFamily="34" charset="0"/>
                          <a:ea typeface="+mn-ea"/>
                          <a:cs typeface="Arial" panose="020B0604020202020204" pitchFamily="34" charset="0"/>
                        </a:rPr>
                        <a:t> </a:t>
                      </a:r>
                      <a:r>
                        <a:rPr lang="en-US" altLang="ko-KR" sz="900" b="0" i="0" u="none" strike="noStrike" baseline="0" dirty="0">
                          <a:solidFill>
                            <a:srgbClr val="00CC00"/>
                          </a:solidFill>
                          <a:effectLst/>
                          <a:latin typeface="Arial" panose="020B0604020202020204" pitchFamily="34" charset="0"/>
                          <a:ea typeface="+mn-ea"/>
                          <a:cs typeface="Arial" panose="020B0604020202020204" pitchFamily="34" charset="0"/>
                        </a:rPr>
                        <a:t>FBO</a:t>
                      </a:r>
                    </a:p>
                    <a:p>
                      <a:pPr algn="ctr" fontAlgn="ctr">
                        <a:lnSpc>
                          <a:spcPts val="800"/>
                        </a:lnSpc>
                      </a:pPr>
                      <a:r>
                        <a:rPr lang="en-US" altLang="ko-KR" sz="800" b="0" i="0" u="none" strike="noStrike" baseline="0" dirty="0">
                          <a:solidFill>
                            <a:schemeClr val="tx1"/>
                          </a:solidFill>
                          <a:effectLst/>
                          <a:latin typeface="Arial" panose="020B0604020202020204" pitchFamily="34" charset="0"/>
                          <a:ea typeface="+mn-ea"/>
                          <a:cs typeface="Arial" panose="020B0604020202020204" pitchFamily="34" charset="0"/>
                        </a:rPr>
                        <a:t>(Configurable through IO_MODE)</a:t>
                      </a:r>
                      <a:endParaRPr lang="ko-KR" altLang="ko-KR" sz="8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FBO is Open-drain output</a:t>
                      </a:r>
                    </a:p>
                    <a:p>
                      <a:pPr algn="l"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not used, connect to 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315327"/>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IO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6</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Internal PD, 48K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10774392"/>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O2</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7</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2</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2768681"/>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O4</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8</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4</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9918571"/>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O6</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9</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6</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0580614"/>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O8</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10</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8</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40559267"/>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O10</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10</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57978524"/>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O12</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12</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07588335"/>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DIO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13</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Daisied 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Internal PD, 48K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298966"/>
                  </a:ext>
                </a:extLst>
              </a:tr>
              <a:tr h="263036">
                <a:tc>
                  <a:txBody>
                    <a:bodyPr/>
                    <a:lstStyle/>
                    <a:p>
                      <a:pPr algn="ctr" fontAlgn="ctr"/>
                      <a:r>
                        <a:rPr lang="en-US" altLang="ko-KR" sz="900" b="0" i="0" u="none" strike="noStrike" baseline="0" dirty="0">
                          <a:solidFill>
                            <a:srgbClr val="0066FF"/>
                          </a:solidFill>
                          <a:effectLst/>
                          <a:latin typeface="Arial" panose="020B0604020202020204" pitchFamily="34" charset="0"/>
                          <a:ea typeface="+mn-ea"/>
                          <a:cs typeface="Arial" panose="020B0604020202020204" pitchFamily="34" charset="0"/>
                        </a:rPr>
                        <a:t>FBI</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FF00FF"/>
                          </a:solidFill>
                          <a:effectLst/>
                          <a:latin typeface="Arial" panose="020B0604020202020204" pitchFamily="34" charset="0"/>
                          <a:ea typeface="+mn-ea"/>
                          <a:cs typeface="Arial" panose="020B0604020202020204" pitchFamily="34" charset="0"/>
                        </a:rPr>
                        <a:t>VSO</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00CC00"/>
                          </a:solidFill>
                          <a:effectLst/>
                          <a:latin typeface="Arial" panose="020B0604020202020204" pitchFamily="34" charset="0"/>
                          <a:ea typeface="+mn-ea"/>
                          <a:cs typeface="Arial" panose="020B0604020202020204" pitchFamily="34" charset="0"/>
                        </a:rPr>
                        <a:t>VSI </a:t>
                      </a:r>
                      <a:r>
                        <a:rPr lang="en-US" altLang="ko-KR" sz="900" b="0" i="0" u="none" strike="noStrike" baseline="30000" dirty="0">
                          <a:solidFill>
                            <a:schemeClr val="tx1"/>
                          </a:solidFill>
                          <a:effectLst/>
                          <a:latin typeface="Arial" panose="020B0604020202020204" pitchFamily="34" charset="0"/>
                          <a:ea typeface="+mn-ea"/>
                          <a:cs typeface="Arial" panose="020B0604020202020204" pitchFamily="34" charset="0"/>
                        </a:rPr>
                        <a:t>1)</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14</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ts val="800"/>
                        </a:lnSpc>
                      </a:pPr>
                      <a:r>
                        <a:rPr lang="en-US" altLang="ko-KR" sz="900" b="0" i="0" u="none" strike="noStrike" baseline="0" dirty="0">
                          <a:solidFill>
                            <a:srgbClr val="0066FF"/>
                          </a:solidFill>
                          <a:effectLst/>
                          <a:latin typeface="Arial" panose="020B0604020202020204" pitchFamily="34" charset="0"/>
                          <a:ea typeface="+mn-ea"/>
                          <a:cs typeface="Arial" panose="020B0604020202020204" pitchFamily="34" charset="0"/>
                        </a:rPr>
                        <a:t>FBI</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 </a:t>
                      </a:r>
                      <a:r>
                        <a:rPr lang="en-US" altLang="ko-KR" sz="900" b="0" i="0" u="none" strike="noStrike" baseline="0" dirty="0">
                          <a:solidFill>
                            <a:srgbClr val="FF00FF"/>
                          </a:solidFill>
                          <a:effectLst/>
                          <a:latin typeface="Arial" panose="020B0604020202020204" pitchFamily="34" charset="0"/>
                          <a:ea typeface="+mn-ea"/>
                          <a:cs typeface="Arial" panose="020B0604020202020204" pitchFamily="34" charset="0"/>
                        </a:rPr>
                        <a:t>VSO</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 </a:t>
                      </a:r>
                      <a:r>
                        <a:rPr lang="en-US" altLang="ko-KR" sz="900" b="0" i="0" u="none" strike="noStrike" baseline="0" dirty="0">
                          <a:solidFill>
                            <a:srgbClr val="00CC00"/>
                          </a:solidFill>
                          <a:effectLst/>
                          <a:latin typeface="Arial" panose="020B0604020202020204" pitchFamily="34" charset="0"/>
                          <a:ea typeface="+mn-ea"/>
                          <a:cs typeface="Arial" panose="020B0604020202020204" pitchFamily="34" charset="0"/>
                        </a:rPr>
                        <a:t>VSI </a:t>
                      </a:r>
                    </a:p>
                    <a:p>
                      <a:pPr algn="ctr" fontAlgn="ctr">
                        <a:lnSpc>
                          <a:spcPts val="800"/>
                        </a:lnSpc>
                      </a:pPr>
                      <a:r>
                        <a:rPr lang="en-US" altLang="ko-KR" sz="800" b="0" i="0" u="none" strike="noStrike" baseline="0" dirty="0">
                          <a:solidFill>
                            <a:schemeClr val="tx1"/>
                          </a:solidFill>
                          <a:effectLst/>
                          <a:latin typeface="Arial" panose="020B0604020202020204" pitchFamily="34" charset="0"/>
                          <a:ea typeface="+mn-ea"/>
                          <a:cs typeface="Arial" panose="020B0604020202020204" pitchFamily="34" charset="0"/>
                        </a:rPr>
                        <a:t>(Configurable through IO_MODE)</a:t>
                      </a:r>
                      <a:endParaRPr lang="ko-KR" altLang="ko-KR" sz="8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not used, connect to 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47811736"/>
                  </a:ext>
                </a:extLst>
              </a:tr>
            </a:tbl>
          </a:graphicData>
        </a:graphic>
      </p:graphicFrame>
      <p:sp>
        <p:nvSpPr>
          <p:cNvPr id="6" name="TextBox 5">
            <a:extLst>
              <a:ext uri="{FF2B5EF4-FFF2-40B4-BE49-F238E27FC236}">
                <a16:creationId xmlns:a16="http://schemas.microsoft.com/office/drawing/2014/main" id="{D7C30DE3-4D22-589E-192E-7C27E3DC89B9}"/>
              </a:ext>
            </a:extLst>
          </p:cNvPr>
          <p:cNvSpPr txBox="1"/>
          <p:nvPr/>
        </p:nvSpPr>
        <p:spPr>
          <a:xfrm>
            <a:off x="410818" y="4282642"/>
            <a:ext cx="6042618"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description</a:t>
            </a:r>
          </a:p>
        </p:txBody>
      </p:sp>
      <p:sp>
        <p:nvSpPr>
          <p:cNvPr id="2" name="object 84">
            <a:extLst>
              <a:ext uri="{FF2B5EF4-FFF2-40B4-BE49-F238E27FC236}">
                <a16:creationId xmlns:a16="http://schemas.microsoft.com/office/drawing/2014/main" id="{1C14F43E-8172-A20E-E067-0C053869EA35}"/>
              </a:ext>
            </a:extLst>
          </p:cNvPr>
          <p:cNvSpPr txBox="1"/>
          <p:nvPr/>
        </p:nvSpPr>
        <p:spPr>
          <a:xfrm>
            <a:off x="2887972" y="3848194"/>
            <a:ext cx="1075294" cy="138499"/>
          </a:xfrm>
          <a:prstGeom prst="rect">
            <a:avLst/>
          </a:prstGeom>
        </p:spPr>
        <p:txBody>
          <a:bodyPr vert="horz" wrap="none" lIns="0" tIns="0" rIns="0" bIns="0" rtlCol="0" anchor="ctr" anchorCtr="0">
            <a:spAutoFit/>
          </a:bodyPr>
          <a:lstStyle/>
          <a:p>
            <a:pPr marL="12435" algn="ctr"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 3 Pin diagram </a:t>
            </a:r>
          </a:p>
        </p:txBody>
      </p:sp>
      <p:grpSp>
        <p:nvGrpSpPr>
          <p:cNvPr id="4" name="그룹 3">
            <a:extLst>
              <a:ext uri="{FF2B5EF4-FFF2-40B4-BE49-F238E27FC236}">
                <a16:creationId xmlns:a16="http://schemas.microsoft.com/office/drawing/2014/main" id="{9F04C0AD-8991-CEBA-DDD8-66F902C3F170}"/>
              </a:ext>
            </a:extLst>
          </p:cNvPr>
          <p:cNvGrpSpPr/>
          <p:nvPr/>
        </p:nvGrpSpPr>
        <p:grpSpPr>
          <a:xfrm>
            <a:off x="2154935" y="1180119"/>
            <a:ext cx="2467939" cy="2434200"/>
            <a:chOff x="2212806" y="1353654"/>
            <a:chExt cx="2467939" cy="2434200"/>
          </a:xfrm>
        </p:grpSpPr>
        <p:sp>
          <p:nvSpPr>
            <p:cNvPr id="7" name="직사각형 6">
              <a:extLst>
                <a:ext uri="{FF2B5EF4-FFF2-40B4-BE49-F238E27FC236}">
                  <a16:creationId xmlns:a16="http://schemas.microsoft.com/office/drawing/2014/main" id="{E7A61DAD-A4D0-73DD-C49D-BF1348111C54}"/>
                </a:ext>
              </a:extLst>
            </p:cNvPr>
            <p:cNvSpPr/>
            <p:nvPr/>
          </p:nvSpPr>
          <p:spPr>
            <a:xfrm>
              <a:off x="2212806" y="1353654"/>
              <a:ext cx="2466976" cy="2433714"/>
            </a:xfrm>
            <a:prstGeom prst="rect">
              <a:avLst/>
            </a:prstGeom>
            <a:solidFill>
              <a:schemeClr val="accent1">
                <a:alpha val="3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solidFill>
              </a:endParaRPr>
            </a:p>
          </p:txBody>
        </p:sp>
        <p:sp>
          <p:nvSpPr>
            <p:cNvPr id="9" name="직사각형 8">
              <a:extLst>
                <a:ext uri="{FF2B5EF4-FFF2-40B4-BE49-F238E27FC236}">
                  <a16:creationId xmlns:a16="http://schemas.microsoft.com/office/drawing/2014/main" id="{4574E866-CC5A-E993-CFB6-AF9DC1EA7F07}"/>
                </a:ext>
              </a:extLst>
            </p:cNvPr>
            <p:cNvSpPr/>
            <p:nvPr/>
          </p:nvSpPr>
          <p:spPr>
            <a:xfrm>
              <a:off x="2917292" y="1356565"/>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17</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0" name="직사각형 9">
              <a:extLst>
                <a:ext uri="{FF2B5EF4-FFF2-40B4-BE49-F238E27FC236}">
                  <a16:creationId xmlns:a16="http://schemas.microsoft.com/office/drawing/2014/main" id="{22D6F0AA-726F-D054-3D5D-5C353E13F6C5}"/>
                </a:ext>
              </a:extLst>
            </p:cNvPr>
            <p:cNvSpPr/>
            <p:nvPr/>
          </p:nvSpPr>
          <p:spPr>
            <a:xfrm>
              <a:off x="3207249" y="1356565"/>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16</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1" name="직사각형 10">
              <a:extLst>
                <a:ext uri="{FF2B5EF4-FFF2-40B4-BE49-F238E27FC236}">
                  <a16:creationId xmlns:a16="http://schemas.microsoft.com/office/drawing/2014/main" id="{4302E2C6-69EE-09F6-0DC3-F3F51E76A6D4}"/>
                </a:ext>
              </a:extLst>
            </p:cNvPr>
            <p:cNvSpPr/>
            <p:nvPr/>
          </p:nvSpPr>
          <p:spPr>
            <a:xfrm>
              <a:off x="3497206" y="1356565"/>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15</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2" name="직사각형 11">
              <a:extLst>
                <a:ext uri="{FF2B5EF4-FFF2-40B4-BE49-F238E27FC236}">
                  <a16:creationId xmlns:a16="http://schemas.microsoft.com/office/drawing/2014/main" id="{2A980F98-1DA0-F106-1339-1AED4DA19153}"/>
                </a:ext>
              </a:extLst>
            </p:cNvPr>
            <p:cNvSpPr/>
            <p:nvPr/>
          </p:nvSpPr>
          <p:spPr>
            <a:xfrm>
              <a:off x="3787163" y="1356565"/>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14</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3" name="순서도: 카드 12">
              <a:extLst>
                <a:ext uri="{FF2B5EF4-FFF2-40B4-BE49-F238E27FC236}">
                  <a16:creationId xmlns:a16="http://schemas.microsoft.com/office/drawing/2014/main" id="{680CF870-FB79-44B3-315F-868144205A5E}"/>
                </a:ext>
              </a:extLst>
            </p:cNvPr>
            <p:cNvSpPr/>
            <p:nvPr/>
          </p:nvSpPr>
          <p:spPr>
            <a:xfrm rot="16200000">
              <a:off x="2959459" y="2085311"/>
              <a:ext cx="1247715" cy="980299"/>
            </a:xfrm>
            <a:prstGeom prst="flowChartPunchedCar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4" name="TextBox 13">
              <a:extLst>
                <a:ext uri="{FF2B5EF4-FFF2-40B4-BE49-F238E27FC236}">
                  <a16:creationId xmlns:a16="http://schemas.microsoft.com/office/drawing/2014/main" id="{6F110452-CE22-5917-C58E-D529ABF30360}"/>
                </a:ext>
              </a:extLst>
            </p:cNvPr>
            <p:cNvSpPr txBox="1"/>
            <p:nvPr/>
          </p:nvSpPr>
          <p:spPr>
            <a:xfrm>
              <a:off x="3346018" y="2413330"/>
              <a:ext cx="487634" cy="230832"/>
            </a:xfrm>
            <a:prstGeom prst="rect">
              <a:avLst/>
            </a:prstGeom>
            <a:noFill/>
          </p:spPr>
          <p:txBody>
            <a:bodyPr wrap="none"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T-Pad</a:t>
              </a:r>
              <a:endParaRPr kumimoji="0" lang="ko-KR" altLang="en-US" sz="9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15" name="TextBox 14">
              <a:extLst>
                <a:ext uri="{FF2B5EF4-FFF2-40B4-BE49-F238E27FC236}">
                  <a16:creationId xmlns:a16="http://schemas.microsoft.com/office/drawing/2014/main" id="{CC3C960C-4193-AA23-9443-69082BA4B517}"/>
                </a:ext>
              </a:extLst>
            </p:cNvPr>
            <p:cNvSpPr txBox="1"/>
            <p:nvPr/>
          </p:nvSpPr>
          <p:spPr>
            <a:xfrm>
              <a:off x="2664884" y="3327427"/>
              <a:ext cx="16511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DD</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16" name="TextBox 15">
              <a:extLst>
                <a:ext uri="{FF2B5EF4-FFF2-40B4-BE49-F238E27FC236}">
                  <a16:creationId xmlns:a16="http://schemas.microsoft.com/office/drawing/2014/main" id="{34448AE8-965E-8168-E169-437C19BB0A84}"/>
                </a:ext>
              </a:extLst>
            </p:cNvPr>
            <p:cNvSpPr txBox="1"/>
            <p:nvPr/>
          </p:nvSpPr>
          <p:spPr>
            <a:xfrm>
              <a:off x="2943038" y="3335518"/>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lang="en-US" altLang="ko-KR" sz="800" baseline="-25000" dirty="0">
                  <a:latin typeface="맑은 고딕" panose="020F0502020204030204"/>
                  <a:ea typeface="맑은 고딕" panose="020B0503020000020004" pitchFamily="50" charset="-127"/>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17" name="TextBox 16">
              <a:extLst>
                <a:ext uri="{FF2B5EF4-FFF2-40B4-BE49-F238E27FC236}">
                  <a16:creationId xmlns:a16="http://schemas.microsoft.com/office/drawing/2014/main" id="{173B9C32-7B28-24CD-E9C1-4BCCECA29CCE}"/>
                </a:ext>
              </a:extLst>
            </p:cNvPr>
            <p:cNvSpPr txBox="1"/>
            <p:nvPr/>
          </p:nvSpPr>
          <p:spPr>
            <a:xfrm>
              <a:off x="3520104" y="3335518"/>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18" name="TextBox 17">
              <a:extLst>
                <a:ext uri="{FF2B5EF4-FFF2-40B4-BE49-F238E27FC236}">
                  <a16:creationId xmlns:a16="http://schemas.microsoft.com/office/drawing/2014/main" id="{EAC9BF2A-FE31-ACAC-87DD-48B7960AA830}"/>
                </a:ext>
              </a:extLst>
            </p:cNvPr>
            <p:cNvSpPr txBox="1"/>
            <p:nvPr/>
          </p:nvSpPr>
          <p:spPr>
            <a:xfrm>
              <a:off x="4148697" y="1835377"/>
              <a:ext cx="19236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O12</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19" name="TextBox 18">
              <a:extLst>
                <a:ext uri="{FF2B5EF4-FFF2-40B4-BE49-F238E27FC236}">
                  <a16:creationId xmlns:a16="http://schemas.microsoft.com/office/drawing/2014/main" id="{7EB4B2F5-866E-4641-30BF-7714317388C6}"/>
                </a:ext>
              </a:extLst>
            </p:cNvPr>
            <p:cNvSpPr txBox="1"/>
            <p:nvPr/>
          </p:nvSpPr>
          <p:spPr>
            <a:xfrm>
              <a:off x="4148697" y="2072183"/>
              <a:ext cx="19236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O10</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0" name="TextBox 19">
              <a:extLst>
                <a:ext uri="{FF2B5EF4-FFF2-40B4-BE49-F238E27FC236}">
                  <a16:creationId xmlns:a16="http://schemas.microsoft.com/office/drawing/2014/main" id="{E36A4319-A63F-E804-FA32-C2D1964C5E59}"/>
                </a:ext>
              </a:extLst>
            </p:cNvPr>
            <p:cNvSpPr txBox="1"/>
            <p:nvPr/>
          </p:nvSpPr>
          <p:spPr>
            <a:xfrm>
              <a:off x="4198943" y="2362687"/>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O8</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1" name="TextBox 20">
              <a:extLst>
                <a:ext uri="{FF2B5EF4-FFF2-40B4-BE49-F238E27FC236}">
                  <a16:creationId xmlns:a16="http://schemas.microsoft.com/office/drawing/2014/main" id="{BC4DF28D-CB9E-E520-3AF5-8ACC715D4D63}"/>
                </a:ext>
              </a:extLst>
            </p:cNvPr>
            <p:cNvSpPr txBox="1"/>
            <p:nvPr/>
          </p:nvSpPr>
          <p:spPr>
            <a:xfrm>
              <a:off x="4199879" y="2937327"/>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O4</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2" name="TextBox 21">
              <a:extLst>
                <a:ext uri="{FF2B5EF4-FFF2-40B4-BE49-F238E27FC236}">
                  <a16:creationId xmlns:a16="http://schemas.microsoft.com/office/drawing/2014/main" id="{EE410C67-9A49-AC74-A426-84AC245791C0}"/>
                </a:ext>
              </a:extLst>
            </p:cNvPr>
            <p:cNvSpPr txBox="1"/>
            <p:nvPr/>
          </p:nvSpPr>
          <p:spPr>
            <a:xfrm>
              <a:off x="2553492" y="3202986"/>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3" name="TextBox 22">
              <a:extLst>
                <a:ext uri="{FF2B5EF4-FFF2-40B4-BE49-F238E27FC236}">
                  <a16:creationId xmlns:a16="http://schemas.microsoft.com/office/drawing/2014/main" id="{0FF27AF8-DB8A-A6D2-AD57-75E768996E20}"/>
                </a:ext>
              </a:extLst>
            </p:cNvPr>
            <p:cNvSpPr txBox="1"/>
            <p:nvPr/>
          </p:nvSpPr>
          <p:spPr>
            <a:xfrm>
              <a:off x="2557218" y="2943306"/>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dirty="0">
                  <a:latin typeface="맑은 고딕" panose="020F0502020204030204"/>
                  <a:ea typeface="맑은 고딕" panose="020B0503020000020004" pitchFamily="50" charset="-127"/>
                </a:rPr>
                <a:t>O3</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4" name="TextBox 23">
              <a:extLst>
                <a:ext uri="{FF2B5EF4-FFF2-40B4-BE49-F238E27FC236}">
                  <a16:creationId xmlns:a16="http://schemas.microsoft.com/office/drawing/2014/main" id="{22D4AF24-1407-EF6A-C275-5161939BCC8E}"/>
                </a:ext>
              </a:extLst>
            </p:cNvPr>
            <p:cNvSpPr txBox="1"/>
            <p:nvPr/>
          </p:nvSpPr>
          <p:spPr>
            <a:xfrm>
              <a:off x="2564329" y="2661874"/>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dirty="0">
                  <a:latin typeface="맑은 고딕" panose="020F0502020204030204"/>
                  <a:ea typeface="맑은 고딕" panose="020B0503020000020004" pitchFamily="50" charset="-127"/>
                </a:rPr>
                <a:t>O5</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5" name="TextBox 24">
              <a:extLst>
                <a:ext uri="{FF2B5EF4-FFF2-40B4-BE49-F238E27FC236}">
                  <a16:creationId xmlns:a16="http://schemas.microsoft.com/office/drawing/2014/main" id="{D318542E-588D-2DD6-C3B0-48CEE9E375D4}"/>
                </a:ext>
              </a:extLst>
            </p:cNvPr>
            <p:cNvSpPr txBox="1"/>
            <p:nvPr/>
          </p:nvSpPr>
          <p:spPr>
            <a:xfrm>
              <a:off x="2557278" y="2094988"/>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O9</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26" name="TextBox 25">
              <a:extLst>
                <a:ext uri="{FF2B5EF4-FFF2-40B4-BE49-F238E27FC236}">
                  <a16:creationId xmlns:a16="http://schemas.microsoft.com/office/drawing/2014/main" id="{97B20B1B-8995-9A25-FDB1-4F51AC1F8C07}"/>
                </a:ext>
              </a:extLst>
            </p:cNvPr>
            <p:cNvSpPr txBox="1"/>
            <p:nvPr/>
          </p:nvSpPr>
          <p:spPr>
            <a:xfrm>
              <a:off x="2649903" y="1673455"/>
              <a:ext cx="16511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DD</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7" name="TextBox 26">
              <a:extLst>
                <a:ext uri="{FF2B5EF4-FFF2-40B4-BE49-F238E27FC236}">
                  <a16:creationId xmlns:a16="http://schemas.microsoft.com/office/drawing/2014/main" id="{7965C238-DAB6-28F7-F231-7EA32EE17274}"/>
                </a:ext>
              </a:extLst>
            </p:cNvPr>
            <p:cNvSpPr txBox="1"/>
            <p:nvPr/>
          </p:nvSpPr>
          <p:spPr>
            <a:xfrm>
              <a:off x="2928057" y="1673455"/>
              <a:ext cx="16511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DD</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8" name="TextBox 27">
              <a:extLst>
                <a:ext uri="{FF2B5EF4-FFF2-40B4-BE49-F238E27FC236}">
                  <a16:creationId xmlns:a16="http://schemas.microsoft.com/office/drawing/2014/main" id="{A2600823-2F69-C999-AC45-6CF32132276A}"/>
                </a:ext>
              </a:extLst>
            </p:cNvPr>
            <p:cNvSpPr txBox="1"/>
            <p:nvPr/>
          </p:nvSpPr>
          <p:spPr>
            <a:xfrm>
              <a:off x="3532522" y="1673455"/>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29" name="TextBox 28">
              <a:extLst>
                <a:ext uri="{FF2B5EF4-FFF2-40B4-BE49-F238E27FC236}">
                  <a16:creationId xmlns:a16="http://schemas.microsoft.com/office/drawing/2014/main" id="{C3E340B6-4415-40CE-C864-FB35F46D96D2}"/>
                </a:ext>
              </a:extLst>
            </p:cNvPr>
            <p:cNvSpPr txBox="1"/>
            <p:nvPr/>
          </p:nvSpPr>
          <p:spPr>
            <a:xfrm>
              <a:off x="4070063" y="1671055"/>
              <a:ext cx="19556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D</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DIO</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0" name="TextBox 29">
              <a:extLst>
                <a:ext uri="{FF2B5EF4-FFF2-40B4-BE49-F238E27FC236}">
                  <a16:creationId xmlns:a16="http://schemas.microsoft.com/office/drawing/2014/main" id="{5751D23D-5827-59B6-F953-09196E902FC5}"/>
                </a:ext>
              </a:extLst>
            </p:cNvPr>
            <p:cNvSpPr txBox="1"/>
            <p:nvPr/>
          </p:nvSpPr>
          <p:spPr>
            <a:xfrm>
              <a:off x="2564329" y="2373220"/>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O7</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2" name="TextBox 31">
              <a:extLst>
                <a:ext uri="{FF2B5EF4-FFF2-40B4-BE49-F238E27FC236}">
                  <a16:creationId xmlns:a16="http://schemas.microsoft.com/office/drawing/2014/main" id="{0A9A63D9-C503-E613-6CAB-EADA760A7F76}"/>
                </a:ext>
              </a:extLst>
            </p:cNvPr>
            <p:cNvSpPr txBox="1"/>
            <p:nvPr/>
          </p:nvSpPr>
          <p:spPr>
            <a:xfrm>
              <a:off x="2553492" y="1855118"/>
              <a:ext cx="19236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O11</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33" name="TextBox 32">
              <a:extLst>
                <a:ext uri="{FF2B5EF4-FFF2-40B4-BE49-F238E27FC236}">
                  <a16:creationId xmlns:a16="http://schemas.microsoft.com/office/drawing/2014/main" id="{93C9EB8E-77CD-422B-CA95-7CEC68579351}"/>
                </a:ext>
              </a:extLst>
            </p:cNvPr>
            <p:cNvSpPr txBox="1"/>
            <p:nvPr/>
          </p:nvSpPr>
          <p:spPr>
            <a:xfrm>
              <a:off x="3225807" y="1673455"/>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4" name="TextBox 33">
              <a:extLst>
                <a:ext uri="{FF2B5EF4-FFF2-40B4-BE49-F238E27FC236}">
                  <a16:creationId xmlns:a16="http://schemas.microsoft.com/office/drawing/2014/main" id="{491FB12A-FE66-B53B-4873-3C89D07FDE24}"/>
                </a:ext>
              </a:extLst>
            </p:cNvPr>
            <p:cNvSpPr txBox="1"/>
            <p:nvPr/>
          </p:nvSpPr>
          <p:spPr>
            <a:xfrm>
              <a:off x="4198943" y="2648389"/>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O6</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5" name="TextBox 34">
              <a:extLst>
                <a:ext uri="{FF2B5EF4-FFF2-40B4-BE49-F238E27FC236}">
                  <a16:creationId xmlns:a16="http://schemas.microsoft.com/office/drawing/2014/main" id="{521B6EE2-8A0B-199B-634B-C76F0B4DD235}"/>
                </a:ext>
              </a:extLst>
            </p:cNvPr>
            <p:cNvSpPr txBox="1"/>
            <p:nvPr/>
          </p:nvSpPr>
          <p:spPr>
            <a:xfrm>
              <a:off x="4202645" y="3166129"/>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O2</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36" name="TextBox 35">
              <a:extLst>
                <a:ext uri="{FF2B5EF4-FFF2-40B4-BE49-F238E27FC236}">
                  <a16:creationId xmlns:a16="http://schemas.microsoft.com/office/drawing/2014/main" id="{537B5F31-3DD3-CE9C-698A-4F5CD3CFCFAE}"/>
                </a:ext>
              </a:extLst>
            </p:cNvPr>
            <p:cNvSpPr txBox="1"/>
            <p:nvPr/>
          </p:nvSpPr>
          <p:spPr>
            <a:xfrm>
              <a:off x="3227001" y="3335518"/>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7" name="TextBox 36">
              <a:extLst>
                <a:ext uri="{FF2B5EF4-FFF2-40B4-BE49-F238E27FC236}">
                  <a16:creationId xmlns:a16="http://schemas.microsoft.com/office/drawing/2014/main" id="{E42C6538-C5DB-B3C4-453C-2A9E2F1C9080}"/>
                </a:ext>
              </a:extLst>
            </p:cNvPr>
            <p:cNvSpPr txBox="1"/>
            <p:nvPr/>
          </p:nvSpPr>
          <p:spPr>
            <a:xfrm>
              <a:off x="4075029" y="3338560"/>
              <a:ext cx="145874"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dirty="0">
                  <a:latin typeface="맑은 고딕" panose="020F0502020204030204"/>
                  <a:ea typeface="맑은 고딕" panose="020B0503020000020004" pitchFamily="50" charset="-127"/>
                </a:rPr>
                <a:t>D</a:t>
              </a:r>
              <a:r>
                <a:rPr lang="en-US" altLang="ko-KR" sz="800" baseline="-25000" dirty="0">
                  <a:latin typeface="맑은 고딕" panose="020F0502020204030204"/>
                  <a:ea typeface="맑은 고딕" panose="020B0503020000020004" pitchFamily="50" charset="-127"/>
                </a:rPr>
                <a:t>IO</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grpSp>
          <p:nvGrpSpPr>
            <p:cNvPr id="38" name="그룹 37">
              <a:extLst>
                <a:ext uri="{FF2B5EF4-FFF2-40B4-BE49-F238E27FC236}">
                  <a16:creationId xmlns:a16="http://schemas.microsoft.com/office/drawing/2014/main" id="{852A8C26-0084-1D95-D21A-D7997649EEB2}"/>
                </a:ext>
              </a:extLst>
            </p:cNvPr>
            <p:cNvGrpSpPr/>
            <p:nvPr/>
          </p:nvGrpSpPr>
          <p:grpSpPr>
            <a:xfrm>
              <a:off x="2608988" y="3480251"/>
              <a:ext cx="1665977" cy="307603"/>
              <a:chOff x="2608988" y="3515561"/>
              <a:chExt cx="1665977" cy="307603"/>
            </a:xfrm>
          </p:grpSpPr>
          <p:sp>
            <p:nvSpPr>
              <p:cNvPr id="69" name="직사각형 68">
                <a:extLst>
                  <a:ext uri="{FF2B5EF4-FFF2-40B4-BE49-F238E27FC236}">
                    <a16:creationId xmlns:a16="http://schemas.microsoft.com/office/drawing/2014/main" id="{BF1AA97A-51B4-6158-B262-F56C6CF70061}"/>
                  </a:ext>
                </a:extLst>
              </p:cNvPr>
              <p:cNvSpPr/>
              <p:nvPr/>
            </p:nvSpPr>
            <p:spPr>
              <a:xfrm>
                <a:off x="2917292"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1" name="직사각형 70">
                <a:extLst>
                  <a:ext uri="{FF2B5EF4-FFF2-40B4-BE49-F238E27FC236}">
                    <a16:creationId xmlns:a16="http://schemas.microsoft.com/office/drawing/2014/main" id="{C8EF380E-8E5D-29C8-033D-CF5A353DDE3C}"/>
                  </a:ext>
                </a:extLst>
              </p:cNvPr>
              <p:cNvSpPr/>
              <p:nvPr/>
            </p:nvSpPr>
            <p:spPr>
              <a:xfrm>
                <a:off x="3207249"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3</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2" name="직사각형 71">
                <a:extLst>
                  <a:ext uri="{FF2B5EF4-FFF2-40B4-BE49-F238E27FC236}">
                    <a16:creationId xmlns:a16="http://schemas.microsoft.com/office/drawing/2014/main" id="{56BB39BD-D163-772B-C168-799C7511377C}"/>
                  </a:ext>
                </a:extLst>
              </p:cNvPr>
              <p:cNvSpPr/>
              <p:nvPr/>
            </p:nvSpPr>
            <p:spPr>
              <a:xfrm>
                <a:off x="3497206"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4</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3" name="직사각형 72">
                <a:extLst>
                  <a:ext uri="{FF2B5EF4-FFF2-40B4-BE49-F238E27FC236}">
                    <a16:creationId xmlns:a16="http://schemas.microsoft.com/office/drawing/2014/main" id="{435FCDBD-D6BA-8B7E-55E5-4E1C4BFCE713}"/>
                  </a:ext>
                </a:extLst>
              </p:cNvPr>
              <p:cNvSpPr/>
              <p:nvPr/>
            </p:nvSpPr>
            <p:spPr>
              <a:xfrm>
                <a:off x="3787163"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5</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nvGrpSpPr>
              <p:cNvPr id="74" name="그룹 73">
                <a:extLst>
                  <a:ext uri="{FF2B5EF4-FFF2-40B4-BE49-F238E27FC236}">
                    <a16:creationId xmlns:a16="http://schemas.microsoft.com/office/drawing/2014/main" id="{0FE93F95-2ED1-6350-4CEE-9DE97F3B1BB5}"/>
                  </a:ext>
                </a:extLst>
              </p:cNvPr>
              <p:cNvGrpSpPr/>
              <p:nvPr/>
            </p:nvGrpSpPr>
            <p:grpSpPr>
              <a:xfrm>
                <a:off x="2608988" y="3515561"/>
                <a:ext cx="223838" cy="306640"/>
                <a:chOff x="2608988" y="3515561"/>
                <a:chExt cx="223838" cy="306640"/>
              </a:xfrm>
            </p:grpSpPr>
            <p:sp>
              <p:nvSpPr>
                <p:cNvPr id="78" name="사각형: 잘린 한쪽 모서리 77">
                  <a:extLst>
                    <a:ext uri="{FF2B5EF4-FFF2-40B4-BE49-F238E27FC236}">
                      <a16:creationId xmlns:a16="http://schemas.microsoft.com/office/drawing/2014/main" id="{6559258F-5D49-4B45-BC7E-2B17A4648D32}"/>
                    </a:ext>
                  </a:extLst>
                </p:cNvPr>
                <p:cNvSpPr/>
                <p:nvPr/>
              </p:nvSpPr>
              <p:spPr>
                <a:xfrm rot="16200000">
                  <a:off x="2568033" y="3574736"/>
                  <a:ext cx="306640"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9" name="TextBox 78">
                  <a:extLst>
                    <a:ext uri="{FF2B5EF4-FFF2-40B4-BE49-F238E27FC236}">
                      <a16:creationId xmlns:a16="http://schemas.microsoft.com/office/drawing/2014/main" id="{A31A8334-E783-08D6-1B89-53C662FB4ADD}"/>
                    </a:ext>
                  </a:extLst>
                </p:cNvPr>
                <p:cNvSpPr txBox="1"/>
                <p:nvPr/>
              </p:nvSpPr>
              <p:spPr>
                <a:xfrm>
                  <a:off x="2608988" y="3554436"/>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nvGrpSpPr>
              <p:cNvPr id="75" name="그룹 74">
                <a:extLst>
                  <a:ext uri="{FF2B5EF4-FFF2-40B4-BE49-F238E27FC236}">
                    <a16:creationId xmlns:a16="http://schemas.microsoft.com/office/drawing/2014/main" id="{05F2C1B4-54C2-6A02-6042-1FD6C5F80474}"/>
                  </a:ext>
                </a:extLst>
              </p:cNvPr>
              <p:cNvGrpSpPr/>
              <p:nvPr/>
            </p:nvGrpSpPr>
            <p:grpSpPr>
              <a:xfrm>
                <a:off x="4051127" y="3515563"/>
                <a:ext cx="223838" cy="307601"/>
                <a:chOff x="4051127" y="3515563"/>
                <a:chExt cx="223838" cy="307601"/>
              </a:xfrm>
            </p:grpSpPr>
            <p:sp>
              <p:nvSpPr>
                <p:cNvPr id="76" name="사각형: 잘린 한쪽 모서리 75">
                  <a:extLst>
                    <a:ext uri="{FF2B5EF4-FFF2-40B4-BE49-F238E27FC236}">
                      <a16:creationId xmlns:a16="http://schemas.microsoft.com/office/drawing/2014/main" id="{B3E8082E-9FCE-3BF5-FAF2-37F102B1A325}"/>
                    </a:ext>
                  </a:extLst>
                </p:cNvPr>
                <p:cNvSpPr/>
                <p:nvPr/>
              </p:nvSpPr>
              <p:spPr>
                <a:xfrm rot="5400000" flipH="1">
                  <a:off x="4013809" y="3575219"/>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7" name="TextBox 76">
                  <a:extLst>
                    <a:ext uri="{FF2B5EF4-FFF2-40B4-BE49-F238E27FC236}">
                      <a16:creationId xmlns:a16="http://schemas.microsoft.com/office/drawing/2014/main" id="{87DBB409-D85A-71B0-CFBB-6E99ADC2A9DB}"/>
                    </a:ext>
                  </a:extLst>
                </p:cNvPr>
                <p:cNvSpPr txBox="1"/>
                <p:nvPr/>
              </p:nvSpPr>
              <p:spPr>
                <a:xfrm>
                  <a:off x="4051127" y="3554436"/>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6</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grpSp>
          <p:nvGrpSpPr>
            <p:cNvPr id="39" name="그룹 38">
              <a:extLst>
                <a:ext uri="{FF2B5EF4-FFF2-40B4-BE49-F238E27FC236}">
                  <a16:creationId xmlns:a16="http://schemas.microsoft.com/office/drawing/2014/main" id="{8EA72372-378B-C74A-2A74-4A77691ED513}"/>
                </a:ext>
              </a:extLst>
            </p:cNvPr>
            <p:cNvGrpSpPr/>
            <p:nvPr/>
          </p:nvGrpSpPr>
          <p:grpSpPr>
            <a:xfrm rot="16200000">
              <a:off x="3693955" y="2412975"/>
              <a:ext cx="1665977" cy="307603"/>
              <a:chOff x="2608988" y="3515561"/>
              <a:chExt cx="1665977" cy="307603"/>
            </a:xfrm>
          </p:grpSpPr>
          <p:sp>
            <p:nvSpPr>
              <p:cNvPr id="59" name="직사각형 58">
                <a:extLst>
                  <a:ext uri="{FF2B5EF4-FFF2-40B4-BE49-F238E27FC236}">
                    <a16:creationId xmlns:a16="http://schemas.microsoft.com/office/drawing/2014/main" id="{83E45D84-B3D1-EB5C-B487-1C09E856E19B}"/>
                  </a:ext>
                </a:extLst>
              </p:cNvPr>
              <p:cNvSpPr/>
              <p:nvPr/>
            </p:nvSpPr>
            <p:spPr>
              <a:xfrm>
                <a:off x="2917292"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8</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0" name="직사각형 59">
                <a:extLst>
                  <a:ext uri="{FF2B5EF4-FFF2-40B4-BE49-F238E27FC236}">
                    <a16:creationId xmlns:a16="http://schemas.microsoft.com/office/drawing/2014/main" id="{84EE3A99-3DF0-38A3-1A3F-624ED6FF3C7D}"/>
                  </a:ext>
                </a:extLst>
              </p:cNvPr>
              <p:cNvSpPr/>
              <p:nvPr/>
            </p:nvSpPr>
            <p:spPr>
              <a:xfrm>
                <a:off x="3207249"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9</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1" name="직사각형 60">
                <a:extLst>
                  <a:ext uri="{FF2B5EF4-FFF2-40B4-BE49-F238E27FC236}">
                    <a16:creationId xmlns:a16="http://schemas.microsoft.com/office/drawing/2014/main" id="{F1218125-3952-F4ED-DBF5-9E391BDF9128}"/>
                  </a:ext>
                </a:extLst>
              </p:cNvPr>
              <p:cNvSpPr/>
              <p:nvPr/>
            </p:nvSpPr>
            <p:spPr>
              <a:xfrm>
                <a:off x="3497206"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10</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2" name="직사각형 61">
                <a:extLst>
                  <a:ext uri="{FF2B5EF4-FFF2-40B4-BE49-F238E27FC236}">
                    <a16:creationId xmlns:a16="http://schemas.microsoft.com/office/drawing/2014/main" id="{32D3B947-557F-56B0-2B04-FC8A3ACB8E11}"/>
                  </a:ext>
                </a:extLst>
              </p:cNvPr>
              <p:cNvSpPr/>
              <p:nvPr/>
            </p:nvSpPr>
            <p:spPr>
              <a:xfrm>
                <a:off x="3787163"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11</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nvGrpSpPr>
              <p:cNvPr id="63" name="그룹 62">
                <a:extLst>
                  <a:ext uri="{FF2B5EF4-FFF2-40B4-BE49-F238E27FC236}">
                    <a16:creationId xmlns:a16="http://schemas.microsoft.com/office/drawing/2014/main" id="{3D60589C-3A7C-7178-B8BD-1033E19728FA}"/>
                  </a:ext>
                </a:extLst>
              </p:cNvPr>
              <p:cNvGrpSpPr/>
              <p:nvPr/>
            </p:nvGrpSpPr>
            <p:grpSpPr>
              <a:xfrm>
                <a:off x="2608988" y="3515561"/>
                <a:ext cx="223838" cy="306640"/>
                <a:chOff x="2608988" y="3515561"/>
                <a:chExt cx="223838" cy="306640"/>
              </a:xfrm>
            </p:grpSpPr>
            <p:sp>
              <p:nvSpPr>
                <p:cNvPr id="67" name="사각형: 잘린 한쪽 모서리 66">
                  <a:extLst>
                    <a:ext uri="{FF2B5EF4-FFF2-40B4-BE49-F238E27FC236}">
                      <a16:creationId xmlns:a16="http://schemas.microsoft.com/office/drawing/2014/main" id="{660AB7EF-AE4B-B84F-B705-2C1EBB75CC23}"/>
                    </a:ext>
                  </a:extLst>
                </p:cNvPr>
                <p:cNvSpPr/>
                <p:nvPr/>
              </p:nvSpPr>
              <p:spPr>
                <a:xfrm rot="16200000">
                  <a:off x="2568033" y="3574736"/>
                  <a:ext cx="306640"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8" name="TextBox 67">
                  <a:extLst>
                    <a:ext uri="{FF2B5EF4-FFF2-40B4-BE49-F238E27FC236}">
                      <a16:creationId xmlns:a16="http://schemas.microsoft.com/office/drawing/2014/main" id="{DF0E63E6-9C21-5B85-FC96-4D2A2DF34965}"/>
                    </a:ext>
                  </a:extLst>
                </p:cNvPr>
                <p:cNvSpPr txBox="1"/>
                <p:nvPr/>
              </p:nvSpPr>
              <p:spPr>
                <a:xfrm>
                  <a:off x="2608988" y="3554436"/>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7</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nvGrpSpPr>
              <p:cNvPr id="64" name="그룹 63">
                <a:extLst>
                  <a:ext uri="{FF2B5EF4-FFF2-40B4-BE49-F238E27FC236}">
                    <a16:creationId xmlns:a16="http://schemas.microsoft.com/office/drawing/2014/main" id="{AB2B47CD-1D2A-ECBA-D023-DDBB1767F9D5}"/>
                  </a:ext>
                </a:extLst>
              </p:cNvPr>
              <p:cNvGrpSpPr/>
              <p:nvPr/>
            </p:nvGrpSpPr>
            <p:grpSpPr>
              <a:xfrm>
                <a:off x="4051127" y="3515563"/>
                <a:ext cx="223838" cy="307601"/>
                <a:chOff x="4051127" y="3515563"/>
                <a:chExt cx="223838" cy="307601"/>
              </a:xfrm>
            </p:grpSpPr>
            <p:sp>
              <p:nvSpPr>
                <p:cNvPr id="65" name="사각형: 잘린 한쪽 모서리 64">
                  <a:extLst>
                    <a:ext uri="{FF2B5EF4-FFF2-40B4-BE49-F238E27FC236}">
                      <a16:creationId xmlns:a16="http://schemas.microsoft.com/office/drawing/2014/main" id="{613F1CC5-E5F3-DDCB-3C1D-B97A609C13F0}"/>
                    </a:ext>
                  </a:extLst>
                </p:cNvPr>
                <p:cNvSpPr/>
                <p:nvPr/>
              </p:nvSpPr>
              <p:spPr>
                <a:xfrm rot="5400000" flipH="1">
                  <a:off x="4013809" y="3575219"/>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6" name="TextBox 65">
                  <a:extLst>
                    <a:ext uri="{FF2B5EF4-FFF2-40B4-BE49-F238E27FC236}">
                      <a16:creationId xmlns:a16="http://schemas.microsoft.com/office/drawing/2014/main" id="{D21F2B1B-BBE3-C07F-7E12-2C8DED2C5C64}"/>
                    </a:ext>
                  </a:extLst>
                </p:cNvPr>
                <p:cNvSpPr txBox="1"/>
                <p:nvPr/>
              </p:nvSpPr>
              <p:spPr>
                <a:xfrm>
                  <a:off x="4051127" y="3554437"/>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12</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grpSp>
          <p:nvGrpSpPr>
            <p:cNvPr id="40" name="그룹 39">
              <a:extLst>
                <a:ext uri="{FF2B5EF4-FFF2-40B4-BE49-F238E27FC236}">
                  <a16:creationId xmlns:a16="http://schemas.microsoft.com/office/drawing/2014/main" id="{7BA9F156-AA5A-04FB-94AB-ADC66FC4FBD2}"/>
                </a:ext>
              </a:extLst>
            </p:cNvPr>
            <p:cNvGrpSpPr/>
            <p:nvPr/>
          </p:nvGrpSpPr>
          <p:grpSpPr>
            <a:xfrm rot="5400000">
              <a:off x="1535989" y="2428593"/>
              <a:ext cx="1665977" cy="307603"/>
              <a:chOff x="2608988" y="3515561"/>
              <a:chExt cx="1665977" cy="307603"/>
            </a:xfrm>
          </p:grpSpPr>
          <p:sp>
            <p:nvSpPr>
              <p:cNvPr id="49" name="직사각형 48">
                <a:extLst>
                  <a:ext uri="{FF2B5EF4-FFF2-40B4-BE49-F238E27FC236}">
                    <a16:creationId xmlns:a16="http://schemas.microsoft.com/office/drawing/2014/main" id="{940EA58E-6362-39B6-FAFE-BFE544D9ED1A}"/>
                  </a:ext>
                </a:extLst>
              </p:cNvPr>
              <p:cNvSpPr/>
              <p:nvPr/>
            </p:nvSpPr>
            <p:spPr>
              <a:xfrm>
                <a:off x="2917292"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20</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0" name="직사각형 49">
                <a:extLst>
                  <a:ext uri="{FF2B5EF4-FFF2-40B4-BE49-F238E27FC236}">
                    <a16:creationId xmlns:a16="http://schemas.microsoft.com/office/drawing/2014/main" id="{9A34FE7A-04D0-461D-AE23-E0A837B7B01B}"/>
                  </a:ext>
                </a:extLst>
              </p:cNvPr>
              <p:cNvSpPr/>
              <p:nvPr/>
            </p:nvSpPr>
            <p:spPr>
              <a:xfrm>
                <a:off x="3207249"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21</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1" name="직사각형 50">
                <a:extLst>
                  <a:ext uri="{FF2B5EF4-FFF2-40B4-BE49-F238E27FC236}">
                    <a16:creationId xmlns:a16="http://schemas.microsoft.com/office/drawing/2014/main" id="{547CBC9D-F381-DD9D-EBD0-4259731F150B}"/>
                  </a:ext>
                </a:extLst>
              </p:cNvPr>
              <p:cNvSpPr/>
              <p:nvPr/>
            </p:nvSpPr>
            <p:spPr>
              <a:xfrm>
                <a:off x="3497206"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22</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2" name="직사각형 51">
                <a:extLst>
                  <a:ext uri="{FF2B5EF4-FFF2-40B4-BE49-F238E27FC236}">
                    <a16:creationId xmlns:a16="http://schemas.microsoft.com/office/drawing/2014/main" id="{E1BC4323-8824-2A79-312F-B64B81A1B231}"/>
                  </a:ext>
                </a:extLst>
              </p:cNvPr>
              <p:cNvSpPr/>
              <p:nvPr/>
            </p:nvSpPr>
            <p:spPr>
              <a:xfrm>
                <a:off x="3787163"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23</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nvGrpSpPr>
              <p:cNvPr id="53" name="그룹 52">
                <a:extLst>
                  <a:ext uri="{FF2B5EF4-FFF2-40B4-BE49-F238E27FC236}">
                    <a16:creationId xmlns:a16="http://schemas.microsoft.com/office/drawing/2014/main" id="{1DD16827-FD64-70AD-57A6-E834B847C1EA}"/>
                  </a:ext>
                </a:extLst>
              </p:cNvPr>
              <p:cNvGrpSpPr/>
              <p:nvPr/>
            </p:nvGrpSpPr>
            <p:grpSpPr>
              <a:xfrm>
                <a:off x="2608988" y="3515561"/>
                <a:ext cx="223838" cy="306640"/>
                <a:chOff x="2608988" y="3515561"/>
                <a:chExt cx="223838" cy="306640"/>
              </a:xfrm>
            </p:grpSpPr>
            <p:sp>
              <p:nvSpPr>
                <p:cNvPr id="57" name="사각형: 잘린 한쪽 모서리 56">
                  <a:extLst>
                    <a:ext uri="{FF2B5EF4-FFF2-40B4-BE49-F238E27FC236}">
                      <a16:creationId xmlns:a16="http://schemas.microsoft.com/office/drawing/2014/main" id="{3885C52B-93AE-438B-BBD9-65C4E8C8744E}"/>
                    </a:ext>
                  </a:extLst>
                </p:cNvPr>
                <p:cNvSpPr/>
                <p:nvPr/>
              </p:nvSpPr>
              <p:spPr>
                <a:xfrm rot="16200000">
                  <a:off x="2568033" y="3574736"/>
                  <a:ext cx="306640"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8" name="TextBox 57">
                  <a:extLst>
                    <a:ext uri="{FF2B5EF4-FFF2-40B4-BE49-F238E27FC236}">
                      <a16:creationId xmlns:a16="http://schemas.microsoft.com/office/drawing/2014/main" id="{C10205CF-257D-A9CB-F1A8-74BE1EBF8ADE}"/>
                    </a:ext>
                  </a:extLst>
                </p:cNvPr>
                <p:cNvSpPr txBox="1"/>
                <p:nvPr/>
              </p:nvSpPr>
              <p:spPr>
                <a:xfrm>
                  <a:off x="2608988" y="3554436"/>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19</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nvGrpSpPr>
              <p:cNvPr id="54" name="그룹 53">
                <a:extLst>
                  <a:ext uri="{FF2B5EF4-FFF2-40B4-BE49-F238E27FC236}">
                    <a16:creationId xmlns:a16="http://schemas.microsoft.com/office/drawing/2014/main" id="{846AF311-3BA8-2391-50B6-014F9D105F6F}"/>
                  </a:ext>
                </a:extLst>
              </p:cNvPr>
              <p:cNvGrpSpPr/>
              <p:nvPr/>
            </p:nvGrpSpPr>
            <p:grpSpPr>
              <a:xfrm>
                <a:off x="4051127" y="3515563"/>
                <a:ext cx="223838" cy="307601"/>
                <a:chOff x="4051127" y="3515563"/>
                <a:chExt cx="223838" cy="307601"/>
              </a:xfrm>
            </p:grpSpPr>
            <p:sp>
              <p:nvSpPr>
                <p:cNvPr id="55" name="사각형: 잘린 한쪽 모서리 54">
                  <a:extLst>
                    <a:ext uri="{FF2B5EF4-FFF2-40B4-BE49-F238E27FC236}">
                      <a16:creationId xmlns:a16="http://schemas.microsoft.com/office/drawing/2014/main" id="{1BEA0B19-DFEA-D474-A640-C248930F3174}"/>
                    </a:ext>
                  </a:extLst>
                </p:cNvPr>
                <p:cNvSpPr/>
                <p:nvPr/>
              </p:nvSpPr>
              <p:spPr>
                <a:xfrm rot="5400000" flipH="1">
                  <a:off x="4013809" y="3575219"/>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6" name="TextBox 55">
                  <a:extLst>
                    <a:ext uri="{FF2B5EF4-FFF2-40B4-BE49-F238E27FC236}">
                      <a16:creationId xmlns:a16="http://schemas.microsoft.com/office/drawing/2014/main" id="{7EDD4042-F01C-019C-D7EF-BC4C346AF232}"/>
                    </a:ext>
                  </a:extLst>
                </p:cNvPr>
                <p:cNvSpPr txBox="1"/>
                <p:nvPr/>
              </p:nvSpPr>
              <p:spPr>
                <a:xfrm>
                  <a:off x="4051127" y="3554437"/>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24</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grpSp>
          <p:nvGrpSpPr>
            <p:cNvPr id="41" name="그룹 40">
              <a:extLst>
                <a:ext uri="{FF2B5EF4-FFF2-40B4-BE49-F238E27FC236}">
                  <a16:creationId xmlns:a16="http://schemas.microsoft.com/office/drawing/2014/main" id="{1E826BCF-FD1D-EBEB-85EA-49420709981D}"/>
                </a:ext>
              </a:extLst>
            </p:cNvPr>
            <p:cNvGrpSpPr/>
            <p:nvPr/>
          </p:nvGrpSpPr>
          <p:grpSpPr>
            <a:xfrm>
              <a:off x="2608988" y="1357613"/>
              <a:ext cx="223838" cy="307601"/>
              <a:chOff x="2608988" y="1395304"/>
              <a:chExt cx="223838" cy="307601"/>
            </a:xfrm>
          </p:grpSpPr>
          <p:sp>
            <p:nvSpPr>
              <p:cNvPr id="47" name="사각형: 잘린 한쪽 모서리 46">
                <a:extLst>
                  <a:ext uri="{FF2B5EF4-FFF2-40B4-BE49-F238E27FC236}">
                    <a16:creationId xmlns:a16="http://schemas.microsoft.com/office/drawing/2014/main" id="{C5143237-16BB-4B5E-0FC1-D98575B4C965}"/>
                  </a:ext>
                </a:extLst>
              </p:cNvPr>
              <p:cNvSpPr/>
              <p:nvPr/>
            </p:nvSpPr>
            <p:spPr>
              <a:xfrm rot="5400000" flipV="1">
                <a:off x="2563638" y="1454960"/>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8" name="TextBox 47">
                <a:extLst>
                  <a:ext uri="{FF2B5EF4-FFF2-40B4-BE49-F238E27FC236}">
                    <a16:creationId xmlns:a16="http://schemas.microsoft.com/office/drawing/2014/main" id="{18FCCC7A-93E0-58ED-A149-B9989FEEDE30}"/>
                  </a:ext>
                </a:extLst>
              </p:cNvPr>
              <p:cNvSpPr txBox="1"/>
              <p:nvPr/>
            </p:nvSpPr>
            <p:spPr>
              <a:xfrm>
                <a:off x="2608988" y="1426749"/>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18</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nvGrpSpPr>
            <p:cNvPr id="42" name="그룹 41">
              <a:extLst>
                <a:ext uri="{FF2B5EF4-FFF2-40B4-BE49-F238E27FC236}">
                  <a16:creationId xmlns:a16="http://schemas.microsoft.com/office/drawing/2014/main" id="{6B780F3B-8A78-94E0-FBE1-FBDC2FBC6176}"/>
                </a:ext>
              </a:extLst>
            </p:cNvPr>
            <p:cNvGrpSpPr/>
            <p:nvPr/>
          </p:nvGrpSpPr>
          <p:grpSpPr>
            <a:xfrm>
              <a:off x="4051127" y="1354141"/>
              <a:ext cx="223838" cy="307601"/>
              <a:chOff x="4051127" y="1389451"/>
              <a:chExt cx="223838" cy="307601"/>
            </a:xfrm>
          </p:grpSpPr>
          <p:sp>
            <p:nvSpPr>
              <p:cNvPr id="45" name="사각형: 잘린 한쪽 모서리 44">
                <a:extLst>
                  <a:ext uri="{FF2B5EF4-FFF2-40B4-BE49-F238E27FC236}">
                    <a16:creationId xmlns:a16="http://schemas.microsoft.com/office/drawing/2014/main" id="{CFDEBDEC-9F28-6CFF-10D1-06829A275B4C}"/>
                  </a:ext>
                </a:extLst>
              </p:cNvPr>
              <p:cNvSpPr/>
              <p:nvPr/>
            </p:nvSpPr>
            <p:spPr>
              <a:xfrm rot="16200000" flipH="1" flipV="1">
                <a:off x="4017115" y="1449107"/>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46" name="TextBox 45">
                <a:extLst>
                  <a:ext uri="{FF2B5EF4-FFF2-40B4-BE49-F238E27FC236}">
                    <a16:creationId xmlns:a16="http://schemas.microsoft.com/office/drawing/2014/main" id="{F4C7BCFB-3489-5961-8184-360414AB56AD}"/>
                  </a:ext>
                </a:extLst>
              </p:cNvPr>
              <p:cNvSpPr txBox="1"/>
              <p:nvPr/>
            </p:nvSpPr>
            <p:spPr>
              <a:xfrm>
                <a:off x="4051127" y="1426749"/>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a:t>
                </a:r>
                <a:r>
                  <a:rPr lang="en-US" altLang="ko-KR" sz="900" dirty="0">
                    <a:latin typeface="맑은 고딕" panose="020F0502020204030204"/>
                    <a:ea typeface="맑은 고딕" panose="020B0503020000020004" pitchFamily="50" charset="-127"/>
                  </a:rPr>
                  <a:t>3</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sp>
          <p:nvSpPr>
            <p:cNvPr id="43" name="TextBox 42">
              <a:extLst>
                <a:ext uri="{FF2B5EF4-FFF2-40B4-BE49-F238E27FC236}">
                  <a16:creationId xmlns:a16="http://schemas.microsoft.com/office/drawing/2014/main" id="{8602773F-28BF-3502-1935-A8E9B3025F21}"/>
                </a:ext>
              </a:extLst>
            </p:cNvPr>
            <p:cNvSpPr txBox="1"/>
            <p:nvPr/>
          </p:nvSpPr>
          <p:spPr>
            <a:xfrm>
              <a:off x="3783224" y="1686612"/>
              <a:ext cx="209994" cy="269304"/>
            </a:xfrm>
            <a:prstGeom prst="rect">
              <a:avLst/>
            </a:prstGeom>
            <a:noFill/>
          </p:spPr>
          <p:txBody>
            <a:bodyPr wrap="none" lIns="0" tIns="0" rIns="0" bIns="0" rtlCol="0">
              <a:spAutoFit/>
            </a:bodyPr>
            <a:lstStyle/>
            <a:p>
              <a:pPr algn="ctr" latinLnBrk="1">
                <a:lnSpc>
                  <a:spcPts val="700"/>
                </a:lnSpc>
                <a:defRPr/>
              </a:pPr>
              <a:r>
                <a:rPr lang="en-US" altLang="ko-KR" sz="700" dirty="0">
                  <a:solidFill>
                    <a:srgbClr val="0099FF"/>
                  </a:solidFill>
                  <a:latin typeface="+mn-ea"/>
                </a:rPr>
                <a:t>FBI</a:t>
              </a:r>
              <a:r>
                <a:rPr lang="en-US" altLang="ko-KR" sz="700" dirty="0">
                  <a:latin typeface="+mn-ea"/>
                </a:rPr>
                <a:t>/</a:t>
              </a:r>
            </a:p>
            <a:p>
              <a:pPr algn="ctr" latinLnBrk="1">
                <a:lnSpc>
                  <a:spcPts val="700"/>
                </a:lnSpc>
                <a:defRPr/>
              </a:pPr>
              <a:r>
                <a:rPr lang="en-US" altLang="ko-KR" sz="700" dirty="0">
                  <a:solidFill>
                    <a:srgbClr val="FF00FF"/>
                  </a:solidFill>
                  <a:latin typeface="+mn-ea"/>
                </a:rPr>
                <a:t>VSO</a:t>
              </a:r>
              <a:r>
                <a:rPr lang="en-US" altLang="ko-KR" sz="700" dirty="0">
                  <a:latin typeface="+mn-ea"/>
                </a:rPr>
                <a:t>/</a:t>
              </a:r>
            </a:p>
            <a:p>
              <a:pPr algn="ctr" latinLnBrk="1">
                <a:lnSpc>
                  <a:spcPts val="700"/>
                </a:lnSpc>
                <a:defRPr/>
              </a:pPr>
              <a:r>
                <a:rPr lang="en-US" altLang="ko-KR" sz="700" dirty="0">
                  <a:solidFill>
                    <a:srgbClr val="00CC00"/>
                  </a:solidFill>
                  <a:latin typeface="+mn-ea"/>
                </a:rPr>
                <a:t>VSI</a:t>
              </a:r>
            </a:p>
          </p:txBody>
        </p:sp>
        <p:sp>
          <p:nvSpPr>
            <p:cNvPr id="44" name="TextBox 43">
              <a:extLst>
                <a:ext uri="{FF2B5EF4-FFF2-40B4-BE49-F238E27FC236}">
                  <a16:creationId xmlns:a16="http://schemas.microsoft.com/office/drawing/2014/main" id="{9B026E90-719C-91AA-48B6-24BDEB903BBE}"/>
                </a:ext>
              </a:extLst>
            </p:cNvPr>
            <p:cNvSpPr txBox="1"/>
            <p:nvPr/>
          </p:nvSpPr>
          <p:spPr>
            <a:xfrm>
              <a:off x="3779745" y="3212665"/>
              <a:ext cx="201978" cy="269304"/>
            </a:xfrm>
            <a:prstGeom prst="rect">
              <a:avLst/>
            </a:prstGeom>
            <a:noFill/>
          </p:spPr>
          <p:txBody>
            <a:bodyPr wrap="none" lIns="0" tIns="0" rIns="0" bIns="0" rtlCol="0">
              <a:spAutoFit/>
            </a:bodyPr>
            <a:lstStyle/>
            <a:p>
              <a:pPr algn="ctr" latinLnBrk="1">
                <a:lnSpc>
                  <a:spcPts val="700"/>
                </a:lnSpc>
                <a:defRPr/>
              </a:pPr>
              <a:r>
                <a:rPr lang="en-US" altLang="ko-KR" sz="700" dirty="0">
                  <a:solidFill>
                    <a:srgbClr val="0099FF"/>
                  </a:solidFill>
                  <a:latin typeface="+mn-ea"/>
                </a:rPr>
                <a:t>FBO</a:t>
              </a:r>
              <a:r>
                <a:rPr lang="en-US" altLang="ko-KR" sz="700" dirty="0">
                  <a:latin typeface="+mn-ea"/>
                </a:rPr>
                <a:t>/</a:t>
              </a:r>
            </a:p>
            <a:p>
              <a:pPr algn="ctr" latinLnBrk="1">
                <a:lnSpc>
                  <a:spcPts val="700"/>
                </a:lnSpc>
                <a:defRPr/>
              </a:pPr>
              <a:r>
                <a:rPr lang="en-US" altLang="ko-KR" sz="700" dirty="0">
                  <a:solidFill>
                    <a:srgbClr val="FF00FF"/>
                  </a:solidFill>
                  <a:latin typeface="+mn-ea"/>
                </a:rPr>
                <a:t>VSI</a:t>
              </a:r>
              <a:r>
                <a:rPr lang="en-US" altLang="ko-KR" sz="700" dirty="0">
                  <a:latin typeface="+mn-ea"/>
                </a:rPr>
                <a:t>/</a:t>
              </a:r>
              <a:endParaRPr lang="en-US" altLang="ko-KR" sz="700" dirty="0">
                <a:solidFill>
                  <a:srgbClr val="00CC00"/>
                </a:solidFill>
                <a:latin typeface="+mn-ea"/>
              </a:endParaRPr>
            </a:p>
            <a:p>
              <a:pPr algn="ctr" latinLnBrk="1">
                <a:lnSpc>
                  <a:spcPts val="700"/>
                </a:lnSpc>
                <a:defRPr/>
              </a:pPr>
              <a:r>
                <a:rPr lang="en-US" altLang="ko-KR" sz="700" dirty="0">
                  <a:solidFill>
                    <a:srgbClr val="00CC00"/>
                  </a:solidFill>
                  <a:latin typeface="+mn-ea"/>
                </a:rPr>
                <a:t>FBO</a:t>
              </a:r>
            </a:p>
          </p:txBody>
        </p:sp>
      </p:grpSp>
    </p:spTree>
    <p:extLst>
      <p:ext uri="{BB962C8B-B14F-4D97-AF65-F5344CB8AC3E}">
        <p14:creationId xmlns:p14="http://schemas.microsoft.com/office/powerpoint/2010/main" val="10408487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CFAEEDD-4730-DFE8-E717-C1E7AA1F0925}"/>
              </a:ext>
            </a:extLst>
          </p:cNvPr>
          <p:cNvSpPr txBox="1"/>
          <p:nvPr/>
        </p:nvSpPr>
        <p:spPr>
          <a:xfrm>
            <a:off x="390027"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C7B47E05-986F-3DA1-318D-07E6AC8BE4BE}"/>
              </a:ext>
            </a:extLst>
          </p:cNvPr>
          <p:cNvGraphicFramePr>
            <a:graphicFrameLocks noGrp="1"/>
          </p:cNvGraphicFramePr>
          <p:nvPr>
            <p:extLst>
              <p:ext uri="{D42A27DB-BD31-4B8C-83A1-F6EECF244321}">
                <p14:modId xmlns:p14="http://schemas.microsoft.com/office/powerpoint/2010/main" val="1856984213"/>
              </p:ext>
            </p:extLst>
          </p:nvPr>
        </p:nvGraphicFramePr>
        <p:xfrm>
          <a:off x="386557" y="1129061"/>
          <a:ext cx="6084887" cy="2959350"/>
        </p:xfrm>
        <a:graphic>
          <a:graphicData uri="http://schemas.openxmlformats.org/drawingml/2006/table">
            <a:tbl>
              <a:tblPr>
                <a:tableStyleId>{5C22544A-7EE6-4342-B048-85BDC9FD1C3A}</a:tableStyleId>
              </a:tblPr>
              <a:tblGrid>
                <a:gridCol w="772513">
                  <a:extLst>
                    <a:ext uri="{9D8B030D-6E8A-4147-A177-3AD203B41FA5}">
                      <a16:colId xmlns:a16="http://schemas.microsoft.com/office/drawing/2014/main" val="1199541810"/>
                    </a:ext>
                  </a:extLst>
                </a:gridCol>
                <a:gridCol w="556131">
                  <a:extLst>
                    <a:ext uri="{9D8B030D-6E8A-4147-A177-3AD203B41FA5}">
                      <a16:colId xmlns:a16="http://schemas.microsoft.com/office/drawing/2014/main" val="2771136683"/>
                    </a:ext>
                  </a:extLst>
                </a:gridCol>
                <a:gridCol w="524352">
                  <a:extLst>
                    <a:ext uri="{9D8B030D-6E8A-4147-A177-3AD203B41FA5}">
                      <a16:colId xmlns:a16="http://schemas.microsoft.com/office/drawing/2014/main" val="112759525"/>
                    </a:ext>
                  </a:extLst>
                </a:gridCol>
                <a:gridCol w="929351">
                  <a:extLst>
                    <a:ext uri="{9D8B030D-6E8A-4147-A177-3AD203B41FA5}">
                      <a16:colId xmlns:a16="http://schemas.microsoft.com/office/drawing/2014/main" val="3900317923"/>
                    </a:ext>
                  </a:extLst>
                </a:gridCol>
                <a:gridCol w="1798415">
                  <a:extLst>
                    <a:ext uri="{9D8B030D-6E8A-4147-A177-3AD203B41FA5}">
                      <a16:colId xmlns:a16="http://schemas.microsoft.com/office/drawing/2014/main" val="3382103366"/>
                    </a:ext>
                  </a:extLst>
                </a:gridCol>
                <a:gridCol w="1504125">
                  <a:extLst>
                    <a:ext uri="{9D8B030D-6E8A-4147-A177-3AD203B41FA5}">
                      <a16:colId xmlns:a16="http://schemas.microsoft.com/office/drawing/2014/main" val="915546717"/>
                    </a:ext>
                  </a:extLst>
                </a:gridCol>
              </a:tblGrid>
              <a:tr h="0">
                <a:tc>
                  <a:txBody>
                    <a:bodyPr/>
                    <a:lstStyle/>
                    <a:p>
                      <a:pPr algn="ctr" fontAlgn="ctr"/>
                      <a:r>
                        <a:rPr lang="en-US" sz="900" b="1" u="none" strike="noStrike" dirty="0">
                          <a:effectLst/>
                          <a:latin typeface="Arial" panose="020B0604020202020204" pitchFamily="34" charset="0"/>
                          <a:cs typeface="Arial" panose="020B0604020202020204" pitchFamily="34" charset="0"/>
                        </a:rPr>
                        <a:t>Pin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90000" marB="9000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Pin No.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90000" marB="90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90000" marB="90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Type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90000" marB="90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90000" marB="90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p>
                  </a:txBody>
                  <a:tcPr marL="0" marR="0" marT="90000" marB="9000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4142273324"/>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15</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2768681"/>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16</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9918571"/>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17</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353795"/>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18</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7066672"/>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O11</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19</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11</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0384047"/>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O9</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20</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9</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04257892"/>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O7</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7</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36803458"/>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O5</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5</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7433265"/>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O3</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23</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3</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44291"/>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O1</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24</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2793209"/>
                  </a:ext>
                </a:extLst>
              </a:tr>
            </a:tbl>
          </a:graphicData>
        </a:graphic>
      </p:graphicFrame>
      <p:sp>
        <p:nvSpPr>
          <p:cNvPr id="5" name="TextBox 4">
            <a:extLst>
              <a:ext uri="{FF2B5EF4-FFF2-40B4-BE49-F238E27FC236}">
                <a16:creationId xmlns:a16="http://schemas.microsoft.com/office/drawing/2014/main" id="{C7B7094A-6A33-B023-7C26-494F8CD0256F}"/>
              </a:ext>
            </a:extLst>
          </p:cNvPr>
          <p:cNvSpPr txBox="1"/>
          <p:nvPr/>
        </p:nvSpPr>
        <p:spPr>
          <a:xfrm>
            <a:off x="413545" y="775694"/>
            <a:ext cx="6030910"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description</a:t>
            </a:r>
          </a:p>
        </p:txBody>
      </p:sp>
      <p:sp>
        <p:nvSpPr>
          <p:cNvPr id="13" name="object 16">
            <a:extLst>
              <a:ext uri="{FF2B5EF4-FFF2-40B4-BE49-F238E27FC236}">
                <a16:creationId xmlns:a16="http://schemas.microsoft.com/office/drawing/2014/main" id="{1B9588A1-C9D4-BAE9-8BAB-3EE9754B6949}"/>
              </a:ext>
            </a:extLst>
          </p:cNvPr>
          <p:cNvSpPr txBox="1"/>
          <p:nvPr/>
        </p:nvSpPr>
        <p:spPr>
          <a:xfrm>
            <a:off x="393239" y="4199039"/>
            <a:ext cx="6071521" cy="302647"/>
          </a:xfrm>
          <a:prstGeom prst="rect">
            <a:avLst/>
          </a:prstGeom>
        </p:spPr>
        <p:txBody>
          <a:bodyPr vert="horz" wrap="square" lIns="0" tIns="12700" rIns="0" bIns="0" rtlCol="0">
            <a:spAutoFit/>
          </a:bodyPr>
          <a:lstStyle/>
          <a:p>
            <a:pPr marL="38100">
              <a:lnSpc>
                <a:spcPct val="100000"/>
              </a:lnSpc>
              <a:spcBef>
                <a:spcPts val="100"/>
              </a:spcBef>
            </a:pPr>
            <a:r>
              <a:rPr lang="en-US" altLang="ko-KR" sz="900" dirty="0">
                <a:latin typeface="Arial" panose="020B0604020202020204" pitchFamily="34" charset="0"/>
                <a:cs typeface="Arial" panose="020B0604020202020204" pitchFamily="34" charset="0"/>
              </a:rPr>
              <a:t>Note :  1) The pin function can be configured through the IO_MODE register bits.  If the pin will be used as the FBO,</a:t>
            </a:r>
          </a:p>
          <a:p>
            <a:pPr marL="38100">
              <a:lnSpc>
                <a:spcPct val="100000"/>
              </a:lnSpc>
              <a:spcBef>
                <a:spcPts val="100"/>
              </a:spcBef>
            </a:pPr>
            <a:r>
              <a:rPr lang="en-US" altLang="ko-KR" sz="900" dirty="0">
                <a:latin typeface="Arial" panose="020B0604020202020204" pitchFamily="34" charset="0"/>
                <a:cs typeface="Arial" panose="020B0604020202020204" pitchFamily="34" charset="0"/>
              </a:rPr>
              <a:t>                then the pin acts as an Open-drain output. (external PU resistor should be attached)</a:t>
            </a:r>
          </a:p>
        </p:txBody>
      </p:sp>
      <p:sp>
        <p:nvSpPr>
          <p:cNvPr id="15" name="object 11">
            <a:extLst>
              <a:ext uri="{FF2B5EF4-FFF2-40B4-BE49-F238E27FC236}">
                <a16:creationId xmlns:a16="http://schemas.microsoft.com/office/drawing/2014/main" id="{F15F5F2C-C4BC-2DCA-D0D7-C5FB1AB5D872}"/>
              </a:ext>
            </a:extLst>
          </p:cNvPr>
          <p:cNvSpPr txBox="1"/>
          <p:nvPr/>
        </p:nvSpPr>
        <p:spPr>
          <a:xfrm>
            <a:off x="2732911" y="4660898"/>
            <a:ext cx="1392176" cy="128240"/>
          </a:xfrm>
          <a:prstGeom prst="rect">
            <a:avLst/>
          </a:prstGeom>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1</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Pin Description </a:t>
            </a:r>
            <a:endParaRPr kumimoji="0" sz="900" dirty="0">
              <a:solidFill>
                <a:prstClr val="black"/>
              </a:solidFill>
              <a:latin typeface="Arial" panose="020B0604020202020204" pitchFamily="34" charset="0"/>
              <a:ea typeface="+mn-ea"/>
              <a:cs typeface="Arial" panose="020B0604020202020204" pitchFamily="34" charset="0"/>
            </a:endParaRPr>
          </a:p>
        </p:txBody>
      </p:sp>
      <p:sp>
        <p:nvSpPr>
          <p:cNvPr id="18" name="TextBox 17">
            <a:extLst>
              <a:ext uri="{FF2B5EF4-FFF2-40B4-BE49-F238E27FC236}">
                <a16:creationId xmlns:a16="http://schemas.microsoft.com/office/drawing/2014/main" id="{01B8125A-2F1D-C1B5-CCE4-A822902F94F7}"/>
              </a:ext>
            </a:extLst>
          </p:cNvPr>
          <p:cNvSpPr txBox="1"/>
          <p:nvPr/>
        </p:nvSpPr>
        <p:spPr>
          <a:xfrm>
            <a:off x="404812" y="5668664"/>
            <a:ext cx="6048623"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Equivalent Circuits of individual pins</a:t>
            </a:r>
          </a:p>
        </p:txBody>
      </p:sp>
      <p:graphicFrame>
        <p:nvGraphicFramePr>
          <p:cNvPr id="33" name="표 32">
            <a:extLst>
              <a:ext uri="{FF2B5EF4-FFF2-40B4-BE49-F238E27FC236}">
                <a16:creationId xmlns:a16="http://schemas.microsoft.com/office/drawing/2014/main" id="{FC3CAB6A-607C-6114-3285-96B7E70D000F}"/>
              </a:ext>
            </a:extLst>
          </p:cNvPr>
          <p:cNvGraphicFramePr>
            <a:graphicFrameLocks noGrp="1"/>
          </p:cNvGraphicFramePr>
          <p:nvPr>
            <p:extLst>
              <p:ext uri="{D42A27DB-BD31-4B8C-83A1-F6EECF244321}">
                <p14:modId xmlns:p14="http://schemas.microsoft.com/office/powerpoint/2010/main" val="1638563947"/>
              </p:ext>
            </p:extLst>
          </p:nvPr>
        </p:nvGraphicFramePr>
        <p:xfrm>
          <a:off x="404812" y="6098728"/>
          <a:ext cx="6048623" cy="2454219"/>
        </p:xfrm>
        <a:graphic>
          <a:graphicData uri="http://schemas.openxmlformats.org/drawingml/2006/table">
            <a:tbl>
              <a:tblPr>
                <a:tableStyleId>{5C22544A-7EE6-4342-B048-85BDC9FD1C3A}</a:tableStyleId>
              </a:tblPr>
              <a:tblGrid>
                <a:gridCol w="748211">
                  <a:extLst>
                    <a:ext uri="{9D8B030D-6E8A-4147-A177-3AD203B41FA5}">
                      <a16:colId xmlns:a16="http://schemas.microsoft.com/office/drawing/2014/main" val="1199541810"/>
                    </a:ext>
                  </a:extLst>
                </a:gridCol>
                <a:gridCol w="558227">
                  <a:extLst>
                    <a:ext uri="{9D8B030D-6E8A-4147-A177-3AD203B41FA5}">
                      <a16:colId xmlns:a16="http://schemas.microsoft.com/office/drawing/2014/main" val="112759525"/>
                    </a:ext>
                  </a:extLst>
                </a:gridCol>
                <a:gridCol w="3236381">
                  <a:extLst>
                    <a:ext uri="{9D8B030D-6E8A-4147-A177-3AD203B41FA5}">
                      <a16:colId xmlns:a16="http://schemas.microsoft.com/office/drawing/2014/main" val="3900317923"/>
                    </a:ext>
                  </a:extLst>
                </a:gridCol>
                <a:gridCol w="1505804">
                  <a:extLst>
                    <a:ext uri="{9D8B030D-6E8A-4147-A177-3AD203B41FA5}">
                      <a16:colId xmlns:a16="http://schemas.microsoft.com/office/drawing/2014/main" val="3382103366"/>
                    </a:ext>
                  </a:extLst>
                </a:gridCol>
              </a:tblGrid>
              <a:tr h="346347">
                <a:tc>
                  <a:txBody>
                    <a:bodyPr/>
                    <a:lstStyle/>
                    <a:p>
                      <a:pPr algn="ctr" fontAlgn="ctr"/>
                      <a:r>
                        <a:rPr lang="en-US" sz="900" b="1" u="none" strike="noStrike" dirty="0">
                          <a:effectLst/>
                          <a:latin typeface="Arial" panose="020B0604020202020204" pitchFamily="34" charset="0"/>
                          <a:cs typeface="Arial" panose="020B0604020202020204" pitchFamily="34" charset="0"/>
                        </a:rPr>
                        <a:t>Pad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Circuit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1032716">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1075156">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u="none" strike="noStrike" dirty="0">
                          <a:effectLst/>
                          <a:latin typeface="Arial" panose="020B0604020202020204" pitchFamily="34" charset="0"/>
                          <a:cs typeface="Arial" panose="020B0604020202020204" pitchFamily="34" charset="0"/>
                        </a:rPr>
                        <a:t>Daisied 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2762005"/>
                  </a:ext>
                </a:extLst>
              </a:tr>
            </a:tbl>
          </a:graphicData>
        </a:graphic>
      </p:graphicFrame>
      <p:grpSp>
        <p:nvGrpSpPr>
          <p:cNvPr id="34" name="그룹 33">
            <a:extLst>
              <a:ext uri="{FF2B5EF4-FFF2-40B4-BE49-F238E27FC236}">
                <a16:creationId xmlns:a16="http://schemas.microsoft.com/office/drawing/2014/main" id="{9BC7A143-B331-F0C3-05AD-0E3D4551EF4B}"/>
              </a:ext>
            </a:extLst>
          </p:cNvPr>
          <p:cNvGrpSpPr/>
          <p:nvPr/>
        </p:nvGrpSpPr>
        <p:grpSpPr>
          <a:xfrm>
            <a:off x="2794443" y="6553702"/>
            <a:ext cx="1026319" cy="836432"/>
            <a:chOff x="2838451" y="6667968"/>
            <a:chExt cx="1026319" cy="836432"/>
          </a:xfrm>
        </p:grpSpPr>
        <p:pic>
          <p:nvPicPr>
            <p:cNvPr id="35" name="그림 34">
              <a:extLst>
                <a:ext uri="{FF2B5EF4-FFF2-40B4-BE49-F238E27FC236}">
                  <a16:creationId xmlns:a16="http://schemas.microsoft.com/office/drawing/2014/main" id="{6BC1F573-9836-7558-29BD-8E6528B588CE}"/>
                </a:ext>
              </a:extLst>
            </p:cNvPr>
            <p:cNvPicPr>
              <a:picLocks noChangeAspect="1"/>
            </p:cNvPicPr>
            <p:nvPr/>
          </p:nvPicPr>
          <p:blipFill>
            <a:blip r:embed="rId2"/>
            <a:stretch>
              <a:fillRect/>
            </a:stretch>
          </p:blipFill>
          <p:spPr>
            <a:xfrm>
              <a:off x="3495285" y="7019209"/>
              <a:ext cx="176479" cy="400184"/>
            </a:xfrm>
            <a:prstGeom prst="rect">
              <a:avLst/>
            </a:prstGeom>
            <a:ln>
              <a:noFill/>
            </a:ln>
          </p:spPr>
        </p:pic>
        <p:sp>
          <p:nvSpPr>
            <p:cNvPr id="36" name="타원 35">
              <a:extLst>
                <a:ext uri="{FF2B5EF4-FFF2-40B4-BE49-F238E27FC236}">
                  <a16:creationId xmlns:a16="http://schemas.microsoft.com/office/drawing/2014/main" id="{0CA1CBF2-AAB9-DD4D-9A50-C3A7875D71CA}"/>
                </a:ext>
              </a:extLst>
            </p:cNvPr>
            <p:cNvSpPr/>
            <p:nvPr/>
          </p:nvSpPr>
          <p:spPr>
            <a:xfrm>
              <a:off x="3089150" y="6782384"/>
              <a:ext cx="105717" cy="108617"/>
            </a:xfrm>
            <a:prstGeom prst="ellips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37" name="직사각형 36">
              <a:extLst>
                <a:ext uri="{FF2B5EF4-FFF2-40B4-BE49-F238E27FC236}">
                  <a16:creationId xmlns:a16="http://schemas.microsoft.com/office/drawing/2014/main" id="{E659F85A-C6D3-D90F-645C-30B1394C2455}"/>
                </a:ext>
              </a:extLst>
            </p:cNvPr>
            <p:cNvSpPr/>
            <p:nvPr/>
          </p:nvSpPr>
          <p:spPr>
            <a:xfrm>
              <a:off x="3704362" y="6934200"/>
              <a:ext cx="160408" cy="152400"/>
            </a:xfrm>
            <a:prstGeom prst="rect">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lumMod val="75000"/>
                    <a:lumOff val="25000"/>
                  </a:schemeClr>
                </a:solidFill>
              </a:endParaRPr>
            </a:p>
          </p:txBody>
        </p:sp>
        <p:cxnSp>
          <p:nvCxnSpPr>
            <p:cNvPr id="38" name="연결선: 꺾임 37">
              <a:extLst>
                <a:ext uri="{FF2B5EF4-FFF2-40B4-BE49-F238E27FC236}">
                  <a16:creationId xmlns:a16="http://schemas.microsoft.com/office/drawing/2014/main" id="{9C51FAF0-A352-C460-E8DD-762061CD185A}"/>
                </a:ext>
              </a:extLst>
            </p:cNvPr>
            <p:cNvCxnSpPr>
              <a:cxnSpLocks/>
              <a:endCxn id="36" idx="0"/>
            </p:cNvCxnSpPr>
            <p:nvPr/>
          </p:nvCxnSpPr>
          <p:spPr>
            <a:xfrm>
              <a:off x="2838451" y="6667968"/>
              <a:ext cx="303558" cy="114416"/>
            </a:xfrm>
            <a:prstGeom prst="bentConnector2">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9" name="직선 연결선 38">
              <a:extLst>
                <a:ext uri="{FF2B5EF4-FFF2-40B4-BE49-F238E27FC236}">
                  <a16:creationId xmlns:a16="http://schemas.microsoft.com/office/drawing/2014/main" id="{EE7576AD-0B0A-B330-DBA2-FC7CE8904845}"/>
                </a:ext>
              </a:extLst>
            </p:cNvPr>
            <p:cNvCxnSpPr>
              <a:cxnSpLocks/>
              <a:endCxn id="37" idx="1"/>
            </p:cNvCxnSpPr>
            <p:nvPr/>
          </p:nvCxnSpPr>
          <p:spPr>
            <a:xfrm>
              <a:off x="2838451" y="7010128"/>
              <a:ext cx="865911" cy="272"/>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40" name="이등변 삼각형 39">
              <a:extLst>
                <a:ext uri="{FF2B5EF4-FFF2-40B4-BE49-F238E27FC236}">
                  <a16:creationId xmlns:a16="http://schemas.microsoft.com/office/drawing/2014/main" id="{D7EF4648-AABA-1CD5-24E1-24C2630C2B78}"/>
                </a:ext>
              </a:extLst>
            </p:cNvPr>
            <p:cNvSpPr/>
            <p:nvPr/>
          </p:nvSpPr>
          <p:spPr>
            <a:xfrm rot="5400000">
              <a:off x="2952262" y="6878072"/>
              <a:ext cx="360042" cy="264112"/>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41" name="연결선: 꺾임 40">
              <a:extLst>
                <a:ext uri="{FF2B5EF4-FFF2-40B4-BE49-F238E27FC236}">
                  <a16:creationId xmlns:a16="http://schemas.microsoft.com/office/drawing/2014/main" id="{EBE3FC16-A889-1ECD-238A-559AD0FF8653}"/>
                </a:ext>
              </a:extLst>
            </p:cNvPr>
            <p:cNvCxnSpPr>
              <a:cxnSpLocks/>
            </p:cNvCxnSpPr>
            <p:nvPr/>
          </p:nvCxnSpPr>
          <p:spPr>
            <a:xfrm rot="10800000" flipV="1">
              <a:off x="2838452" y="7010128"/>
              <a:ext cx="564830" cy="378406"/>
            </a:xfrm>
            <a:prstGeom prst="bentConnector3">
              <a:avLst>
                <a:gd name="adj1" fmla="val 267"/>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42" name="이등변 삼각형 41">
              <a:extLst>
                <a:ext uri="{FF2B5EF4-FFF2-40B4-BE49-F238E27FC236}">
                  <a16:creationId xmlns:a16="http://schemas.microsoft.com/office/drawing/2014/main" id="{BF19711D-0A37-7B2D-12FD-65B6A21B1671}"/>
                </a:ext>
              </a:extLst>
            </p:cNvPr>
            <p:cNvSpPr/>
            <p:nvPr/>
          </p:nvSpPr>
          <p:spPr>
            <a:xfrm rot="16200000">
              <a:off x="3042401" y="7309405"/>
              <a:ext cx="224965" cy="165025"/>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43" name="직선 연결선 42">
              <a:extLst>
                <a:ext uri="{FF2B5EF4-FFF2-40B4-BE49-F238E27FC236}">
                  <a16:creationId xmlns:a16="http://schemas.microsoft.com/office/drawing/2014/main" id="{871CF594-F2C7-2852-15B2-CC002B9EDA58}"/>
                </a:ext>
              </a:extLst>
            </p:cNvPr>
            <p:cNvCxnSpPr>
              <a:cxnSpLocks/>
            </p:cNvCxnSpPr>
            <p:nvPr/>
          </p:nvCxnSpPr>
          <p:spPr>
            <a:xfrm>
              <a:off x="3704362" y="6932519"/>
              <a:ext cx="160408" cy="15240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44" name="직선 연결선 43">
              <a:extLst>
                <a:ext uri="{FF2B5EF4-FFF2-40B4-BE49-F238E27FC236}">
                  <a16:creationId xmlns:a16="http://schemas.microsoft.com/office/drawing/2014/main" id="{3E84D35D-BE7F-278F-1221-96EC8FE221A2}"/>
                </a:ext>
              </a:extLst>
            </p:cNvPr>
            <p:cNvCxnSpPr>
              <a:cxnSpLocks/>
            </p:cNvCxnSpPr>
            <p:nvPr/>
          </p:nvCxnSpPr>
          <p:spPr>
            <a:xfrm flipH="1">
              <a:off x="3707606" y="6936581"/>
              <a:ext cx="157163" cy="145257"/>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grpSp>
        <p:nvGrpSpPr>
          <p:cNvPr id="45" name="그룹 44">
            <a:extLst>
              <a:ext uri="{FF2B5EF4-FFF2-40B4-BE49-F238E27FC236}">
                <a16:creationId xmlns:a16="http://schemas.microsoft.com/office/drawing/2014/main" id="{DA434B88-E734-BD4A-8811-048F67C52305}"/>
              </a:ext>
            </a:extLst>
          </p:cNvPr>
          <p:cNvGrpSpPr/>
          <p:nvPr/>
        </p:nvGrpSpPr>
        <p:grpSpPr>
          <a:xfrm>
            <a:off x="2846114" y="7609619"/>
            <a:ext cx="1026319" cy="836432"/>
            <a:chOff x="2838451" y="6667968"/>
            <a:chExt cx="1026319" cy="836432"/>
          </a:xfrm>
        </p:grpSpPr>
        <p:pic>
          <p:nvPicPr>
            <p:cNvPr id="46" name="그림 45">
              <a:extLst>
                <a:ext uri="{FF2B5EF4-FFF2-40B4-BE49-F238E27FC236}">
                  <a16:creationId xmlns:a16="http://schemas.microsoft.com/office/drawing/2014/main" id="{55B9B4E6-5AB4-5256-46F2-DCE1F13EF19B}"/>
                </a:ext>
              </a:extLst>
            </p:cNvPr>
            <p:cNvPicPr>
              <a:picLocks noChangeAspect="1"/>
            </p:cNvPicPr>
            <p:nvPr/>
          </p:nvPicPr>
          <p:blipFill>
            <a:blip r:embed="rId2"/>
            <a:stretch>
              <a:fillRect/>
            </a:stretch>
          </p:blipFill>
          <p:spPr>
            <a:xfrm>
              <a:off x="3495285" y="7019209"/>
              <a:ext cx="176479" cy="400184"/>
            </a:xfrm>
            <a:prstGeom prst="rect">
              <a:avLst/>
            </a:prstGeom>
            <a:ln>
              <a:noFill/>
            </a:ln>
          </p:spPr>
        </p:pic>
        <p:sp>
          <p:nvSpPr>
            <p:cNvPr id="47" name="타원 46">
              <a:extLst>
                <a:ext uri="{FF2B5EF4-FFF2-40B4-BE49-F238E27FC236}">
                  <a16:creationId xmlns:a16="http://schemas.microsoft.com/office/drawing/2014/main" id="{3F4EF56E-19C0-F19A-22F5-D81259C8BC8D}"/>
                </a:ext>
              </a:extLst>
            </p:cNvPr>
            <p:cNvSpPr/>
            <p:nvPr/>
          </p:nvSpPr>
          <p:spPr>
            <a:xfrm>
              <a:off x="3089150" y="6782384"/>
              <a:ext cx="105717" cy="108617"/>
            </a:xfrm>
            <a:prstGeom prst="ellips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8" name="직사각형 47">
              <a:extLst>
                <a:ext uri="{FF2B5EF4-FFF2-40B4-BE49-F238E27FC236}">
                  <a16:creationId xmlns:a16="http://schemas.microsoft.com/office/drawing/2014/main" id="{28C4FC93-20C3-218C-EA18-0AD01F8A946E}"/>
                </a:ext>
              </a:extLst>
            </p:cNvPr>
            <p:cNvSpPr/>
            <p:nvPr/>
          </p:nvSpPr>
          <p:spPr>
            <a:xfrm>
              <a:off x="3704362" y="6934200"/>
              <a:ext cx="160408" cy="152400"/>
            </a:xfrm>
            <a:prstGeom prst="rect">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lumMod val="75000"/>
                    <a:lumOff val="25000"/>
                  </a:schemeClr>
                </a:solidFill>
              </a:endParaRPr>
            </a:p>
          </p:txBody>
        </p:sp>
        <p:cxnSp>
          <p:nvCxnSpPr>
            <p:cNvPr id="49" name="연결선: 꺾임 48">
              <a:extLst>
                <a:ext uri="{FF2B5EF4-FFF2-40B4-BE49-F238E27FC236}">
                  <a16:creationId xmlns:a16="http://schemas.microsoft.com/office/drawing/2014/main" id="{3BD4A86F-3590-8BF4-BE69-BBAD8BD99800}"/>
                </a:ext>
              </a:extLst>
            </p:cNvPr>
            <p:cNvCxnSpPr>
              <a:cxnSpLocks/>
              <a:endCxn id="47" idx="0"/>
            </p:cNvCxnSpPr>
            <p:nvPr/>
          </p:nvCxnSpPr>
          <p:spPr>
            <a:xfrm>
              <a:off x="2838451" y="6667968"/>
              <a:ext cx="303558" cy="114416"/>
            </a:xfrm>
            <a:prstGeom prst="bentConnector2">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50" name="직선 연결선 49">
              <a:extLst>
                <a:ext uri="{FF2B5EF4-FFF2-40B4-BE49-F238E27FC236}">
                  <a16:creationId xmlns:a16="http://schemas.microsoft.com/office/drawing/2014/main" id="{9B1752C7-631F-982E-F8D1-4CA57383AA0E}"/>
                </a:ext>
              </a:extLst>
            </p:cNvPr>
            <p:cNvCxnSpPr>
              <a:cxnSpLocks/>
              <a:endCxn id="48" idx="1"/>
            </p:cNvCxnSpPr>
            <p:nvPr/>
          </p:nvCxnSpPr>
          <p:spPr>
            <a:xfrm>
              <a:off x="2838451" y="7010128"/>
              <a:ext cx="865911" cy="272"/>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51" name="이등변 삼각형 50">
              <a:extLst>
                <a:ext uri="{FF2B5EF4-FFF2-40B4-BE49-F238E27FC236}">
                  <a16:creationId xmlns:a16="http://schemas.microsoft.com/office/drawing/2014/main" id="{5F678D79-5DA4-693B-6FE9-58492C5098A5}"/>
                </a:ext>
              </a:extLst>
            </p:cNvPr>
            <p:cNvSpPr/>
            <p:nvPr/>
          </p:nvSpPr>
          <p:spPr>
            <a:xfrm rot="5400000">
              <a:off x="2952262" y="6878072"/>
              <a:ext cx="360042" cy="264112"/>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52" name="연결선: 꺾임 51">
              <a:extLst>
                <a:ext uri="{FF2B5EF4-FFF2-40B4-BE49-F238E27FC236}">
                  <a16:creationId xmlns:a16="http://schemas.microsoft.com/office/drawing/2014/main" id="{0CFAA332-0DB6-059D-874C-7FF912A432F0}"/>
                </a:ext>
              </a:extLst>
            </p:cNvPr>
            <p:cNvCxnSpPr>
              <a:cxnSpLocks/>
            </p:cNvCxnSpPr>
            <p:nvPr/>
          </p:nvCxnSpPr>
          <p:spPr>
            <a:xfrm rot="10800000" flipV="1">
              <a:off x="2838452" y="7010128"/>
              <a:ext cx="564830" cy="378406"/>
            </a:xfrm>
            <a:prstGeom prst="bentConnector3">
              <a:avLst>
                <a:gd name="adj1" fmla="val 267"/>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53" name="이등변 삼각형 52">
              <a:extLst>
                <a:ext uri="{FF2B5EF4-FFF2-40B4-BE49-F238E27FC236}">
                  <a16:creationId xmlns:a16="http://schemas.microsoft.com/office/drawing/2014/main" id="{07051324-19BF-352A-25EE-6F695E0DAE49}"/>
                </a:ext>
              </a:extLst>
            </p:cNvPr>
            <p:cNvSpPr/>
            <p:nvPr/>
          </p:nvSpPr>
          <p:spPr>
            <a:xfrm rot="16200000">
              <a:off x="3042401" y="7309405"/>
              <a:ext cx="224965" cy="165025"/>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54" name="직선 연결선 53">
              <a:extLst>
                <a:ext uri="{FF2B5EF4-FFF2-40B4-BE49-F238E27FC236}">
                  <a16:creationId xmlns:a16="http://schemas.microsoft.com/office/drawing/2014/main" id="{DBD6576A-048D-705B-1481-6F44F878790E}"/>
                </a:ext>
              </a:extLst>
            </p:cNvPr>
            <p:cNvCxnSpPr>
              <a:cxnSpLocks/>
            </p:cNvCxnSpPr>
            <p:nvPr/>
          </p:nvCxnSpPr>
          <p:spPr>
            <a:xfrm>
              <a:off x="3704362" y="6932519"/>
              <a:ext cx="160408" cy="15240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55" name="직선 연결선 54">
              <a:extLst>
                <a:ext uri="{FF2B5EF4-FFF2-40B4-BE49-F238E27FC236}">
                  <a16:creationId xmlns:a16="http://schemas.microsoft.com/office/drawing/2014/main" id="{CABDA96E-6D4A-508A-7E58-0D405F8F42CD}"/>
                </a:ext>
              </a:extLst>
            </p:cNvPr>
            <p:cNvCxnSpPr>
              <a:cxnSpLocks/>
            </p:cNvCxnSpPr>
            <p:nvPr/>
          </p:nvCxnSpPr>
          <p:spPr>
            <a:xfrm flipH="1">
              <a:off x="3707606" y="6936581"/>
              <a:ext cx="157163" cy="145257"/>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664098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6F590-55FB-7BDF-C846-C8EB3EFD9069}"/>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36EF345C-8049-F1D7-B860-4C2175C8ECC9}"/>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5E11F6DD-1AF4-D115-8657-7872965735FF}"/>
              </a:ext>
            </a:extLst>
          </p:cNvPr>
          <p:cNvSpPr txBox="1"/>
          <p:nvPr/>
        </p:nvSpPr>
        <p:spPr>
          <a:xfrm>
            <a:off x="390027"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0972CC83-802F-A2BC-0D24-27F85E48937F}"/>
              </a:ext>
            </a:extLst>
          </p:cNvPr>
          <p:cNvSpPr txBox="1"/>
          <p:nvPr/>
        </p:nvSpPr>
        <p:spPr>
          <a:xfrm>
            <a:off x="419897" y="777807"/>
            <a:ext cx="6030910"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Equivalent Circuits of individual pins</a:t>
            </a:r>
          </a:p>
        </p:txBody>
      </p:sp>
      <p:sp>
        <p:nvSpPr>
          <p:cNvPr id="2" name="object 84">
            <a:extLst>
              <a:ext uri="{FF2B5EF4-FFF2-40B4-BE49-F238E27FC236}">
                <a16:creationId xmlns:a16="http://schemas.microsoft.com/office/drawing/2014/main" id="{5D3E3116-3BE2-8277-9AD0-2AF5D38BCFA4}"/>
              </a:ext>
            </a:extLst>
          </p:cNvPr>
          <p:cNvSpPr txBox="1"/>
          <p:nvPr/>
        </p:nvSpPr>
        <p:spPr>
          <a:xfrm>
            <a:off x="2107127" y="7902935"/>
            <a:ext cx="2678297"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4  Equivalent Circuits of individual pins</a:t>
            </a:r>
          </a:p>
        </p:txBody>
      </p:sp>
      <p:graphicFrame>
        <p:nvGraphicFramePr>
          <p:cNvPr id="7" name="표 6">
            <a:extLst>
              <a:ext uri="{FF2B5EF4-FFF2-40B4-BE49-F238E27FC236}">
                <a16:creationId xmlns:a16="http://schemas.microsoft.com/office/drawing/2014/main" id="{E30D4FC0-5202-20D5-A6D9-750D768CD447}"/>
              </a:ext>
            </a:extLst>
          </p:cNvPr>
          <p:cNvGraphicFramePr>
            <a:graphicFrameLocks noGrp="1"/>
          </p:cNvGraphicFramePr>
          <p:nvPr>
            <p:extLst>
              <p:ext uri="{D42A27DB-BD31-4B8C-83A1-F6EECF244321}">
                <p14:modId xmlns:p14="http://schemas.microsoft.com/office/powerpoint/2010/main" val="2931274874"/>
              </p:ext>
            </p:extLst>
          </p:nvPr>
        </p:nvGraphicFramePr>
        <p:xfrm>
          <a:off x="413544" y="1341152"/>
          <a:ext cx="6039891" cy="6307108"/>
        </p:xfrm>
        <a:graphic>
          <a:graphicData uri="http://schemas.openxmlformats.org/drawingml/2006/table">
            <a:tbl>
              <a:tblPr>
                <a:tableStyleId>{5C22544A-7EE6-4342-B048-85BDC9FD1C3A}</a:tableStyleId>
              </a:tblPr>
              <a:tblGrid>
                <a:gridCol w="814717">
                  <a:extLst>
                    <a:ext uri="{9D8B030D-6E8A-4147-A177-3AD203B41FA5}">
                      <a16:colId xmlns:a16="http://schemas.microsoft.com/office/drawing/2014/main" val="1199541810"/>
                    </a:ext>
                  </a:extLst>
                </a:gridCol>
                <a:gridCol w="550304">
                  <a:extLst>
                    <a:ext uri="{9D8B030D-6E8A-4147-A177-3AD203B41FA5}">
                      <a16:colId xmlns:a16="http://schemas.microsoft.com/office/drawing/2014/main" val="112759525"/>
                    </a:ext>
                  </a:extLst>
                </a:gridCol>
                <a:gridCol w="3190441">
                  <a:extLst>
                    <a:ext uri="{9D8B030D-6E8A-4147-A177-3AD203B41FA5}">
                      <a16:colId xmlns:a16="http://schemas.microsoft.com/office/drawing/2014/main" val="3900317923"/>
                    </a:ext>
                  </a:extLst>
                </a:gridCol>
                <a:gridCol w="1484429">
                  <a:extLst>
                    <a:ext uri="{9D8B030D-6E8A-4147-A177-3AD203B41FA5}">
                      <a16:colId xmlns:a16="http://schemas.microsoft.com/office/drawing/2014/main" val="3382103366"/>
                    </a:ext>
                  </a:extLst>
                </a:gridCol>
              </a:tblGrid>
              <a:tr h="359474">
                <a:tc>
                  <a:txBody>
                    <a:bodyPr/>
                    <a:lstStyle/>
                    <a:p>
                      <a:pPr algn="ctr" fontAlgn="ctr"/>
                      <a:r>
                        <a:rPr lang="en-US" sz="900" b="1" u="none" strike="noStrike" dirty="0">
                          <a:effectLst/>
                          <a:latin typeface="Arial" panose="020B0604020202020204" pitchFamily="34" charset="0"/>
                          <a:cs typeface="Arial" panose="020B0604020202020204" pitchFamily="34" charset="0"/>
                        </a:rPr>
                        <a:t>Pad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Circuit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1127274">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O1 ~ O12</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VDD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2762005"/>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VSS</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5912342"/>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baseline="0" dirty="0">
                          <a:solidFill>
                            <a:srgbClr val="0066FF"/>
                          </a:solidFill>
                          <a:effectLst/>
                          <a:latin typeface="Arial" panose="020B0604020202020204" pitchFamily="34" charset="0"/>
                          <a:ea typeface="+mn-ea"/>
                          <a:cs typeface="Arial" panose="020B0604020202020204" pitchFamily="34" charset="0"/>
                        </a:rPr>
                        <a:t>FBO</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FF00FF"/>
                          </a:solidFill>
                          <a:effectLst/>
                          <a:latin typeface="Arial" panose="020B0604020202020204" pitchFamily="34" charset="0"/>
                          <a:ea typeface="+mn-ea"/>
                          <a:cs typeface="Arial" panose="020B0604020202020204" pitchFamily="34" charset="0"/>
                        </a:rPr>
                        <a:t>VSI</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00CC00"/>
                          </a:solidFill>
                          <a:effectLst/>
                          <a:latin typeface="Arial" panose="020B0604020202020204" pitchFamily="34" charset="0"/>
                          <a:ea typeface="+mn-ea"/>
                          <a:cs typeface="Arial" panose="020B0604020202020204" pitchFamily="34" charset="0"/>
                        </a:rPr>
                        <a:t>FBO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1. FB (daisied) Output (OD)</a:t>
                      </a: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2. VSYNC (daisied) Input</a:t>
                      </a: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3. FB Output (Open-drain)</a:t>
                      </a:r>
                    </a:p>
                    <a:p>
                      <a:pPr marL="0" marR="0" lvl="0" indent="0" algn="l"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if not used,</a:t>
                      </a: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connect to GND</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36000"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67900053"/>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baseline="0" dirty="0">
                          <a:solidFill>
                            <a:srgbClr val="0066FF"/>
                          </a:solidFill>
                          <a:effectLst/>
                          <a:latin typeface="Arial" panose="020B0604020202020204" pitchFamily="34" charset="0"/>
                          <a:ea typeface="+mn-ea"/>
                          <a:cs typeface="Arial" panose="020B0604020202020204" pitchFamily="34" charset="0"/>
                        </a:rPr>
                        <a:t>FBI</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FF00FF"/>
                          </a:solidFill>
                          <a:effectLst/>
                          <a:latin typeface="Arial" panose="020B0604020202020204" pitchFamily="34" charset="0"/>
                          <a:ea typeface="+mn-ea"/>
                          <a:cs typeface="Arial" panose="020B0604020202020204" pitchFamily="34" charset="0"/>
                        </a:rPr>
                        <a:t>VSO</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00CC00"/>
                          </a:solidFill>
                          <a:effectLst/>
                          <a:latin typeface="Arial" panose="020B0604020202020204" pitchFamily="34" charset="0"/>
                          <a:ea typeface="+mn-ea"/>
                          <a:cs typeface="Arial" panose="020B0604020202020204" pitchFamily="34" charset="0"/>
                        </a:rPr>
                        <a:t>VSI  </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1. FB (daisied) Input</a:t>
                      </a: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2. VSYNC (daisied) Output</a:t>
                      </a: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3. VSYNC Input</a:t>
                      </a:r>
                    </a:p>
                    <a:p>
                      <a:pPr marL="0" marR="0" lvl="0" indent="0" algn="l"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if not used,</a:t>
                      </a: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connect to GND</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36000"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79342348"/>
                  </a:ext>
                </a:extLst>
              </a:tr>
            </a:tbl>
          </a:graphicData>
        </a:graphic>
      </p:graphicFrame>
      <p:pic>
        <p:nvPicPr>
          <p:cNvPr id="8" name="그림 7">
            <a:extLst>
              <a:ext uri="{FF2B5EF4-FFF2-40B4-BE49-F238E27FC236}">
                <a16:creationId xmlns:a16="http://schemas.microsoft.com/office/drawing/2014/main" id="{44514BEC-F9CF-48E5-E0A8-1C126400495A}"/>
              </a:ext>
            </a:extLst>
          </p:cNvPr>
          <p:cNvPicPr>
            <a:picLocks noChangeAspect="1"/>
          </p:cNvPicPr>
          <p:nvPr/>
        </p:nvPicPr>
        <p:blipFill>
          <a:blip r:embed="rId2"/>
          <a:stretch>
            <a:fillRect/>
          </a:stretch>
        </p:blipFill>
        <p:spPr>
          <a:xfrm>
            <a:off x="2721895" y="1846437"/>
            <a:ext cx="1123747" cy="765191"/>
          </a:xfrm>
          <a:prstGeom prst="rect">
            <a:avLst/>
          </a:prstGeom>
        </p:spPr>
      </p:pic>
      <p:grpSp>
        <p:nvGrpSpPr>
          <p:cNvPr id="11" name="그룹 10">
            <a:extLst>
              <a:ext uri="{FF2B5EF4-FFF2-40B4-BE49-F238E27FC236}">
                <a16:creationId xmlns:a16="http://schemas.microsoft.com/office/drawing/2014/main" id="{0B8844C4-1C84-95FF-6B16-C6CDECA0FA18}"/>
              </a:ext>
            </a:extLst>
          </p:cNvPr>
          <p:cNvGrpSpPr/>
          <p:nvPr/>
        </p:nvGrpSpPr>
        <p:grpSpPr>
          <a:xfrm>
            <a:off x="2807104" y="4142420"/>
            <a:ext cx="1038538" cy="974255"/>
            <a:chOff x="2687819" y="3003631"/>
            <a:chExt cx="1094210" cy="1114062"/>
          </a:xfrm>
        </p:grpSpPr>
        <p:pic>
          <p:nvPicPr>
            <p:cNvPr id="16" name="그림 15">
              <a:extLst>
                <a:ext uri="{FF2B5EF4-FFF2-40B4-BE49-F238E27FC236}">
                  <a16:creationId xmlns:a16="http://schemas.microsoft.com/office/drawing/2014/main" id="{8390B11A-9756-BF22-FE14-847138A6A802}"/>
                </a:ext>
              </a:extLst>
            </p:cNvPr>
            <p:cNvPicPr>
              <a:picLocks noChangeAspect="1"/>
            </p:cNvPicPr>
            <p:nvPr/>
          </p:nvPicPr>
          <p:blipFill>
            <a:blip r:embed="rId3"/>
            <a:stretch>
              <a:fillRect/>
            </a:stretch>
          </p:blipFill>
          <p:spPr>
            <a:xfrm>
              <a:off x="2687819" y="3036852"/>
              <a:ext cx="1094210" cy="1080841"/>
            </a:xfrm>
            <a:prstGeom prst="rect">
              <a:avLst/>
            </a:prstGeom>
          </p:spPr>
        </p:pic>
        <p:sp>
          <p:nvSpPr>
            <p:cNvPr id="19" name="TextBox 152">
              <a:extLst>
                <a:ext uri="{FF2B5EF4-FFF2-40B4-BE49-F238E27FC236}">
                  <a16:creationId xmlns:a16="http://schemas.microsoft.com/office/drawing/2014/main" id="{6B113D06-3055-EBCE-057D-306AD4A4E7F3}"/>
                </a:ext>
              </a:extLst>
            </p:cNvPr>
            <p:cNvSpPr txBox="1"/>
            <p:nvPr/>
          </p:nvSpPr>
          <p:spPr>
            <a:xfrm>
              <a:off x="3004471" y="3003631"/>
              <a:ext cx="297480" cy="140348"/>
            </a:xfrm>
            <a:prstGeom prst="rect">
              <a:avLst/>
            </a:prstGeom>
            <a:solidFill>
              <a:schemeClr val="bg1"/>
            </a:solidFill>
          </p:spPr>
          <p:txBody>
            <a:bodyPr wrap="square" lIns="0" tIns="0" rIns="0" bIns="0" rtlCol="0" anchor="ctr" anchorCtr="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700" dirty="0">
                  <a:latin typeface="+mn-ea"/>
                </a:rPr>
                <a:t>V</a:t>
              </a:r>
              <a:r>
                <a:rPr lang="en-US" altLang="ko-KR" sz="700" baseline="-25000" dirty="0">
                  <a:latin typeface="+mn-ea"/>
                </a:rPr>
                <a:t>DD</a:t>
              </a:r>
              <a:endParaRPr lang="ko-KR" altLang="en-US" sz="700" baseline="-25000" dirty="0">
                <a:latin typeface="+mn-ea"/>
              </a:endParaRPr>
            </a:p>
          </p:txBody>
        </p:sp>
      </p:grpSp>
      <p:pic>
        <p:nvPicPr>
          <p:cNvPr id="20" name="그림 19">
            <a:extLst>
              <a:ext uri="{FF2B5EF4-FFF2-40B4-BE49-F238E27FC236}">
                <a16:creationId xmlns:a16="http://schemas.microsoft.com/office/drawing/2014/main" id="{03229608-716D-DF81-17B6-439B1F3153E8}"/>
              </a:ext>
            </a:extLst>
          </p:cNvPr>
          <p:cNvPicPr>
            <a:picLocks noChangeAspect="1"/>
          </p:cNvPicPr>
          <p:nvPr/>
        </p:nvPicPr>
        <p:blipFill>
          <a:blip r:embed="rId2"/>
          <a:stretch>
            <a:fillRect/>
          </a:stretch>
        </p:blipFill>
        <p:spPr>
          <a:xfrm>
            <a:off x="2691104" y="2996114"/>
            <a:ext cx="1185328" cy="772701"/>
          </a:xfrm>
          <a:prstGeom prst="rect">
            <a:avLst/>
          </a:prstGeom>
        </p:spPr>
      </p:pic>
      <p:pic>
        <p:nvPicPr>
          <p:cNvPr id="63" name="그림 62">
            <a:extLst>
              <a:ext uri="{FF2B5EF4-FFF2-40B4-BE49-F238E27FC236}">
                <a16:creationId xmlns:a16="http://schemas.microsoft.com/office/drawing/2014/main" id="{4A03BEA9-2B51-717C-FF23-14F896B83B1D}"/>
              </a:ext>
            </a:extLst>
          </p:cNvPr>
          <p:cNvPicPr>
            <a:picLocks noChangeAspect="1"/>
          </p:cNvPicPr>
          <p:nvPr/>
        </p:nvPicPr>
        <p:blipFill>
          <a:blip r:embed="rId4"/>
          <a:stretch>
            <a:fillRect/>
          </a:stretch>
        </p:blipFill>
        <p:spPr>
          <a:xfrm>
            <a:off x="2721895" y="6567253"/>
            <a:ext cx="1183605" cy="984325"/>
          </a:xfrm>
          <a:prstGeom prst="rect">
            <a:avLst/>
          </a:prstGeom>
        </p:spPr>
      </p:pic>
      <p:pic>
        <p:nvPicPr>
          <p:cNvPr id="64" name="그림 63">
            <a:extLst>
              <a:ext uri="{FF2B5EF4-FFF2-40B4-BE49-F238E27FC236}">
                <a16:creationId xmlns:a16="http://schemas.microsoft.com/office/drawing/2014/main" id="{3E6EE9EC-8AB4-C3E9-5B75-7DB392ADBB77}"/>
              </a:ext>
            </a:extLst>
          </p:cNvPr>
          <p:cNvPicPr>
            <a:picLocks noChangeAspect="1"/>
          </p:cNvPicPr>
          <p:nvPr/>
        </p:nvPicPr>
        <p:blipFill>
          <a:blip r:embed="rId5"/>
          <a:stretch>
            <a:fillRect/>
          </a:stretch>
        </p:blipFill>
        <p:spPr>
          <a:xfrm>
            <a:off x="2767654" y="5420134"/>
            <a:ext cx="1077988" cy="889206"/>
          </a:xfrm>
          <a:prstGeom prst="rect">
            <a:avLst/>
          </a:prstGeom>
        </p:spPr>
      </p:pic>
    </p:spTree>
    <p:extLst>
      <p:ext uri="{BB962C8B-B14F-4D97-AF65-F5344CB8AC3E}">
        <p14:creationId xmlns:p14="http://schemas.microsoft.com/office/powerpoint/2010/main" val="17237555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E214AA83-7B99-5FBF-03E1-15B4E303CF95}"/>
              </a:ext>
            </a:extLst>
          </p:cNvPr>
          <p:cNvSpPr txBox="1"/>
          <p:nvPr/>
        </p:nvSpPr>
        <p:spPr>
          <a:xfrm>
            <a:off x="390600" y="274753"/>
            <a:ext cx="607680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DC18EAC6-8FF4-4DC7-B3C5-B0BB5CC180C4}"/>
              </a:ext>
            </a:extLst>
          </p:cNvPr>
          <p:cNvSpPr txBox="1"/>
          <p:nvPr/>
        </p:nvSpPr>
        <p:spPr>
          <a:xfrm>
            <a:off x="420036" y="774866"/>
            <a:ext cx="6048000"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Maximum Absolute ratings </a:t>
            </a:r>
            <a:r>
              <a:rPr lang="en-US" altLang="ko-KR" sz="900" dirty="0">
                <a:latin typeface="Arial" panose="020B0604020202020204" pitchFamily="34" charset="0"/>
                <a:cs typeface="Arial" panose="020B0604020202020204" pitchFamily="34" charset="0"/>
              </a:rPr>
              <a:t>(Ta = 25℃ unless otherwise noted)</a:t>
            </a:r>
            <a:endParaRPr lang="ko-KR" altLang="en-US" sz="1200" dirty="0">
              <a:latin typeface="Arial" panose="020B0604020202020204" pitchFamily="34" charset="0"/>
              <a:cs typeface="Arial" panose="020B0604020202020204" pitchFamily="34" charset="0"/>
            </a:endParaRPr>
          </a:p>
        </p:txBody>
      </p:sp>
      <p:graphicFrame>
        <p:nvGraphicFramePr>
          <p:cNvPr id="7" name="표 6">
            <a:extLst>
              <a:ext uri="{FF2B5EF4-FFF2-40B4-BE49-F238E27FC236}">
                <a16:creationId xmlns:a16="http://schemas.microsoft.com/office/drawing/2014/main" id="{57099848-8D5D-8367-A689-701F7F20826F}"/>
              </a:ext>
            </a:extLst>
          </p:cNvPr>
          <p:cNvGraphicFramePr>
            <a:graphicFrameLocks noGrp="1"/>
          </p:cNvGraphicFramePr>
          <p:nvPr>
            <p:extLst>
              <p:ext uri="{D42A27DB-BD31-4B8C-83A1-F6EECF244321}">
                <p14:modId xmlns:p14="http://schemas.microsoft.com/office/powerpoint/2010/main" val="1955553897"/>
              </p:ext>
            </p:extLst>
          </p:nvPr>
        </p:nvGraphicFramePr>
        <p:xfrm>
          <a:off x="386557" y="1151755"/>
          <a:ext cx="6084887" cy="3998409"/>
        </p:xfrm>
        <a:graphic>
          <a:graphicData uri="http://schemas.openxmlformats.org/drawingml/2006/table">
            <a:tbl>
              <a:tblPr>
                <a:tableStyleId>{5C22544A-7EE6-4342-B048-85BDC9FD1C3A}</a:tableStyleId>
              </a:tblPr>
              <a:tblGrid>
                <a:gridCol w="2444900">
                  <a:extLst>
                    <a:ext uri="{9D8B030D-6E8A-4147-A177-3AD203B41FA5}">
                      <a16:colId xmlns:a16="http://schemas.microsoft.com/office/drawing/2014/main" val="1199541810"/>
                    </a:ext>
                  </a:extLst>
                </a:gridCol>
                <a:gridCol w="941455">
                  <a:extLst>
                    <a:ext uri="{9D8B030D-6E8A-4147-A177-3AD203B41FA5}">
                      <a16:colId xmlns:a16="http://schemas.microsoft.com/office/drawing/2014/main" val="2771136683"/>
                    </a:ext>
                  </a:extLst>
                </a:gridCol>
                <a:gridCol w="2132683">
                  <a:extLst>
                    <a:ext uri="{9D8B030D-6E8A-4147-A177-3AD203B41FA5}">
                      <a16:colId xmlns:a16="http://schemas.microsoft.com/office/drawing/2014/main" val="112759525"/>
                    </a:ext>
                  </a:extLst>
                </a:gridCol>
                <a:gridCol w="565849">
                  <a:extLst>
                    <a:ext uri="{9D8B030D-6E8A-4147-A177-3AD203B41FA5}">
                      <a16:colId xmlns:a16="http://schemas.microsoft.com/office/drawing/2014/main" val="3900317923"/>
                    </a:ext>
                  </a:extLst>
                </a:gridCol>
              </a:tblGrid>
              <a:tr h="245245">
                <a:tc>
                  <a:txBody>
                    <a:bodyPr/>
                    <a:lstStyle/>
                    <a:p>
                      <a:pPr algn="ctr" fontAlgn="ctr"/>
                      <a:r>
                        <a:rPr lang="en-US" sz="900" b="1" u="none" strike="noStrike" dirty="0">
                          <a:effectLst/>
                          <a:latin typeface="Arial" panose="020B0604020202020204" pitchFamily="34" charset="0"/>
                          <a:cs typeface="Arial" panose="020B0604020202020204" pitchFamily="34" charset="0"/>
                        </a:rPr>
                        <a:t>Parameter</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90000" marB="9000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90000" marB="90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90000" marB="90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90000" marB="9000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-0.3 ~ 6.5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283173">
                <a:tc>
                  <a:txBody>
                    <a:bodyPr/>
                    <a:lstStyle/>
                    <a:p>
                      <a:pPr algn="ctr" fontAlgn="ctr"/>
                      <a:r>
                        <a:rPr lang="it-IT"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 output pin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40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 output current</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64</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0774392"/>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to GND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DD</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43604288"/>
                  </a:ext>
                </a:extLst>
              </a:tr>
              <a:tr h="283173">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to GND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DDIO</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DD</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2768681"/>
                  </a:ext>
                </a:extLst>
              </a:tr>
              <a:tr h="283173">
                <a:tc>
                  <a:txBody>
                    <a:bodyPr/>
                    <a:lstStyle/>
                    <a:p>
                      <a:pPr marR="149860" algn="l">
                        <a:spcBef>
                          <a:spcPts val="115"/>
                        </a:spcBef>
                        <a:spcAft>
                          <a:spcPts val="0"/>
                        </a:spcAft>
                      </a:pPr>
                      <a:r>
                        <a:rPr lang="en-US" sz="900" dirty="0">
                          <a:effectLst/>
                          <a:latin typeface="Arial" panose="020B0604020202020204" pitchFamily="34" charset="0"/>
                          <a:ea typeface="Arial" panose="020B0604020202020204" pitchFamily="34" charset="0"/>
                          <a:cs typeface="Arial" panose="020B0604020202020204" pitchFamily="34" charset="0"/>
                        </a:rPr>
                        <a:t> Thermal</a:t>
                      </a:r>
                      <a:r>
                        <a:rPr lang="en-US" sz="900" spc="-25" dirty="0">
                          <a:effectLst/>
                          <a:latin typeface="Arial" panose="020B0604020202020204" pitchFamily="34" charset="0"/>
                          <a:ea typeface="Arial" panose="020B0604020202020204" pitchFamily="34" charset="0"/>
                          <a:cs typeface="Arial" panose="020B0604020202020204" pitchFamily="34" charset="0"/>
                        </a:rPr>
                        <a:t> </a:t>
                      </a:r>
                      <a:r>
                        <a:rPr lang="en-US" sz="900" dirty="0">
                          <a:effectLst/>
                          <a:latin typeface="Arial" panose="020B0604020202020204" pitchFamily="34" charset="0"/>
                          <a:ea typeface="Arial" panose="020B0604020202020204" pitchFamily="34" charset="0"/>
                          <a:cs typeface="Arial" panose="020B0604020202020204" pitchFamily="34" charset="0"/>
                        </a:rPr>
                        <a:t>Resistance</a:t>
                      </a:r>
                      <a:endParaRPr lang="ko-KR" sz="900" dirty="0">
                        <a:effectLst/>
                        <a:latin typeface="Arial" panose="020B0604020202020204" pitchFamily="34" charset="0"/>
                        <a:ea typeface="Arial" panose="020B0604020202020204" pitchFamily="34" charset="0"/>
                        <a:cs typeface="Arial" panose="020B0604020202020204" pitchFamily="34" charset="0"/>
                      </a:endParaRPr>
                    </a:p>
                  </a:txBody>
                  <a:tcPr marL="0" marR="0" marT="0" marB="0" anchor="ctr">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6949784"/>
                  </a:ext>
                </a:extLst>
              </a:tr>
              <a:tr h="283173">
                <a:tc>
                  <a:txBody>
                    <a:bodyPr/>
                    <a:lstStyle/>
                    <a:p>
                      <a:pPr marL="0" marR="0" lvl="0" indent="0" algn="r" defTabSz="685800" rtl="0" eaLnBrk="1" fontAlgn="ctr" latinLnBrk="1" hangingPunct="1">
                        <a:lnSpc>
                          <a:spcPct val="100000"/>
                        </a:lnSpc>
                        <a:spcBef>
                          <a:spcPts val="0"/>
                        </a:spcBef>
                        <a:spcAft>
                          <a:spcPts val="0"/>
                        </a:spcAft>
                        <a:buClrTx/>
                        <a:buSzTx/>
                        <a:buFontTx/>
                        <a:buNone/>
                        <a:tabLst/>
                        <a:defRPr/>
                      </a:pPr>
                      <a:r>
                        <a:rPr lang="en-US" altLang="ko-KR" sz="900" dirty="0">
                          <a:effectLst/>
                          <a:latin typeface="Arial" panose="020B0604020202020204" pitchFamily="34" charset="0"/>
                          <a:ea typeface="Arial" panose="020B0604020202020204" pitchFamily="34" charset="0"/>
                          <a:cs typeface="Arial" panose="020B0604020202020204" pitchFamily="34" charset="0"/>
                        </a:rPr>
                        <a:t>Junction</a:t>
                      </a:r>
                      <a:r>
                        <a:rPr lang="en-US" altLang="ko-KR" sz="900" spc="-5" dirty="0">
                          <a:effectLst/>
                          <a:latin typeface="Arial" panose="020B0604020202020204" pitchFamily="34" charset="0"/>
                          <a:ea typeface="Arial" panose="020B0604020202020204" pitchFamily="34" charset="0"/>
                          <a:cs typeface="Arial" panose="020B0604020202020204" pitchFamily="34" charset="0"/>
                        </a:rPr>
                        <a:t> </a:t>
                      </a:r>
                      <a:r>
                        <a:rPr lang="en-US" altLang="ko-KR" sz="900" dirty="0">
                          <a:effectLst/>
                          <a:latin typeface="Arial" panose="020B0604020202020204" pitchFamily="34" charset="0"/>
                          <a:ea typeface="Arial" panose="020B0604020202020204" pitchFamily="34" charset="0"/>
                          <a:cs typeface="Arial" panose="020B0604020202020204" pitchFamily="34" charset="0"/>
                        </a:rPr>
                        <a:t>to</a:t>
                      </a:r>
                      <a:r>
                        <a:rPr lang="en-US" altLang="ko-KR" sz="900" spc="-15" dirty="0">
                          <a:effectLst/>
                          <a:latin typeface="Arial" panose="020B0604020202020204" pitchFamily="34" charset="0"/>
                          <a:ea typeface="Arial" panose="020B0604020202020204" pitchFamily="34" charset="0"/>
                          <a:cs typeface="Arial" panose="020B0604020202020204" pitchFamily="34" charset="0"/>
                        </a:rPr>
                        <a:t> Ambient </a:t>
                      </a:r>
                      <a:endParaRPr lang="ko-KR" altLang="ko-KR" sz="900" dirty="0">
                        <a:effectLst/>
                        <a:latin typeface="Arial" panose="020B0604020202020204" pitchFamily="34" charset="0"/>
                        <a:ea typeface="Arial" panose="020B0604020202020204" pitchFamily="34" charset="0"/>
                        <a:cs typeface="Arial" panose="020B0604020202020204" pitchFamily="34" charset="0"/>
                      </a:endParaRPr>
                    </a:p>
                  </a:txBody>
                  <a:tcPr marL="0" marR="7200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a:t>
                      </a:r>
                      <a:r>
                        <a:rPr lang="el-G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θ</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JA</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TBD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℃/W</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9172846"/>
                  </a:ext>
                </a:extLst>
              </a:tr>
              <a:tr h="283173">
                <a:tc>
                  <a:txBody>
                    <a:bodyPr/>
                    <a:lstStyle/>
                    <a:p>
                      <a:pPr marL="0" marR="0" lvl="0" indent="0" algn="r" defTabSz="685800" rtl="0" eaLnBrk="1" fontAlgn="ctr" latinLnBrk="1" hangingPunct="1">
                        <a:lnSpc>
                          <a:spcPct val="100000"/>
                        </a:lnSpc>
                        <a:spcBef>
                          <a:spcPts val="0"/>
                        </a:spcBef>
                        <a:spcAft>
                          <a:spcPts val="0"/>
                        </a:spcAft>
                        <a:buClrTx/>
                        <a:buSzTx/>
                        <a:buFontTx/>
                        <a:buNone/>
                        <a:tabLst/>
                        <a:defRPr/>
                      </a:pPr>
                      <a:r>
                        <a:rPr lang="en-US" altLang="ko-KR" sz="900" dirty="0">
                          <a:effectLst/>
                          <a:latin typeface="Arial" panose="020B0604020202020204" pitchFamily="34" charset="0"/>
                          <a:ea typeface="Arial" panose="020B0604020202020204" pitchFamily="34" charset="0"/>
                          <a:cs typeface="Arial" panose="020B0604020202020204" pitchFamily="34" charset="0"/>
                        </a:rPr>
                        <a:t>Junction</a:t>
                      </a:r>
                      <a:r>
                        <a:rPr lang="en-US" altLang="ko-KR" sz="900" spc="-5" dirty="0">
                          <a:effectLst/>
                          <a:latin typeface="Arial" panose="020B0604020202020204" pitchFamily="34" charset="0"/>
                          <a:ea typeface="Arial" panose="020B0604020202020204" pitchFamily="34" charset="0"/>
                          <a:cs typeface="Arial" panose="020B0604020202020204" pitchFamily="34" charset="0"/>
                        </a:rPr>
                        <a:t> </a:t>
                      </a:r>
                      <a:r>
                        <a:rPr lang="en-US" altLang="ko-KR" sz="900" dirty="0">
                          <a:effectLst/>
                          <a:latin typeface="Arial" panose="020B0604020202020204" pitchFamily="34" charset="0"/>
                          <a:ea typeface="Arial" panose="020B0604020202020204" pitchFamily="34" charset="0"/>
                          <a:cs typeface="Arial" panose="020B0604020202020204" pitchFamily="34" charset="0"/>
                        </a:rPr>
                        <a:t>to</a:t>
                      </a:r>
                      <a:r>
                        <a:rPr lang="en-US" altLang="ko-KR" sz="900" spc="-15" dirty="0">
                          <a:effectLst/>
                          <a:latin typeface="Arial" panose="020B0604020202020204" pitchFamily="34" charset="0"/>
                          <a:ea typeface="Arial" panose="020B0604020202020204" pitchFamily="34" charset="0"/>
                          <a:cs typeface="Arial" panose="020B0604020202020204" pitchFamily="34" charset="0"/>
                        </a:rPr>
                        <a:t> Case</a:t>
                      </a:r>
                      <a:endParaRPr lang="ko-KR" altLang="ko-KR" sz="900" dirty="0">
                        <a:effectLst/>
                        <a:latin typeface="Arial" panose="020B0604020202020204" pitchFamily="34" charset="0"/>
                        <a:ea typeface="Arial" panose="020B0604020202020204" pitchFamily="34" charset="0"/>
                        <a:cs typeface="Arial" panose="020B0604020202020204" pitchFamily="34" charset="0"/>
                      </a:endParaRPr>
                    </a:p>
                  </a:txBody>
                  <a:tcPr marL="9525" marR="72000"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a:t>
                      </a:r>
                      <a:r>
                        <a:rPr lang="el-G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θ</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JC</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TBD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℃/W</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7276827"/>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Power Dissipation on package</a:t>
                      </a:r>
                      <a:endParaRPr lang="en-US"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P</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TOT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TBD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W</a:t>
                      </a: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7858887"/>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Junction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J</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 ~ 150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0151205"/>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Storage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STG</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-45 ~ 150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4738261"/>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Relative Humidity (non-condensing)</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RH</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NC</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5 ~ 85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3496677"/>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Moisture Sensitivity</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MSL</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Maximum Floor Life-time</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9059752"/>
                  </a:ext>
                </a:extLst>
              </a:tr>
            </a:tbl>
          </a:graphicData>
        </a:graphic>
      </p:graphicFrame>
      <p:sp>
        <p:nvSpPr>
          <p:cNvPr id="4" name="object 16">
            <a:extLst>
              <a:ext uri="{FF2B5EF4-FFF2-40B4-BE49-F238E27FC236}">
                <a16:creationId xmlns:a16="http://schemas.microsoft.com/office/drawing/2014/main" id="{B8EE87AF-0E59-9154-E426-02B132D5E156}"/>
              </a:ext>
            </a:extLst>
          </p:cNvPr>
          <p:cNvSpPr txBox="1"/>
          <p:nvPr/>
        </p:nvSpPr>
        <p:spPr>
          <a:xfrm>
            <a:off x="400853" y="5249697"/>
            <a:ext cx="6044661" cy="302647"/>
          </a:xfrm>
          <a:prstGeom prst="rect">
            <a:avLst/>
          </a:prstGeom>
        </p:spPr>
        <p:txBody>
          <a:bodyPr vert="horz" wrap="square" lIns="0" tIns="12700" rIns="0" bIns="0" rtlCol="0">
            <a:spAutoFit/>
          </a:bodyPr>
          <a:lstStyle/>
          <a:p>
            <a:pPr marL="38100">
              <a:lnSpc>
                <a:spcPct val="100000"/>
              </a:lnSpc>
              <a:spcBef>
                <a:spcPts val="100"/>
              </a:spcBef>
            </a:pPr>
            <a:r>
              <a:rPr lang="en-US" sz="900" dirty="0">
                <a:latin typeface="Arial" panose="020B0604020202020204" pitchFamily="34" charset="0"/>
                <a:cs typeface="Arial" panose="020B0604020202020204" pitchFamily="34" charset="0"/>
              </a:rPr>
              <a:t>Stresses beyond the Maximum Absolute ratings may cause permanent damage to the device </a:t>
            </a:r>
          </a:p>
          <a:p>
            <a:pPr marL="38100">
              <a:lnSpc>
                <a:spcPct val="100000"/>
              </a:lnSpc>
              <a:spcBef>
                <a:spcPts val="100"/>
              </a:spcBef>
            </a:pPr>
            <a:r>
              <a:rPr lang="en-US" sz="900" dirty="0">
                <a:latin typeface="Arial" panose="020B0604020202020204" pitchFamily="34" charset="0"/>
                <a:cs typeface="Arial" panose="020B0604020202020204" pitchFamily="34" charset="0"/>
              </a:rPr>
              <a:t>Note :  1) Surface mounted on FR-4 substrate PC Board 1” x 1” inch 2-oz copper plate</a:t>
            </a:r>
            <a:endParaRPr lang="en-US" sz="900" spc="-5" dirty="0">
              <a:latin typeface="Arial" panose="020B0604020202020204" pitchFamily="34" charset="0"/>
              <a:cs typeface="Arial" panose="020B0604020202020204" pitchFamily="34" charset="0"/>
            </a:endParaRPr>
          </a:p>
        </p:txBody>
      </p:sp>
      <p:graphicFrame>
        <p:nvGraphicFramePr>
          <p:cNvPr id="9" name="표 8">
            <a:extLst>
              <a:ext uri="{FF2B5EF4-FFF2-40B4-BE49-F238E27FC236}">
                <a16:creationId xmlns:a16="http://schemas.microsoft.com/office/drawing/2014/main" id="{362DA98D-0BBC-2A8F-1FD6-4E2467EBC0FA}"/>
              </a:ext>
            </a:extLst>
          </p:cNvPr>
          <p:cNvGraphicFramePr>
            <a:graphicFrameLocks noGrp="1"/>
          </p:cNvGraphicFramePr>
          <p:nvPr>
            <p:extLst>
              <p:ext uri="{D42A27DB-BD31-4B8C-83A1-F6EECF244321}">
                <p14:modId xmlns:p14="http://schemas.microsoft.com/office/powerpoint/2010/main" val="2516771627"/>
              </p:ext>
            </p:extLst>
          </p:nvPr>
        </p:nvGraphicFramePr>
        <p:xfrm>
          <a:off x="400853" y="6778467"/>
          <a:ext cx="6048621" cy="1158313"/>
        </p:xfrm>
        <a:graphic>
          <a:graphicData uri="http://schemas.openxmlformats.org/drawingml/2006/table">
            <a:tbl>
              <a:tblPr>
                <a:tableStyleId>{5C22544A-7EE6-4342-B048-85BDC9FD1C3A}</a:tableStyleId>
              </a:tblPr>
              <a:tblGrid>
                <a:gridCol w="2424503">
                  <a:extLst>
                    <a:ext uri="{9D8B030D-6E8A-4147-A177-3AD203B41FA5}">
                      <a16:colId xmlns:a16="http://schemas.microsoft.com/office/drawing/2014/main" val="1320303658"/>
                    </a:ext>
                  </a:extLst>
                </a:gridCol>
                <a:gridCol w="941668">
                  <a:extLst>
                    <a:ext uri="{9D8B030D-6E8A-4147-A177-3AD203B41FA5}">
                      <a16:colId xmlns:a16="http://schemas.microsoft.com/office/drawing/2014/main" val="1181630776"/>
                    </a:ext>
                  </a:extLst>
                </a:gridCol>
                <a:gridCol w="805877">
                  <a:extLst>
                    <a:ext uri="{9D8B030D-6E8A-4147-A177-3AD203B41FA5}">
                      <a16:colId xmlns:a16="http://schemas.microsoft.com/office/drawing/2014/main" val="3949318443"/>
                    </a:ext>
                  </a:extLst>
                </a:gridCol>
                <a:gridCol w="401076">
                  <a:extLst>
                    <a:ext uri="{9D8B030D-6E8A-4147-A177-3AD203B41FA5}">
                      <a16:colId xmlns:a16="http://schemas.microsoft.com/office/drawing/2014/main" val="3257084413"/>
                    </a:ext>
                  </a:extLst>
                </a:gridCol>
                <a:gridCol w="1475497">
                  <a:extLst>
                    <a:ext uri="{9D8B030D-6E8A-4147-A177-3AD203B41FA5}">
                      <a16:colId xmlns:a16="http://schemas.microsoft.com/office/drawing/2014/main" val="3840390301"/>
                    </a:ext>
                  </a:extLst>
                </a:gridCol>
              </a:tblGrid>
              <a:tr h="322605">
                <a:tc>
                  <a:txBody>
                    <a:bodyPr/>
                    <a:lstStyle/>
                    <a:p>
                      <a:pPr algn="ctr" fontAlgn="ctr"/>
                      <a:r>
                        <a:rPr lang="en-US" sz="900" b="1" u="none" strike="noStrike" dirty="0">
                          <a:effectLst/>
                          <a:latin typeface="Arial" panose="020B0604020202020204" pitchFamily="34" charset="0"/>
                          <a:cs typeface="Arial" panose="020B0604020202020204" pitchFamily="34" charset="0"/>
                        </a:rPr>
                        <a:t>Parameter</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316782134"/>
                  </a:ext>
                </a:extLst>
              </a:tr>
              <a:tr h="417854">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Electrostatic Discharge HBM</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 Contact</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ESD</a:t>
                      </a:r>
                      <a:r>
                        <a:rPr lang="en-US" sz="900" kern="0" baseline="-25000" dirty="0">
                          <a:effectLst/>
                          <a:latin typeface="Arial" panose="020B0604020202020204" pitchFamily="34" charset="0"/>
                          <a:ea typeface="맑은 고딕" panose="020B0503020000020004" pitchFamily="50" charset="-127"/>
                          <a:cs typeface="Arial" panose="020B0604020202020204" pitchFamily="34" charset="0"/>
                        </a:rPr>
                        <a:t>HBM</a:t>
                      </a:r>
                      <a:endParaRPr lang="ko-KR" sz="900" kern="100" baseline="-250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zh-CN" sz="900" kern="0" dirty="0">
                          <a:effectLst/>
                          <a:latin typeface="Arial" panose="020B0604020202020204" pitchFamily="34" charset="0"/>
                          <a:ea typeface="MyriadPro-Regular"/>
                          <a:cs typeface="Arial" panose="020B0604020202020204" pitchFamily="34" charset="0"/>
                        </a:rPr>
                        <a:t>±</a:t>
                      </a:r>
                      <a:r>
                        <a:rPr lang="en-US" sz="900" kern="0" dirty="0">
                          <a:effectLst/>
                          <a:latin typeface="Arial" panose="020B0604020202020204" pitchFamily="34" charset="0"/>
                          <a:ea typeface="맑은 고딕" panose="020B0503020000020004" pitchFamily="50" charset="-127"/>
                          <a:cs typeface="Arial" panose="020B0604020202020204" pitchFamily="34" charset="0"/>
                        </a:rPr>
                        <a:t>2K</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V</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C=100 pF, R=1.5 k</a:t>
                      </a:r>
                      <a:r>
                        <a:rPr lang="ko-KR" sz="900" kern="0" dirty="0">
                          <a:effectLst/>
                          <a:latin typeface="Arial" panose="020B0604020202020204" pitchFamily="34" charset="0"/>
                          <a:ea typeface="맑은 고딕" panose="020B0503020000020004" pitchFamily="50" charset="-127"/>
                          <a:cs typeface="Arial" panose="020B0604020202020204" pitchFamily="34" charset="0"/>
                        </a:rPr>
                        <a:t>Ω</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251016"/>
                  </a:ext>
                </a:extLst>
              </a:tr>
              <a:tr h="417854">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Electrostatic Discharge CDM</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 Contact</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ESD</a:t>
                      </a:r>
                      <a:r>
                        <a:rPr lang="en-US" sz="900" kern="0" baseline="-25000" dirty="0">
                          <a:effectLst/>
                          <a:latin typeface="Arial" panose="020B0604020202020204" pitchFamily="34" charset="0"/>
                          <a:ea typeface="맑은 고딕" panose="020B0503020000020004" pitchFamily="50" charset="-127"/>
                          <a:cs typeface="Arial" panose="020B0604020202020204" pitchFamily="34" charset="0"/>
                        </a:rPr>
                        <a:t>CDM</a:t>
                      </a:r>
                      <a:endParaRPr lang="ko-KR" sz="900" kern="100" baseline="-250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zh-CN" sz="900" kern="0" dirty="0">
                          <a:effectLst/>
                          <a:latin typeface="Arial" panose="020B0604020202020204" pitchFamily="34" charset="0"/>
                          <a:ea typeface="MyriadPro-Regular"/>
                          <a:cs typeface="Arial" panose="020B0604020202020204" pitchFamily="34" charset="0"/>
                        </a:rPr>
                        <a:t>±</a:t>
                      </a:r>
                      <a:r>
                        <a:rPr lang="en-US" sz="900" kern="0" dirty="0">
                          <a:effectLst/>
                          <a:latin typeface="Arial" panose="020B0604020202020204" pitchFamily="34" charset="0"/>
                          <a:ea typeface="맑은 고딕" panose="020B0503020000020004" pitchFamily="50" charset="-127"/>
                          <a:cs typeface="Arial" panose="020B0604020202020204" pitchFamily="34" charset="0"/>
                        </a:rPr>
                        <a:t>500</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V</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R=1 </a:t>
                      </a:r>
                      <a:r>
                        <a:rPr lang="ko-KR" sz="900" kern="0" dirty="0">
                          <a:effectLst/>
                          <a:latin typeface="Arial" panose="020B0604020202020204" pitchFamily="34" charset="0"/>
                          <a:ea typeface="맑은 고딕" panose="020B0503020000020004" pitchFamily="50" charset="-127"/>
                          <a:cs typeface="Arial" panose="020B0604020202020204" pitchFamily="34" charset="0"/>
                        </a:rPr>
                        <a:t>Ω</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5324812"/>
                  </a:ext>
                </a:extLst>
              </a:tr>
            </a:tbl>
          </a:graphicData>
        </a:graphic>
      </p:graphicFrame>
      <p:sp>
        <p:nvSpPr>
          <p:cNvPr id="12" name="TextBox 11">
            <a:extLst>
              <a:ext uri="{FF2B5EF4-FFF2-40B4-BE49-F238E27FC236}">
                <a16:creationId xmlns:a16="http://schemas.microsoft.com/office/drawing/2014/main" id="{453186D2-6ABB-E3B1-207B-45F7B524DED4}"/>
              </a:ext>
            </a:extLst>
          </p:cNvPr>
          <p:cNvSpPr txBox="1"/>
          <p:nvPr/>
        </p:nvSpPr>
        <p:spPr>
          <a:xfrm>
            <a:off x="400853" y="6383797"/>
            <a:ext cx="605258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Electrostatic Discharge</a:t>
            </a:r>
            <a:endParaRPr lang="ko-KR" altLang="en-US" sz="1200" dirty="0">
              <a:latin typeface="Arial" panose="020B0604020202020204" pitchFamily="34" charset="0"/>
              <a:cs typeface="Arial" panose="020B0604020202020204" pitchFamily="34" charset="0"/>
            </a:endParaRPr>
          </a:p>
        </p:txBody>
      </p:sp>
      <p:sp>
        <p:nvSpPr>
          <p:cNvPr id="13" name="object 11">
            <a:extLst>
              <a:ext uri="{FF2B5EF4-FFF2-40B4-BE49-F238E27FC236}">
                <a16:creationId xmlns:a16="http://schemas.microsoft.com/office/drawing/2014/main" id="{42B86B8D-A181-9881-EE41-413D34D04E85}"/>
              </a:ext>
            </a:extLst>
          </p:cNvPr>
          <p:cNvSpPr txBox="1"/>
          <p:nvPr/>
        </p:nvSpPr>
        <p:spPr>
          <a:xfrm>
            <a:off x="2554451" y="8111019"/>
            <a:ext cx="1796133" cy="128240"/>
          </a:xfrm>
          <a:prstGeom prst="rect">
            <a:avLst/>
          </a:prstGeom>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3</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Electrostatic Discharge</a:t>
            </a:r>
          </a:p>
        </p:txBody>
      </p:sp>
      <p:sp>
        <p:nvSpPr>
          <p:cNvPr id="14" name="object 11">
            <a:extLst>
              <a:ext uri="{FF2B5EF4-FFF2-40B4-BE49-F238E27FC236}">
                <a16:creationId xmlns:a16="http://schemas.microsoft.com/office/drawing/2014/main" id="{E4403F7C-A05C-40B9-F31B-3D3867FE9B30}"/>
              </a:ext>
            </a:extLst>
          </p:cNvPr>
          <p:cNvSpPr txBox="1"/>
          <p:nvPr/>
        </p:nvSpPr>
        <p:spPr>
          <a:xfrm>
            <a:off x="2412906" y="5713883"/>
            <a:ext cx="2020553" cy="128240"/>
          </a:xfrm>
          <a:prstGeom prst="rect">
            <a:avLst/>
          </a:prstGeom>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lang="en-US" sz="900" b="1" dirty="0">
                <a:solidFill>
                  <a:prstClr val="black"/>
                </a:solidFill>
                <a:latin typeface="Arial" panose="020B0604020202020204" pitchFamily="34" charset="0"/>
                <a:cs typeface="Arial" panose="020B0604020202020204" pitchFamily="34" charset="0"/>
              </a:rPr>
              <a:t>2</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Maximum Absolute ratings </a:t>
            </a:r>
            <a:endParaRPr kumimoji="0" sz="900" dirty="0">
              <a:solidFill>
                <a:prstClr val="black"/>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7937124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1856DBA-E87C-4BBC-DFA5-64204302E04F}"/>
              </a:ext>
            </a:extLst>
          </p:cNvPr>
          <p:cNvSpPr txBox="1"/>
          <p:nvPr/>
        </p:nvSpPr>
        <p:spPr>
          <a:xfrm>
            <a:off x="390027"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941C9A0C-097D-EE08-29D9-040B16173601}"/>
              </a:ext>
            </a:extLst>
          </p:cNvPr>
          <p:cNvGraphicFramePr>
            <a:graphicFrameLocks noGrp="1"/>
          </p:cNvGraphicFramePr>
          <p:nvPr>
            <p:extLst>
              <p:ext uri="{D42A27DB-BD31-4B8C-83A1-F6EECF244321}">
                <p14:modId xmlns:p14="http://schemas.microsoft.com/office/powerpoint/2010/main" val="4217660581"/>
              </p:ext>
            </p:extLst>
          </p:nvPr>
        </p:nvGraphicFramePr>
        <p:xfrm>
          <a:off x="404812" y="1146142"/>
          <a:ext cx="6084887" cy="6490024"/>
        </p:xfrm>
        <a:graphic>
          <a:graphicData uri="http://schemas.openxmlformats.org/drawingml/2006/table">
            <a:tbl>
              <a:tblPr>
                <a:tableStyleId>{5C22544A-7EE6-4342-B048-85BDC9FD1C3A}</a:tableStyleId>
              </a:tblPr>
              <a:tblGrid>
                <a:gridCol w="1410931">
                  <a:extLst>
                    <a:ext uri="{9D8B030D-6E8A-4147-A177-3AD203B41FA5}">
                      <a16:colId xmlns:a16="http://schemas.microsoft.com/office/drawing/2014/main" val="1199541810"/>
                    </a:ext>
                  </a:extLst>
                </a:gridCol>
                <a:gridCol w="688128">
                  <a:extLst>
                    <a:ext uri="{9D8B030D-6E8A-4147-A177-3AD203B41FA5}">
                      <a16:colId xmlns:a16="http://schemas.microsoft.com/office/drawing/2014/main" val="2771136683"/>
                    </a:ext>
                  </a:extLst>
                </a:gridCol>
                <a:gridCol w="1820466">
                  <a:extLst>
                    <a:ext uri="{9D8B030D-6E8A-4147-A177-3AD203B41FA5}">
                      <a16:colId xmlns:a16="http://schemas.microsoft.com/office/drawing/2014/main" val="112759525"/>
                    </a:ext>
                  </a:extLst>
                </a:gridCol>
                <a:gridCol w="533171">
                  <a:extLst>
                    <a:ext uri="{9D8B030D-6E8A-4147-A177-3AD203B41FA5}">
                      <a16:colId xmlns:a16="http://schemas.microsoft.com/office/drawing/2014/main" val="2315189607"/>
                    </a:ext>
                  </a:extLst>
                </a:gridCol>
                <a:gridCol w="533171">
                  <a:extLst>
                    <a:ext uri="{9D8B030D-6E8A-4147-A177-3AD203B41FA5}">
                      <a16:colId xmlns:a16="http://schemas.microsoft.com/office/drawing/2014/main" val="1695008994"/>
                    </a:ext>
                  </a:extLst>
                </a:gridCol>
                <a:gridCol w="533171">
                  <a:extLst>
                    <a:ext uri="{9D8B030D-6E8A-4147-A177-3AD203B41FA5}">
                      <a16:colId xmlns:a16="http://schemas.microsoft.com/office/drawing/2014/main" val="1448189180"/>
                    </a:ext>
                  </a:extLst>
                </a:gridCol>
                <a:gridCol w="565849">
                  <a:extLst>
                    <a:ext uri="{9D8B030D-6E8A-4147-A177-3AD203B41FA5}">
                      <a16:colId xmlns:a16="http://schemas.microsoft.com/office/drawing/2014/main" val="3900317923"/>
                    </a:ext>
                  </a:extLst>
                </a:gridCol>
              </a:tblGrid>
              <a:tr h="142908">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0000" marB="9000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0000" marB="90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0000" marB="90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0000" marB="9000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133301">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827951154"/>
                  </a:ext>
                </a:extLst>
              </a:tr>
              <a:tr h="200107">
                <a:tc gridSpan="7">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Supply voltage</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200107">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Operating voltage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4.5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5.0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5.5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200107">
                <a:tc>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Supply current</a:t>
                      </a: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0774392"/>
                  </a:ext>
                </a:extLst>
              </a:tr>
              <a:tr h="200107">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Quiescent Current </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Standby state, No LED current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1.7</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4298844"/>
                  </a:ext>
                </a:extLst>
              </a:tr>
              <a:tr h="200107">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1</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DD1</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4mA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1.8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9015921"/>
                  </a:ext>
                </a:extLst>
              </a:tr>
              <a:tr h="200107">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2</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8mA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2.0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9770831"/>
                  </a:ext>
                </a:extLst>
              </a:tr>
              <a:tr h="200107">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3</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12mA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2.2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21691964"/>
                  </a:ext>
                </a:extLst>
              </a:tr>
              <a:tr h="200107">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4</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DD4</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16mA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2.4</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03255047"/>
                  </a:ext>
                </a:extLst>
              </a:tr>
              <a:tr h="200107">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5</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24mA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2.8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44212351"/>
                  </a:ext>
                </a:extLst>
              </a:tr>
              <a:tr h="200107">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6</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32mA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3.2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9918571"/>
                  </a:ext>
                </a:extLst>
              </a:tr>
              <a:tr h="200107">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7</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DD7</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46mA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3.8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4940259"/>
                  </a:ext>
                </a:extLst>
              </a:tr>
              <a:tr h="200107">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8</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64mA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4.8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41170575"/>
                  </a:ext>
                </a:extLst>
              </a:tr>
              <a:tr h="200107">
                <a:tc>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Oscillator</a:t>
                      </a: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it-IT"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5929154"/>
                  </a:ext>
                </a:extLst>
              </a:tr>
              <a:tr h="200107">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MCLK</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f</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OSC</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fr-F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14.746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MHz</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03860487"/>
                  </a:ext>
                </a:extLst>
              </a:tr>
              <a:tr h="200107">
                <a:tc gridSpan="7">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In/Out</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353795"/>
                  </a:ext>
                </a:extLst>
              </a:tr>
              <a:tr h="200107">
                <a:tc rowSpan="5">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IL </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Input logic low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9875898"/>
                  </a:ext>
                </a:extLst>
              </a:tr>
              <a:tr h="200107">
                <a:tc vMerge="1">
                  <a:txBody>
                    <a:bodyPr/>
                    <a:lstStyle/>
                    <a:p>
                      <a:pPr algn="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Input logic high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 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9128075"/>
                  </a:ext>
                </a:extLst>
              </a:tr>
              <a:tr h="200107">
                <a:tc vMerge="1">
                  <a:txBody>
                    <a:bodyPr/>
                    <a:lstStyle/>
                    <a:p>
                      <a:pPr algn="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OL </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Output logic low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8477197"/>
                  </a:ext>
                </a:extLst>
              </a:tr>
              <a:tr h="200107">
                <a:tc vMerge="1">
                  <a:txBody>
                    <a:bodyPr/>
                    <a:lstStyle/>
                    <a:p>
                      <a:pPr latinLnBrk="1"/>
                      <a:endParaRPr lang="ko-KR" altLang="en-US"/>
                    </a:p>
                  </a:txBody>
                  <a:tcP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Output logic high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 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7445929"/>
                  </a:ext>
                </a:extLst>
              </a:tr>
              <a:tr h="200107">
                <a:tc vMerge="1">
                  <a:txBody>
                    <a:bodyPr/>
                    <a:lstStyle/>
                    <a:p>
                      <a:pPr algn="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R</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PD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Internal pull-down resistance</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KΩ</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94727661"/>
                  </a:ext>
                </a:extLst>
              </a:tr>
              <a:tr h="200107">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Logic high time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2)</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0L</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7985016"/>
                  </a:ext>
                </a:extLst>
              </a:tr>
              <a:tr h="200107">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Logic low time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2)</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1L</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0H</a:t>
                      </a:r>
                      <a:endPar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51950318"/>
                  </a:ext>
                </a:extLst>
              </a:tr>
              <a:tr h="200107">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delay</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D_DS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Downstream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to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5.0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9.0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050380"/>
                  </a:ext>
                </a:extLst>
              </a:tr>
              <a:tr h="200107">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output skew</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DSKEW_DS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DSKEW_DS </a:t>
                      </a:r>
                      <a:r>
                        <a:rPr lang="en-US" altLang="ko-KR" sz="8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@downstrm</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7501129"/>
                  </a:ext>
                </a:extLst>
              </a:tr>
              <a:tr h="200107">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delay</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D_US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Upstream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to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5.5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9.5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8998610"/>
                  </a:ext>
                </a:extLst>
              </a:tr>
              <a:tr h="200107">
                <a:tc>
                  <a:txBody>
                    <a:bodyPr/>
                    <a:lstStyle/>
                    <a:p>
                      <a:pPr algn="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output skew</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DSKEW_US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DSKEW_US </a:t>
                      </a:r>
                      <a:r>
                        <a:rPr lang="en-US" altLang="ko-KR" sz="8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@upstream</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2.7</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1383269"/>
                  </a:ext>
                </a:extLst>
              </a:tr>
              <a:tr h="868922">
                <a:tc>
                  <a:txBody>
                    <a:bodyPr/>
                    <a:lstStyle/>
                    <a:p>
                      <a:pPr algn="r" fontAlgn="ct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16704114"/>
                  </a:ext>
                </a:extLst>
              </a:tr>
            </a:tbl>
          </a:graphicData>
        </a:graphic>
      </p:graphicFrame>
      <p:sp>
        <p:nvSpPr>
          <p:cNvPr id="5" name="TextBox 4">
            <a:extLst>
              <a:ext uri="{FF2B5EF4-FFF2-40B4-BE49-F238E27FC236}">
                <a16:creationId xmlns:a16="http://schemas.microsoft.com/office/drawing/2014/main" id="{CDBCC130-FE93-A842-A2C7-C233A8E608F3}"/>
              </a:ext>
            </a:extLst>
          </p:cNvPr>
          <p:cNvSpPr txBox="1"/>
          <p:nvPr/>
        </p:nvSpPr>
        <p:spPr>
          <a:xfrm>
            <a:off x="420038" y="774866"/>
            <a:ext cx="4692951"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=5.0V,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cxnSp>
        <p:nvCxnSpPr>
          <p:cNvPr id="6" name="직선 연결선 5">
            <a:extLst>
              <a:ext uri="{FF2B5EF4-FFF2-40B4-BE49-F238E27FC236}">
                <a16:creationId xmlns:a16="http://schemas.microsoft.com/office/drawing/2014/main" id="{E46F34CF-793E-C6A6-F89F-5AB77A74B8F9}"/>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9" name="그룹 38">
            <a:extLst>
              <a:ext uri="{FF2B5EF4-FFF2-40B4-BE49-F238E27FC236}">
                <a16:creationId xmlns:a16="http://schemas.microsoft.com/office/drawing/2014/main" id="{A822BD45-7C3F-A56B-2707-1B54E2C364AB}"/>
              </a:ext>
            </a:extLst>
          </p:cNvPr>
          <p:cNvGrpSpPr/>
          <p:nvPr/>
        </p:nvGrpSpPr>
        <p:grpSpPr>
          <a:xfrm>
            <a:off x="2808266" y="6899313"/>
            <a:ext cx="3145228" cy="600900"/>
            <a:chOff x="1832248" y="5427240"/>
            <a:chExt cx="3333652" cy="580812"/>
          </a:xfrm>
        </p:grpSpPr>
        <p:grpSp>
          <p:nvGrpSpPr>
            <p:cNvPr id="40" name="그룹 39">
              <a:extLst>
                <a:ext uri="{FF2B5EF4-FFF2-40B4-BE49-F238E27FC236}">
                  <a16:creationId xmlns:a16="http://schemas.microsoft.com/office/drawing/2014/main" id="{15299747-B297-4F87-59CD-50CEF62594E1}"/>
                </a:ext>
              </a:extLst>
            </p:cNvPr>
            <p:cNvGrpSpPr/>
            <p:nvPr/>
          </p:nvGrpSpPr>
          <p:grpSpPr>
            <a:xfrm>
              <a:off x="1832248" y="5427240"/>
              <a:ext cx="3331009" cy="135033"/>
              <a:chOff x="1348682" y="5433237"/>
              <a:chExt cx="2215377" cy="212651"/>
            </a:xfrm>
          </p:grpSpPr>
          <p:cxnSp>
            <p:nvCxnSpPr>
              <p:cNvPr id="58" name="직선 연결선 57">
                <a:extLst>
                  <a:ext uri="{FF2B5EF4-FFF2-40B4-BE49-F238E27FC236}">
                    <a16:creationId xmlns:a16="http://schemas.microsoft.com/office/drawing/2014/main" id="{6461855A-3451-4590-5695-0E8F20EBC561}"/>
                  </a:ext>
                </a:extLst>
              </p:cNvPr>
              <p:cNvCxnSpPr/>
              <p:nvPr/>
            </p:nvCxnSpPr>
            <p:spPr>
              <a:xfrm>
                <a:off x="1398181"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직선 연결선 58">
                <a:extLst>
                  <a:ext uri="{FF2B5EF4-FFF2-40B4-BE49-F238E27FC236}">
                    <a16:creationId xmlns:a16="http://schemas.microsoft.com/office/drawing/2014/main" id="{B42B04BD-40BC-3DFD-D84F-5FBBB14A95B3}"/>
                  </a:ext>
                </a:extLst>
              </p:cNvPr>
              <p:cNvCxnSpPr/>
              <p:nvPr/>
            </p:nvCxnSpPr>
            <p:spPr>
              <a:xfrm>
                <a:off x="2081793"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직선 연결선 59">
                <a:extLst>
                  <a:ext uri="{FF2B5EF4-FFF2-40B4-BE49-F238E27FC236}">
                    <a16:creationId xmlns:a16="http://schemas.microsoft.com/office/drawing/2014/main" id="{8F8E5F6F-C2E0-7F8D-1089-5C71538748C2}"/>
                  </a:ext>
                </a:extLst>
              </p:cNvPr>
              <p:cNvCxnSpPr/>
              <p:nvPr/>
            </p:nvCxnSpPr>
            <p:spPr>
              <a:xfrm>
                <a:off x="2484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직선 연결선 60">
                <a:extLst>
                  <a:ext uri="{FF2B5EF4-FFF2-40B4-BE49-F238E27FC236}">
                    <a16:creationId xmlns:a16="http://schemas.microsoft.com/office/drawing/2014/main" id="{2CDA9763-03E0-F627-5CE4-DF653124EC43}"/>
                  </a:ext>
                </a:extLst>
              </p:cNvPr>
              <p:cNvCxnSpPr>
                <a:cxnSpLocks/>
              </p:cNvCxnSpPr>
              <p:nvPr/>
            </p:nvCxnSpPr>
            <p:spPr>
              <a:xfrm flipH="1">
                <a:off x="1398181" y="5433237"/>
                <a:ext cx="68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직선 연결선 61">
                <a:extLst>
                  <a:ext uri="{FF2B5EF4-FFF2-40B4-BE49-F238E27FC236}">
                    <a16:creationId xmlns:a16="http://schemas.microsoft.com/office/drawing/2014/main" id="{0955A057-191B-B3B6-8067-EF21A2D1DF92}"/>
                  </a:ext>
                </a:extLst>
              </p:cNvPr>
              <p:cNvCxnSpPr>
                <a:cxnSpLocks/>
              </p:cNvCxnSpPr>
              <p:nvPr/>
            </p:nvCxnSpPr>
            <p:spPr>
              <a:xfrm flipH="1">
                <a:off x="2081793" y="5645888"/>
                <a:ext cx="39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직선 연결선 62">
                <a:extLst>
                  <a:ext uri="{FF2B5EF4-FFF2-40B4-BE49-F238E27FC236}">
                    <a16:creationId xmlns:a16="http://schemas.microsoft.com/office/drawing/2014/main" id="{CBE87C2A-939F-3B7D-5D89-FAAB43FE3A54}"/>
                  </a:ext>
                </a:extLst>
              </p:cNvPr>
              <p:cNvCxnSpPr>
                <a:cxnSpLocks/>
              </p:cNvCxnSpPr>
              <p:nvPr/>
            </p:nvCxnSpPr>
            <p:spPr>
              <a:xfrm flipH="1">
                <a:off x="2484059" y="5433237"/>
                <a:ext cx="39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직선 연결선 63">
                <a:extLst>
                  <a:ext uri="{FF2B5EF4-FFF2-40B4-BE49-F238E27FC236}">
                    <a16:creationId xmlns:a16="http://schemas.microsoft.com/office/drawing/2014/main" id="{3E1088ED-0614-039D-E804-6ADFB942D991}"/>
                  </a:ext>
                </a:extLst>
              </p:cNvPr>
              <p:cNvCxnSpPr/>
              <p:nvPr/>
            </p:nvCxnSpPr>
            <p:spPr>
              <a:xfrm>
                <a:off x="2880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직선 연결선 64">
                <a:extLst>
                  <a:ext uri="{FF2B5EF4-FFF2-40B4-BE49-F238E27FC236}">
                    <a16:creationId xmlns:a16="http://schemas.microsoft.com/office/drawing/2014/main" id="{52AAD3C7-90FD-D0B1-3416-5457AE2E2AEE}"/>
                  </a:ext>
                </a:extLst>
              </p:cNvPr>
              <p:cNvCxnSpPr>
                <a:cxnSpLocks/>
              </p:cNvCxnSpPr>
              <p:nvPr/>
            </p:nvCxnSpPr>
            <p:spPr>
              <a:xfrm flipH="1">
                <a:off x="2880059" y="5645888"/>
                <a:ext cx="68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직선 연결선 65">
                <a:extLst>
                  <a:ext uri="{FF2B5EF4-FFF2-40B4-BE49-F238E27FC236}">
                    <a16:creationId xmlns:a16="http://schemas.microsoft.com/office/drawing/2014/main" id="{DD2CE96A-9CDA-8BFF-37F1-93DC77AF5567}"/>
                  </a:ext>
                </a:extLst>
              </p:cNvPr>
              <p:cNvCxnSpPr>
                <a:cxnSpLocks/>
              </p:cNvCxnSpPr>
              <p:nvPr/>
            </p:nvCxnSpPr>
            <p:spPr>
              <a:xfrm flipH="1">
                <a:off x="1348682" y="5645888"/>
                <a:ext cx="4788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직선 연결선 66">
                <a:extLst>
                  <a:ext uri="{FF2B5EF4-FFF2-40B4-BE49-F238E27FC236}">
                    <a16:creationId xmlns:a16="http://schemas.microsoft.com/office/drawing/2014/main" id="{E5CB9FFF-19DD-03B4-CAE7-C2F54E47A6A2}"/>
                  </a:ext>
                </a:extLst>
              </p:cNvPr>
              <p:cNvCxnSpPr/>
              <p:nvPr/>
            </p:nvCxnSpPr>
            <p:spPr>
              <a:xfrm>
                <a:off x="3564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1" name="직선 연결선 40">
              <a:extLst>
                <a:ext uri="{FF2B5EF4-FFF2-40B4-BE49-F238E27FC236}">
                  <a16:creationId xmlns:a16="http://schemas.microsoft.com/office/drawing/2014/main" id="{5257A64E-4119-74A6-35B3-6BF3E7E709D9}"/>
                </a:ext>
              </a:extLst>
            </p:cNvPr>
            <p:cNvCxnSpPr>
              <a:cxnSpLocks/>
            </p:cNvCxnSpPr>
            <p:nvPr/>
          </p:nvCxnSpPr>
          <p:spPr>
            <a:xfrm>
              <a:off x="1904720" y="5602561"/>
              <a:ext cx="0" cy="396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2" name="직선 연결선 41">
              <a:extLst>
                <a:ext uri="{FF2B5EF4-FFF2-40B4-BE49-F238E27FC236}">
                  <a16:creationId xmlns:a16="http://schemas.microsoft.com/office/drawing/2014/main" id="{FD274CD4-A04C-5EC8-EB4B-F6610D0122AE}"/>
                </a:ext>
              </a:extLst>
            </p:cNvPr>
            <p:cNvCxnSpPr>
              <a:cxnSpLocks/>
            </p:cNvCxnSpPr>
            <p:nvPr/>
          </p:nvCxnSpPr>
          <p:spPr>
            <a:xfrm>
              <a:off x="3539246" y="5606248"/>
              <a:ext cx="0" cy="396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3" name="직선 연결선 42">
              <a:extLst>
                <a:ext uri="{FF2B5EF4-FFF2-40B4-BE49-F238E27FC236}">
                  <a16:creationId xmlns:a16="http://schemas.microsoft.com/office/drawing/2014/main" id="{8DEA26B2-D184-8616-7FEC-18F3A704626F}"/>
                </a:ext>
              </a:extLst>
            </p:cNvPr>
            <p:cNvCxnSpPr>
              <a:cxnSpLocks/>
            </p:cNvCxnSpPr>
            <p:nvPr/>
          </p:nvCxnSpPr>
          <p:spPr>
            <a:xfrm>
              <a:off x="5163246" y="5612052"/>
              <a:ext cx="0" cy="396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4" name="직선 연결선 43">
              <a:extLst>
                <a:ext uri="{FF2B5EF4-FFF2-40B4-BE49-F238E27FC236}">
                  <a16:creationId xmlns:a16="http://schemas.microsoft.com/office/drawing/2014/main" id="{7CD762D1-DE19-9574-7183-454B727DD440}"/>
                </a:ext>
              </a:extLst>
            </p:cNvPr>
            <p:cNvCxnSpPr>
              <a:cxnSpLocks/>
            </p:cNvCxnSpPr>
            <p:nvPr/>
          </p:nvCxnSpPr>
          <p:spPr>
            <a:xfrm>
              <a:off x="2921795" y="5795235"/>
              <a:ext cx="0" cy="180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5" name="직선 연결선 44">
              <a:extLst>
                <a:ext uri="{FF2B5EF4-FFF2-40B4-BE49-F238E27FC236}">
                  <a16:creationId xmlns:a16="http://schemas.microsoft.com/office/drawing/2014/main" id="{008276A4-1CA6-9C1C-DDEE-DE12D517B084}"/>
                </a:ext>
              </a:extLst>
            </p:cNvPr>
            <p:cNvCxnSpPr>
              <a:cxnSpLocks/>
            </p:cNvCxnSpPr>
            <p:nvPr/>
          </p:nvCxnSpPr>
          <p:spPr>
            <a:xfrm flipH="1">
              <a:off x="1904720" y="5717955"/>
              <a:ext cx="1620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6" name="직선 연결선 45">
              <a:extLst>
                <a:ext uri="{FF2B5EF4-FFF2-40B4-BE49-F238E27FC236}">
                  <a16:creationId xmlns:a16="http://schemas.microsoft.com/office/drawing/2014/main" id="{53755FAE-B53A-95EC-3054-C51F410600AB}"/>
                </a:ext>
              </a:extLst>
            </p:cNvPr>
            <p:cNvCxnSpPr>
              <a:cxnSpLocks/>
            </p:cNvCxnSpPr>
            <p:nvPr/>
          </p:nvCxnSpPr>
          <p:spPr>
            <a:xfrm>
              <a:off x="4148845" y="5819491"/>
              <a:ext cx="0" cy="180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7" name="직선 연결선 46">
              <a:extLst>
                <a:ext uri="{FF2B5EF4-FFF2-40B4-BE49-F238E27FC236}">
                  <a16:creationId xmlns:a16="http://schemas.microsoft.com/office/drawing/2014/main" id="{234DAB4B-662E-0732-7334-148B31CC6C47}"/>
                </a:ext>
              </a:extLst>
            </p:cNvPr>
            <p:cNvCxnSpPr>
              <a:cxnSpLocks/>
            </p:cNvCxnSpPr>
            <p:nvPr/>
          </p:nvCxnSpPr>
          <p:spPr>
            <a:xfrm flipH="1">
              <a:off x="3545900" y="5721640"/>
              <a:ext cx="1620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1FA71382-C523-1327-4896-2372C86CC265}"/>
                </a:ext>
              </a:extLst>
            </p:cNvPr>
            <p:cNvSpPr txBox="1"/>
            <p:nvPr/>
          </p:nvSpPr>
          <p:spPr>
            <a:xfrm>
              <a:off x="2451854" y="5590263"/>
              <a:ext cx="495896" cy="211203"/>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Logic ‘1’</a:t>
              </a:r>
              <a:endParaRPr lang="ko-KR" altLang="en-US" sz="900" dirty="0">
                <a:latin typeface="Arial" panose="020B0604020202020204" pitchFamily="34" charset="0"/>
                <a:cs typeface="Arial" panose="020B0604020202020204" pitchFamily="34" charset="0"/>
              </a:endParaRPr>
            </a:p>
          </p:txBody>
        </p:sp>
        <p:sp>
          <p:nvSpPr>
            <p:cNvPr id="49" name="TextBox 48">
              <a:extLst>
                <a:ext uri="{FF2B5EF4-FFF2-40B4-BE49-F238E27FC236}">
                  <a16:creationId xmlns:a16="http://schemas.microsoft.com/office/drawing/2014/main" id="{CD03792F-3D61-CA84-6804-84267920C59E}"/>
                </a:ext>
              </a:extLst>
            </p:cNvPr>
            <p:cNvSpPr txBox="1"/>
            <p:nvPr/>
          </p:nvSpPr>
          <p:spPr>
            <a:xfrm>
              <a:off x="4120217" y="5610615"/>
              <a:ext cx="495896" cy="211203"/>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Logic ‘0’</a:t>
              </a:r>
              <a:endParaRPr lang="ko-KR" altLang="en-US" sz="900" dirty="0">
                <a:latin typeface="Arial" panose="020B0604020202020204" pitchFamily="34" charset="0"/>
                <a:cs typeface="Arial" panose="020B0604020202020204" pitchFamily="34" charset="0"/>
              </a:endParaRPr>
            </a:p>
          </p:txBody>
        </p:sp>
        <p:cxnSp>
          <p:nvCxnSpPr>
            <p:cNvPr id="50" name="직선 연결선 49">
              <a:extLst>
                <a:ext uri="{FF2B5EF4-FFF2-40B4-BE49-F238E27FC236}">
                  <a16:creationId xmlns:a16="http://schemas.microsoft.com/office/drawing/2014/main" id="{93B3BA29-219B-75A1-D3B4-A42224F8388E}"/>
                </a:ext>
              </a:extLst>
            </p:cNvPr>
            <p:cNvCxnSpPr>
              <a:cxnSpLocks/>
            </p:cNvCxnSpPr>
            <p:nvPr/>
          </p:nvCxnSpPr>
          <p:spPr>
            <a:xfrm flipH="1">
              <a:off x="1906058" y="5911122"/>
              <a:ext cx="1008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1" name="직선 연결선 50">
              <a:extLst>
                <a:ext uri="{FF2B5EF4-FFF2-40B4-BE49-F238E27FC236}">
                  <a16:creationId xmlns:a16="http://schemas.microsoft.com/office/drawing/2014/main" id="{C64D935C-7E73-0591-22CD-FD6AFBA95834}"/>
                </a:ext>
              </a:extLst>
            </p:cNvPr>
            <p:cNvCxnSpPr>
              <a:cxnSpLocks/>
            </p:cNvCxnSpPr>
            <p:nvPr/>
          </p:nvCxnSpPr>
          <p:spPr>
            <a:xfrm flipH="1">
              <a:off x="2926485" y="5911122"/>
              <a:ext cx="612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2" name="직선 연결선 51">
              <a:extLst>
                <a:ext uri="{FF2B5EF4-FFF2-40B4-BE49-F238E27FC236}">
                  <a16:creationId xmlns:a16="http://schemas.microsoft.com/office/drawing/2014/main" id="{614D738E-9BDE-EC53-96D8-8E59588A7436}"/>
                </a:ext>
              </a:extLst>
            </p:cNvPr>
            <p:cNvCxnSpPr>
              <a:cxnSpLocks/>
            </p:cNvCxnSpPr>
            <p:nvPr/>
          </p:nvCxnSpPr>
          <p:spPr>
            <a:xfrm flipH="1">
              <a:off x="4154161" y="5916438"/>
              <a:ext cx="1008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3" name="직선 연결선 52">
              <a:extLst>
                <a:ext uri="{FF2B5EF4-FFF2-40B4-BE49-F238E27FC236}">
                  <a16:creationId xmlns:a16="http://schemas.microsoft.com/office/drawing/2014/main" id="{0A68376A-62D7-EFDA-F00F-1B02CDD5C1C3}"/>
                </a:ext>
              </a:extLst>
            </p:cNvPr>
            <p:cNvCxnSpPr>
              <a:cxnSpLocks/>
            </p:cNvCxnSpPr>
            <p:nvPr/>
          </p:nvCxnSpPr>
          <p:spPr>
            <a:xfrm flipH="1">
              <a:off x="3540196" y="5909491"/>
              <a:ext cx="612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D8FA8C19-B523-E75F-B7A0-423C71206334}"/>
                </a:ext>
              </a:extLst>
            </p:cNvPr>
            <p:cNvSpPr txBox="1"/>
            <p:nvPr/>
          </p:nvSpPr>
          <p:spPr>
            <a:xfrm>
              <a:off x="2263618" y="5791180"/>
              <a:ext cx="242621" cy="211203"/>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a:t>
              </a:r>
              <a:endParaRPr lang="ko-KR" altLang="en-US" sz="900" baseline="-25000" dirty="0">
                <a:latin typeface="Arial" panose="020B0604020202020204" pitchFamily="34" charset="0"/>
                <a:cs typeface="Arial" panose="020B0604020202020204" pitchFamily="34" charset="0"/>
              </a:endParaRPr>
            </a:p>
          </p:txBody>
        </p:sp>
        <p:sp>
          <p:nvSpPr>
            <p:cNvPr id="55" name="TextBox 54">
              <a:extLst>
                <a:ext uri="{FF2B5EF4-FFF2-40B4-BE49-F238E27FC236}">
                  <a16:creationId xmlns:a16="http://schemas.microsoft.com/office/drawing/2014/main" id="{2C1D04F1-A159-3CEA-6966-2E2309702EB6}"/>
                </a:ext>
              </a:extLst>
            </p:cNvPr>
            <p:cNvSpPr txBox="1"/>
            <p:nvPr/>
          </p:nvSpPr>
          <p:spPr>
            <a:xfrm>
              <a:off x="3108771" y="5786038"/>
              <a:ext cx="242621" cy="211203"/>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0H</a:t>
              </a:r>
              <a:endParaRPr lang="ko-KR" altLang="en-US" sz="900" baseline="-25000" dirty="0">
                <a:latin typeface="Arial" panose="020B0604020202020204" pitchFamily="34" charset="0"/>
                <a:cs typeface="Arial" panose="020B0604020202020204" pitchFamily="34" charset="0"/>
              </a:endParaRPr>
            </a:p>
          </p:txBody>
        </p:sp>
        <p:sp>
          <p:nvSpPr>
            <p:cNvPr id="56" name="TextBox 55">
              <a:extLst>
                <a:ext uri="{FF2B5EF4-FFF2-40B4-BE49-F238E27FC236}">
                  <a16:creationId xmlns:a16="http://schemas.microsoft.com/office/drawing/2014/main" id="{C302D1FC-56F7-2C23-C381-ABFDC84D383A}"/>
                </a:ext>
              </a:extLst>
            </p:cNvPr>
            <p:cNvSpPr txBox="1"/>
            <p:nvPr/>
          </p:nvSpPr>
          <p:spPr>
            <a:xfrm>
              <a:off x="3728385" y="5795235"/>
              <a:ext cx="229797" cy="211203"/>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1L</a:t>
              </a:r>
              <a:endParaRPr lang="ko-KR" altLang="en-US" sz="900" baseline="-25000" dirty="0">
                <a:latin typeface="Arial" panose="020B0604020202020204" pitchFamily="34" charset="0"/>
                <a:cs typeface="Arial" panose="020B0604020202020204" pitchFamily="34" charset="0"/>
              </a:endParaRPr>
            </a:p>
          </p:txBody>
        </p:sp>
        <p:sp>
          <p:nvSpPr>
            <p:cNvPr id="57" name="TextBox 56">
              <a:extLst>
                <a:ext uri="{FF2B5EF4-FFF2-40B4-BE49-F238E27FC236}">
                  <a16:creationId xmlns:a16="http://schemas.microsoft.com/office/drawing/2014/main" id="{4C174387-0F99-DBE5-FC65-E4E8157B1736}"/>
                </a:ext>
              </a:extLst>
            </p:cNvPr>
            <p:cNvSpPr txBox="1"/>
            <p:nvPr/>
          </p:nvSpPr>
          <p:spPr>
            <a:xfrm>
              <a:off x="4538057" y="5791909"/>
              <a:ext cx="229797" cy="211203"/>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0L</a:t>
              </a:r>
              <a:endParaRPr lang="ko-KR" altLang="en-US" sz="900" baseline="-25000" dirty="0">
                <a:latin typeface="Arial" panose="020B0604020202020204" pitchFamily="34" charset="0"/>
                <a:cs typeface="Arial" panose="020B0604020202020204" pitchFamily="34" charset="0"/>
              </a:endParaRPr>
            </a:p>
          </p:txBody>
        </p:sp>
      </p:grpSp>
      <p:sp>
        <p:nvSpPr>
          <p:cNvPr id="4" name="TextBox 3">
            <a:extLst>
              <a:ext uri="{FF2B5EF4-FFF2-40B4-BE49-F238E27FC236}">
                <a16:creationId xmlns:a16="http://schemas.microsoft.com/office/drawing/2014/main" id="{651D06D4-172E-C78F-B0FB-9D2D425EF53B}"/>
              </a:ext>
            </a:extLst>
          </p:cNvPr>
          <p:cNvSpPr txBox="1"/>
          <p:nvPr/>
        </p:nvSpPr>
        <p:spPr>
          <a:xfrm>
            <a:off x="404812" y="7729265"/>
            <a:ext cx="6086677" cy="756617"/>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r>
              <a:rPr lang="en-US" altLang="ko-KR" dirty="0"/>
              <a:t>Note :  1) The operation below V</a:t>
            </a:r>
            <a:r>
              <a:rPr lang="en-US" altLang="ko-KR" baseline="-25000" dirty="0"/>
              <a:t>DD</a:t>
            </a:r>
            <a:r>
              <a:rPr lang="en-US" altLang="ko-KR" dirty="0"/>
              <a:t>, 5V will limit a maximum LED sinking current and affect a current variation.</a:t>
            </a:r>
          </a:p>
          <a:p>
            <a:r>
              <a:rPr lang="en-US" altLang="ko-KR" dirty="0"/>
              <a:t>            2) The conditions, </a:t>
            </a:r>
            <a:r>
              <a:rPr lang="en-US" altLang="ko-KR" dirty="0">
                <a:ea typeface="맑은 고딕" panose="020B0503020000020004" pitchFamily="50" charset="-127"/>
              </a:rPr>
              <a:t>①</a:t>
            </a:r>
            <a:r>
              <a:rPr lang="en-US" altLang="ko-KR" sz="900" b="0" i="0" u="none" strike="noStrike" baseline="0" dirty="0">
                <a:solidFill>
                  <a:srgbClr val="000000"/>
                </a:solidFill>
                <a:effectLst/>
                <a:ea typeface="굴림" panose="020B0600000101010101" pitchFamily="50" charset="-127"/>
              </a:rPr>
              <a:t>T</a:t>
            </a:r>
            <a:r>
              <a:rPr lang="en-US" altLang="ko-KR" sz="900" b="0" i="0" u="none" strike="noStrike" baseline="-25000" dirty="0">
                <a:solidFill>
                  <a:srgbClr val="000000"/>
                </a:solidFill>
                <a:effectLst/>
                <a:ea typeface="굴림" panose="020B0600000101010101" pitchFamily="50" charset="-127"/>
              </a:rPr>
              <a:t>1H </a:t>
            </a:r>
            <a:r>
              <a:rPr lang="en-US" altLang="ko-KR" sz="900" b="0" i="0" u="none" strike="noStrike" dirty="0">
                <a:solidFill>
                  <a:srgbClr val="000000"/>
                </a:solidFill>
                <a:effectLst/>
                <a:ea typeface="굴림" panose="020B0600000101010101" pitchFamily="50" charset="-127"/>
              </a:rPr>
              <a:t> ≥ </a:t>
            </a:r>
            <a:r>
              <a:rPr lang="en-US" altLang="ko-KR" sz="900" b="0" i="0" u="none" strike="noStrike" baseline="0" dirty="0">
                <a:solidFill>
                  <a:srgbClr val="000000"/>
                </a:solidFill>
                <a:effectLst/>
                <a:ea typeface="굴림" panose="020B0600000101010101" pitchFamily="50" charset="-127"/>
              </a:rPr>
              <a:t>T</a:t>
            </a:r>
            <a:r>
              <a:rPr lang="en-US" altLang="ko-KR" sz="900" b="0" i="0" u="none" strike="noStrike" baseline="-25000" dirty="0">
                <a:solidFill>
                  <a:srgbClr val="000000"/>
                </a:solidFill>
                <a:effectLst/>
                <a:ea typeface="굴림" panose="020B0600000101010101" pitchFamily="50" charset="-127"/>
              </a:rPr>
              <a:t>0H</a:t>
            </a:r>
            <a:r>
              <a:rPr lang="en-US" altLang="ko-KR" dirty="0">
                <a:solidFill>
                  <a:srgbClr val="000000"/>
                </a:solidFill>
                <a:ea typeface="굴림" panose="020B0600000101010101" pitchFamily="50" charset="-127"/>
              </a:rPr>
              <a:t>* 2   </a:t>
            </a:r>
            <a:r>
              <a:rPr lang="en-US" altLang="ko-KR" dirty="0">
                <a:ea typeface="맑은 고딕" panose="020B0503020000020004" pitchFamily="50" charset="-127"/>
              </a:rPr>
              <a:t>②</a:t>
            </a:r>
            <a:r>
              <a:rPr lang="en-US" altLang="ko-KR" sz="900" b="0" i="0" u="none" strike="noStrike" baseline="-25000" dirty="0">
                <a:solidFill>
                  <a:srgbClr val="000000"/>
                </a:solidFill>
                <a:effectLst/>
                <a:ea typeface="굴림" panose="020B0600000101010101" pitchFamily="50" charset="-127"/>
              </a:rPr>
              <a:t> </a:t>
            </a:r>
            <a:r>
              <a:rPr lang="en-US" altLang="ko-KR" sz="900" b="0" i="0" u="none" strike="noStrike" baseline="0" dirty="0">
                <a:solidFill>
                  <a:srgbClr val="000000"/>
                </a:solidFill>
                <a:effectLst/>
                <a:ea typeface="굴림" panose="020B0600000101010101" pitchFamily="50" charset="-127"/>
              </a:rPr>
              <a:t>T</a:t>
            </a:r>
            <a:r>
              <a:rPr lang="en-US" altLang="ko-KR" sz="900" b="0" i="0" u="none" strike="noStrike" baseline="-25000" dirty="0">
                <a:solidFill>
                  <a:srgbClr val="000000"/>
                </a:solidFill>
                <a:effectLst/>
                <a:ea typeface="굴림" panose="020B0600000101010101" pitchFamily="50" charset="-127"/>
              </a:rPr>
              <a:t>0L</a:t>
            </a:r>
            <a:r>
              <a:rPr lang="en-US" altLang="ko-KR" sz="900" b="0" i="0" u="none" strike="noStrike" baseline="0" dirty="0">
                <a:solidFill>
                  <a:srgbClr val="000000"/>
                </a:solidFill>
                <a:effectLst/>
                <a:ea typeface="굴림" panose="020B0600000101010101" pitchFamily="50" charset="-127"/>
              </a:rPr>
              <a:t> </a:t>
            </a:r>
            <a:r>
              <a:rPr lang="en-US" altLang="ko-KR" sz="900" b="0" i="0" u="none" strike="noStrike" dirty="0">
                <a:solidFill>
                  <a:srgbClr val="000000"/>
                </a:solidFill>
                <a:effectLst/>
                <a:ea typeface="굴림" panose="020B0600000101010101" pitchFamily="50" charset="-127"/>
              </a:rPr>
              <a:t>≥ </a:t>
            </a:r>
            <a:r>
              <a:rPr lang="en-US" altLang="ko-KR" sz="900" b="0" i="0" u="none" strike="noStrike" baseline="0" dirty="0">
                <a:solidFill>
                  <a:srgbClr val="000000"/>
                </a:solidFill>
                <a:effectLst/>
                <a:ea typeface="굴림" panose="020B0600000101010101" pitchFamily="50" charset="-127"/>
              </a:rPr>
              <a:t>T</a:t>
            </a:r>
            <a:r>
              <a:rPr lang="en-US" altLang="ko-KR" sz="900" b="0" i="0" u="none" strike="noStrike" baseline="-25000" dirty="0">
                <a:solidFill>
                  <a:srgbClr val="000000"/>
                </a:solidFill>
                <a:effectLst/>
                <a:ea typeface="굴림" panose="020B0600000101010101" pitchFamily="50" charset="-127"/>
              </a:rPr>
              <a:t>1L</a:t>
            </a:r>
            <a:r>
              <a:rPr lang="en-US" altLang="ko-KR" dirty="0">
                <a:solidFill>
                  <a:srgbClr val="000000"/>
                </a:solidFill>
                <a:ea typeface="굴림" panose="020B0600000101010101" pitchFamily="50" charset="-127"/>
              </a:rPr>
              <a:t>* 2   </a:t>
            </a:r>
            <a:r>
              <a:rPr lang="en-US" altLang="ko-KR" dirty="0">
                <a:ea typeface="맑은 고딕" panose="020B0503020000020004" pitchFamily="50" charset="-127"/>
              </a:rPr>
              <a:t>③ </a:t>
            </a:r>
            <a:r>
              <a:rPr lang="en-US" altLang="ko-KR" dirty="0">
                <a:solidFill>
                  <a:srgbClr val="000000"/>
                </a:solidFill>
                <a:ea typeface="굴림" panose="020B0600000101010101" pitchFamily="50" charset="-127"/>
              </a:rPr>
              <a:t>(</a:t>
            </a:r>
            <a:r>
              <a:rPr lang="en-US" altLang="ko-KR" sz="900" b="0" i="0" u="none" strike="noStrike" baseline="0" dirty="0">
                <a:solidFill>
                  <a:srgbClr val="000000"/>
                </a:solidFill>
                <a:effectLst/>
                <a:ea typeface="굴림" panose="020B0600000101010101" pitchFamily="50" charset="-127"/>
              </a:rPr>
              <a:t>T</a:t>
            </a:r>
            <a:r>
              <a:rPr lang="en-US" altLang="ko-KR" sz="900" b="0" i="0" u="none" strike="noStrike" baseline="-25000" dirty="0">
                <a:solidFill>
                  <a:srgbClr val="000000"/>
                </a:solidFill>
                <a:effectLst/>
                <a:ea typeface="굴림" panose="020B0600000101010101" pitchFamily="50" charset="-127"/>
              </a:rPr>
              <a:t>1H </a:t>
            </a:r>
            <a:r>
              <a:rPr lang="en-US" altLang="ko-KR" sz="900" b="0" i="0" u="none" strike="noStrike" dirty="0">
                <a:solidFill>
                  <a:srgbClr val="000000"/>
                </a:solidFill>
                <a:effectLst/>
                <a:ea typeface="굴림" panose="020B0600000101010101" pitchFamily="50" charset="-127"/>
              </a:rPr>
              <a:t>+</a:t>
            </a:r>
            <a:r>
              <a:rPr lang="en-US" altLang="ko-KR" sz="900" b="0" i="0" u="none" strike="noStrike" baseline="0" dirty="0">
                <a:solidFill>
                  <a:srgbClr val="000000"/>
                </a:solidFill>
                <a:effectLst/>
                <a:ea typeface="굴림" panose="020B0600000101010101" pitchFamily="50" charset="-127"/>
              </a:rPr>
              <a:t>T</a:t>
            </a:r>
            <a:r>
              <a:rPr lang="en-US" altLang="ko-KR" sz="900" b="0" i="0" u="none" strike="noStrike" baseline="-25000" dirty="0">
                <a:solidFill>
                  <a:srgbClr val="000000"/>
                </a:solidFill>
                <a:effectLst/>
                <a:ea typeface="굴림" panose="020B0600000101010101" pitchFamily="50" charset="-127"/>
              </a:rPr>
              <a:t>0H</a:t>
            </a:r>
            <a:r>
              <a:rPr lang="en-US" altLang="ko-KR" sz="900" b="0" i="0" u="none" strike="noStrike" baseline="0" dirty="0">
                <a:solidFill>
                  <a:srgbClr val="000000"/>
                </a:solidFill>
                <a:effectLst/>
                <a:ea typeface="굴림" panose="020B0600000101010101" pitchFamily="50" charset="-127"/>
              </a:rPr>
              <a:t>) = (T</a:t>
            </a:r>
            <a:r>
              <a:rPr lang="en-US" altLang="ko-KR" sz="900" b="0" i="0" u="none" strike="noStrike" baseline="-25000" dirty="0">
                <a:solidFill>
                  <a:srgbClr val="000000"/>
                </a:solidFill>
                <a:effectLst/>
                <a:ea typeface="굴림" panose="020B0600000101010101" pitchFamily="50" charset="-127"/>
              </a:rPr>
              <a:t>0L</a:t>
            </a:r>
            <a:r>
              <a:rPr lang="en-US" altLang="ko-KR" sz="900" b="0" i="0" u="none" strike="noStrike" dirty="0">
                <a:solidFill>
                  <a:srgbClr val="000000"/>
                </a:solidFill>
                <a:effectLst/>
                <a:ea typeface="굴림" panose="020B0600000101010101" pitchFamily="50" charset="-127"/>
              </a:rPr>
              <a:t>+</a:t>
            </a:r>
            <a:r>
              <a:rPr lang="en-US" altLang="ko-KR" sz="900" b="0" i="0" u="none" strike="noStrike" baseline="0" dirty="0">
                <a:solidFill>
                  <a:srgbClr val="000000"/>
                </a:solidFill>
                <a:effectLst/>
                <a:ea typeface="굴림" panose="020B0600000101010101" pitchFamily="50" charset="-127"/>
              </a:rPr>
              <a:t>T</a:t>
            </a:r>
            <a:r>
              <a:rPr lang="en-US" altLang="ko-KR" sz="900" b="0" i="0" u="none" strike="noStrike" baseline="-25000" dirty="0">
                <a:solidFill>
                  <a:srgbClr val="000000"/>
                </a:solidFill>
                <a:effectLst/>
                <a:ea typeface="굴림" panose="020B0600000101010101" pitchFamily="50" charset="-127"/>
              </a:rPr>
              <a:t>1L</a:t>
            </a:r>
            <a:r>
              <a:rPr lang="en-US" altLang="ko-KR" dirty="0">
                <a:solidFill>
                  <a:srgbClr val="000000"/>
                </a:solidFill>
                <a:ea typeface="굴림" panose="020B0600000101010101" pitchFamily="50" charset="-127"/>
              </a:rPr>
              <a:t>) ≤ 95, are recommended.</a:t>
            </a:r>
            <a:endParaRPr lang="en-US" altLang="ko-KR" baseline="-25000" dirty="0">
              <a:solidFill>
                <a:srgbClr val="000000"/>
              </a:solidFill>
              <a:ea typeface="굴림" panose="020B0600000101010101" pitchFamily="50" charset="-127"/>
            </a:endParaRPr>
          </a:p>
          <a:p>
            <a:r>
              <a:rPr lang="en-US" altLang="ko-KR" dirty="0">
                <a:solidFill>
                  <a:srgbClr val="000000"/>
                </a:solidFill>
                <a:ea typeface="굴림" panose="020B0600000101010101" pitchFamily="50" charset="-127"/>
              </a:rPr>
              <a:t>            3)  On downstreaming (or upstreaming), the </a:t>
            </a:r>
            <a:r>
              <a:rPr lang="en-US" altLang="ko-KR" sz="900" dirty="0"/>
              <a:t>T</a:t>
            </a:r>
            <a:r>
              <a:rPr lang="en-US" altLang="ko-KR" sz="900" baseline="-25000" dirty="0"/>
              <a:t>1H  </a:t>
            </a:r>
            <a:r>
              <a:rPr lang="en-US" altLang="ko-KR" sz="900" dirty="0"/>
              <a:t>of </a:t>
            </a:r>
            <a:r>
              <a:rPr lang="en-US" altLang="ko-KR" sz="900" b="0" i="0" u="none" strike="noStrike" dirty="0">
                <a:solidFill>
                  <a:schemeClr val="tx1"/>
                </a:solidFill>
                <a:effectLst/>
                <a:ea typeface="굴림" panose="020B0600000101010101" pitchFamily="50" charset="-127"/>
              </a:rPr>
              <a:t>D</a:t>
            </a:r>
            <a:r>
              <a:rPr lang="en-US" altLang="ko-KR" baseline="-25000" dirty="0">
                <a:ea typeface="굴림" panose="020B0600000101010101" pitchFamily="50" charset="-127"/>
              </a:rPr>
              <a:t>D</a:t>
            </a:r>
            <a:r>
              <a:rPr lang="en-US" altLang="ko-KR" sz="900" b="0" i="0" u="none" strike="noStrike" baseline="-25000" dirty="0">
                <a:solidFill>
                  <a:schemeClr val="tx1"/>
                </a:solidFill>
                <a:effectLst/>
                <a:ea typeface="굴림" panose="020B0600000101010101" pitchFamily="50" charset="-127"/>
              </a:rPr>
              <a:t>DIO</a:t>
            </a:r>
            <a:r>
              <a:rPr lang="en-US" altLang="ko-KR" sz="900" b="0" i="0" u="none" strike="noStrike" dirty="0">
                <a:solidFill>
                  <a:schemeClr val="tx1"/>
                </a:solidFill>
                <a:effectLst/>
                <a:ea typeface="굴림" panose="020B0600000101010101" pitchFamily="50" charset="-127"/>
              </a:rPr>
              <a:t> (or </a:t>
            </a:r>
            <a:r>
              <a:rPr lang="en-US" altLang="ko-KR" sz="900" dirty="0"/>
              <a:t>T</a:t>
            </a:r>
            <a:r>
              <a:rPr lang="en-US" altLang="ko-KR" sz="900" baseline="-25000" dirty="0"/>
              <a:t>1H  </a:t>
            </a:r>
            <a:r>
              <a:rPr lang="en-US" altLang="ko-KR" sz="900" dirty="0"/>
              <a:t>of </a:t>
            </a:r>
            <a:r>
              <a:rPr lang="en-US" altLang="ko-KR" sz="900" b="0" i="0" u="none" strike="noStrike" dirty="0">
                <a:solidFill>
                  <a:schemeClr val="tx1"/>
                </a:solidFill>
                <a:effectLst/>
                <a:ea typeface="굴림" panose="020B0600000101010101" pitchFamily="50" charset="-127"/>
              </a:rPr>
              <a:t>D</a:t>
            </a:r>
            <a:r>
              <a:rPr lang="en-US" altLang="ko-KR" sz="900" b="0" i="0" u="none" strike="noStrike" baseline="-25000" dirty="0">
                <a:solidFill>
                  <a:schemeClr val="tx1"/>
                </a:solidFill>
                <a:effectLst/>
                <a:ea typeface="굴림" panose="020B0600000101010101" pitchFamily="50" charset="-127"/>
              </a:rPr>
              <a:t>DIO</a:t>
            </a:r>
            <a:r>
              <a:rPr lang="en-US" altLang="ko-KR" sz="900" b="0" i="0" u="none" strike="noStrike" dirty="0">
                <a:solidFill>
                  <a:schemeClr val="tx1"/>
                </a:solidFill>
                <a:effectLst/>
                <a:ea typeface="굴림" panose="020B0600000101010101" pitchFamily="50" charset="-127"/>
              </a:rPr>
              <a:t>) is shorted as many as </a:t>
            </a:r>
            <a:r>
              <a:rPr lang="en-US" altLang="ko-KR" sz="900" b="0" i="0" u="none" strike="noStrike" baseline="0" dirty="0">
                <a:solidFill>
                  <a:srgbClr val="000000"/>
                </a:solidFill>
                <a:effectLst/>
                <a:ea typeface="굴림" panose="020B0600000101010101" pitchFamily="50" charset="-127"/>
              </a:rPr>
              <a:t>T</a:t>
            </a:r>
            <a:r>
              <a:rPr lang="en-US" altLang="ko-KR" sz="900" b="0" i="0" u="none" strike="noStrike" baseline="-25000" dirty="0">
                <a:solidFill>
                  <a:srgbClr val="000000"/>
                </a:solidFill>
                <a:effectLst/>
                <a:ea typeface="굴림" panose="020B0600000101010101" pitchFamily="50" charset="-127"/>
              </a:rPr>
              <a:t>DSKEW_DS </a:t>
            </a:r>
            <a:r>
              <a:rPr lang="en-US" altLang="ko-KR" dirty="0">
                <a:solidFill>
                  <a:srgbClr val="000000"/>
                </a:solidFill>
                <a:ea typeface="굴림" panose="020B0600000101010101" pitchFamily="50" charset="-127"/>
              </a:rPr>
              <a:t>(</a:t>
            </a:r>
            <a:r>
              <a:rPr lang="en-US" altLang="ko-KR" sz="900" b="0" i="0" u="none" strike="noStrike" dirty="0">
                <a:solidFill>
                  <a:srgbClr val="000000"/>
                </a:solidFill>
                <a:effectLst/>
                <a:ea typeface="굴림" panose="020B0600000101010101" pitchFamily="50" charset="-127"/>
              </a:rPr>
              <a:t>or</a:t>
            </a:r>
            <a:r>
              <a:rPr lang="en-US" altLang="ko-KR" baseline="0" dirty="0">
                <a:solidFill>
                  <a:srgbClr val="000000"/>
                </a:solidFill>
                <a:ea typeface="굴림" panose="020B0600000101010101" pitchFamily="50" charset="-127"/>
              </a:rPr>
              <a:t>           </a:t>
            </a:r>
          </a:p>
          <a:p>
            <a:r>
              <a:rPr lang="en-US" altLang="ko-KR" sz="900" b="0" i="0" u="none" strike="noStrike" dirty="0">
                <a:solidFill>
                  <a:srgbClr val="000000"/>
                </a:solidFill>
                <a:effectLst/>
                <a:ea typeface="굴림" panose="020B0600000101010101" pitchFamily="50" charset="-127"/>
              </a:rPr>
              <a:t>                  </a:t>
            </a:r>
            <a:r>
              <a:rPr lang="en-US" altLang="ko-KR" sz="900" b="0" i="0" u="none" strike="noStrike" baseline="0" dirty="0">
                <a:solidFill>
                  <a:srgbClr val="000000"/>
                </a:solidFill>
                <a:effectLst/>
                <a:ea typeface="굴림" panose="020B0600000101010101" pitchFamily="50" charset="-127"/>
              </a:rPr>
              <a:t>T</a:t>
            </a:r>
            <a:r>
              <a:rPr lang="en-US" altLang="ko-KR" sz="900" b="0" i="0" u="none" strike="noStrike" baseline="-25000" dirty="0">
                <a:solidFill>
                  <a:srgbClr val="000000"/>
                </a:solidFill>
                <a:effectLst/>
                <a:ea typeface="굴림" panose="020B0600000101010101" pitchFamily="50" charset="-127"/>
              </a:rPr>
              <a:t>DSKEW_US</a:t>
            </a:r>
            <a:r>
              <a:rPr lang="en-US" altLang="ko-KR" dirty="0">
                <a:solidFill>
                  <a:srgbClr val="000000"/>
                </a:solidFill>
                <a:ea typeface="굴림" panose="020B0600000101010101" pitchFamily="50" charset="-127"/>
              </a:rPr>
              <a:t>), but the total of 1 bit cycle will remain the same. </a:t>
            </a:r>
            <a:r>
              <a:rPr lang="en-US" altLang="ko-KR" i="1" dirty="0">
                <a:solidFill>
                  <a:srgbClr val="000000"/>
                </a:solidFill>
                <a:ea typeface="굴림" panose="020B0600000101010101" pitchFamily="50" charset="-127"/>
              </a:rPr>
              <a:t>So, the proper value for </a:t>
            </a:r>
            <a:r>
              <a:rPr lang="en-US" altLang="ko-KR" sz="900" b="0" i="1" u="none" strike="noStrike" baseline="0" dirty="0">
                <a:solidFill>
                  <a:srgbClr val="000000"/>
                </a:solidFill>
                <a:ea typeface="굴림" panose="020B0600000101010101" pitchFamily="50" charset="-127"/>
              </a:rPr>
              <a:t>T</a:t>
            </a:r>
            <a:r>
              <a:rPr lang="en-US" altLang="ko-KR" sz="900" b="0" i="1" u="none" strike="noStrike" baseline="-25000" dirty="0">
                <a:solidFill>
                  <a:srgbClr val="000000"/>
                </a:solidFill>
                <a:ea typeface="굴림" panose="020B0600000101010101" pitchFamily="50" charset="-127"/>
              </a:rPr>
              <a:t>1H</a:t>
            </a:r>
            <a:r>
              <a:rPr lang="en-US" altLang="ko-KR" i="1" dirty="0">
                <a:solidFill>
                  <a:srgbClr val="000000"/>
                </a:solidFill>
                <a:ea typeface="굴림" panose="020B0600000101010101" pitchFamily="50" charset="-127"/>
              </a:rPr>
              <a:t> </a:t>
            </a:r>
            <a:r>
              <a:rPr lang="en-US" altLang="ko-KR" sz="900" b="0" i="1" u="none" strike="noStrike" baseline="0" dirty="0">
                <a:solidFill>
                  <a:srgbClr val="000000"/>
                </a:solidFill>
                <a:ea typeface="굴림" panose="020B0600000101010101" pitchFamily="50" charset="-127"/>
              </a:rPr>
              <a:t>and T</a:t>
            </a:r>
            <a:r>
              <a:rPr lang="en-US" altLang="ko-KR" sz="900" b="0" i="1" u="none" strike="noStrike" baseline="-25000" dirty="0">
                <a:solidFill>
                  <a:srgbClr val="000000"/>
                </a:solidFill>
                <a:ea typeface="굴림" panose="020B0600000101010101" pitchFamily="50" charset="-127"/>
              </a:rPr>
              <a:t>0L </a:t>
            </a:r>
            <a:r>
              <a:rPr lang="en-US" altLang="ko-KR" b="0" i="1" dirty="0">
                <a:solidFill>
                  <a:srgbClr val="000000"/>
                </a:solidFill>
              </a:rPr>
              <a:t>must be</a:t>
            </a:r>
          </a:p>
          <a:p>
            <a:r>
              <a:rPr lang="en-US" altLang="ko-KR" i="1" dirty="0">
                <a:solidFill>
                  <a:srgbClr val="000000"/>
                </a:solidFill>
              </a:rPr>
              <a:t>                  </a:t>
            </a:r>
            <a:r>
              <a:rPr lang="en-US" altLang="ko-KR" b="0" i="1" dirty="0">
                <a:solidFill>
                  <a:srgbClr val="000000"/>
                </a:solidFill>
              </a:rPr>
              <a:t>carefully determined based on the daisy size.</a:t>
            </a:r>
            <a:endParaRPr lang="en-US" altLang="ko-KR" sz="900" b="0" i="1" u="none" strike="noStrike" baseline="0" dirty="0">
              <a:solidFill>
                <a:srgbClr val="000000"/>
              </a:solidFill>
              <a:ea typeface="굴림" panose="020B0600000101010101" pitchFamily="50" charset="-127"/>
            </a:endParaRPr>
          </a:p>
        </p:txBody>
      </p:sp>
    </p:spTree>
    <p:extLst>
      <p:ext uri="{BB962C8B-B14F-4D97-AF65-F5344CB8AC3E}">
        <p14:creationId xmlns:p14="http://schemas.microsoft.com/office/powerpoint/2010/main" val="35549567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DEC4F87-9C9B-4C8F-A819-F5F816D1E768}"/>
              </a:ext>
            </a:extLst>
          </p:cNvPr>
          <p:cNvSpPr txBox="1"/>
          <p:nvPr/>
        </p:nvSpPr>
        <p:spPr>
          <a:xfrm>
            <a:off x="390027"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194F41DE-B425-A9B6-A8E9-61365B8A5C6E}"/>
              </a:ext>
            </a:extLst>
          </p:cNvPr>
          <p:cNvSpPr txBox="1"/>
          <p:nvPr/>
        </p:nvSpPr>
        <p:spPr>
          <a:xfrm>
            <a:off x="420038" y="774866"/>
            <a:ext cx="4692951"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=5.0V,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graphicFrame>
        <p:nvGraphicFramePr>
          <p:cNvPr id="23" name="표 22">
            <a:extLst>
              <a:ext uri="{FF2B5EF4-FFF2-40B4-BE49-F238E27FC236}">
                <a16:creationId xmlns:a16="http://schemas.microsoft.com/office/drawing/2014/main" id="{95AE7A5D-C563-E454-C9F4-1BA985CEA979}"/>
              </a:ext>
            </a:extLst>
          </p:cNvPr>
          <p:cNvGraphicFramePr>
            <a:graphicFrameLocks noGrp="1"/>
          </p:cNvGraphicFramePr>
          <p:nvPr>
            <p:extLst>
              <p:ext uri="{D42A27DB-BD31-4B8C-83A1-F6EECF244321}">
                <p14:modId xmlns:p14="http://schemas.microsoft.com/office/powerpoint/2010/main" val="399605794"/>
              </p:ext>
            </p:extLst>
          </p:nvPr>
        </p:nvGraphicFramePr>
        <p:xfrm>
          <a:off x="404812" y="1143002"/>
          <a:ext cx="6084887" cy="6427394"/>
        </p:xfrm>
        <a:graphic>
          <a:graphicData uri="http://schemas.openxmlformats.org/drawingml/2006/table">
            <a:tbl>
              <a:tblPr>
                <a:tableStyleId>{5C22544A-7EE6-4342-B048-85BDC9FD1C3A}</a:tableStyleId>
              </a:tblPr>
              <a:tblGrid>
                <a:gridCol w="1410931">
                  <a:extLst>
                    <a:ext uri="{9D8B030D-6E8A-4147-A177-3AD203B41FA5}">
                      <a16:colId xmlns:a16="http://schemas.microsoft.com/office/drawing/2014/main" val="1783343538"/>
                    </a:ext>
                  </a:extLst>
                </a:gridCol>
                <a:gridCol w="688128">
                  <a:extLst>
                    <a:ext uri="{9D8B030D-6E8A-4147-A177-3AD203B41FA5}">
                      <a16:colId xmlns:a16="http://schemas.microsoft.com/office/drawing/2014/main" val="3180006436"/>
                    </a:ext>
                  </a:extLst>
                </a:gridCol>
                <a:gridCol w="1820466">
                  <a:extLst>
                    <a:ext uri="{9D8B030D-6E8A-4147-A177-3AD203B41FA5}">
                      <a16:colId xmlns:a16="http://schemas.microsoft.com/office/drawing/2014/main" val="1629708029"/>
                    </a:ext>
                  </a:extLst>
                </a:gridCol>
                <a:gridCol w="533171">
                  <a:extLst>
                    <a:ext uri="{9D8B030D-6E8A-4147-A177-3AD203B41FA5}">
                      <a16:colId xmlns:a16="http://schemas.microsoft.com/office/drawing/2014/main" val="3514095092"/>
                    </a:ext>
                  </a:extLst>
                </a:gridCol>
                <a:gridCol w="533171">
                  <a:extLst>
                    <a:ext uri="{9D8B030D-6E8A-4147-A177-3AD203B41FA5}">
                      <a16:colId xmlns:a16="http://schemas.microsoft.com/office/drawing/2014/main" val="2256908222"/>
                    </a:ext>
                  </a:extLst>
                </a:gridCol>
                <a:gridCol w="533171">
                  <a:extLst>
                    <a:ext uri="{9D8B030D-6E8A-4147-A177-3AD203B41FA5}">
                      <a16:colId xmlns:a16="http://schemas.microsoft.com/office/drawing/2014/main" val="2915946677"/>
                    </a:ext>
                  </a:extLst>
                </a:gridCol>
                <a:gridCol w="565849">
                  <a:extLst>
                    <a:ext uri="{9D8B030D-6E8A-4147-A177-3AD203B41FA5}">
                      <a16:colId xmlns:a16="http://schemas.microsoft.com/office/drawing/2014/main" val="2559142005"/>
                    </a:ext>
                  </a:extLst>
                </a:gridCol>
              </a:tblGrid>
              <a:tr h="152398">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0000" marB="9000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0000" marB="90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0000" marB="90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0000" marB="9000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200011002"/>
                  </a:ext>
                </a:extLst>
              </a:tr>
              <a:tr h="139700">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56694182"/>
                  </a:ext>
                </a:extLst>
              </a:tr>
              <a:tr h="244366">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Output</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7057835"/>
                  </a:ext>
                </a:extLst>
              </a:tr>
              <a:tr h="68131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Driving voltage</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46355" indent="0">
                        <a:lnSpc>
                          <a:spcPct val="100000"/>
                        </a:lnSpc>
                        <a:spcBef>
                          <a:spcPts val="85"/>
                        </a:spcBef>
                      </a:pPr>
                      <a:r>
                        <a:rPr lang="en-US" sz="900" spc="-5" dirty="0">
                          <a:solidFill>
                            <a:schemeClr val="tx1"/>
                          </a:solidFill>
                          <a:latin typeface="Arial"/>
                          <a:cs typeface="Arial"/>
                        </a:rPr>
                        <a:t>          </a:t>
                      </a:r>
                      <a:r>
                        <a:rPr sz="900" spc="-5" dirty="0">
                          <a:solidFill>
                            <a:schemeClr val="tx1"/>
                          </a:solidFill>
                          <a:latin typeface="Arial"/>
                          <a:cs typeface="Arial"/>
                        </a:rPr>
                        <a:t>Headroom voltage </a:t>
                      </a:r>
                      <a:r>
                        <a:rPr sz="900" spc="-5" dirty="0" err="1">
                          <a:solidFill>
                            <a:schemeClr val="tx1"/>
                          </a:solidFill>
                          <a:latin typeface="Arial"/>
                          <a:cs typeface="Arial"/>
                        </a:rPr>
                        <a:t>V</a:t>
                      </a:r>
                      <a:r>
                        <a:rPr lang="en-US" sz="900" spc="-7" baseline="-18518" dirty="0" err="1">
                          <a:solidFill>
                            <a:schemeClr val="tx1"/>
                          </a:solidFill>
                          <a:latin typeface="Arial"/>
                          <a:cs typeface="Arial"/>
                        </a:rPr>
                        <a:t>H</a:t>
                      </a:r>
                      <a:r>
                        <a:rPr sz="900" spc="-7" baseline="-18518" dirty="0" err="1">
                          <a:solidFill>
                            <a:schemeClr val="tx1"/>
                          </a:solidFill>
                          <a:latin typeface="Arial"/>
                          <a:cs typeface="Arial"/>
                        </a:rPr>
                        <a:t>D</a:t>
                      </a:r>
                      <a:r>
                        <a:rPr sz="900" baseline="-18518" dirty="0">
                          <a:solidFill>
                            <a:schemeClr val="tx1"/>
                          </a:solidFill>
                          <a:latin typeface="Arial"/>
                          <a:cs typeface="Arial"/>
                        </a:rPr>
                        <a:t> </a:t>
                      </a:r>
                      <a:r>
                        <a:rPr lang="en-US" sz="900" baseline="0" dirty="0">
                          <a:solidFill>
                            <a:schemeClr val="tx1"/>
                          </a:solidFill>
                          <a:latin typeface="Arial"/>
                          <a:cs typeface="Arial"/>
                        </a:rPr>
                        <a:t> </a:t>
                      </a:r>
                      <a:r>
                        <a:rPr sz="900" baseline="0" dirty="0">
                          <a:solidFill>
                            <a:schemeClr val="tx1"/>
                          </a:solidFill>
                          <a:latin typeface="Arial"/>
                          <a:cs typeface="Arial"/>
                        </a:rPr>
                        <a:t>:</a:t>
                      </a:r>
                      <a:endParaRPr lang="en-US" sz="900" baseline="0" dirty="0">
                        <a:solidFill>
                          <a:schemeClr val="tx1"/>
                        </a:solidFill>
                        <a:latin typeface="Arial"/>
                        <a:cs typeface="Arial"/>
                      </a:endParaRPr>
                    </a:p>
                    <a:p>
                      <a:pPr marL="0" marR="46355" indent="0">
                        <a:lnSpc>
                          <a:spcPct val="100000"/>
                        </a:lnSpc>
                        <a:spcBef>
                          <a:spcPts val="85"/>
                        </a:spcBef>
                      </a:pPr>
                      <a:r>
                        <a:rPr lang="en-US" sz="900" spc="-5" dirty="0">
                          <a:solidFill>
                            <a:schemeClr val="tx1"/>
                          </a:solidFill>
                          <a:latin typeface="Arial"/>
                          <a:cs typeface="Arial"/>
                        </a:rPr>
                        <a:t>  0.60V</a:t>
                      </a:r>
                      <a:r>
                        <a:rPr sz="700" spc="-5" dirty="0">
                          <a:solidFill>
                            <a:schemeClr val="tx1"/>
                          </a:solidFill>
                          <a:latin typeface="Arial"/>
                          <a:cs typeface="Arial"/>
                        </a:rPr>
                        <a:t>@</a:t>
                      </a:r>
                      <a:r>
                        <a:rPr sz="700" spc="-15" dirty="0">
                          <a:solidFill>
                            <a:schemeClr val="tx1"/>
                          </a:solidFill>
                          <a:latin typeface="Arial"/>
                          <a:cs typeface="Arial"/>
                        </a:rPr>
                        <a:t> </a:t>
                      </a:r>
                      <a:r>
                        <a:rPr sz="900" dirty="0">
                          <a:solidFill>
                            <a:schemeClr val="tx1"/>
                          </a:solidFill>
                          <a:latin typeface="Arial"/>
                          <a:cs typeface="Arial"/>
                        </a:rPr>
                        <a:t>I</a:t>
                      </a:r>
                      <a:r>
                        <a:rPr sz="900" baseline="-18518" dirty="0">
                          <a:solidFill>
                            <a:schemeClr val="tx1"/>
                          </a:solidFill>
                          <a:latin typeface="Arial"/>
                          <a:cs typeface="Arial"/>
                        </a:rPr>
                        <a:t>O  </a:t>
                      </a:r>
                      <a:r>
                        <a:rPr sz="900" spc="187" baseline="-18518" dirty="0">
                          <a:solidFill>
                            <a:schemeClr val="tx1"/>
                          </a:solidFill>
                          <a:latin typeface="Arial"/>
                          <a:cs typeface="Arial"/>
                        </a:rPr>
                        <a:t> </a:t>
                      </a:r>
                      <a:r>
                        <a:rPr sz="900" dirty="0">
                          <a:solidFill>
                            <a:schemeClr val="tx1"/>
                          </a:solidFill>
                          <a:latin typeface="Arial"/>
                          <a:cs typeface="Arial"/>
                        </a:rPr>
                        <a:t>4mA,</a:t>
                      </a:r>
                      <a:r>
                        <a:rPr sz="900" spc="-30" dirty="0">
                          <a:solidFill>
                            <a:schemeClr val="tx1"/>
                          </a:solidFill>
                          <a:latin typeface="Arial"/>
                          <a:cs typeface="Arial"/>
                        </a:rPr>
                        <a:t> </a:t>
                      </a:r>
                      <a:r>
                        <a:rPr sz="900" dirty="0">
                          <a:solidFill>
                            <a:schemeClr val="tx1"/>
                          </a:solidFill>
                          <a:latin typeface="Arial"/>
                          <a:cs typeface="Arial"/>
                        </a:rPr>
                        <a:t>0.</a:t>
                      </a:r>
                      <a:r>
                        <a:rPr lang="en-US" sz="900" dirty="0">
                          <a:solidFill>
                            <a:schemeClr val="tx1"/>
                          </a:solidFill>
                          <a:latin typeface="Arial"/>
                          <a:cs typeface="Arial"/>
                        </a:rPr>
                        <a:t>65</a:t>
                      </a:r>
                      <a:r>
                        <a:rPr sz="900" dirty="0">
                          <a:solidFill>
                            <a:schemeClr val="tx1"/>
                          </a:solidFill>
                          <a:latin typeface="Arial"/>
                          <a:cs typeface="Arial"/>
                        </a:rPr>
                        <a:t>V</a:t>
                      </a:r>
                      <a:r>
                        <a:rPr sz="700" dirty="0">
                          <a:solidFill>
                            <a:schemeClr val="tx1"/>
                          </a:solidFill>
                          <a:latin typeface="Arial"/>
                          <a:cs typeface="Arial"/>
                        </a:rPr>
                        <a:t>@</a:t>
                      </a:r>
                      <a:r>
                        <a:rPr sz="700" spc="-15" dirty="0">
                          <a:solidFill>
                            <a:schemeClr val="tx1"/>
                          </a:solidFill>
                          <a:latin typeface="Arial"/>
                          <a:cs typeface="Arial"/>
                        </a:rPr>
                        <a:t> </a:t>
                      </a:r>
                      <a:r>
                        <a:rPr sz="900" dirty="0">
                          <a:solidFill>
                            <a:schemeClr val="tx1"/>
                          </a:solidFill>
                          <a:latin typeface="Arial"/>
                          <a:cs typeface="Arial"/>
                        </a:rPr>
                        <a:t>I</a:t>
                      </a:r>
                      <a:r>
                        <a:rPr sz="900" baseline="-18518" dirty="0">
                          <a:solidFill>
                            <a:schemeClr val="tx1"/>
                          </a:solidFill>
                          <a:latin typeface="Arial"/>
                          <a:cs typeface="Arial"/>
                        </a:rPr>
                        <a:t>O  </a:t>
                      </a:r>
                      <a:r>
                        <a:rPr sz="900" spc="195" baseline="-18518" dirty="0">
                          <a:solidFill>
                            <a:schemeClr val="tx1"/>
                          </a:solidFill>
                          <a:latin typeface="Arial"/>
                          <a:cs typeface="Arial"/>
                        </a:rPr>
                        <a:t> </a:t>
                      </a:r>
                      <a:r>
                        <a:rPr sz="900" dirty="0">
                          <a:solidFill>
                            <a:schemeClr val="tx1"/>
                          </a:solidFill>
                          <a:latin typeface="Arial"/>
                          <a:cs typeface="Arial"/>
                        </a:rPr>
                        <a:t>8mA</a:t>
                      </a:r>
                    </a:p>
                    <a:p>
                      <a:pPr marL="0" indent="0">
                        <a:lnSpc>
                          <a:spcPct val="100000"/>
                        </a:lnSpc>
                      </a:pPr>
                      <a:r>
                        <a:rPr lang="en-US" sz="900" spc="-5" dirty="0">
                          <a:solidFill>
                            <a:schemeClr val="tx1"/>
                          </a:solidFill>
                          <a:latin typeface="Arial"/>
                          <a:cs typeface="Arial"/>
                        </a:rPr>
                        <a:t>  0.70V</a:t>
                      </a:r>
                      <a:r>
                        <a:rPr sz="700" spc="-5" dirty="0">
                          <a:solidFill>
                            <a:schemeClr val="tx1"/>
                          </a:solidFill>
                          <a:latin typeface="Arial"/>
                          <a:cs typeface="Arial"/>
                        </a:rPr>
                        <a:t>@</a:t>
                      </a:r>
                      <a:r>
                        <a:rPr sz="700" spc="-20" dirty="0">
                          <a:solidFill>
                            <a:schemeClr val="tx1"/>
                          </a:solidFill>
                          <a:latin typeface="Arial"/>
                          <a:cs typeface="Arial"/>
                        </a:rPr>
                        <a:t> </a:t>
                      </a:r>
                      <a:r>
                        <a:rPr sz="900" dirty="0">
                          <a:solidFill>
                            <a:schemeClr val="tx1"/>
                          </a:solidFill>
                          <a:latin typeface="Arial"/>
                          <a:cs typeface="Arial"/>
                        </a:rPr>
                        <a:t>I</a:t>
                      </a:r>
                      <a:r>
                        <a:rPr sz="900" baseline="-18518" dirty="0">
                          <a:solidFill>
                            <a:schemeClr val="tx1"/>
                          </a:solidFill>
                          <a:latin typeface="Arial"/>
                          <a:cs typeface="Arial"/>
                        </a:rPr>
                        <a:t>O</a:t>
                      </a:r>
                      <a:r>
                        <a:rPr sz="900" spc="-30" baseline="-18518" dirty="0">
                          <a:solidFill>
                            <a:schemeClr val="tx1"/>
                          </a:solidFill>
                          <a:latin typeface="Arial"/>
                          <a:cs typeface="Arial"/>
                        </a:rPr>
                        <a:t> </a:t>
                      </a:r>
                      <a:r>
                        <a:rPr sz="900" dirty="0">
                          <a:solidFill>
                            <a:schemeClr val="tx1"/>
                          </a:solidFill>
                          <a:latin typeface="Arial"/>
                          <a:cs typeface="Arial"/>
                        </a:rPr>
                        <a:t>12mA,</a:t>
                      </a:r>
                      <a:r>
                        <a:rPr sz="900" spc="-40" dirty="0">
                          <a:solidFill>
                            <a:schemeClr val="tx1"/>
                          </a:solidFill>
                          <a:latin typeface="Arial"/>
                          <a:cs typeface="Arial"/>
                        </a:rPr>
                        <a:t> </a:t>
                      </a:r>
                      <a:r>
                        <a:rPr sz="900" dirty="0">
                          <a:solidFill>
                            <a:schemeClr val="tx1"/>
                          </a:solidFill>
                          <a:latin typeface="Arial"/>
                          <a:cs typeface="Arial"/>
                        </a:rPr>
                        <a:t>0.</a:t>
                      </a:r>
                      <a:r>
                        <a:rPr lang="en-US" sz="900" dirty="0">
                          <a:solidFill>
                            <a:schemeClr val="tx1"/>
                          </a:solidFill>
                          <a:latin typeface="Arial"/>
                          <a:cs typeface="Arial"/>
                        </a:rPr>
                        <a:t>7</a:t>
                      </a:r>
                      <a:r>
                        <a:rPr sz="900" dirty="0">
                          <a:solidFill>
                            <a:schemeClr val="tx1"/>
                          </a:solidFill>
                          <a:latin typeface="Arial"/>
                          <a:cs typeface="Arial"/>
                        </a:rPr>
                        <a:t>5V</a:t>
                      </a:r>
                      <a:r>
                        <a:rPr sz="700" dirty="0">
                          <a:solidFill>
                            <a:schemeClr val="tx1"/>
                          </a:solidFill>
                          <a:latin typeface="Arial"/>
                          <a:cs typeface="Arial"/>
                        </a:rPr>
                        <a:t>@</a:t>
                      </a:r>
                      <a:r>
                        <a:rPr sz="700" spc="-20" dirty="0">
                          <a:solidFill>
                            <a:schemeClr val="tx1"/>
                          </a:solidFill>
                          <a:latin typeface="Arial"/>
                          <a:cs typeface="Arial"/>
                        </a:rPr>
                        <a:t> </a:t>
                      </a:r>
                      <a:r>
                        <a:rPr sz="900" dirty="0">
                          <a:solidFill>
                            <a:schemeClr val="tx1"/>
                          </a:solidFill>
                          <a:latin typeface="Arial"/>
                          <a:cs typeface="Arial"/>
                        </a:rPr>
                        <a:t>I</a:t>
                      </a:r>
                      <a:r>
                        <a:rPr sz="900" baseline="-18518" dirty="0">
                          <a:solidFill>
                            <a:schemeClr val="tx1"/>
                          </a:solidFill>
                          <a:latin typeface="Arial"/>
                          <a:cs typeface="Arial"/>
                        </a:rPr>
                        <a:t>O</a:t>
                      </a:r>
                      <a:r>
                        <a:rPr sz="900" spc="-30" baseline="-18518" dirty="0">
                          <a:solidFill>
                            <a:schemeClr val="tx1"/>
                          </a:solidFill>
                          <a:latin typeface="Arial"/>
                          <a:cs typeface="Arial"/>
                        </a:rPr>
                        <a:t> </a:t>
                      </a:r>
                      <a:r>
                        <a:rPr sz="900" dirty="0">
                          <a:solidFill>
                            <a:schemeClr val="tx1"/>
                          </a:solidFill>
                          <a:latin typeface="Arial"/>
                          <a:cs typeface="Arial"/>
                        </a:rPr>
                        <a:t>16mA</a:t>
                      </a:r>
                    </a:p>
                    <a:p>
                      <a:pPr marL="0" indent="0">
                        <a:lnSpc>
                          <a:spcPct val="100000"/>
                        </a:lnSpc>
                      </a:pPr>
                      <a:r>
                        <a:rPr lang="en-US" sz="900" spc="-5" dirty="0">
                          <a:solidFill>
                            <a:schemeClr val="tx1"/>
                          </a:solidFill>
                          <a:latin typeface="Arial"/>
                          <a:cs typeface="Arial"/>
                        </a:rPr>
                        <a:t>  0.80V</a:t>
                      </a:r>
                      <a:r>
                        <a:rPr sz="700" spc="-5" dirty="0">
                          <a:solidFill>
                            <a:schemeClr val="tx1"/>
                          </a:solidFill>
                          <a:latin typeface="Arial"/>
                          <a:cs typeface="Arial"/>
                        </a:rPr>
                        <a:t>@</a:t>
                      </a:r>
                      <a:r>
                        <a:rPr sz="700" spc="-20" dirty="0">
                          <a:solidFill>
                            <a:schemeClr val="tx1"/>
                          </a:solidFill>
                          <a:latin typeface="Arial"/>
                          <a:cs typeface="Arial"/>
                        </a:rPr>
                        <a:t> </a:t>
                      </a:r>
                      <a:r>
                        <a:rPr sz="900" dirty="0">
                          <a:solidFill>
                            <a:schemeClr val="tx1"/>
                          </a:solidFill>
                          <a:latin typeface="Arial"/>
                          <a:cs typeface="Arial"/>
                        </a:rPr>
                        <a:t>I</a:t>
                      </a:r>
                      <a:r>
                        <a:rPr sz="900" baseline="-18518" dirty="0">
                          <a:solidFill>
                            <a:schemeClr val="tx1"/>
                          </a:solidFill>
                          <a:latin typeface="Arial"/>
                          <a:cs typeface="Arial"/>
                        </a:rPr>
                        <a:t>O</a:t>
                      </a:r>
                      <a:r>
                        <a:rPr sz="900" spc="-30" baseline="-18518" dirty="0">
                          <a:solidFill>
                            <a:schemeClr val="tx1"/>
                          </a:solidFill>
                          <a:latin typeface="Arial"/>
                          <a:cs typeface="Arial"/>
                        </a:rPr>
                        <a:t> </a:t>
                      </a:r>
                      <a:r>
                        <a:rPr sz="900" dirty="0">
                          <a:solidFill>
                            <a:schemeClr val="tx1"/>
                          </a:solidFill>
                          <a:latin typeface="Arial"/>
                          <a:cs typeface="Arial"/>
                        </a:rPr>
                        <a:t>24mA,</a:t>
                      </a:r>
                      <a:r>
                        <a:rPr sz="900" spc="-40" dirty="0">
                          <a:solidFill>
                            <a:schemeClr val="tx1"/>
                          </a:solidFill>
                          <a:latin typeface="Arial"/>
                          <a:cs typeface="Arial"/>
                        </a:rPr>
                        <a:t> </a:t>
                      </a:r>
                      <a:r>
                        <a:rPr sz="900" dirty="0">
                          <a:solidFill>
                            <a:schemeClr val="tx1"/>
                          </a:solidFill>
                          <a:latin typeface="Arial"/>
                          <a:cs typeface="Arial"/>
                        </a:rPr>
                        <a:t>0.</a:t>
                      </a:r>
                      <a:r>
                        <a:rPr lang="en-US" sz="900" dirty="0">
                          <a:solidFill>
                            <a:schemeClr val="tx1"/>
                          </a:solidFill>
                          <a:latin typeface="Arial"/>
                          <a:cs typeface="Arial"/>
                        </a:rPr>
                        <a:t>85</a:t>
                      </a:r>
                      <a:r>
                        <a:rPr sz="900" dirty="0">
                          <a:solidFill>
                            <a:schemeClr val="tx1"/>
                          </a:solidFill>
                          <a:latin typeface="Arial"/>
                          <a:cs typeface="Arial"/>
                        </a:rPr>
                        <a:t>V</a:t>
                      </a:r>
                      <a:r>
                        <a:rPr sz="700" dirty="0">
                          <a:solidFill>
                            <a:schemeClr val="tx1"/>
                          </a:solidFill>
                          <a:latin typeface="Arial"/>
                          <a:cs typeface="Arial"/>
                        </a:rPr>
                        <a:t>@</a:t>
                      </a:r>
                      <a:r>
                        <a:rPr sz="700" spc="-20" dirty="0">
                          <a:solidFill>
                            <a:schemeClr val="tx1"/>
                          </a:solidFill>
                          <a:latin typeface="Arial"/>
                          <a:cs typeface="Arial"/>
                        </a:rPr>
                        <a:t> </a:t>
                      </a:r>
                      <a:r>
                        <a:rPr sz="900" dirty="0">
                          <a:solidFill>
                            <a:schemeClr val="tx1"/>
                          </a:solidFill>
                          <a:latin typeface="Arial"/>
                          <a:cs typeface="Arial"/>
                        </a:rPr>
                        <a:t>I</a:t>
                      </a:r>
                      <a:r>
                        <a:rPr sz="900" baseline="-18518" dirty="0">
                          <a:solidFill>
                            <a:schemeClr val="tx1"/>
                          </a:solidFill>
                          <a:latin typeface="Arial"/>
                          <a:cs typeface="Arial"/>
                        </a:rPr>
                        <a:t>O</a:t>
                      </a:r>
                      <a:r>
                        <a:rPr sz="900" spc="-30" baseline="-18518" dirty="0">
                          <a:solidFill>
                            <a:schemeClr val="tx1"/>
                          </a:solidFill>
                          <a:latin typeface="Arial"/>
                          <a:cs typeface="Arial"/>
                        </a:rPr>
                        <a:t> </a:t>
                      </a:r>
                      <a:r>
                        <a:rPr sz="900" dirty="0">
                          <a:solidFill>
                            <a:schemeClr val="tx1"/>
                          </a:solidFill>
                          <a:latin typeface="Arial"/>
                          <a:cs typeface="Arial"/>
                        </a:rPr>
                        <a:t>32mA</a:t>
                      </a:r>
                    </a:p>
                    <a:p>
                      <a:pPr marL="0" indent="0">
                        <a:lnSpc>
                          <a:spcPct val="100000"/>
                        </a:lnSpc>
                      </a:pPr>
                      <a:r>
                        <a:rPr lang="en-US" sz="900" spc="-5" dirty="0">
                          <a:solidFill>
                            <a:schemeClr val="tx1"/>
                          </a:solidFill>
                          <a:latin typeface="Arial"/>
                          <a:cs typeface="Arial"/>
                        </a:rPr>
                        <a:t>  </a:t>
                      </a:r>
                      <a:r>
                        <a:rPr lang="en-US" altLang="ko-KR" sz="900" spc="-5" dirty="0">
                          <a:solidFill>
                            <a:schemeClr val="tx1"/>
                          </a:solidFill>
                          <a:latin typeface="Arial"/>
                          <a:cs typeface="Arial"/>
                        </a:rPr>
                        <a:t>0.90V</a:t>
                      </a:r>
                      <a:r>
                        <a:rPr lang="en-US" altLang="ko-KR" sz="700" spc="-5" dirty="0">
                          <a:solidFill>
                            <a:schemeClr val="tx1"/>
                          </a:solidFill>
                          <a:latin typeface="Arial"/>
                          <a:cs typeface="Arial"/>
                        </a:rPr>
                        <a:t>@ </a:t>
                      </a:r>
                      <a:r>
                        <a:rPr sz="900" dirty="0">
                          <a:solidFill>
                            <a:schemeClr val="tx1"/>
                          </a:solidFill>
                          <a:latin typeface="Arial"/>
                          <a:cs typeface="Arial"/>
                        </a:rPr>
                        <a:t>I</a:t>
                      </a:r>
                      <a:r>
                        <a:rPr sz="900" baseline="-18518" dirty="0">
                          <a:solidFill>
                            <a:schemeClr val="tx1"/>
                          </a:solidFill>
                          <a:latin typeface="Arial"/>
                          <a:cs typeface="Arial"/>
                        </a:rPr>
                        <a:t>O</a:t>
                      </a:r>
                      <a:r>
                        <a:rPr sz="900" spc="-30" baseline="-18518" dirty="0">
                          <a:solidFill>
                            <a:schemeClr val="tx1"/>
                          </a:solidFill>
                          <a:latin typeface="Arial"/>
                          <a:cs typeface="Arial"/>
                        </a:rPr>
                        <a:t> </a:t>
                      </a:r>
                      <a:r>
                        <a:rPr sz="900" dirty="0">
                          <a:solidFill>
                            <a:schemeClr val="tx1"/>
                          </a:solidFill>
                          <a:latin typeface="Arial"/>
                          <a:cs typeface="Arial"/>
                        </a:rPr>
                        <a:t>46mA,</a:t>
                      </a:r>
                      <a:r>
                        <a:rPr sz="900" spc="-25" dirty="0">
                          <a:solidFill>
                            <a:schemeClr val="tx1"/>
                          </a:solidFill>
                          <a:latin typeface="Arial"/>
                          <a:cs typeface="Arial"/>
                        </a:rPr>
                        <a:t> </a:t>
                      </a:r>
                      <a:r>
                        <a:rPr sz="900" spc="-5" dirty="0">
                          <a:solidFill>
                            <a:schemeClr val="tx1"/>
                          </a:solidFill>
                          <a:latin typeface="Arial"/>
                          <a:cs typeface="Arial"/>
                        </a:rPr>
                        <a:t>0.90V</a:t>
                      </a:r>
                      <a:r>
                        <a:rPr sz="700" spc="-5" dirty="0">
                          <a:solidFill>
                            <a:schemeClr val="tx1"/>
                          </a:solidFill>
                          <a:latin typeface="Arial"/>
                          <a:cs typeface="Arial"/>
                        </a:rPr>
                        <a:t>@</a:t>
                      </a:r>
                      <a:r>
                        <a:rPr sz="700" spc="-10" dirty="0">
                          <a:solidFill>
                            <a:schemeClr val="tx1"/>
                          </a:solidFill>
                          <a:latin typeface="Arial"/>
                          <a:cs typeface="Arial"/>
                        </a:rPr>
                        <a:t> </a:t>
                      </a:r>
                      <a:r>
                        <a:rPr sz="900" dirty="0">
                          <a:solidFill>
                            <a:schemeClr val="tx1"/>
                          </a:solidFill>
                          <a:latin typeface="Arial"/>
                          <a:cs typeface="Arial"/>
                        </a:rPr>
                        <a:t>I</a:t>
                      </a:r>
                      <a:r>
                        <a:rPr sz="900" baseline="-18518" dirty="0">
                          <a:solidFill>
                            <a:schemeClr val="tx1"/>
                          </a:solidFill>
                          <a:latin typeface="Arial"/>
                          <a:cs typeface="Arial"/>
                        </a:rPr>
                        <a:t>O</a:t>
                      </a:r>
                      <a:r>
                        <a:rPr sz="900" spc="-30" baseline="-18518" dirty="0">
                          <a:solidFill>
                            <a:schemeClr val="tx1"/>
                          </a:solidFill>
                          <a:latin typeface="Arial"/>
                          <a:cs typeface="Arial"/>
                        </a:rPr>
                        <a:t> </a:t>
                      </a:r>
                      <a:r>
                        <a:rPr sz="900" dirty="0">
                          <a:solidFill>
                            <a:schemeClr val="tx1"/>
                          </a:solidFill>
                          <a:latin typeface="Arial"/>
                          <a:cs typeface="Arial"/>
                        </a:rPr>
                        <a:t>64mA</a:t>
                      </a:r>
                    </a:p>
                  </a:txBody>
                  <a:tcPr marL="0" marR="0" marT="10795" marB="0">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HD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40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2614104"/>
                  </a:ext>
                </a:extLst>
              </a:tr>
              <a:tr h="690632">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Short detection voltage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4)</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SD</a:t>
                      </a:r>
                      <a:endPar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75590" marR="241300" indent="33020">
                        <a:lnSpc>
                          <a:spcPct val="100000"/>
                        </a:lnSpc>
                        <a:spcBef>
                          <a:spcPts val="160"/>
                        </a:spcBef>
                      </a:pPr>
                      <a:r>
                        <a:rPr sz="900" spc="-15" dirty="0">
                          <a:solidFill>
                            <a:schemeClr val="tx1"/>
                          </a:solidFill>
                          <a:latin typeface="Arial"/>
                          <a:cs typeface="Arial"/>
                        </a:rPr>
                        <a:t>S</a:t>
                      </a:r>
                      <a:r>
                        <a:rPr sz="900" spc="-10" dirty="0">
                          <a:solidFill>
                            <a:schemeClr val="tx1"/>
                          </a:solidFill>
                          <a:latin typeface="Arial"/>
                          <a:cs typeface="Arial"/>
                        </a:rPr>
                        <a:t>ho</a:t>
                      </a:r>
                      <a:r>
                        <a:rPr sz="900" spc="-15" dirty="0">
                          <a:solidFill>
                            <a:schemeClr val="tx1"/>
                          </a:solidFill>
                          <a:latin typeface="Arial"/>
                          <a:cs typeface="Arial"/>
                        </a:rPr>
                        <a:t>r</a:t>
                      </a:r>
                      <a:r>
                        <a:rPr sz="900" dirty="0">
                          <a:solidFill>
                            <a:schemeClr val="tx1"/>
                          </a:solidFill>
                          <a:latin typeface="Arial"/>
                          <a:cs typeface="Arial"/>
                        </a:rPr>
                        <a:t>t</a:t>
                      </a:r>
                      <a:r>
                        <a:rPr sz="900" spc="-60" dirty="0">
                          <a:solidFill>
                            <a:schemeClr val="tx1"/>
                          </a:solidFill>
                          <a:latin typeface="Arial"/>
                          <a:cs typeface="Arial"/>
                        </a:rPr>
                        <a:t> </a:t>
                      </a:r>
                      <a:r>
                        <a:rPr sz="900" spc="-10" dirty="0">
                          <a:solidFill>
                            <a:schemeClr val="tx1"/>
                          </a:solidFill>
                          <a:latin typeface="Arial"/>
                          <a:cs typeface="Arial"/>
                        </a:rPr>
                        <a:t>detecti</a:t>
                      </a:r>
                      <a:r>
                        <a:rPr sz="900" spc="-25" dirty="0">
                          <a:solidFill>
                            <a:schemeClr val="tx1"/>
                          </a:solidFill>
                          <a:latin typeface="Arial"/>
                          <a:cs typeface="Arial"/>
                        </a:rPr>
                        <a:t>o</a:t>
                      </a:r>
                      <a:r>
                        <a:rPr sz="900" dirty="0">
                          <a:solidFill>
                            <a:schemeClr val="tx1"/>
                          </a:solidFill>
                          <a:latin typeface="Arial"/>
                          <a:cs typeface="Arial"/>
                        </a:rPr>
                        <a:t>n</a:t>
                      </a:r>
                      <a:r>
                        <a:rPr sz="900" spc="-70" dirty="0">
                          <a:solidFill>
                            <a:schemeClr val="tx1"/>
                          </a:solidFill>
                          <a:latin typeface="Arial"/>
                          <a:cs typeface="Arial"/>
                        </a:rPr>
                        <a:t> </a:t>
                      </a:r>
                      <a:r>
                        <a:rPr sz="900" spc="-10" dirty="0">
                          <a:solidFill>
                            <a:schemeClr val="tx1"/>
                          </a:solidFill>
                          <a:latin typeface="Arial"/>
                          <a:cs typeface="Arial"/>
                        </a:rPr>
                        <a:t>le</a:t>
                      </a:r>
                      <a:r>
                        <a:rPr sz="900" spc="-20" dirty="0">
                          <a:solidFill>
                            <a:schemeClr val="tx1"/>
                          </a:solidFill>
                          <a:latin typeface="Arial"/>
                          <a:cs typeface="Arial"/>
                        </a:rPr>
                        <a:t>v</a:t>
                      </a:r>
                      <a:r>
                        <a:rPr sz="900" spc="-10" dirty="0">
                          <a:solidFill>
                            <a:schemeClr val="tx1"/>
                          </a:solidFill>
                          <a:latin typeface="Arial"/>
                          <a:cs typeface="Arial"/>
                        </a:rPr>
                        <a:t>e</a:t>
                      </a:r>
                      <a:r>
                        <a:rPr sz="900" dirty="0">
                          <a:solidFill>
                            <a:schemeClr val="tx1"/>
                          </a:solidFill>
                          <a:latin typeface="Arial"/>
                          <a:cs typeface="Arial"/>
                        </a:rPr>
                        <a:t>l</a:t>
                      </a:r>
                      <a:r>
                        <a:rPr sz="900" spc="-30" dirty="0">
                          <a:solidFill>
                            <a:schemeClr val="tx1"/>
                          </a:solidFill>
                          <a:latin typeface="Arial"/>
                          <a:cs typeface="Arial"/>
                        </a:rPr>
                        <a:t> </a:t>
                      </a:r>
                      <a:r>
                        <a:rPr sz="900" spc="-5" dirty="0">
                          <a:solidFill>
                            <a:schemeClr val="tx1"/>
                          </a:solidFill>
                          <a:latin typeface="Arial"/>
                          <a:cs typeface="Arial"/>
                        </a:rPr>
                        <a:t>V</a:t>
                      </a:r>
                      <a:r>
                        <a:rPr sz="900" spc="-7" baseline="-18518" dirty="0">
                          <a:solidFill>
                            <a:schemeClr val="tx1"/>
                          </a:solidFill>
                          <a:latin typeface="Arial"/>
                          <a:cs typeface="Arial"/>
                        </a:rPr>
                        <a:t>S</a:t>
                      </a:r>
                      <a:r>
                        <a:rPr sz="900" baseline="-18518" dirty="0">
                          <a:solidFill>
                            <a:schemeClr val="tx1"/>
                          </a:solidFill>
                          <a:latin typeface="Arial"/>
                          <a:cs typeface="Arial"/>
                        </a:rPr>
                        <a:t>D </a:t>
                      </a:r>
                      <a:r>
                        <a:rPr sz="900" dirty="0">
                          <a:solidFill>
                            <a:schemeClr val="tx1"/>
                          </a:solidFill>
                          <a:latin typeface="Arial"/>
                          <a:cs typeface="Arial"/>
                        </a:rPr>
                        <a:t>:  3b’000=3V,</a:t>
                      </a:r>
                      <a:r>
                        <a:rPr sz="900" spc="160" dirty="0">
                          <a:solidFill>
                            <a:schemeClr val="tx1"/>
                          </a:solidFill>
                          <a:latin typeface="Arial"/>
                          <a:cs typeface="Arial"/>
                        </a:rPr>
                        <a:t> </a:t>
                      </a:r>
                      <a:r>
                        <a:rPr sz="900" dirty="0">
                          <a:solidFill>
                            <a:schemeClr val="tx1"/>
                          </a:solidFill>
                          <a:latin typeface="Arial"/>
                          <a:cs typeface="Arial"/>
                        </a:rPr>
                        <a:t>3b’</a:t>
                      </a:r>
                      <a:r>
                        <a:rPr lang="en-US" sz="900" dirty="0">
                          <a:solidFill>
                            <a:schemeClr val="tx1"/>
                          </a:solidFill>
                          <a:latin typeface="Arial"/>
                          <a:cs typeface="Arial"/>
                        </a:rPr>
                        <a:t>001</a:t>
                      </a:r>
                      <a:r>
                        <a:rPr sz="900" dirty="0">
                          <a:solidFill>
                            <a:schemeClr val="tx1"/>
                          </a:solidFill>
                          <a:latin typeface="Arial"/>
                          <a:cs typeface="Arial"/>
                        </a:rPr>
                        <a:t>=</a:t>
                      </a:r>
                      <a:r>
                        <a:rPr lang="en-US" sz="900" dirty="0">
                          <a:solidFill>
                            <a:schemeClr val="tx1"/>
                          </a:solidFill>
                          <a:latin typeface="Arial"/>
                          <a:cs typeface="Arial"/>
                        </a:rPr>
                        <a:t>4</a:t>
                      </a:r>
                      <a:r>
                        <a:rPr sz="900" dirty="0">
                          <a:solidFill>
                            <a:schemeClr val="tx1"/>
                          </a:solidFill>
                          <a:latin typeface="Arial"/>
                          <a:cs typeface="Arial"/>
                        </a:rPr>
                        <a:t>V</a:t>
                      </a:r>
                    </a:p>
                    <a:p>
                      <a:pPr marL="275590">
                        <a:lnSpc>
                          <a:spcPct val="100000"/>
                        </a:lnSpc>
                      </a:pPr>
                      <a:r>
                        <a:rPr sz="900" dirty="0">
                          <a:solidFill>
                            <a:schemeClr val="tx1"/>
                          </a:solidFill>
                          <a:latin typeface="Arial"/>
                          <a:cs typeface="Arial"/>
                        </a:rPr>
                        <a:t>3b’0</a:t>
                      </a:r>
                      <a:r>
                        <a:rPr lang="en-US" sz="900" dirty="0">
                          <a:solidFill>
                            <a:schemeClr val="tx1"/>
                          </a:solidFill>
                          <a:latin typeface="Arial"/>
                          <a:cs typeface="Arial"/>
                        </a:rPr>
                        <a:t>10</a:t>
                      </a:r>
                      <a:r>
                        <a:rPr sz="900" dirty="0">
                          <a:solidFill>
                            <a:schemeClr val="tx1"/>
                          </a:solidFill>
                          <a:latin typeface="Arial"/>
                          <a:cs typeface="Arial"/>
                        </a:rPr>
                        <a:t>=</a:t>
                      </a:r>
                      <a:r>
                        <a:rPr lang="en-US" sz="900" dirty="0">
                          <a:solidFill>
                            <a:schemeClr val="tx1"/>
                          </a:solidFill>
                          <a:latin typeface="Arial"/>
                          <a:cs typeface="Arial"/>
                        </a:rPr>
                        <a:t>6</a:t>
                      </a:r>
                      <a:r>
                        <a:rPr sz="900" dirty="0">
                          <a:solidFill>
                            <a:schemeClr val="tx1"/>
                          </a:solidFill>
                          <a:latin typeface="Arial"/>
                          <a:cs typeface="Arial"/>
                        </a:rPr>
                        <a:t>V,</a:t>
                      </a:r>
                      <a:r>
                        <a:rPr sz="900" spc="125" dirty="0">
                          <a:solidFill>
                            <a:schemeClr val="tx1"/>
                          </a:solidFill>
                          <a:latin typeface="Arial"/>
                          <a:cs typeface="Arial"/>
                        </a:rPr>
                        <a:t> </a:t>
                      </a:r>
                      <a:r>
                        <a:rPr sz="900" dirty="0">
                          <a:solidFill>
                            <a:schemeClr val="tx1"/>
                          </a:solidFill>
                          <a:latin typeface="Arial"/>
                          <a:cs typeface="Arial"/>
                        </a:rPr>
                        <a:t>3b’</a:t>
                      </a:r>
                      <a:r>
                        <a:rPr lang="en-US" sz="900" dirty="0">
                          <a:solidFill>
                            <a:schemeClr val="tx1"/>
                          </a:solidFill>
                          <a:latin typeface="Arial"/>
                          <a:cs typeface="Arial"/>
                        </a:rPr>
                        <a:t>011</a:t>
                      </a:r>
                      <a:r>
                        <a:rPr sz="900" dirty="0">
                          <a:solidFill>
                            <a:schemeClr val="tx1"/>
                          </a:solidFill>
                          <a:latin typeface="Arial"/>
                          <a:cs typeface="Arial"/>
                        </a:rPr>
                        <a:t>=</a:t>
                      </a:r>
                      <a:r>
                        <a:rPr lang="en-US" sz="900" dirty="0">
                          <a:solidFill>
                            <a:schemeClr val="tx1"/>
                          </a:solidFill>
                          <a:latin typeface="Arial"/>
                          <a:cs typeface="Arial"/>
                        </a:rPr>
                        <a:t>8</a:t>
                      </a:r>
                      <a:r>
                        <a:rPr sz="900" dirty="0">
                          <a:solidFill>
                            <a:schemeClr val="tx1"/>
                          </a:solidFill>
                          <a:latin typeface="Arial"/>
                          <a:cs typeface="Arial"/>
                        </a:rPr>
                        <a:t>V</a:t>
                      </a:r>
                    </a:p>
                    <a:p>
                      <a:pPr marL="275590">
                        <a:lnSpc>
                          <a:spcPct val="100000"/>
                        </a:lnSpc>
                      </a:pPr>
                      <a:r>
                        <a:rPr sz="900" spc="-5" dirty="0">
                          <a:solidFill>
                            <a:schemeClr val="tx1"/>
                          </a:solidFill>
                          <a:latin typeface="Arial"/>
                          <a:cs typeface="Arial"/>
                        </a:rPr>
                        <a:t>3b’</a:t>
                      </a:r>
                      <a:r>
                        <a:rPr lang="en-US" sz="900" spc="-5" dirty="0">
                          <a:solidFill>
                            <a:schemeClr val="tx1"/>
                          </a:solidFill>
                          <a:latin typeface="Arial"/>
                          <a:cs typeface="Arial"/>
                        </a:rPr>
                        <a:t>100</a:t>
                      </a:r>
                      <a:r>
                        <a:rPr sz="900" spc="-5" dirty="0">
                          <a:solidFill>
                            <a:schemeClr val="tx1"/>
                          </a:solidFill>
                          <a:latin typeface="Arial"/>
                          <a:cs typeface="Arial"/>
                        </a:rPr>
                        <a:t>=</a:t>
                      </a:r>
                      <a:r>
                        <a:rPr lang="en-US" sz="900" spc="-5" dirty="0">
                          <a:solidFill>
                            <a:schemeClr val="tx1"/>
                          </a:solidFill>
                          <a:latin typeface="Arial"/>
                          <a:cs typeface="Arial"/>
                        </a:rPr>
                        <a:t>12</a:t>
                      </a:r>
                      <a:r>
                        <a:rPr sz="900" spc="-5" dirty="0">
                          <a:solidFill>
                            <a:schemeClr val="tx1"/>
                          </a:solidFill>
                          <a:latin typeface="Arial"/>
                          <a:cs typeface="Arial"/>
                        </a:rPr>
                        <a:t>V,</a:t>
                      </a:r>
                      <a:r>
                        <a:rPr sz="900" spc="200" dirty="0">
                          <a:solidFill>
                            <a:schemeClr val="tx1"/>
                          </a:solidFill>
                          <a:latin typeface="Arial"/>
                          <a:cs typeface="Arial"/>
                        </a:rPr>
                        <a:t> </a:t>
                      </a:r>
                      <a:r>
                        <a:rPr sz="900" spc="-5" dirty="0">
                          <a:solidFill>
                            <a:schemeClr val="tx1"/>
                          </a:solidFill>
                          <a:latin typeface="Arial"/>
                          <a:cs typeface="Arial"/>
                        </a:rPr>
                        <a:t>3b’1</a:t>
                      </a:r>
                      <a:r>
                        <a:rPr lang="en-US" sz="900" spc="-5" dirty="0">
                          <a:solidFill>
                            <a:schemeClr val="tx1"/>
                          </a:solidFill>
                          <a:latin typeface="Arial"/>
                          <a:cs typeface="Arial"/>
                        </a:rPr>
                        <a:t>01</a:t>
                      </a:r>
                      <a:r>
                        <a:rPr sz="900" spc="-5" dirty="0">
                          <a:solidFill>
                            <a:schemeClr val="tx1"/>
                          </a:solidFill>
                          <a:latin typeface="Arial"/>
                          <a:cs typeface="Arial"/>
                        </a:rPr>
                        <a:t>=</a:t>
                      </a:r>
                      <a:r>
                        <a:rPr lang="en-US" sz="900" spc="-5" dirty="0">
                          <a:solidFill>
                            <a:schemeClr val="tx1"/>
                          </a:solidFill>
                          <a:latin typeface="Arial"/>
                          <a:cs typeface="Arial"/>
                        </a:rPr>
                        <a:t>16</a:t>
                      </a:r>
                      <a:r>
                        <a:rPr sz="900" spc="-5" dirty="0">
                          <a:solidFill>
                            <a:schemeClr val="tx1"/>
                          </a:solidFill>
                          <a:latin typeface="Arial"/>
                          <a:cs typeface="Arial"/>
                        </a:rPr>
                        <a:t>V</a:t>
                      </a:r>
                      <a:endParaRPr sz="900" dirty="0">
                        <a:solidFill>
                          <a:schemeClr val="tx1"/>
                        </a:solidFill>
                        <a:latin typeface="Arial"/>
                        <a:cs typeface="Arial"/>
                      </a:endParaRPr>
                    </a:p>
                    <a:p>
                      <a:pPr marL="275590">
                        <a:lnSpc>
                          <a:spcPct val="100000"/>
                        </a:lnSpc>
                        <a:spcBef>
                          <a:spcPts val="5"/>
                        </a:spcBef>
                      </a:pPr>
                      <a:r>
                        <a:rPr sz="900" dirty="0">
                          <a:solidFill>
                            <a:schemeClr val="tx1"/>
                          </a:solidFill>
                          <a:latin typeface="Arial"/>
                          <a:cs typeface="Arial"/>
                        </a:rPr>
                        <a:t>3b’</a:t>
                      </a:r>
                      <a:r>
                        <a:rPr lang="en-US" sz="900" dirty="0">
                          <a:solidFill>
                            <a:schemeClr val="tx1"/>
                          </a:solidFill>
                          <a:latin typeface="Arial"/>
                          <a:cs typeface="Arial"/>
                        </a:rPr>
                        <a:t>110</a:t>
                      </a:r>
                      <a:r>
                        <a:rPr sz="900" dirty="0">
                          <a:solidFill>
                            <a:schemeClr val="tx1"/>
                          </a:solidFill>
                          <a:latin typeface="Arial"/>
                          <a:cs typeface="Arial"/>
                        </a:rPr>
                        <a:t>=</a:t>
                      </a:r>
                      <a:r>
                        <a:rPr lang="en-US" sz="900" dirty="0">
                          <a:solidFill>
                            <a:schemeClr val="tx1"/>
                          </a:solidFill>
                          <a:latin typeface="Arial"/>
                          <a:cs typeface="Arial"/>
                        </a:rPr>
                        <a:t>24</a:t>
                      </a:r>
                      <a:r>
                        <a:rPr sz="900" dirty="0">
                          <a:solidFill>
                            <a:schemeClr val="tx1"/>
                          </a:solidFill>
                          <a:latin typeface="Arial"/>
                          <a:cs typeface="Arial"/>
                        </a:rPr>
                        <a:t>V,</a:t>
                      </a:r>
                      <a:r>
                        <a:rPr sz="900" spc="125" dirty="0">
                          <a:solidFill>
                            <a:schemeClr val="tx1"/>
                          </a:solidFill>
                          <a:latin typeface="Arial"/>
                          <a:cs typeface="Arial"/>
                        </a:rPr>
                        <a:t> </a:t>
                      </a:r>
                      <a:r>
                        <a:rPr sz="900" dirty="0">
                          <a:solidFill>
                            <a:schemeClr val="tx1"/>
                          </a:solidFill>
                          <a:latin typeface="Arial"/>
                          <a:cs typeface="Arial"/>
                        </a:rPr>
                        <a:t>3b’111=36V</a:t>
                      </a:r>
                    </a:p>
                  </a:txBody>
                  <a:tcPr marL="0" marR="0" marT="20320" marB="0">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SD</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3359649"/>
                  </a:ext>
                </a:extLst>
              </a:tr>
              <a:tr h="24436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Open detection voltage </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4)</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lnSpc>
                          <a:spcPct val="100000"/>
                        </a:lnSpc>
                      </a:pP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0.25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9154374"/>
                  </a:ext>
                </a:extLst>
              </a:tr>
              <a:tr h="670758">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 current</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Device max current level :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en-US" altLang="ko-KR" sz="900" dirty="0">
                        <a:effectLst/>
                        <a:latin typeface="Arial" panose="020B0604020202020204" pitchFamily="34" charset="0"/>
                        <a:ea typeface="Arial" panose="020B0604020202020204" pitchFamily="34" charset="0"/>
                        <a:cs typeface="Times New Roman" panose="02020603050405020304" pitchFamily="18" charset="0"/>
                      </a:endParaRPr>
                    </a:p>
                    <a:p>
                      <a:pPr marL="67945" algn="l">
                        <a:lnSpc>
                          <a:spcPct val="100000"/>
                        </a:lnSpc>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3’b000 =   4mA, 3’b001 =   8mA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3’b010 = 12mA, 3’b011 = 16mA</a:t>
                      </a:r>
                    </a:p>
                    <a:p>
                      <a:pPr marL="67945" algn="l">
                        <a:lnSpc>
                          <a:spcPct val="100000"/>
                        </a:lnSpc>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3’b100 = 24mA, 3’b101 = 32mA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3’b110 = 46mA, 3’b111 = 64mA</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64</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522093"/>
                  </a:ext>
                </a:extLst>
              </a:tr>
              <a:tr h="325904">
                <a:tc rowSpan="3">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accuracy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5)</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318135" marR="318770" indent="46990" algn="ctr">
                        <a:lnSpc>
                          <a:spcPct val="100000"/>
                        </a:lnSpc>
                        <a:spcBef>
                          <a:spcPts val="120"/>
                        </a:spcBef>
                      </a:pPr>
                      <a:r>
                        <a:rPr sz="1050" spc="-7" baseline="3968" dirty="0">
                          <a:latin typeface="Arial"/>
                          <a:cs typeface="Arial"/>
                        </a:rPr>
                        <a:t>@ </a:t>
                      </a:r>
                      <a:r>
                        <a:rPr sz="900" dirty="0">
                          <a:latin typeface="Arial"/>
                          <a:cs typeface="Arial"/>
                        </a:rPr>
                        <a:t>I</a:t>
                      </a:r>
                      <a:r>
                        <a:rPr sz="900" baseline="-9259" dirty="0">
                          <a:latin typeface="Arial"/>
                          <a:cs typeface="Arial"/>
                        </a:rPr>
                        <a:t>O </a:t>
                      </a:r>
                      <a:r>
                        <a:rPr sz="900" dirty="0">
                          <a:latin typeface="Arial"/>
                          <a:cs typeface="Arial"/>
                        </a:rPr>
                        <a:t>=</a:t>
                      </a:r>
                      <a:r>
                        <a:rPr lang="en-US" sz="900" dirty="0">
                          <a:latin typeface="Arial"/>
                          <a:cs typeface="Arial"/>
                        </a:rPr>
                        <a:t>Imax(32</a:t>
                      </a:r>
                      <a:r>
                        <a:rPr lang="en-US" altLang="ko-KR" sz="900" dirty="0">
                          <a:latin typeface="Arial"/>
                          <a:cs typeface="Arial"/>
                        </a:rPr>
                        <a:t>mA)</a:t>
                      </a:r>
                      <a:r>
                        <a:rPr lang="en-US" sz="900" dirty="0">
                          <a:latin typeface="Arial"/>
                          <a:cs typeface="Arial"/>
                        </a:rPr>
                        <a:t>*0.</a:t>
                      </a:r>
                      <a:r>
                        <a:rPr lang="en-US" sz="900" spc="5" dirty="0">
                          <a:latin typeface="Arial"/>
                          <a:cs typeface="Arial"/>
                        </a:rPr>
                        <a:t>2</a:t>
                      </a:r>
                      <a:endParaRPr sz="900" dirty="0">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sz="900" spc="-5" dirty="0">
                          <a:solidFill>
                            <a:schemeClr val="tx1"/>
                          </a:solidFill>
                          <a:latin typeface="Arial"/>
                          <a:cs typeface="Arial"/>
                        </a:rPr>
                        <a:t>-</a:t>
                      </a:r>
                      <a:r>
                        <a:rPr lang="en-US" sz="900" spc="-5" dirty="0">
                          <a:solidFill>
                            <a:schemeClr val="tx1"/>
                          </a:solidFill>
                          <a:latin typeface="Arial"/>
                          <a:cs typeface="Arial"/>
                        </a:rPr>
                        <a:t>3.0</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sz="900" dirty="0">
                          <a:solidFill>
                            <a:schemeClr val="tx1"/>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sz="900" spc="-5" dirty="0">
                          <a:solidFill>
                            <a:schemeClr val="tx1"/>
                          </a:solidFill>
                          <a:latin typeface="Arial"/>
                          <a:cs typeface="Arial"/>
                        </a:rPr>
                        <a:t>+</a:t>
                      </a:r>
                      <a:r>
                        <a:rPr lang="en-US" sz="900" spc="-5" dirty="0">
                          <a:solidFill>
                            <a:schemeClr val="tx1"/>
                          </a:solidFill>
                          <a:latin typeface="Arial"/>
                          <a:cs typeface="Arial"/>
                        </a:rPr>
                        <a:t>3.0</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7959294"/>
                  </a:ext>
                </a:extLst>
              </a:tr>
              <a:tr h="311574">
                <a:tc vMerge="1">
                  <a:txBody>
                    <a:bodyPr/>
                    <a:lstStyle/>
                    <a:p>
                      <a:pPr latinLnBrk="1"/>
                      <a:endParaRPr lang="ko-KR" altLang="en-US"/>
                    </a:p>
                  </a:txBody>
                  <a:tcPr/>
                </a:tc>
                <a:tc vMerge="1">
                  <a:txBody>
                    <a:bodyPr/>
                    <a:lstStyle/>
                    <a:p>
                      <a:pPr latinLnBrk="1"/>
                      <a:endParaRPr lang="ko-KR" altLang="en-US"/>
                    </a:p>
                  </a:txBody>
                  <a:tcPr/>
                </a:tc>
                <a:tc>
                  <a:txBody>
                    <a:bodyPr/>
                    <a:lstStyle/>
                    <a:p>
                      <a:pPr marL="318135" marR="318770" indent="46990" algn="ctr">
                        <a:lnSpc>
                          <a:spcPct val="100000"/>
                        </a:lnSpc>
                        <a:spcBef>
                          <a:spcPts val="120"/>
                        </a:spcBef>
                      </a:pPr>
                      <a:r>
                        <a:rPr lang="en-US" altLang="ko-KR" sz="1050" spc="-7" baseline="3968" dirty="0">
                          <a:latin typeface="Arial"/>
                          <a:cs typeface="Arial"/>
                        </a:rPr>
                        <a:t>@ </a:t>
                      </a:r>
                      <a:r>
                        <a:rPr lang="en-US" altLang="ko-KR" sz="900" dirty="0">
                          <a:latin typeface="Arial"/>
                          <a:cs typeface="Arial"/>
                        </a:rPr>
                        <a:t>I</a:t>
                      </a:r>
                      <a:r>
                        <a:rPr lang="en-US" altLang="ko-KR" sz="900" baseline="-9259" dirty="0">
                          <a:latin typeface="Arial"/>
                          <a:cs typeface="Arial"/>
                        </a:rPr>
                        <a:t>O </a:t>
                      </a:r>
                      <a:r>
                        <a:rPr lang="en-US" altLang="ko-KR" sz="900" dirty="0">
                          <a:latin typeface="Arial"/>
                          <a:cs typeface="Arial"/>
                        </a:rPr>
                        <a:t>=Imax(32mA)*0.</a:t>
                      </a:r>
                      <a:r>
                        <a:rPr lang="en-US" altLang="ko-KR" sz="900" spc="5" dirty="0">
                          <a:latin typeface="Arial"/>
                          <a:cs typeface="Arial"/>
                        </a:rPr>
                        <a:t>5</a:t>
                      </a:r>
                      <a:endParaRPr lang="en-US" altLang="ko-KR" sz="900" dirty="0">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615"/>
                        </a:spcBef>
                      </a:pPr>
                      <a:r>
                        <a:rPr sz="900" spc="-5" dirty="0">
                          <a:solidFill>
                            <a:schemeClr val="tx1"/>
                          </a:solidFill>
                          <a:latin typeface="Arial"/>
                          <a:cs typeface="Arial"/>
                        </a:rPr>
                        <a:t>-</a:t>
                      </a:r>
                      <a:r>
                        <a:rPr lang="en-US" sz="900" spc="-5" dirty="0">
                          <a:solidFill>
                            <a:schemeClr val="tx1"/>
                          </a:solidFill>
                          <a:latin typeface="Arial"/>
                          <a:cs typeface="Arial"/>
                        </a:rPr>
                        <a:t>2.0</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615"/>
                        </a:spcBef>
                      </a:pPr>
                      <a:r>
                        <a:rPr sz="900" dirty="0">
                          <a:solidFill>
                            <a:schemeClr val="tx1"/>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615"/>
                        </a:spcBef>
                      </a:pPr>
                      <a:r>
                        <a:rPr sz="900" spc="-5" dirty="0">
                          <a:solidFill>
                            <a:schemeClr val="tx1"/>
                          </a:solidFill>
                          <a:latin typeface="Arial"/>
                          <a:cs typeface="Arial"/>
                        </a:rPr>
                        <a:t>+</a:t>
                      </a:r>
                      <a:r>
                        <a:rPr lang="en-US" sz="900" spc="-5" dirty="0">
                          <a:solidFill>
                            <a:schemeClr val="tx1"/>
                          </a:solidFill>
                          <a:latin typeface="Arial"/>
                          <a:cs typeface="Arial"/>
                        </a:rPr>
                        <a:t>2.0</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38768497"/>
                  </a:ext>
                </a:extLst>
              </a:tr>
              <a:tr h="335885">
                <a:tc vMerge="1">
                  <a:txBody>
                    <a:bodyPr/>
                    <a:lstStyle/>
                    <a:p>
                      <a:pPr algn="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ct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18135" marR="318770" indent="46990" algn="ctr">
                        <a:lnSpc>
                          <a:spcPct val="100000"/>
                        </a:lnSpc>
                        <a:spcBef>
                          <a:spcPts val="120"/>
                        </a:spcBef>
                      </a:pPr>
                      <a:r>
                        <a:rPr lang="en-US" altLang="ko-KR" sz="1050" spc="-7" baseline="3968" dirty="0">
                          <a:latin typeface="Arial"/>
                          <a:cs typeface="Arial"/>
                        </a:rPr>
                        <a:t>@ </a:t>
                      </a:r>
                      <a:r>
                        <a:rPr lang="en-US" altLang="ko-KR" sz="900" dirty="0">
                          <a:latin typeface="Arial"/>
                          <a:cs typeface="Arial"/>
                        </a:rPr>
                        <a:t>I</a:t>
                      </a:r>
                      <a:r>
                        <a:rPr lang="en-US" altLang="ko-KR" sz="900" baseline="-9259" dirty="0">
                          <a:latin typeface="Arial"/>
                          <a:cs typeface="Arial"/>
                        </a:rPr>
                        <a:t>O </a:t>
                      </a:r>
                      <a:r>
                        <a:rPr lang="en-US" altLang="ko-KR" sz="900" dirty="0">
                          <a:latin typeface="Arial"/>
                          <a:cs typeface="Arial"/>
                        </a:rPr>
                        <a:t>=Imax(32mA)*1.0</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615"/>
                        </a:spcBef>
                      </a:pPr>
                      <a:r>
                        <a:rPr sz="900" spc="-5" dirty="0">
                          <a:solidFill>
                            <a:schemeClr val="tx1"/>
                          </a:solidFill>
                          <a:latin typeface="Arial"/>
                          <a:cs typeface="Arial"/>
                        </a:rPr>
                        <a:t>-</a:t>
                      </a:r>
                      <a:r>
                        <a:rPr lang="en-US" sz="900" spc="-5" dirty="0">
                          <a:solidFill>
                            <a:schemeClr val="tx1"/>
                          </a:solidFill>
                          <a:latin typeface="Arial"/>
                          <a:cs typeface="Arial"/>
                        </a:rPr>
                        <a:t>2.0</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615"/>
                        </a:spcBef>
                      </a:pPr>
                      <a:r>
                        <a:rPr sz="900" dirty="0">
                          <a:solidFill>
                            <a:schemeClr val="tx1"/>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615"/>
                        </a:spcBef>
                      </a:pPr>
                      <a:r>
                        <a:rPr sz="900" spc="-5" dirty="0">
                          <a:solidFill>
                            <a:schemeClr val="tx1"/>
                          </a:solidFill>
                          <a:latin typeface="Arial"/>
                          <a:cs typeface="Arial"/>
                        </a:rPr>
                        <a:t>+</a:t>
                      </a:r>
                      <a:r>
                        <a:rPr lang="en-US" sz="900" spc="-5" dirty="0">
                          <a:solidFill>
                            <a:schemeClr val="tx1"/>
                          </a:solidFill>
                          <a:latin typeface="Arial"/>
                          <a:cs typeface="Arial"/>
                        </a:rPr>
                        <a:t>2.0</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56953018"/>
                  </a:ext>
                </a:extLst>
              </a:tr>
              <a:tr h="24436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LED off current</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OFF</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1270" algn="ctr">
                        <a:lnSpc>
                          <a:spcPct val="100000"/>
                        </a:lnSpc>
                        <a:spcBef>
                          <a:spcPts val="490"/>
                        </a:spcBef>
                      </a:pPr>
                      <a:r>
                        <a:rPr sz="900" spc="-5" dirty="0">
                          <a:latin typeface="Arial"/>
                          <a:cs typeface="Arial"/>
                        </a:rPr>
                        <a:t>Vo</a:t>
                      </a:r>
                      <a:r>
                        <a:rPr sz="900" spc="-35" dirty="0">
                          <a:latin typeface="Arial"/>
                          <a:cs typeface="Arial"/>
                        </a:rPr>
                        <a:t> </a:t>
                      </a:r>
                      <a:r>
                        <a:rPr sz="900" dirty="0">
                          <a:latin typeface="Arial"/>
                          <a:cs typeface="Arial"/>
                        </a:rPr>
                        <a:t>=</a:t>
                      </a:r>
                      <a:r>
                        <a:rPr sz="900" spc="-25" dirty="0">
                          <a:latin typeface="Arial"/>
                          <a:cs typeface="Arial"/>
                        </a:rPr>
                        <a:t> </a:t>
                      </a:r>
                      <a:r>
                        <a:rPr sz="900" spc="-5" dirty="0">
                          <a:latin typeface="Arial"/>
                          <a:cs typeface="Arial"/>
                        </a:rPr>
                        <a:t>40V</a:t>
                      </a:r>
                      <a:endParaRPr sz="900" dirty="0">
                        <a:latin typeface="Arial"/>
                        <a:cs typeface="Arial"/>
                      </a:endParaRPr>
                    </a:p>
                  </a:txBody>
                  <a:tcPr marL="0" marR="0" marT="6223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90"/>
                        </a:spcBef>
                      </a:pPr>
                      <a:r>
                        <a:rPr sz="900" dirty="0">
                          <a:solidFill>
                            <a:schemeClr val="tx1"/>
                          </a:solidFill>
                          <a:latin typeface="Arial"/>
                          <a:cs typeface="Arial"/>
                        </a:rPr>
                        <a:t>-</a:t>
                      </a:r>
                    </a:p>
                  </a:txBody>
                  <a:tcPr marL="0" marR="0" marT="6223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90"/>
                        </a:spcBef>
                      </a:pPr>
                      <a:r>
                        <a:rPr sz="900" dirty="0">
                          <a:solidFill>
                            <a:schemeClr val="tx1"/>
                          </a:solidFill>
                          <a:latin typeface="Arial"/>
                          <a:cs typeface="Arial"/>
                        </a:rPr>
                        <a:t>-</a:t>
                      </a:r>
                    </a:p>
                  </a:txBody>
                  <a:tcPr marL="0" marR="0" marT="6223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635" algn="ctr">
                        <a:lnSpc>
                          <a:spcPct val="100000"/>
                        </a:lnSpc>
                        <a:spcBef>
                          <a:spcPts val="490"/>
                        </a:spcBef>
                      </a:pPr>
                      <a:r>
                        <a:rPr sz="900" spc="-5" dirty="0">
                          <a:solidFill>
                            <a:schemeClr val="tx1"/>
                          </a:solidFill>
                          <a:latin typeface="Arial"/>
                          <a:cs typeface="Arial"/>
                        </a:rPr>
                        <a:t>300</a:t>
                      </a:r>
                      <a:endParaRPr sz="900" dirty="0">
                        <a:solidFill>
                          <a:schemeClr val="tx1"/>
                        </a:solidFill>
                        <a:latin typeface="Arial"/>
                        <a:cs typeface="Arial"/>
                      </a:endParaRPr>
                    </a:p>
                  </a:txBody>
                  <a:tcPr marL="0" marR="0" marT="6223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nA</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65414234"/>
                  </a:ext>
                </a:extLst>
              </a:tr>
              <a:tr h="244366">
                <a:tc gridSpan="7">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Feedback</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76727051"/>
                  </a:ext>
                </a:extLst>
              </a:tr>
              <a:tr h="680074">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FB threshold voltage</a:t>
                      </a:r>
                    </a:p>
                    <a:p>
                      <a:pPr marL="0" marR="0" lvl="0" indent="0" algn="r" defTabSz="685800" rtl="0" eaLnBrk="1" fontAlgn="ctr" latinLnBrk="1" hangingPunct="1">
                        <a:lnSpc>
                          <a:spcPct val="100000"/>
                        </a:lnSpc>
                        <a:spcBef>
                          <a:spcPts val="0"/>
                        </a:spcBef>
                        <a:spcAft>
                          <a:spcPts val="0"/>
                        </a:spcAft>
                        <a:buClrTx/>
                        <a:buSzTx/>
                        <a:buFontTx/>
                        <a:buNone/>
                        <a:tabLst/>
                        <a:defRPr/>
                      </a:pP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Logically ORed for 12-ch)</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FB level V</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FBA</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3’b000 = 0.40V,  3’b001 = 0.50V</a:t>
                      </a:r>
                    </a:p>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3’b010 = 0.60V,  3’b011 = 0.70V</a:t>
                      </a:r>
                    </a:p>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3’b100 = 0.85V,  3’b101 = 1.00V</a:t>
                      </a:r>
                    </a:p>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3’b110 = 1.15V,  3’b111 = 1.30V</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102235" algn="ctr" defTabSz="685800" rtl="0" eaLnBrk="1" fontAlgn="ctr" latinLnBrk="1" hangingPunct="1">
                        <a:spcBef>
                          <a:spcPts val="370"/>
                        </a:spcBef>
                        <a:spcAft>
                          <a:spcPts val="0"/>
                        </a:spcAft>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FBA</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9383751"/>
                  </a:ext>
                </a:extLst>
              </a:tr>
              <a:tr h="244366">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FB hysteresis voltage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40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10223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60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110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mV</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05651753"/>
                  </a:ext>
                </a:extLst>
              </a:tr>
              <a:tr h="244366">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Thermal protection</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11483299"/>
                  </a:ext>
                </a:extLst>
              </a:tr>
              <a:tr h="300112">
                <a:tc>
                  <a:txBody>
                    <a:bodyPr/>
                    <a:lstStyle/>
                    <a:p>
                      <a:pPr marL="0" marR="64135" indent="0" algn="r">
                        <a:lnSpc>
                          <a:spcPct val="200000"/>
                        </a:lnSpc>
                        <a:spcBef>
                          <a:spcPts val="5"/>
                        </a:spcBef>
                      </a:pPr>
                      <a:r>
                        <a:rPr lang="en-US" sz="900" spc="-10" dirty="0">
                          <a:latin typeface="Arial"/>
                          <a:cs typeface="Arial"/>
                        </a:rPr>
                        <a:t>T</a:t>
                      </a:r>
                      <a:r>
                        <a:rPr lang="en-US" sz="900" dirty="0">
                          <a:latin typeface="Arial"/>
                          <a:cs typeface="Arial"/>
                        </a:rPr>
                        <a:t>her</a:t>
                      </a:r>
                      <a:r>
                        <a:rPr lang="en-US" sz="900" spc="5" dirty="0">
                          <a:latin typeface="Arial"/>
                          <a:cs typeface="Arial"/>
                        </a:rPr>
                        <a:t>m</a:t>
                      </a:r>
                      <a:r>
                        <a:rPr lang="en-US" sz="900" dirty="0">
                          <a:latin typeface="Arial"/>
                          <a:cs typeface="Arial"/>
                        </a:rPr>
                        <a:t>al cut off </a:t>
                      </a:r>
                      <a:r>
                        <a:rPr lang="en-US" sz="900" spc="-5" dirty="0">
                          <a:latin typeface="Arial"/>
                          <a:cs typeface="Arial"/>
                        </a:rPr>
                        <a:t>@T</a:t>
                      </a:r>
                      <a:r>
                        <a:rPr lang="en-US" sz="900" spc="-7" baseline="-9259" dirty="0">
                          <a:latin typeface="Arial"/>
                          <a:cs typeface="Arial"/>
                        </a:rPr>
                        <a:t>J</a:t>
                      </a:r>
                      <a:endParaRPr lang="en-US" sz="900" baseline="-9259" dirty="0">
                        <a:latin typeface="Arial"/>
                        <a:cs typeface="Arial"/>
                      </a:endParaRPr>
                    </a:p>
                  </a:txBody>
                  <a:tcPr marL="0" marR="0" marT="0"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227965" lvl="0" indent="0" algn="r" defTabSz="914400" eaLnBrk="1" fontAlgn="auto" latinLnBrk="0" hangingPunct="1">
                        <a:lnSpc>
                          <a:spcPct val="100000"/>
                        </a:lnSpc>
                        <a:spcBef>
                          <a:spcPts val="605"/>
                        </a:spcBef>
                        <a:spcAft>
                          <a:spcPts val="0"/>
                        </a:spcAft>
                        <a:buClrTx/>
                        <a:buSzTx/>
                        <a:buFontTx/>
                        <a:buNone/>
                        <a:tabLst/>
                        <a:defRPr/>
                      </a:pPr>
                      <a:r>
                        <a:rPr kumimoji="0" lang="en-US" altLang="ko-KR" sz="1350" b="0" i="0" u="none" strike="noStrike" kern="0" cap="none" spc="-7" normalizeH="0" baseline="6172" noProof="0" dirty="0">
                          <a:ln>
                            <a:noFill/>
                          </a:ln>
                          <a:solidFill>
                            <a:prstClr val="black"/>
                          </a:solidFill>
                          <a:effectLst/>
                          <a:uLnTx/>
                          <a:uFillTx/>
                          <a:latin typeface="Arial"/>
                          <a:ea typeface="+mn-ea"/>
                          <a:cs typeface="Arial"/>
                        </a:rPr>
                        <a:t>T</a:t>
                      </a:r>
                      <a:r>
                        <a:rPr kumimoji="0" lang="en-US" altLang="ko-KR" sz="600" b="0" i="0" u="none" strike="noStrike" kern="0" cap="none" spc="-5" normalizeH="0" baseline="0" noProof="0" dirty="0">
                          <a:ln>
                            <a:noFill/>
                          </a:ln>
                          <a:solidFill>
                            <a:prstClr val="black"/>
                          </a:solidFill>
                          <a:effectLst/>
                          <a:uLnTx/>
                          <a:uFillTx/>
                          <a:latin typeface="Arial"/>
                          <a:ea typeface="+mn-ea"/>
                          <a:cs typeface="Arial"/>
                        </a:rPr>
                        <a:t>CUT</a:t>
                      </a:r>
                      <a:endParaRPr kumimoji="0" lang="en-US" altLang="ko-KR" sz="600" b="0" i="0" u="none" strike="noStrike" kern="0" cap="none" spc="0" normalizeH="0" baseline="0" noProof="0" dirty="0">
                        <a:ln>
                          <a:noFill/>
                        </a:ln>
                        <a:solidFill>
                          <a:prstClr val="black"/>
                        </a:solidFill>
                        <a:effectLst/>
                        <a:uLnTx/>
                        <a:uFillTx/>
                        <a:latin typeface="Arial"/>
                        <a:ea typeface="+mn-ea"/>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sz="900" dirty="0">
                          <a:solidFill>
                            <a:schemeClr val="tx1"/>
                          </a:solidFill>
                          <a:latin typeface="Arial" panose="020B0604020202020204" pitchFamily="34" charset="0"/>
                          <a:cs typeface="Arial" panose="020B0604020202020204" pitchFamily="34" charset="0"/>
                        </a:rPr>
                        <a:t>OFS_TEMP [3:0] = 0x8</a:t>
                      </a: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3020" marR="0" lvl="0" indent="0" algn="ctr"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905" algn="ctr">
                        <a:lnSpc>
                          <a:spcPct val="100000"/>
                        </a:lnSpc>
                        <a:spcBef>
                          <a:spcPts val="815"/>
                        </a:spcBef>
                      </a:pPr>
                      <a:r>
                        <a:rPr lang="en-US" sz="900" dirty="0">
                          <a:solidFill>
                            <a:schemeClr val="tx1"/>
                          </a:solidFill>
                          <a:latin typeface="Arial" panose="020B0604020202020204" pitchFamily="34" charset="0"/>
                          <a:cs typeface="Arial" panose="020B0604020202020204" pitchFamily="34" charset="0"/>
                        </a:rPr>
                        <a:t>135</a:t>
                      </a: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3020" algn="ctr">
                        <a:lnSpc>
                          <a:spcPct val="100000"/>
                        </a:lnSpc>
                      </a:pPr>
                      <a:r>
                        <a:rPr lang="en-US" altLang="ko-KR" sz="900" dirty="0">
                          <a:solidFill>
                            <a:schemeClr val="tx1"/>
                          </a:solidFill>
                          <a:latin typeface="Arial" panose="020B0604020202020204" pitchFamily="34" charset="0"/>
                          <a:cs typeface="Arial" panose="020B0604020202020204" pitchFamily="34" charset="0"/>
                        </a:rPr>
                        <a:t>-</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5"/>
                        </a:spcBef>
                      </a:pPr>
                      <a:endParaRPr sz="900" dirty="0">
                        <a:solidFill>
                          <a:schemeClr val="tx1"/>
                        </a:solidFill>
                        <a:latin typeface="Arial" panose="020B0604020202020204" pitchFamily="34" charset="0"/>
                        <a:cs typeface="Arial" panose="020B0604020202020204" pitchFamily="34" charset="0"/>
                      </a:endParaRPr>
                    </a:p>
                    <a:p>
                      <a:pPr marR="219075" algn="r">
                        <a:lnSpc>
                          <a:spcPct val="100000"/>
                        </a:lnSpc>
                      </a:pPr>
                      <a:r>
                        <a:rPr sz="900" dirty="0">
                          <a:solidFill>
                            <a:schemeClr val="tx1"/>
                          </a:solidFill>
                          <a:latin typeface="Arial" panose="020B0604020202020204" pitchFamily="34" charset="0"/>
                          <a:cs typeface="Arial" panose="020B0604020202020204" pitchFamily="34" charset="0"/>
                        </a:rPr>
                        <a:t>℃</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179033"/>
                  </a:ext>
                </a:extLst>
              </a:tr>
              <a:tr h="472863">
                <a:tc>
                  <a:txBody>
                    <a:bodyPr/>
                    <a:lstStyle/>
                    <a:p>
                      <a:pPr marL="0" marR="66040" indent="0" algn="r">
                        <a:lnSpc>
                          <a:spcPct val="100000"/>
                        </a:lnSpc>
                      </a:pPr>
                      <a:r>
                        <a:rPr sz="900" spc="-5" dirty="0">
                          <a:latin typeface="Arial"/>
                          <a:cs typeface="Arial"/>
                        </a:rPr>
                        <a:t>Thermal</a:t>
                      </a:r>
                      <a:r>
                        <a:rPr sz="900" spc="-40" dirty="0">
                          <a:latin typeface="Arial"/>
                          <a:cs typeface="Arial"/>
                        </a:rPr>
                        <a:t> </a:t>
                      </a:r>
                      <a:r>
                        <a:rPr lang="en-US" sz="900" dirty="0">
                          <a:latin typeface="Arial"/>
                          <a:cs typeface="Arial"/>
                        </a:rPr>
                        <a:t>cut off </a:t>
                      </a:r>
                      <a:r>
                        <a:rPr sz="900" dirty="0">
                          <a:latin typeface="Arial"/>
                          <a:cs typeface="Arial"/>
                        </a:rPr>
                        <a:t>h</a:t>
                      </a:r>
                      <a:r>
                        <a:rPr sz="900" spc="-10" dirty="0">
                          <a:latin typeface="Arial"/>
                          <a:cs typeface="Arial"/>
                        </a:rPr>
                        <a:t>y</a:t>
                      </a:r>
                      <a:r>
                        <a:rPr sz="900" spc="5" dirty="0">
                          <a:latin typeface="Arial"/>
                          <a:cs typeface="Arial"/>
                        </a:rPr>
                        <a:t>s</a:t>
                      </a:r>
                      <a:r>
                        <a:rPr sz="900" dirty="0">
                          <a:latin typeface="Arial"/>
                          <a:cs typeface="Arial"/>
                        </a:rPr>
                        <a:t>tere</a:t>
                      </a:r>
                      <a:r>
                        <a:rPr sz="900" spc="5" dirty="0">
                          <a:latin typeface="Arial"/>
                          <a:cs typeface="Arial"/>
                        </a:rPr>
                        <a:t>s</a:t>
                      </a:r>
                      <a:r>
                        <a:rPr sz="900" dirty="0">
                          <a:latin typeface="Arial"/>
                          <a:cs typeface="Arial"/>
                        </a:rPr>
                        <a:t>is</a:t>
                      </a:r>
                      <a:r>
                        <a:rPr sz="900" spc="-30" dirty="0">
                          <a:latin typeface="Arial"/>
                          <a:cs typeface="Arial"/>
                        </a:rPr>
                        <a:t> </a:t>
                      </a:r>
                      <a:r>
                        <a:rPr kumimoji="0" lang="en-US" altLang="ko-KR" sz="900" b="0" i="0" u="none" strike="noStrike" kern="1200" cap="none" spc="-5" normalizeH="0" baseline="0" noProof="0" dirty="0">
                          <a:ln>
                            <a:noFill/>
                          </a:ln>
                          <a:solidFill>
                            <a:prstClr val="black"/>
                          </a:solidFill>
                          <a:effectLst/>
                          <a:uLnTx/>
                          <a:uFillTx/>
                          <a:latin typeface="Arial"/>
                          <a:ea typeface="+mn-ea"/>
                          <a:cs typeface="Arial"/>
                        </a:rPr>
                        <a:t>@T</a:t>
                      </a:r>
                      <a:r>
                        <a:rPr kumimoji="0" lang="en-US" altLang="ko-KR" sz="900" b="0" i="0" u="none" strike="noStrike" kern="1200" cap="none" spc="-7" normalizeH="0" baseline="-9259" noProof="0" dirty="0">
                          <a:ln>
                            <a:noFill/>
                          </a:ln>
                          <a:solidFill>
                            <a:prstClr val="black"/>
                          </a:solidFill>
                          <a:effectLst/>
                          <a:uLnTx/>
                          <a:uFillTx/>
                          <a:latin typeface="Arial"/>
                          <a:ea typeface="+mn-ea"/>
                          <a:cs typeface="Arial"/>
                        </a:rPr>
                        <a:t>J</a:t>
                      </a:r>
                      <a:endParaRPr sz="900" dirty="0">
                        <a:latin typeface="Arial"/>
                        <a:cs typeface="Arial"/>
                      </a:endParaRPr>
                    </a:p>
                  </a:txBody>
                  <a:tcPr marL="0" marR="0" marT="63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20"/>
                        </a:spcBef>
                      </a:pPr>
                      <a:endParaRPr sz="1350" dirty="0">
                        <a:latin typeface="Times New Roman"/>
                        <a:cs typeface="Times New Roman"/>
                      </a:endParaRPr>
                    </a:p>
                    <a:p>
                      <a:pPr marR="227965" algn="r">
                        <a:lnSpc>
                          <a:spcPct val="100000"/>
                        </a:lnSpc>
                      </a:pPr>
                      <a:r>
                        <a:rPr sz="1350" spc="-7" baseline="6172" dirty="0">
                          <a:latin typeface="Arial"/>
                          <a:cs typeface="Arial"/>
                        </a:rPr>
                        <a:t>T</a:t>
                      </a:r>
                      <a:r>
                        <a:rPr sz="600" spc="-5" dirty="0">
                          <a:latin typeface="Arial"/>
                          <a:cs typeface="Arial"/>
                        </a:rPr>
                        <a:t>HYS</a:t>
                      </a:r>
                      <a:endParaRPr sz="600" dirty="0">
                        <a:latin typeface="Arial"/>
                        <a:cs typeface="Arial"/>
                      </a:endParaRPr>
                    </a:p>
                  </a:txBody>
                  <a:tcPr marL="0" marR="0" marT="254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pPr>
                      <a:endParaRPr sz="900" dirty="0">
                        <a:solidFill>
                          <a:schemeClr val="tx1"/>
                        </a:solidFill>
                        <a:latin typeface="Arial" panose="020B0604020202020204" pitchFamily="34" charset="0"/>
                        <a:cs typeface="Arial" panose="020B0604020202020204" pitchFamily="34" charset="0"/>
                      </a:endParaRPr>
                    </a:p>
                  </a:txBody>
                  <a:tcPr marL="0" marR="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45"/>
                        </a:spcBef>
                      </a:pPr>
                      <a:endParaRPr sz="900" dirty="0">
                        <a:solidFill>
                          <a:schemeClr val="tx1"/>
                        </a:solidFill>
                        <a:latin typeface="Arial" panose="020B0604020202020204" pitchFamily="34" charset="0"/>
                        <a:cs typeface="Arial" panose="020B0604020202020204" pitchFamily="34" charset="0"/>
                      </a:endParaRPr>
                    </a:p>
                    <a:p>
                      <a:pPr marL="170180">
                        <a:lnSpc>
                          <a:spcPct val="100000"/>
                        </a:lnSpc>
                      </a:pPr>
                      <a:r>
                        <a:rPr lang="en-US" sz="900" spc="-5" dirty="0">
                          <a:solidFill>
                            <a:schemeClr val="tx1"/>
                          </a:solidFill>
                          <a:latin typeface="Arial" panose="020B0604020202020204" pitchFamily="34" charset="0"/>
                          <a:cs typeface="Arial" panose="020B0604020202020204" pitchFamily="34" charset="0"/>
                        </a:rPr>
                        <a:t>2</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5715"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45"/>
                        </a:spcBef>
                      </a:pPr>
                      <a:endParaRPr sz="900" dirty="0">
                        <a:solidFill>
                          <a:schemeClr val="tx1"/>
                        </a:solidFill>
                        <a:latin typeface="Arial" panose="020B0604020202020204" pitchFamily="34" charset="0"/>
                        <a:cs typeface="Arial" panose="020B0604020202020204" pitchFamily="34" charset="0"/>
                      </a:endParaRPr>
                    </a:p>
                    <a:p>
                      <a:pPr marR="28575" algn="ctr">
                        <a:lnSpc>
                          <a:spcPct val="100000"/>
                        </a:lnSpc>
                      </a:pPr>
                      <a:r>
                        <a:rPr lang="en-US" sz="900" spc="-5" dirty="0">
                          <a:solidFill>
                            <a:schemeClr val="tx1"/>
                          </a:solidFill>
                          <a:latin typeface="Arial" panose="020B0604020202020204" pitchFamily="34" charset="0"/>
                          <a:cs typeface="Arial" panose="020B0604020202020204" pitchFamily="34" charset="0"/>
                        </a:rPr>
                        <a:t>3</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5715"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45"/>
                        </a:spcBef>
                      </a:pPr>
                      <a:endParaRPr sz="900" dirty="0">
                        <a:solidFill>
                          <a:schemeClr val="tx1"/>
                        </a:solidFill>
                        <a:latin typeface="Arial" panose="020B0604020202020204" pitchFamily="34" charset="0"/>
                        <a:cs typeface="Arial" panose="020B0604020202020204" pitchFamily="34" charset="0"/>
                      </a:endParaRPr>
                    </a:p>
                    <a:p>
                      <a:pPr marR="54610" algn="ctr">
                        <a:lnSpc>
                          <a:spcPct val="100000"/>
                        </a:lnSpc>
                      </a:pPr>
                      <a:r>
                        <a:rPr lang="en-US" sz="900" spc="-5" dirty="0">
                          <a:solidFill>
                            <a:schemeClr val="tx1"/>
                          </a:solidFill>
                          <a:latin typeface="Arial" panose="020B0604020202020204" pitchFamily="34" charset="0"/>
                          <a:cs typeface="Arial" panose="020B0604020202020204" pitchFamily="34" charset="0"/>
                        </a:rPr>
                        <a:t>4</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5715"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pPr>
                      <a:endParaRPr sz="900" dirty="0">
                        <a:solidFill>
                          <a:schemeClr val="tx1"/>
                        </a:solidFill>
                        <a:latin typeface="Arial" panose="020B0604020202020204" pitchFamily="34" charset="0"/>
                        <a:cs typeface="Arial" panose="020B0604020202020204" pitchFamily="34" charset="0"/>
                      </a:endParaRPr>
                    </a:p>
                    <a:p>
                      <a:pPr marR="219075" algn="r">
                        <a:lnSpc>
                          <a:spcPct val="100000"/>
                        </a:lnSpc>
                        <a:spcBef>
                          <a:spcPts val="5"/>
                        </a:spcBef>
                      </a:pPr>
                      <a:r>
                        <a:rPr sz="900" dirty="0">
                          <a:solidFill>
                            <a:schemeClr val="tx1"/>
                          </a:solidFill>
                          <a:latin typeface="Arial" panose="020B0604020202020204" pitchFamily="34" charset="0"/>
                          <a:cs typeface="Arial" panose="020B0604020202020204" pitchFamily="34" charset="0"/>
                        </a:rPr>
                        <a:t>℃</a:t>
                      </a:r>
                    </a:p>
                  </a:txBody>
                  <a:tcPr marL="0" marR="0" marT="0" marB="0">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03532953"/>
                  </a:ext>
                </a:extLst>
              </a:tr>
            </a:tbl>
          </a:graphicData>
        </a:graphic>
      </p:graphicFrame>
      <p:sp>
        <p:nvSpPr>
          <p:cNvPr id="27" name="TextBox 26">
            <a:extLst>
              <a:ext uri="{FF2B5EF4-FFF2-40B4-BE49-F238E27FC236}">
                <a16:creationId xmlns:a16="http://schemas.microsoft.com/office/drawing/2014/main" id="{452D1314-BC31-7B60-4CC5-E2C29C04329B}"/>
              </a:ext>
            </a:extLst>
          </p:cNvPr>
          <p:cNvSpPr txBox="1"/>
          <p:nvPr/>
        </p:nvSpPr>
        <p:spPr>
          <a:xfrm>
            <a:off x="404811" y="7799542"/>
            <a:ext cx="6084887" cy="428322"/>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pPr>
              <a:spcBef>
                <a:spcPts val="0"/>
              </a:spcBef>
            </a:pPr>
            <a:r>
              <a:rPr lang="en-US" altLang="ko-KR" dirty="0"/>
              <a:t>Note :  4) If LED open or short event is happened, the corresponding channel will be turned-off under the function</a:t>
            </a:r>
          </a:p>
          <a:p>
            <a:pPr>
              <a:spcBef>
                <a:spcPts val="0"/>
              </a:spcBef>
            </a:pPr>
            <a:r>
              <a:rPr lang="en-US" altLang="ko-KR" dirty="0"/>
              <a:t>                enabled.  If the thermal is happened, all channels output will be turned-off under the function enabled.</a:t>
            </a:r>
          </a:p>
          <a:p>
            <a:pPr>
              <a:spcBef>
                <a:spcPts val="0"/>
              </a:spcBef>
            </a:pPr>
            <a:r>
              <a:rPr lang="en-US" altLang="ko-KR" dirty="0"/>
              <a:t>            5) Under satisfying the power dissipation specification.</a:t>
            </a:r>
          </a:p>
        </p:txBody>
      </p:sp>
    </p:spTree>
    <p:extLst>
      <p:ext uri="{BB962C8B-B14F-4D97-AF65-F5344CB8AC3E}">
        <p14:creationId xmlns:p14="http://schemas.microsoft.com/office/powerpoint/2010/main" val="36484003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390027"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C3916792-B67B-C24F-7514-0BB2E0D95B83}"/>
              </a:ext>
            </a:extLst>
          </p:cNvPr>
          <p:cNvSpPr txBox="1"/>
          <p:nvPr/>
        </p:nvSpPr>
        <p:spPr>
          <a:xfrm>
            <a:off x="420038" y="774866"/>
            <a:ext cx="4692951"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=5.0V,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graphicFrame>
        <p:nvGraphicFramePr>
          <p:cNvPr id="6" name="표 5">
            <a:extLst>
              <a:ext uri="{FF2B5EF4-FFF2-40B4-BE49-F238E27FC236}">
                <a16:creationId xmlns:a16="http://schemas.microsoft.com/office/drawing/2014/main" id="{85F45CBA-C544-3782-6F74-8205667D9603}"/>
              </a:ext>
            </a:extLst>
          </p:cNvPr>
          <p:cNvGraphicFramePr>
            <a:graphicFrameLocks noGrp="1"/>
          </p:cNvGraphicFramePr>
          <p:nvPr>
            <p:extLst>
              <p:ext uri="{D42A27DB-BD31-4B8C-83A1-F6EECF244321}">
                <p14:modId xmlns:p14="http://schemas.microsoft.com/office/powerpoint/2010/main" val="2708044868"/>
              </p:ext>
            </p:extLst>
          </p:nvPr>
        </p:nvGraphicFramePr>
        <p:xfrm>
          <a:off x="404812" y="1146851"/>
          <a:ext cx="6084887" cy="2578184"/>
        </p:xfrm>
        <a:graphic>
          <a:graphicData uri="http://schemas.openxmlformats.org/drawingml/2006/table">
            <a:tbl>
              <a:tblPr>
                <a:tableStyleId>{5C22544A-7EE6-4342-B048-85BDC9FD1C3A}</a:tableStyleId>
              </a:tblPr>
              <a:tblGrid>
                <a:gridCol w="1410931">
                  <a:extLst>
                    <a:ext uri="{9D8B030D-6E8A-4147-A177-3AD203B41FA5}">
                      <a16:colId xmlns:a16="http://schemas.microsoft.com/office/drawing/2014/main" val="1783343538"/>
                    </a:ext>
                  </a:extLst>
                </a:gridCol>
                <a:gridCol w="688128">
                  <a:extLst>
                    <a:ext uri="{9D8B030D-6E8A-4147-A177-3AD203B41FA5}">
                      <a16:colId xmlns:a16="http://schemas.microsoft.com/office/drawing/2014/main" val="3180006436"/>
                    </a:ext>
                  </a:extLst>
                </a:gridCol>
                <a:gridCol w="1820466">
                  <a:extLst>
                    <a:ext uri="{9D8B030D-6E8A-4147-A177-3AD203B41FA5}">
                      <a16:colId xmlns:a16="http://schemas.microsoft.com/office/drawing/2014/main" val="1629708029"/>
                    </a:ext>
                  </a:extLst>
                </a:gridCol>
                <a:gridCol w="533171">
                  <a:extLst>
                    <a:ext uri="{9D8B030D-6E8A-4147-A177-3AD203B41FA5}">
                      <a16:colId xmlns:a16="http://schemas.microsoft.com/office/drawing/2014/main" val="3514095092"/>
                    </a:ext>
                  </a:extLst>
                </a:gridCol>
                <a:gridCol w="533171">
                  <a:extLst>
                    <a:ext uri="{9D8B030D-6E8A-4147-A177-3AD203B41FA5}">
                      <a16:colId xmlns:a16="http://schemas.microsoft.com/office/drawing/2014/main" val="2256908222"/>
                    </a:ext>
                  </a:extLst>
                </a:gridCol>
                <a:gridCol w="533171">
                  <a:extLst>
                    <a:ext uri="{9D8B030D-6E8A-4147-A177-3AD203B41FA5}">
                      <a16:colId xmlns:a16="http://schemas.microsoft.com/office/drawing/2014/main" val="2915946677"/>
                    </a:ext>
                  </a:extLst>
                </a:gridCol>
                <a:gridCol w="565849">
                  <a:extLst>
                    <a:ext uri="{9D8B030D-6E8A-4147-A177-3AD203B41FA5}">
                      <a16:colId xmlns:a16="http://schemas.microsoft.com/office/drawing/2014/main" val="2559142005"/>
                    </a:ext>
                  </a:extLst>
                </a:gridCol>
              </a:tblGrid>
              <a:tr h="161249">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0000" marB="9000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0000" marB="90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0000" marB="90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0000" marB="9000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200011002"/>
                  </a:ext>
                </a:extLst>
              </a:tr>
              <a:tr h="184150">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56694182"/>
                  </a:ext>
                </a:extLst>
              </a:tr>
              <a:tr h="269132">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 </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Ramp up and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LED </a:t>
                      </a:r>
                      <a:r>
                        <a:rPr lang="en-US" altLang="ko-KR" sz="9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Start</a:t>
                      </a:r>
                      <a:endParaRPr lang="en-US" sz="9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7057835"/>
                  </a:ext>
                </a:extLst>
              </a:tr>
              <a:tr h="241376">
                <a:tc>
                  <a:txBody>
                    <a:bodyPr/>
                    <a:lstStyle/>
                    <a:p>
                      <a:pPr algn="r" fontAlgn="ct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baseline="0" dirty="0">
                          <a:latin typeface="Arial" panose="020B0604020202020204" pitchFamily="34" charset="0"/>
                          <a:cs typeface="Arial" panose="020B0604020202020204" pitchFamily="34" charset="0"/>
                        </a:rPr>
                        <a:t>Ramp up time</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VDD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marR="0" lvl="0" indent="0" algn="ctr"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from 0 to stable 5V</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1.2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2614104"/>
                  </a:ext>
                </a:extLst>
              </a:tr>
              <a:tr h="241376">
                <a:tc>
                  <a:txBody>
                    <a:bodyPr/>
                    <a:lstStyle/>
                    <a:p>
                      <a:pPr marL="0" marR="0" lvl="0" indent="0" algn="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LED </a:t>
                      </a:r>
                      <a:r>
                        <a:rPr lang="en-US" altLang="ko-KR" sz="900" baseline="0" dirty="0">
                          <a:latin typeface="Arial" panose="020B0604020202020204" pitchFamily="34" charset="0"/>
                          <a:cs typeface="Arial" panose="020B0604020202020204" pitchFamily="34" charset="0"/>
                        </a:rPr>
                        <a:t>Start time</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SU_DIM</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after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SU_DIM</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is completed</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6)</a:t>
                      </a: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33490188"/>
                  </a:ext>
                </a:extLst>
              </a:tr>
              <a:tr h="241376">
                <a:tc gridSpan="2">
                  <a:txBody>
                    <a:bodyPr/>
                    <a:lstStyle/>
                    <a:p>
                      <a:pPr algn="l"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Initialization after 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5V stable</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6363831"/>
                  </a:ext>
                </a:extLst>
              </a:tr>
              <a:tr h="24137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Initial time</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INIT</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from stable 5V</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10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0927470"/>
                  </a:ext>
                </a:extLst>
              </a:tr>
              <a:tr h="22878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Allowed 1</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st</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command</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FCMD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after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INIT</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is completed</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8014195"/>
                  </a:ext>
                </a:extLst>
              </a:tr>
              <a:tr h="457355">
                <a:tc gridSpan="7">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Timeout : Internal timer starts after completing to receive a read-back command and stops after first response bit</a:t>
                      </a:r>
                    </a:p>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from a last daisied device.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This depends on the frequency of MCLK.</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lnSpc>
                          <a:spcPct val="100000"/>
                        </a:lnSpc>
                      </a:pP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9154374"/>
                  </a:ext>
                </a:extLst>
              </a:tr>
              <a:tr h="239087">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Timeout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7)</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TIMEOUT</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endParaRPr lang="en-US" altLang="ko-KR" sz="900" dirty="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16,383</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MCLK</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522093"/>
                  </a:ext>
                </a:extLst>
              </a:tr>
            </a:tbl>
          </a:graphicData>
        </a:graphic>
      </p:graphicFrame>
      <p:sp>
        <p:nvSpPr>
          <p:cNvPr id="11" name="TextBox 10">
            <a:extLst>
              <a:ext uri="{FF2B5EF4-FFF2-40B4-BE49-F238E27FC236}">
                <a16:creationId xmlns:a16="http://schemas.microsoft.com/office/drawing/2014/main" id="{8E81A0E5-C9FD-B1F0-011E-9F623516D97A}"/>
              </a:ext>
            </a:extLst>
          </p:cNvPr>
          <p:cNvSpPr txBox="1"/>
          <p:nvPr/>
        </p:nvSpPr>
        <p:spPr>
          <a:xfrm>
            <a:off x="404812" y="3796669"/>
            <a:ext cx="6039642" cy="453970"/>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r>
              <a:rPr lang="en-US" altLang="ko-KR" dirty="0"/>
              <a:t>Note : 6</a:t>
            </a:r>
            <a:r>
              <a:rPr lang="en-US" altLang="ko-KR" dirty="0">
                <a:solidFill>
                  <a:srgbClr val="000000"/>
                </a:solidFill>
                <a:ea typeface="굴림" panose="020B0600000101010101" pitchFamily="50" charset="-127"/>
              </a:rPr>
              <a:t>) The time depends on the system configuration, the daisied XD number and Baud-rate.</a:t>
            </a:r>
            <a:endParaRPr lang="en-US" altLang="ko-KR" dirty="0"/>
          </a:p>
          <a:p>
            <a:r>
              <a:rPr lang="en-US" altLang="ko-KR" dirty="0"/>
              <a:t>           7) If the timeout will be expired, the internal communication logic will go to an initial state, so new command</a:t>
            </a:r>
          </a:p>
          <a:p>
            <a:r>
              <a:rPr lang="en-US" altLang="ko-KR" dirty="0"/>
              <a:t>                transaction will be possible. The timeout function is configurable.</a:t>
            </a:r>
          </a:p>
        </p:txBody>
      </p:sp>
      <p:sp>
        <p:nvSpPr>
          <p:cNvPr id="58" name="object 2">
            <a:extLst>
              <a:ext uri="{FF2B5EF4-FFF2-40B4-BE49-F238E27FC236}">
                <a16:creationId xmlns:a16="http://schemas.microsoft.com/office/drawing/2014/main" id="{EFC8002C-164B-D20F-12B2-2D4FEA5ACB5E}"/>
              </a:ext>
            </a:extLst>
          </p:cNvPr>
          <p:cNvSpPr txBox="1"/>
          <p:nvPr/>
        </p:nvSpPr>
        <p:spPr>
          <a:xfrm>
            <a:off x="329857" y="6157747"/>
            <a:ext cx="1783970" cy="215444"/>
          </a:xfrm>
          <a:prstGeom prst="rect">
            <a:avLst/>
          </a:prstGeom>
        </p:spPr>
        <p:txBody>
          <a:bodyPr vert="horz" wrap="square" lIns="0" tIns="0" rIns="0" bIns="0" rtlCol="0" anchor="ctr">
            <a:spAutoFit/>
          </a:bodyPr>
          <a:lstStyle/>
          <a:p>
            <a:pPr>
              <a:lnSpc>
                <a:spcPct val="100000"/>
              </a:lnSpc>
              <a:spcBef>
                <a:spcPts val="0"/>
              </a:spcBef>
            </a:pPr>
            <a:r>
              <a:rPr sz="1400" b="1" spc="355" dirty="0">
                <a:latin typeface="Arial" panose="020B0604020202020204" pitchFamily="34" charset="0"/>
                <a:cs typeface="Arial" panose="020B0604020202020204" pitchFamily="34" charset="0"/>
              </a:rPr>
              <a:t> </a:t>
            </a:r>
            <a:r>
              <a:rPr sz="1400" b="1" spc="-10" dirty="0">
                <a:latin typeface="Arial" panose="020B0604020202020204" pitchFamily="34" charset="0"/>
                <a:cs typeface="Arial" panose="020B0604020202020204" pitchFamily="34" charset="0"/>
              </a:rPr>
              <a:t>Power</a:t>
            </a:r>
            <a:r>
              <a:rPr sz="1400" b="1" spc="-25" dirty="0">
                <a:latin typeface="Arial" panose="020B0604020202020204" pitchFamily="34" charset="0"/>
                <a:cs typeface="Arial" panose="020B0604020202020204" pitchFamily="34" charset="0"/>
              </a:rPr>
              <a:t> </a:t>
            </a:r>
            <a:r>
              <a:rPr sz="1400" b="1" spc="-5" dirty="0">
                <a:latin typeface="Arial" panose="020B0604020202020204" pitchFamily="34" charset="0"/>
                <a:cs typeface="Arial" panose="020B0604020202020204" pitchFamily="34" charset="0"/>
              </a:rPr>
              <a:t>Sequence</a:t>
            </a:r>
            <a:endParaRPr sz="1400" dirty="0">
              <a:latin typeface="Arial" panose="020B0604020202020204" pitchFamily="34" charset="0"/>
              <a:cs typeface="Arial" panose="020B0604020202020204" pitchFamily="34" charset="0"/>
            </a:endParaRPr>
          </a:p>
        </p:txBody>
      </p:sp>
      <p:sp>
        <p:nvSpPr>
          <p:cNvPr id="2" name="object 9">
            <a:extLst>
              <a:ext uri="{FF2B5EF4-FFF2-40B4-BE49-F238E27FC236}">
                <a16:creationId xmlns:a16="http://schemas.microsoft.com/office/drawing/2014/main" id="{17686023-33A1-566F-9593-E0B3E1A831BB}"/>
              </a:ext>
            </a:extLst>
          </p:cNvPr>
          <p:cNvSpPr txBox="1"/>
          <p:nvPr/>
        </p:nvSpPr>
        <p:spPr>
          <a:xfrm>
            <a:off x="420038" y="4966128"/>
            <a:ext cx="4571161" cy="329662"/>
          </a:xfrm>
          <a:prstGeom prst="rect">
            <a:avLst/>
          </a:prstGeom>
        </p:spPr>
        <p:txBody>
          <a:bodyPr vert="horz" wrap="square" lIns="0" tIns="49741" rIns="0" bIns="0" rtlCol="0">
            <a:spAutoFit/>
          </a:bodyPr>
          <a:lstStyle/>
          <a:p>
            <a:pPr marL="12435" defTabSz="895327" fontAlgn="auto">
              <a:spcBef>
                <a:spcPts val="392"/>
              </a:spcBef>
              <a:spcAft>
                <a:spcPts val="0"/>
              </a:spcAft>
            </a:pPr>
            <a:r>
              <a:rPr kumimoji="0" sz="783" b="1" spc="-5" dirty="0">
                <a:solidFill>
                  <a:prstClr val="black"/>
                </a:solidFill>
                <a:latin typeface="Arial" panose="020B0604020202020204" pitchFamily="34" charset="0"/>
                <a:ea typeface="+mn-ea"/>
                <a:cs typeface="Arial" panose="020B0604020202020204" pitchFamily="34" charset="0"/>
              </a:rPr>
              <a:t>Important</a:t>
            </a:r>
            <a:r>
              <a:rPr kumimoji="0" sz="783" b="1" spc="-15" dirty="0">
                <a:solidFill>
                  <a:prstClr val="black"/>
                </a:solidFill>
                <a:latin typeface="Arial" panose="020B0604020202020204" pitchFamily="34" charset="0"/>
                <a:ea typeface="+mn-ea"/>
                <a:cs typeface="Arial" panose="020B0604020202020204" pitchFamily="34" charset="0"/>
              </a:rPr>
              <a:t> </a:t>
            </a:r>
            <a:r>
              <a:rPr kumimoji="0" sz="783" b="1" spc="-5" dirty="0">
                <a:solidFill>
                  <a:prstClr val="black"/>
                </a:solidFill>
                <a:latin typeface="Arial" panose="020B0604020202020204" pitchFamily="34" charset="0"/>
                <a:ea typeface="+mn-ea"/>
                <a:cs typeface="Arial" panose="020B0604020202020204" pitchFamily="34" charset="0"/>
              </a:rPr>
              <a:t>statement</a:t>
            </a:r>
            <a:endParaRPr kumimoji="0" sz="783" dirty="0">
              <a:solidFill>
                <a:prstClr val="black"/>
              </a:solidFill>
              <a:latin typeface="Arial" panose="020B0604020202020204" pitchFamily="34" charset="0"/>
              <a:ea typeface="+mn-ea"/>
              <a:cs typeface="Arial" panose="020B0604020202020204" pitchFamily="34" charset="0"/>
            </a:endParaRPr>
          </a:p>
          <a:p>
            <a:pPr marL="12435" defTabSz="895327" fontAlgn="auto">
              <a:spcBef>
                <a:spcPts val="298"/>
              </a:spcBef>
              <a:spcAft>
                <a:spcPts val="0"/>
              </a:spcAft>
            </a:pPr>
            <a:r>
              <a:rPr kumimoji="0" lang="en-US" sz="783" spc="-5" dirty="0">
                <a:solidFill>
                  <a:prstClr val="black"/>
                </a:solidFill>
                <a:latin typeface="Arial" panose="020B0604020202020204" pitchFamily="34" charset="0"/>
                <a:ea typeface="+mn-ea"/>
                <a:cs typeface="Arial" panose="020B0604020202020204" pitchFamily="34" charset="0"/>
              </a:rPr>
              <a:t>Global Technologies </a:t>
            </a:r>
            <a:r>
              <a:rPr kumimoji="0" sz="783" spc="-15" dirty="0">
                <a:solidFill>
                  <a:prstClr val="black"/>
                </a:solidFill>
                <a:latin typeface="Arial" panose="020B0604020202020204" pitchFamily="34" charset="0"/>
                <a:ea typeface="+mn-ea"/>
                <a:cs typeface="Arial" panose="020B0604020202020204" pitchFamily="34" charset="0"/>
              </a:rPr>
              <a:t> </a:t>
            </a:r>
            <a:r>
              <a:rPr kumimoji="0" sz="783" dirty="0">
                <a:solidFill>
                  <a:prstClr val="black"/>
                </a:solidFill>
                <a:latin typeface="Arial" panose="020B0604020202020204" pitchFamily="34" charset="0"/>
                <a:ea typeface="+mn-ea"/>
                <a:cs typeface="Arial" panose="020B0604020202020204" pitchFamily="34" charset="0"/>
              </a:rPr>
              <a:t>reserves</a:t>
            </a:r>
            <a:r>
              <a:rPr kumimoji="0" sz="783" spc="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the</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right</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to</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change</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the</a:t>
            </a:r>
            <a:r>
              <a:rPr kumimoji="0" sz="783" spc="1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above-mentioned</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information</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without</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prior</a:t>
            </a:r>
            <a:r>
              <a:rPr kumimoji="0" sz="783" spc="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notice.</a:t>
            </a:r>
            <a:endParaRPr kumimoji="0" sz="783" dirty="0">
              <a:solidFill>
                <a:prstClr val="black"/>
              </a:solidFill>
              <a:latin typeface="Arial" panose="020B0604020202020204" pitchFamily="34" charset="0"/>
              <a:ea typeface="+mn-ea"/>
              <a:cs typeface="Arial" panose="020B0604020202020204" pitchFamily="34" charset="0"/>
            </a:endParaRPr>
          </a:p>
        </p:txBody>
      </p:sp>
      <p:grpSp>
        <p:nvGrpSpPr>
          <p:cNvPr id="99" name="그룹 98">
            <a:extLst>
              <a:ext uri="{FF2B5EF4-FFF2-40B4-BE49-F238E27FC236}">
                <a16:creationId xmlns:a16="http://schemas.microsoft.com/office/drawing/2014/main" id="{3E19F6FF-4CF0-2264-E0BC-1F1A66ED4B28}"/>
              </a:ext>
            </a:extLst>
          </p:cNvPr>
          <p:cNvGrpSpPr/>
          <p:nvPr/>
        </p:nvGrpSpPr>
        <p:grpSpPr>
          <a:xfrm>
            <a:off x="404812" y="6767510"/>
            <a:ext cx="5993913" cy="1423788"/>
            <a:chOff x="203750" y="5928093"/>
            <a:chExt cx="5993913" cy="1423788"/>
          </a:xfrm>
        </p:grpSpPr>
        <p:sp>
          <p:nvSpPr>
            <p:cNvPr id="7" name="TextBox 6">
              <a:extLst>
                <a:ext uri="{FF2B5EF4-FFF2-40B4-BE49-F238E27FC236}">
                  <a16:creationId xmlns:a16="http://schemas.microsoft.com/office/drawing/2014/main" id="{51E41E0C-F97E-DC2C-B132-285C0A6987B6}"/>
                </a:ext>
              </a:extLst>
            </p:cNvPr>
            <p:cNvSpPr txBox="1"/>
            <p:nvPr/>
          </p:nvSpPr>
          <p:spPr>
            <a:xfrm>
              <a:off x="1885330" y="5928093"/>
              <a:ext cx="505514" cy="138499"/>
            </a:xfrm>
            <a:prstGeom prst="rect">
              <a:avLst/>
            </a:prstGeom>
            <a:solidFill>
              <a:schemeClr val="bg1"/>
            </a:solidFill>
          </p:spPr>
          <p:txBody>
            <a:bodyPr wrap="none" lIns="36000" tIns="0" rIns="36000" bIns="0" rtlCol="0" anchor="ctr" anchorCtr="0">
              <a:spAutoFit/>
            </a:bodyPr>
            <a:lstStyle/>
            <a:p>
              <a:r>
                <a:rPr lang="en-US" altLang="ko-KR" sz="900" dirty="0"/>
                <a:t>5V stable</a:t>
              </a:r>
              <a:endParaRPr lang="ko-KR" altLang="en-US" sz="900" dirty="0"/>
            </a:p>
          </p:txBody>
        </p:sp>
        <p:cxnSp>
          <p:nvCxnSpPr>
            <p:cNvPr id="8" name="직선 연결선 7">
              <a:extLst>
                <a:ext uri="{FF2B5EF4-FFF2-40B4-BE49-F238E27FC236}">
                  <a16:creationId xmlns:a16="http://schemas.microsoft.com/office/drawing/2014/main" id="{30FB1430-5245-E926-D50F-F52BBFB8D435}"/>
                </a:ext>
              </a:extLst>
            </p:cNvPr>
            <p:cNvCxnSpPr>
              <a:cxnSpLocks/>
            </p:cNvCxnSpPr>
            <p:nvPr/>
          </p:nvCxnSpPr>
          <p:spPr>
            <a:xfrm flipH="1">
              <a:off x="1606602" y="6065491"/>
              <a:ext cx="281318" cy="136938"/>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직선 연결선 8">
              <a:extLst>
                <a:ext uri="{FF2B5EF4-FFF2-40B4-BE49-F238E27FC236}">
                  <a16:creationId xmlns:a16="http://schemas.microsoft.com/office/drawing/2014/main" id="{69BEB4D3-3FE5-4992-D1D9-0F5D8B1FAF02}"/>
                </a:ext>
              </a:extLst>
            </p:cNvPr>
            <p:cNvCxnSpPr>
              <a:cxnSpLocks/>
            </p:cNvCxnSpPr>
            <p:nvPr/>
          </p:nvCxnSpPr>
          <p:spPr>
            <a:xfrm flipH="1">
              <a:off x="1887980" y="6062544"/>
              <a:ext cx="424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직선 연결선 9">
              <a:extLst>
                <a:ext uri="{FF2B5EF4-FFF2-40B4-BE49-F238E27FC236}">
                  <a16:creationId xmlns:a16="http://schemas.microsoft.com/office/drawing/2014/main" id="{750F1C70-25E3-F6C8-B3FC-EC78F5F55D26}"/>
                </a:ext>
              </a:extLst>
            </p:cNvPr>
            <p:cNvCxnSpPr>
              <a:cxnSpLocks/>
            </p:cNvCxnSpPr>
            <p:nvPr/>
          </p:nvCxnSpPr>
          <p:spPr>
            <a:xfrm flipH="1">
              <a:off x="1231190" y="6201382"/>
              <a:ext cx="375412"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9C744C7E-23D2-74BC-A133-1B13BB13E0A2}"/>
                </a:ext>
              </a:extLst>
            </p:cNvPr>
            <p:cNvSpPr txBox="1"/>
            <p:nvPr/>
          </p:nvSpPr>
          <p:spPr>
            <a:xfrm>
              <a:off x="945940" y="6006061"/>
              <a:ext cx="346570" cy="230832"/>
            </a:xfrm>
            <a:prstGeom prst="rect">
              <a:avLst/>
            </a:prstGeom>
            <a:noFill/>
          </p:spPr>
          <p:txBody>
            <a:bodyPr wrap="none" rtlCol="0">
              <a:spAutoFit/>
            </a:bodyPr>
            <a:lstStyle/>
            <a:p>
              <a:r>
                <a:rPr lang="en-US" altLang="ko-KR" sz="900" dirty="0"/>
                <a:t>V</a:t>
              </a:r>
              <a:r>
                <a:rPr lang="en-US" altLang="ko-KR" sz="900" baseline="-25000" dirty="0"/>
                <a:t>DD</a:t>
              </a:r>
              <a:endParaRPr lang="ko-KR" altLang="en-US" sz="900" baseline="-25000" dirty="0"/>
            </a:p>
          </p:txBody>
        </p:sp>
        <p:cxnSp>
          <p:nvCxnSpPr>
            <p:cNvPr id="22" name="직선 연결선 21">
              <a:extLst>
                <a:ext uri="{FF2B5EF4-FFF2-40B4-BE49-F238E27FC236}">
                  <a16:creationId xmlns:a16="http://schemas.microsoft.com/office/drawing/2014/main" id="{025BA22A-72F7-8604-95FA-9D80558274E7}"/>
                </a:ext>
              </a:extLst>
            </p:cNvPr>
            <p:cNvCxnSpPr>
              <a:cxnSpLocks/>
            </p:cNvCxnSpPr>
            <p:nvPr/>
          </p:nvCxnSpPr>
          <p:spPr>
            <a:xfrm>
              <a:off x="1606602" y="6111319"/>
              <a:ext cx="0" cy="216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3" name="직선 연결선 22">
              <a:extLst>
                <a:ext uri="{FF2B5EF4-FFF2-40B4-BE49-F238E27FC236}">
                  <a16:creationId xmlns:a16="http://schemas.microsoft.com/office/drawing/2014/main" id="{62D7AD6D-11E0-F131-BCB5-4DD99EB85279}"/>
                </a:ext>
              </a:extLst>
            </p:cNvPr>
            <p:cNvCxnSpPr>
              <a:cxnSpLocks/>
            </p:cNvCxnSpPr>
            <p:nvPr/>
          </p:nvCxnSpPr>
          <p:spPr>
            <a:xfrm flipH="1">
              <a:off x="1227566" y="6522366"/>
              <a:ext cx="4905764"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직사각형 24">
              <a:extLst>
                <a:ext uri="{FF2B5EF4-FFF2-40B4-BE49-F238E27FC236}">
                  <a16:creationId xmlns:a16="http://schemas.microsoft.com/office/drawing/2014/main" id="{23A33594-99A5-8F08-8259-D7B7AC58B8D2}"/>
                </a:ext>
              </a:extLst>
            </p:cNvPr>
            <p:cNvSpPr/>
            <p:nvPr/>
          </p:nvSpPr>
          <p:spPr>
            <a:xfrm>
              <a:off x="3885934" y="6307327"/>
              <a:ext cx="2270722" cy="216000"/>
            </a:xfrm>
            <a:prstGeom prst="rect">
              <a:avLst/>
            </a:prstGeom>
            <a:solidFill>
              <a:schemeClr val="accent4">
                <a:lumMod val="20000"/>
                <a:lumOff val="8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dirty="0">
                  <a:solidFill>
                    <a:schemeClr val="tx1"/>
                  </a:solidFill>
                  <a:latin typeface="Arial" panose="020B0604020202020204" pitchFamily="34" charset="0"/>
                  <a:cs typeface="Arial" panose="020B0604020202020204" pitchFamily="34" charset="0"/>
                </a:rPr>
                <a:t>accessible</a:t>
              </a:r>
              <a:endParaRPr lang="ko-KR" altLang="en-US" sz="900" dirty="0">
                <a:solidFill>
                  <a:schemeClr val="tx1"/>
                </a:solidFill>
                <a:latin typeface="Arial" panose="020B060402020202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3E4CB3A4-5257-090C-3B25-2CFD84032579}"/>
                </a:ext>
              </a:extLst>
            </p:cNvPr>
            <p:cNvSpPr txBox="1"/>
            <p:nvPr/>
          </p:nvSpPr>
          <p:spPr>
            <a:xfrm>
              <a:off x="1639935" y="6278601"/>
              <a:ext cx="234038"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VDD</a:t>
              </a:r>
              <a:endParaRPr lang="ko-KR" altLang="en-US" sz="900" dirty="0"/>
            </a:p>
          </p:txBody>
        </p:sp>
        <p:sp>
          <p:nvSpPr>
            <p:cNvPr id="28" name="TextBox 27">
              <a:extLst>
                <a:ext uri="{FF2B5EF4-FFF2-40B4-BE49-F238E27FC236}">
                  <a16:creationId xmlns:a16="http://schemas.microsoft.com/office/drawing/2014/main" id="{0945055E-2A1A-6447-34D7-770AC7F8599F}"/>
                </a:ext>
              </a:extLst>
            </p:cNvPr>
            <p:cNvSpPr txBox="1"/>
            <p:nvPr/>
          </p:nvSpPr>
          <p:spPr>
            <a:xfrm>
              <a:off x="925194" y="6955010"/>
              <a:ext cx="367408" cy="230832"/>
            </a:xfrm>
            <a:prstGeom prst="rect">
              <a:avLst/>
            </a:prstGeom>
            <a:noFill/>
          </p:spPr>
          <p:txBody>
            <a:bodyPr wrap="none" rtlCol="0">
              <a:spAutoFit/>
            </a:bodyPr>
            <a:lstStyle/>
            <a:p>
              <a:r>
                <a:rPr lang="en-US" altLang="ko-KR" sz="900" dirty="0"/>
                <a:t>V</a:t>
              </a:r>
              <a:r>
                <a:rPr lang="en-US" altLang="ko-KR" sz="900" baseline="-25000" dirty="0"/>
                <a:t>LED</a:t>
              </a:r>
              <a:endParaRPr lang="ko-KR" altLang="en-US" sz="900" baseline="-25000" dirty="0"/>
            </a:p>
          </p:txBody>
        </p:sp>
        <p:cxnSp>
          <p:nvCxnSpPr>
            <p:cNvPr id="30" name="직선 연결선 29">
              <a:extLst>
                <a:ext uri="{FF2B5EF4-FFF2-40B4-BE49-F238E27FC236}">
                  <a16:creationId xmlns:a16="http://schemas.microsoft.com/office/drawing/2014/main" id="{DBACEF08-A3CA-3B4E-D1BD-9DD9FFCCDF09}"/>
                </a:ext>
              </a:extLst>
            </p:cNvPr>
            <p:cNvCxnSpPr>
              <a:cxnSpLocks/>
            </p:cNvCxnSpPr>
            <p:nvPr/>
          </p:nvCxnSpPr>
          <p:spPr>
            <a:xfrm>
              <a:off x="1606602" y="6267569"/>
              <a:ext cx="288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35" name="직선 연결선 34">
              <a:extLst>
                <a:ext uri="{FF2B5EF4-FFF2-40B4-BE49-F238E27FC236}">
                  <a16:creationId xmlns:a16="http://schemas.microsoft.com/office/drawing/2014/main" id="{DB249E1E-EECC-95A2-5EFD-CDE191E17045}"/>
                </a:ext>
              </a:extLst>
            </p:cNvPr>
            <p:cNvCxnSpPr>
              <a:cxnSpLocks/>
            </p:cNvCxnSpPr>
            <p:nvPr/>
          </p:nvCxnSpPr>
          <p:spPr>
            <a:xfrm>
              <a:off x="1894602" y="6110518"/>
              <a:ext cx="0" cy="216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0" name="직선 연결선 49">
              <a:extLst>
                <a:ext uri="{FF2B5EF4-FFF2-40B4-BE49-F238E27FC236}">
                  <a16:creationId xmlns:a16="http://schemas.microsoft.com/office/drawing/2014/main" id="{177761B5-7242-6427-656D-345A161852CB}"/>
                </a:ext>
              </a:extLst>
            </p:cNvPr>
            <p:cNvCxnSpPr>
              <a:cxnSpLocks/>
            </p:cNvCxnSpPr>
            <p:nvPr/>
          </p:nvCxnSpPr>
          <p:spPr>
            <a:xfrm>
              <a:off x="1894602" y="6267569"/>
              <a:ext cx="1386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24062926-E2D1-712A-93A6-B207420A8D6F}"/>
                </a:ext>
              </a:extLst>
            </p:cNvPr>
            <p:cNvSpPr txBox="1"/>
            <p:nvPr/>
          </p:nvSpPr>
          <p:spPr>
            <a:xfrm>
              <a:off x="2490816" y="6289928"/>
              <a:ext cx="214802"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INIT</a:t>
              </a:r>
              <a:endParaRPr lang="ko-KR" altLang="en-US" sz="900" dirty="0"/>
            </a:p>
          </p:txBody>
        </p:sp>
        <p:sp>
          <p:nvSpPr>
            <p:cNvPr id="61" name="TextBox 60">
              <a:extLst>
                <a:ext uri="{FF2B5EF4-FFF2-40B4-BE49-F238E27FC236}">
                  <a16:creationId xmlns:a16="http://schemas.microsoft.com/office/drawing/2014/main" id="{831FDEF1-65DB-DA14-7D1A-7E8E433BA126}"/>
                </a:ext>
              </a:extLst>
            </p:cNvPr>
            <p:cNvSpPr txBox="1"/>
            <p:nvPr/>
          </p:nvSpPr>
          <p:spPr>
            <a:xfrm>
              <a:off x="203750" y="6348203"/>
              <a:ext cx="1088760" cy="230832"/>
            </a:xfrm>
            <a:prstGeom prst="rect">
              <a:avLst/>
            </a:prstGeom>
            <a:noFill/>
          </p:spPr>
          <p:txBody>
            <a:bodyPr wrap="none" rtlCol="0">
              <a:spAutoFit/>
            </a:bodyPr>
            <a:lstStyle/>
            <a:p>
              <a:r>
                <a:rPr lang="en-US" altLang="ko-KR" sz="900" dirty="0"/>
                <a:t>1</a:t>
              </a:r>
              <a:r>
                <a:rPr lang="en-US" altLang="ko-KR" sz="900" baseline="30000" dirty="0"/>
                <a:t>st</a:t>
              </a:r>
              <a:r>
                <a:rPr lang="en-US" altLang="ko-KR" sz="900" dirty="0"/>
                <a:t> Command to XD</a:t>
              </a:r>
              <a:endParaRPr lang="ko-KR" altLang="en-US" sz="900" baseline="-25000" dirty="0"/>
            </a:p>
          </p:txBody>
        </p:sp>
        <p:cxnSp>
          <p:nvCxnSpPr>
            <p:cNvPr id="62" name="직선 연결선 61">
              <a:extLst>
                <a:ext uri="{FF2B5EF4-FFF2-40B4-BE49-F238E27FC236}">
                  <a16:creationId xmlns:a16="http://schemas.microsoft.com/office/drawing/2014/main" id="{5E8CBD3B-725A-17C0-4E83-48EBD32141A1}"/>
                </a:ext>
              </a:extLst>
            </p:cNvPr>
            <p:cNvCxnSpPr>
              <a:cxnSpLocks/>
            </p:cNvCxnSpPr>
            <p:nvPr/>
          </p:nvCxnSpPr>
          <p:spPr>
            <a:xfrm>
              <a:off x="3880304" y="6922617"/>
              <a:ext cx="1188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63" name="직선 연결선 62">
              <a:extLst>
                <a:ext uri="{FF2B5EF4-FFF2-40B4-BE49-F238E27FC236}">
                  <a16:creationId xmlns:a16="http://schemas.microsoft.com/office/drawing/2014/main" id="{D322B56E-B25E-D485-0473-BE8C06739BE7}"/>
                </a:ext>
              </a:extLst>
            </p:cNvPr>
            <p:cNvCxnSpPr>
              <a:cxnSpLocks/>
            </p:cNvCxnSpPr>
            <p:nvPr/>
          </p:nvCxnSpPr>
          <p:spPr>
            <a:xfrm flipH="1">
              <a:off x="5112508" y="6944977"/>
              <a:ext cx="157001" cy="189601"/>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직선 연결선 63">
              <a:extLst>
                <a:ext uri="{FF2B5EF4-FFF2-40B4-BE49-F238E27FC236}">
                  <a16:creationId xmlns:a16="http://schemas.microsoft.com/office/drawing/2014/main" id="{46CB0B69-7DEA-F138-98D6-204CE4BB247D}"/>
                </a:ext>
              </a:extLst>
            </p:cNvPr>
            <p:cNvCxnSpPr>
              <a:cxnSpLocks/>
            </p:cNvCxnSpPr>
            <p:nvPr/>
          </p:nvCxnSpPr>
          <p:spPr>
            <a:xfrm flipH="1">
              <a:off x="5268358" y="6944977"/>
              <a:ext cx="900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직선 연결선 64">
              <a:extLst>
                <a:ext uri="{FF2B5EF4-FFF2-40B4-BE49-F238E27FC236}">
                  <a16:creationId xmlns:a16="http://schemas.microsoft.com/office/drawing/2014/main" id="{60BC5FED-41EF-4056-D0CF-1DFA573C4086}"/>
                </a:ext>
              </a:extLst>
            </p:cNvPr>
            <p:cNvCxnSpPr>
              <a:cxnSpLocks/>
            </p:cNvCxnSpPr>
            <p:nvPr/>
          </p:nvCxnSpPr>
          <p:spPr>
            <a:xfrm flipH="1">
              <a:off x="1224508" y="7140909"/>
              <a:ext cx="388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직선 연결선 65">
              <a:extLst>
                <a:ext uri="{FF2B5EF4-FFF2-40B4-BE49-F238E27FC236}">
                  <a16:creationId xmlns:a16="http://schemas.microsoft.com/office/drawing/2014/main" id="{72BBAD47-F206-208D-9528-817546D15E87}"/>
                </a:ext>
              </a:extLst>
            </p:cNvPr>
            <p:cNvCxnSpPr>
              <a:cxnSpLocks/>
            </p:cNvCxnSpPr>
            <p:nvPr/>
          </p:nvCxnSpPr>
          <p:spPr>
            <a:xfrm>
              <a:off x="5064356" y="6850210"/>
              <a:ext cx="0" cy="252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0719DB53-FBA1-37EF-D8CE-AAAAE0369F4C}"/>
                </a:ext>
              </a:extLst>
            </p:cNvPr>
            <p:cNvSpPr txBox="1"/>
            <p:nvPr/>
          </p:nvSpPr>
          <p:spPr>
            <a:xfrm>
              <a:off x="4296150" y="6866324"/>
              <a:ext cx="362279"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SU</a:t>
              </a:r>
              <a:r>
                <a:rPr lang="en-US" altLang="ko-KR" sz="900" baseline="-25000" dirty="0">
                  <a:solidFill>
                    <a:srgbClr val="000000"/>
                  </a:solidFill>
                  <a:latin typeface="Arial" panose="020B0604020202020204" pitchFamily="34" charset="0"/>
                  <a:ea typeface="굴림" panose="020B0600000101010101" pitchFamily="50" charset="-127"/>
                  <a:cs typeface="Arial" panose="020B0604020202020204" pitchFamily="34" charset="0"/>
                </a:rPr>
                <a:t>_</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DIM</a:t>
              </a:r>
              <a:endParaRPr lang="ko-KR" altLang="en-US" sz="900" dirty="0"/>
            </a:p>
          </p:txBody>
        </p:sp>
        <p:sp>
          <p:nvSpPr>
            <p:cNvPr id="68" name="TextBox 67">
              <a:extLst>
                <a:ext uri="{FF2B5EF4-FFF2-40B4-BE49-F238E27FC236}">
                  <a16:creationId xmlns:a16="http://schemas.microsoft.com/office/drawing/2014/main" id="{D3C4D866-DFBF-8C47-F174-687940C0BF8B}"/>
                </a:ext>
              </a:extLst>
            </p:cNvPr>
            <p:cNvSpPr txBox="1"/>
            <p:nvPr/>
          </p:nvSpPr>
          <p:spPr>
            <a:xfrm>
              <a:off x="203750" y="6627633"/>
              <a:ext cx="1120820" cy="230832"/>
            </a:xfrm>
            <a:prstGeom prst="rect">
              <a:avLst/>
            </a:prstGeom>
            <a:noFill/>
          </p:spPr>
          <p:txBody>
            <a:bodyPr wrap="none" rtlCol="0">
              <a:spAutoFit/>
            </a:bodyPr>
            <a:lstStyle/>
            <a:p>
              <a:r>
                <a:rPr lang="en-US" altLang="ko-KR" sz="900" dirty="0"/>
                <a:t>Set-up for dimming</a:t>
              </a:r>
              <a:endParaRPr lang="ko-KR" altLang="en-US" sz="900" baseline="-25000" dirty="0"/>
            </a:p>
          </p:txBody>
        </p:sp>
        <p:cxnSp>
          <p:nvCxnSpPr>
            <p:cNvPr id="69" name="직선 연결선 68">
              <a:extLst>
                <a:ext uri="{FF2B5EF4-FFF2-40B4-BE49-F238E27FC236}">
                  <a16:creationId xmlns:a16="http://schemas.microsoft.com/office/drawing/2014/main" id="{91ACEC3B-4EDD-8062-2295-1E5877822C35}"/>
                </a:ext>
              </a:extLst>
            </p:cNvPr>
            <p:cNvCxnSpPr>
              <a:cxnSpLocks/>
            </p:cNvCxnSpPr>
            <p:nvPr/>
          </p:nvCxnSpPr>
          <p:spPr>
            <a:xfrm flipH="1">
              <a:off x="1239105" y="6828472"/>
              <a:ext cx="4905764"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70" name="직사각형 69">
              <a:extLst>
                <a:ext uri="{FF2B5EF4-FFF2-40B4-BE49-F238E27FC236}">
                  <a16:creationId xmlns:a16="http://schemas.microsoft.com/office/drawing/2014/main" id="{93F022D8-4B40-C333-DEEF-DCA138DB97E8}"/>
                </a:ext>
              </a:extLst>
            </p:cNvPr>
            <p:cNvSpPr/>
            <p:nvPr/>
          </p:nvSpPr>
          <p:spPr>
            <a:xfrm>
              <a:off x="3886754" y="6611367"/>
              <a:ext cx="1173846" cy="216000"/>
            </a:xfrm>
            <a:prstGeom prst="rect">
              <a:avLst/>
            </a:prstGeom>
            <a:solidFill>
              <a:schemeClr val="accent4">
                <a:lumMod val="20000"/>
                <a:lumOff val="8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900" dirty="0">
                  <a:solidFill>
                    <a:schemeClr val="tx1"/>
                  </a:solidFill>
                  <a:latin typeface="Arial" panose="020B0604020202020204" pitchFamily="34" charset="0"/>
                  <a:cs typeface="Arial" panose="020B0604020202020204" pitchFamily="34" charset="0"/>
                </a:rPr>
                <a:t>XD setup for dimming</a:t>
              </a:r>
              <a:endParaRPr lang="ko-KR" altLang="en-US" sz="900" dirty="0">
                <a:solidFill>
                  <a:schemeClr val="tx1"/>
                </a:solidFill>
                <a:latin typeface="Arial" panose="020B0604020202020204" pitchFamily="34" charset="0"/>
                <a:cs typeface="Arial" panose="020B0604020202020204" pitchFamily="34" charset="0"/>
              </a:endParaRPr>
            </a:p>
          </p:txBody>
        </p:sp>
        <p:sp>
          <p:nvSpPr>
            <p:cNvPr id="71" name="직사각형 70">
              <a:extLst>
                <a:ext uri="{FF2B5EF4-FFF2-40B4-BE49-F238E27FC236}">
                  <a16:creationId xmlns:a16="http://schemas.microsoft.com/office/drawing/2014/main" id="{7CDE0094-BCC3-6CB1-1F9A-3CE27D62245F}"/>
                </a:ext>
              </a:extLst>
            </p:cNvPr>
            <p:cNvSpPr/>
            <p:nvPr/>
          </p:nvSpPr>
          <p:spPr>
            <a:xfrm>
              <a:off x="6140013" y="6017838"/>
              <a:ext cx="57650" cy="1334043"/>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900" dirty="0">
                <a:solidFill>
                  <a:schemeClr val="tx1"/>
                </a:solidFill>
                <a:latin typeface="Arial" panose="020B0604020202020204" pitchFamily="34" charset="0"/>
                <a:cs typeface="Arial" panose="020B0604020202020204" pitchFamily="34" charset="0"/>
              </a:endParaRPr>
            </a:p>
          </p:txBody>
        </p:sp>
        <p:cxnSp>
          <p:nvCxnSpPr>
            <p:cNvPr id="95" name="직선 연결선 94">
              <a:extLst>
                <a:ext uri="{FF2B5EF4-FFF2-40B4-BE49-F238E27FC236}">
                  <a16:creationId xmlns:a16="http://schemas.microsoft.com/office/drawing/2014/main" id="{A15C0E05-1150-86A1-316E-132E89C16E28}"/>
                </a:ext>
              </a:extLst>
            </p:cNvPr>
            <p:cNvCxnSpPr>
              <a:cxnSpLocks/>
            </p:cNvCxnSpPr>
            <p:nvPr/>
          </p:nvCxnSpPr>
          <p:spPr>
            <a:xfrm>
              <a:off x="3275331" y="6194203"/>
              <a:ext cx="0" cy="180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96" name="직선 연결선 95">
              <a:extLst>
                <a:ext uri="{FF2B5EF4-FFF2-40B4-BE49-F238E27FC236}">
                  <a16:creationId xmlns:a16="http://schemas.microsoft.com/office/drawing/2014/main" id="{21124B6B-E036-15D1-1779-B4642D746F57}"/>
                </a:ext>
              </a:extLst>
            </p:cNvPr>
            <p:cNvCxnSpPr>
              <a:cxnSpLocks/>
            </p:cNvCxnSpPr>
            <p:nvPr/>
          </p:nvCxnSpPr>
          <p:spPr>
            <a:xfrm>
              <a:off x="3275331" y="6267569"/>
              <a:ext cx="612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97" name="직선 연결선 96">
              <a:extLst>
                <a:ext uri="{FF2B5EF4-FFF2-40B4-BE49-F238E27FC236}">
                  <a16:creationId xmlns:a16="http://schemas.microsoft.com/office/drawing/2014/main" id="{94A5AD7F-A90C-78A2-30AB-8C40B8DF5F2B}"/>
                </a:ext>
              </a:extLst>
            </p:cNvPr>
            <p:cNvCxnSpPr>
              <a:cxnSpLocks/>
            </p:cNvCxnSpPr>
            <p:nvPr/>
          </p:nvCxnSpPr>
          <p:spPr>
            <a:xfrm>
              <a:off x="3884441" y="6201382"/>
              <a:ext cx="0" cy="792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8" name="TextBox 97">
              <a:extLst>
                <a:ext uri="{FF2B5EF4-FFF2-40B4-BE49-F238E27FC236}">
                  <a16:creationId xmlns:a16="http://schemas.microsoft.com/office/drawing/2014/main" id="{F374BE0C-9968-4EF6-518A-D177829B348F}"/>
                </a:ext>
              </a:extLst>
            </p:cNvPr>
            <p:cNvSpPr txBox="1"/>
            <p:nvPr/>
          </p:nvSpPr>
          <p:spPr>
            <a:xfrm>
              <a:off x="3490632" y="6289723"/>
              <a:ext cx="293350"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FCMD</a:t>
              </a:r>
              <a:endParaRPr lang="ko-KR" altLang="en-US" sz="900" dirty="0"/>
            </a:p>
          </p:txBody>
        </p:sp>
      </p:grpSp>
      <p:sp>
        <p:nvSpPr>
          <p:cNvPr id="4" name="object 11">
            <a:extLst>
              <a:ext uri="{FF2B5EF4-FFF2-40B4-BE49-F238E27FC236}">
                <a16:creationId xmlns:a16="http://schemas.microsoft.com/office/drawing/2014/main" id="{CAC222BC-5CB6-3B2D-B6DF-F78BF7E97E4A}"/>
              </a:ext>
            </a:extLst>
          </p:cNvPr>
          <p:cNvSpPr txBox="1"/>
          <p:nvPr/>
        </p:nvSpPr>
        <p:spPr>
          <a:xfrm>
            <a:off x="2494505" y="4451308"/>
            <a:ext cx="1860253" cy="128240"/>
          </a:xfrm>
          <a:prstGeom prst="rect">
            <a:avLst/>
          </a:prstGeom>
          <a:noFill/>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4</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Electrical Characteristic </a:t>
            </a:r>
          </a:p>
        </p:txBody>
      </p:sp>
      <p:sp>
        <p:nvSpPr>
          <p:cNvPr id="14" name="object 84">
            <a:extLst>
              <a:ext uri="{FF2B5EF4-FFF2-40B4-BE49-F238E27FC236}">
                <a16:creationId xmlns:a16="http://schemas.microsoft.com/office/drawing/2014/main" id="{81834235-6177-68D8-EC50-0E997EDB65A9}"/>
              </a:ext>
            </a:extLst>
          </p:cNvPr>
          <p:cNvSpPr txBox="1"/>
          <p:nvPr/>
        </p:nvSpPr>
        <p:spPr>
          <a:xfrm>
            <a:off x="2067508" y="8351505"/>
            <a:ext cx="2732799"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5. Power up sequence </a:t>
            </a:r>
            <a:r>
              <a:rPr lang="en-US" sz="900" b="1" spc="15" dirty="0">
                <a:solidFill>
                  <a:prstClr val="black"/>
                </a:solidFill>
                <a:latin typeface="Arial" panose="020B0604020202020204" pitchFamily="34" charset="0"/>
                <a:cs typeface="Arial" panose="020B0604020202020204" pitchFamily="34" charset="0"/>
              </a:rPr>
              <a:t>and Ramp-up time</a:t>
            </a:r>
            <a:endParaRPr kumimoji="0" lang="en-US" sz="900" b="1" spc="15" dirty="0">
              <a:solidFill>
                <a:prstClr val="black"/>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8616815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1E9AD-295E-4EDD-523A-D4A69C5714F6}"/>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5B056F58-CD0E-9001-50BD-0D3E8D1EB3BD}"/>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219CBCD-96DE-1074-31FA-D35C15B81F02}"/>
              </a:ext>
            </a:extLst>
          </p:cNvPr>
          <p:cNvSpPr txBox="1"/>
          <p:nvPr/>
        </p:nvSpPr>
        <p:spPr>
          <a:xfrm>
            <a:off x="390027"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D20B7336-1B6D-4A6F-E5EC-CD06E503673E}"/>
              </a:ext>
            </a:extLst>
          </p:cNvPr>
          <p:cNvSpPr txBox="1"/>
          <p:nvPr/>
        </p:nvSpPr>
        <p:spPr>
          <a:xfrm>
            <a:off x="404812" y="774866"/>
            <a:ext cx="603964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Layout for Power Lane for single-layer PCB</a:t>
            </a:r>
            <a:endParaRPr lang="ko-KR" altLang="en-US" sz="1200" dirty="0">
              <a:latin typeface="Arial" panose="020B0604020202020204" pitchFamily="34" charset="0"/>
              <a:cs typeface="Arial" panose="020B0604020202020204" pitchFamily="34" charset="0"/>
            </a:endParaRPr>
          </a:p>
        </p:txBody>
      </p:sp>
      <p:pic>
        <p:nvPicPr>
          <p:cNvPr id="15" name="그림 14">
            <a:extLst>
              <a:ext uri="{FF2B5EF4-FFF2-40B4-BE49-F238E27FC236}">
                <a16:creationId xmlns:a16="http://schemas.microsoft.com/office/drawing/2014/main" id="{4059D635-0C8A-8678-BC7F-EA31EBDF5174}"/>
              </a:ext>
            </a:extLst>
          </p:cNvPr>
          <p:cNvPicPr>
            <a:picLocks noChangeAspect="1"/>
          </p:cNvPicPr>
          <p:nvPr/>
        </p:nvPicPr>
        <p:blipFill>
          <a:blip r:embed="rId2"/>
          <a:stretch>
            <a:fillRect/>
          </a:stretch>
        </p:blipFill>
        <p:spPr>
          <a:xfrm>
            <a:off x="404811" y="1973456"/>
            <a:ext cx="6039641" cy="1716056"/>
          </a:xfrm>
          <a:prstGeom prst="rect">
            <a:avLst/>
          </a:prstGeom>
        </p:spPr>
      </p:pic>
      <p:sp>
        <p:nvSpPr>
          <p:cNvPr id="16" name="TextBox 15">
            <a:extLst>
              <a:ext uri="{FF2B5EF4-FFF2-40B4-BE49-F238E27FC236}">
                <a16:creationId xmlns:a16="http://schemas.microsoft.com/office/drawing/2014/main" id="{675CA35E-01BA-985F-4694-BB1733ED5DED}"/>
              </a:ext>
            </a:extLst>
          </p:cNvPr>
          <p:cNvSpPr txBox="1"/>
          <p:nvPr/>
        </p:nvSpPr>
        <p:spPr>
          <a:xfrm>
            <a:off x="413545" y="1348337"/>
            <a:ext cx="6039903" cy="307777"/>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As shown in the figure below, it is recommended that a bypass capacitor should be placed as close to the pin 18 and 17 as possible in below.</a:t>
            </a:r>
          </a:p>
        </p:txBody>
      </p:sp>
    </p:spTree>
    <p:extLst>
      <p:ext uri="{BB962C8B-B14F-4D97-AF65-F5344CB8AC3E}">
        <p14:creationId xmlns:p14="http://schemas.microsoft.com/office/powerpoint/2010/main" val="11150077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390027"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6CB7AE3D-BA30-C6F2-087A-E709735D09EB}"/>
              </a:ext>
            </a:extLst>
          </p:cNvPr>
          <p:cNvSpPr txBox="1"/>
          <p:nvPr/>
        </p:nvSpPr>
        <p:spPr>
          <a:xfrm>
            <a:off x="419255" y="775809"/>
            <a:ext cx="6053975"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pic>
        <p:nvPicPr>
          <p:cNvPr id="8" name="그림 7">
            <a:extLst>
              <a:ext uri="{FF2B5EF4-FFF2-40B4-BE49-F238E27FC236}">
                <a16:creationId xmlns:a16="http://schemas.microsoft.com/office/drawing/2014/main" id="{6B9D60AF-4F7B-AE48-E1FB-7F6FF1A15B2D}"/>
              </a:ext>
            </a:extLst>
          </p:cNvPr>
          <p:cNvPicPr>
            <a:picLocks noChangeAspect="1"/>
          </p:cNvPicPr>
          <p:nvPr/>
        </p:nvPicPr>
        <p:blipFill>
          <a:blip r:embed="rId2"/>
          <a:stretch>
            <a:fillRect/>
          </a:stretch>
        </p:blipFill>
        <p:spPr>
          <a:xfrm>
            <a:off x="748229" y="2106792"/>
            <a:ext cx="5573810" cy="2150308"/>
          </a:xfrm>
          <a:prstGeom prst="rect">
            <a:avLst/>
          </a:prstGeom>
        </p:spPr>
      </p:pic>
      <p:sp>
        <p:nvSpPr>
          <p:cNvPr id="10" name="TextBox 9">
            <a:extLst>
              <a:ext uri="{FF2B5EF4-FFF2-40B4-BE49-F238E27FC236}">
                <a16:creationId xmlns:a16="http://schemas.microsoft.com/office/drawing/2014/main" id="{1701B2A1-A079-C98D-F2B6-67EC50E28E54}"/>
              </a:ext>
            </a:extLst>
          </p:cNvPr>
          <p:cNvSpPr txBox="1"/>
          <p:nvPr/>
        </p:nvSpPr>
        <p:spPr>
          <a:xfrm>
            <a:off x="407554" y="1556966"/>
            <a:ext cx="6039903" cy="461665"/>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XD can be controlled with several commands through a XC controller or directly by a Micom. The access protocol and frame format are as follows and if several XD is connected in daisy, the commands should be repeated successively as many as the XD number in daisy chain.</a:t>
            </a:r>
          </a:p>
        </p:txBody>
      </p:sp>
      <p:sp>
        <p:nvSpPr>
          <p:cNvPr id="12" name="TextBox 11">
            <a:extLst>
              <a:ext uri="{FF2B5EF4-FFF2-40B4-BE49-F238E27FC236}">
                <a16:creationId xmlns:a16="http://schemas.microsoft.com/office/drawing/2014/main" id="{4383970E-EB8D-39AE-704F-20525F0D26BF}"/>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Serial Communication Protocol</a:t>
            </a:r>
          </a:p>
        </p:txBody>
      </p:sp>
      <p:sp>
        <p:nvSpPr>
          <p:cNvPr id="14" name="TextBox 13">
            <a:extLst>
              <a:ext uri="{FF2B5EF4-FFF2-40B4-BE49-F238E27FC236}">
                <a16:creationId xmlns:a16="http://schemas.microsoft.com/office/drawing/2014/main" id="{673951FD-FE33-FC91-F193-C3B74E60F496}"/>
              </a:ext>
            </a:extLst>
          </p:cNvPr>
          <p:cNvSpPr txBox="1"/>
          <p:nvPr/>
        </p:nvSpPr>
        <p:spPr>
          <a:xfrm>
            <a:off x="2351782" y="4406587"/>
            <a:ext cx="2154436" cy="138499"/>
          </a:xfrm>
          <a:prstGeom prst="rect">
            <a:avLst/>
          </a:prstGeom>
          <a:noFill/>
        </p:spPr>
        <p:txBody>
          <a:bodyPr wrap="none" lIns="0" tIns="0" rIns="0" bIns="0" rtlCol="0" anchor="ctr" anchorCtr="0">
            <a:spAutoFit/>
          </a:bodyPr>
          <a:lstStyle/>
          <a:p>
            <a:r>
              <a:rPr lang="en-US" altLang="ko-KR" sz="900" b="1" dirty="0">
                <a:latin typeface="Arial" panose="020B0604020202020204" pitchFamily="34" charset="0"/>
                <a:cs typeface="Arial" panose="020B0604020202020204" pitchFamily="34" charset="0"/>
              </a:rPr>
              <a:t>Table 5. Serial communication protocol</a:t>
            </a:r>
          </a:p>
        </p:txBody>
      </p:sp>
      <p:pic>
        <p:nvPicPr>
          <p:cNvPr id="15" name="그림 14">
            <a:extLst>
              <a:ext uri="{FF2B5EF4-FFF2-40B4-BE49-F238E27FC236}">
                <a16:creationId xmlns:a16="http://schemas.microsoft.com/office/drawing/2014/main" id="{79B6BACB-7DE3-E545-115F-02D9E73FD771}"/>
              </a:ext>
            </a:extLst>
          </p:cNvPr>
          <p:cNvPicPr>
            <a:picLocks noChangeAspect="1"/>
          </p:cNvPicPr>
          <p:nvPr/>
        </p:nvPicPr>
        <p:blipFill>
          <a:blip r:embed="rId3"/>
          <a:stretch>
            <a:fillRect/>
          </a:stretch>
        </p:blipFill>
        <p:spPr>
          <a:xfrm>
            <a:off x="1814518" y="5235228"/>
            <a:ext cx="3276000" cy="701019"/>
          </a:xfrm>
          <a:prstGeom prst="rect">
            <a:avLst/>
          </a:prstGeom>
        </p:spPr>
      </p:pic>
      <p:pic>
        <p:nvPicPr>
          <p:cNvPr id="16" name="그림 15">
            <a:extLst>
              <a:ext uri="{FF2B5EF4-FFF2-40B4-BE49-F238E27FC236}">
                <a16:creationId xmlns:a16="http://schemas.microsoft.com/office/drawing/2014/main" id="{3E7D074D-14B5-B074-72A4-EFF626573C9B}"/>
              </a:ext>
            </a:extLst>
          </p:cNvPr>
          <p:cNvPicPr>
            <a:picLocks noChangeAspect="1"/>
          </p:cNvPicPr>
          <p:nvPr/>
        </p:nvPicPr>
        <p:blipFill>
          <a:blip r:embed="rId4"/>
          <a:stretch>
            <a:fillRect/>
          </a:stretch>
        </p:blipFill>
        <p:spPr>
          <a:xfrm>
            <a:off x="399458" y="6133815"/>
            <a:ext cx="6192000" cy="2582404"/>
          </a:xfrm>
          <a:prstGeom prst="rect">
            <a:avLst/>
          </a:prstGeom>
        </p:spPr>
      </p:pic>
      <p:sp>
        <p:nvSpPr>
          <p:cNvPr id="17" name="TextBox 16">
            <a:extLst>
              <a:ext uri="{FF2B5EF4-FFF2-40B4-BE49-F238E27FC236}">
                <a16:creationId xmlns:a16="http://schemas.microsoft.com/office/drawing/2014/main" id="{795CC8C5-4097-5B9F-214E-13B74FC63DB0}"/>
              </a:ext>
            </a:extLst>
          </p:cNvPr>
          <p:cNvSpPr txBox="1"/>
          <p:nvPr/>
        </p:nvSpPr>
        <p:spPr>
          <a:xfrm>
            <a:off x="407554" y="4891637"/>
            <a:ext cx="6039903" cy="153888"/>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serial communication protocol and the packet formats are shown in below for more details.</a:t>
            </a:r>
          </a:p>
        </p:txBody>
      </p:sp>
    </p:spTree>
    <p:extLst>
      <p:ext uri="{BB962C8B-B14F-4D97-AF65-F5344CB8AC3E}">
        <p14:creationId xmlns:p14="http://schemas.microsoft.com/office/powerpoint/2010/main" val="21131974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C2D40-2D3C-96D1-0F96-93012FDAF20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1DFB9C9-5C4E-1924-4AC1-771D07F8041D}"/>
              </a:ext>
            </a:extLst>
          </p:cNvPr>
          <p:cNvSpPr txBox="1"/>
          <p:nvPr/>
        </p:nvSpPr>
        <p:spPr>
          <a:xfrm>
            <a:off x="452550" y="1271542"/>
            <a:ext cx="6053975"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Dimming in Normal mode</a:t>
            </a:r>
          </a:p>
        </p:txBody>
      </p:sp>
      <p:cxnSp>
        <p:nvCxnSpPr>
          <p:cNvPr id="84" name="직선 연결선 83">
            <a:extLst>
              <a:ext uri="{FF2B5EF4-FFF2-40B4-BE49-F238E27FC236}">
                <a16:creationId xmlns:a16="http://schemas.microsoft.com/office/drawing/2014/main" id="{AA11A1C0-6BC4-96CD-6506-33966637C619}"/>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F1D99214-A453-2E2F-834F-0A801787C95B}"/>
              </a:ext>
            </a:extLst>
          </p:cNvPr>
          <p:cNvSpPr txBox="1"/>
          <p:nvPr/>
        </p:nvSpPr>
        <p:spPr>
          <a:xfrm>
            <a:off x="390027"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AD0D502A-D691-3758-AB72-7DC2231ACD6E}"/>
              </a:ext>
            </a:extLst>
          </p:cNvPr>
          <p:cNvSpPr txBox="1"/>
          <p:nvPr/>
        </p:nvSpPr>
        <p:spPr>
          <a:xfrm>
            <a:off x="2744417" y="3031510"/>
            <a:ext cx="1368965"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6. Head lighting</a:t>
            </a:r>
          </a:p>
        </p:txBody>
      </p:sp>
      <p:pic>
        <p:nvPicPr>
          <p:cNvPr id="4" name="그림 3">
            <a:extLst>
              <a:ext uri="{FF2B5EF4-FFF2-40B4-BE49-F238E27FC236}">
                <a16:creationId xmlns:a16="http://schemas.microsoft.com/office/drawing/2014/main" id="{14A7A95F-49CC-D78C-2FC2-E2A050DD5062}"/>
              </a:ext>
            </a:extLst>
          </p:cNvPr>
          <p:cNvPicPr>
            <a:picLocks noChangeAspect="1"/>
          </p:cNvPicPr>
          <p:nvPr/>
        </p:nvPicPr>
        <p:blipFill>
          <a:blip r:embed="rId2"/>
          <a:stretch>
            <a:fillRect/>
          </a:stretch>
        </p:blipFill>
        <p:spPr>
          <a:xfrm>
            <a:off x="412904" y="1752414"/>
            <a:ext cx="6101154" cy="1194976"/>
          </a:xfrm>
          <a:prstGeom prst="rect">
            <a:avLst/>
          </a:prstGeom>
        </p:spPr>
      </p:pic>
      <p:pic>
        <p:nvPicPr>
          <p:cNvPr id="6" name="그림 5">
            <a:extLst>
              <a:ext uri="{FF2B5EF4-FFF2-40B4-BE49-F238E27FC236}">
                <a16:creationId xmlns:a16="http://schemas.microsoft.com/office/drawing/2014/main" id="{2C1847B9-CCB8-7EA3-5D0C-7E1641871173}"/>
              </a:ext>
            </a:extLst>
          </p:cNvPr>
          <p:cNvPicPr>
            <a:picLocks noChangeAspect="1"/>
          </p:cNvPicPr>
          <p:nvPr/>
        </p:nvPicPr>
        <p:blipFill>
          <a:blip r:embed="rId3"/>
          <a:stretch>
            <a:fillRect/>
          </a:stretch>
        </p:blipFill>
        <p:spPr>
          <a:xfrm>
            <a:off x="399459" y="3392629"/>
            <a:ext cx="6124242" cy="1195200"/>
          </a:xfrm>
          <a:prstGeom prst="rect">
            <a:avLst/>
          </a:prstGeom>
        </p:spPr>
      </p:pic>
      <p:pic>
        <p:nvPicPr>
          <p:cNvPr id="7" name="그림 6">
            <a:extLst>
              <a:ext uri="{FF2B5EF4-FFF2-40B4-BE49-F238E27FC236}">
                <a16:creationId xmlns:a16="http://schemas.microsoft.com/office/drawing/2014/main" id="{5FBC5724-EAF8-0224-6EFA-F5957A34495F}"/>
              </a:ext>
            </a:extLst>
          </p:cNvPr>
          <p:cNvPicPr>
            <a:picLocks noChangeAspect="1"/>
          </p:cNvPicPr>
          <p:nvPr/>
        </p:nvPicPr>
        <p:blipFill>
          <a:blip r:embed="rId4"/>
          <a:stretch>
            <a:fillRect/>
          </a:stretch>
        </p:blipFill>
        <p:spPr>
          <a:xfrm>
            <a:off x="386015" y="5525725"/>
            <a:ext cx="6085771" cy="1368000"/>
          </a:xfrm>
          <a:prstGeom prst="rect">
            <a:avLst/>
          </a:prstGeom>
        </p:spPr>
      </p:pic>
      <p:pic>
        <p:nvPicPr>
          <p:cNvPr id="9" name="그림 8">
            <a:extLst>
              <a:ext uri="{FF2B5EF4-FFF2-40B4-BE49-F238E27FC236}">
                <a16:creationId xmlns:a16="http://schemas.microsoft.com/office/drawing/2014/main" id="{0567FAB3-7668-7B04-6216-7EE4E1075FCE}"/>
              </a:ext>
            </a:extLst>
          </p:cNvPr>
          <p:cNvPicPr>
            <a:picLocks noChangeAspect="1"/>
          </p:cNvPicPr>
          <p:nvPr/>
        </p:nvPicPr>
        <p:blipFill>
          <a:blip r:embed="rId5"/>
          <a:stretch>
            <a:fillRect/>
          </a:stretch>
        </p:blipFill>
        <p:spPr>
          <a:xfrm>
            <a:off x="399459" y="7223879"/>
            <a:ext cx="6027086" cy="1368000"/>
          </a:xfrm>
          <a:prstGeom prst="rect">
            <a:avLst/>
          </a:prstGeom>
        </p:spPr>
      </p:pic>
      <p:sp>
        <p:nvSpPr>
          <p:cNvPr id="13" name="TextBox 12">
            <a:extLst>
              <a:ext uri="{FF2B5EF4-FFF2-40B4-BE49-F238E27FC236}">
                <a16:creationId xmlns:a16="http://schemas.microsoft.com/office/drawing/2014/main" id="{364340AD-BABA-1DF6-86D2-658F02D1D016}"/>
              </a:ext>
            </a:extLst>
          </p:cNvPr>
          <p:cNvSpPr txBox="1"/>
          <p:nvPr/>
        </p:nvSpPr>
        <p:spPr>
          <a:xfrm>
            <a:off x="3540662" y="1427370"/>
            <a:ext cx="720000" cy="461665"/>
          </a:xfrm>
          <a:prstGeom prst="rect">
            <a:avLst/>
          </a:prstGeom>
          <a:noFill/>
          <a:ln w="3175">
            <a:solidFill>
              <a:schemeClr val="bg1">
                <a:lumMod val="75000"/>
              </a:schemeClr>
            </a:solidFill>
          </a:ln>
        </p:spPr>
        <p:txBody>
          <a:bodyPr wrap="square" lIns="36000" tIns="0" rIns="0" bIns="0" rtlCol="0" anchor="ctr" anchorCtr="0">
            <a:spAutoFit/>
          </a:bodyPr>
          <a:lstStyle/>
          <a:p>
            <a:r>
              <a:rPr lang="en-US" altLang="ko-KR" sz="600" dirty="0">
                <a:solidFill>
                  <a:schemeClr val="tx1">
                    <a:lumMod val="65000"/>
                    <a:lumOff val="35000"/>
                  </a:schemeClr>
                </a:solidFill>
                <a:latin typeface="Arial" panose="020B0604020202020204" pitchFamily="34" charset="0"/>
                <a:cs typeface="Arial" panose="020B0604020202020204" pitchFamily="34" charset="0"/>
              </a:rPr>
              <a:t>Dimming data</a:t>
            </a:r>
          </a:p>
          <a:p>
            <a:r>
              <a:rPr lang="en-US" altLang="ko-KR" sz="600" dirty="0">
                <a:solidFill>
                  <a:schemeClr val="tx1">
                    <a:lumMod val="65000"/>
                    <a:lumOff val="35000"/>
                  </a:schemeClr>
                </a:solidFill>
                <a:latin typeface="Arial" panose="020B0604020202020204" pitchFamily="34" charset="0"/>
                <a:cs typeface="Arial" panose="020B0604020202020204" pitchFamily="34" charset="0"/>
              </a:rPr>
              <a:t>LD_MODE/LD_DIR</a:t>
            </a:r>
          </a:p>
          <a:p>
            <a:r>
              <a:rPr lang="en-US" altLang="ko-KR" sz="600" dirty="0">
                <a:solidFill>
                  <a:schemeClr val="tx1">
                    <a:lumMod val="65000"/>
                    <a:lumOff val="35000"/>
                  </a:schemeClr>
                </a:solidFill>
                <a:latin typeface="Arial" panose="020B0604020202020204" pitchFamily="34" charset="0"/>
                <a:cs typeface="Arial" panose="020B0604020202020204" pitchFamily="34" charset="0"/>
              </a:rPr>
              <a:t>MAX_CURR_VREF</a:t>
            </a:r>
          </a:p>
          <a:p>
            <a:r>
              <a:rPr lang="en-US" altLang="ko-KR" sz="600" dirty="0">
                <a:solidFill>
                  <a:schemeClr val="tx1">
                    <a:lumMod val="65000"/>
                    <a:lumOff val="35000"/>
                  </a:schemeClr>
                </a:solidFill>
                <a:latin typeface="Arial" panose="020B0604020202020204" pitchFamily="34" charset="0"/>
                <a:cs typeface="Arial" panose="020B0604020202020204" pitchFamily="34" charset="0"/>
              </a:rPr>
              <a:t>SF_PERIOD</a:t>
            </a:r>
          </a:p>
          <a:p>
            <a:r>
              <a:rPr lang="en-US" altLang="ko-KR" sz="600" dirty="0">
                <a:solidFill>
                  <a:schemeClr val="tx1">
                    <a:lumMod val="65000"/>
                    <a:lumOff val="35000"/>
                  </a:schemeClr>
                </a:solidFill>
                <a:latin typeface="Arial" panose="020B0604020202020204" pitchFamily="34" charset="0"/>
                <a:cs typeface="Arial" panose="020B0604020202020204" pitchFamily="34" charset="0"/>
              </a:rPr>
              <a:t>SF_BFI_SIZE</a:t>
            </a:r>
          </a:p>
        </p:txBody>
      </p:sp>
      <p:sp>
        <p:nvSpPr>
          <p:cNvPr id="26" name="TextBox 25">
            <a:extLst>
              <a:ext uri="{FF2B5EF4-FFF2-40B4-BE49-F238E27FC236}">
                <a16:creationId xmlns:a16="http://schemas.microsoft.com/office/drawing/2014/main" id="{D70AF790-F3F9-9EAD-D62F-EEA8D2F7B677}"/>
              </a:ext>
            </a:extLst>
          </p:cNvPr>
          <p:cNvSpPr txBox="1"/>
          <p:nvPr/>
        </p:nvSpPr>
        <p:spPr>
          <a:xfrm>
            <a:off x="2786096" y="4695983"/>
            <a:ext cx="1285608"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7. Tail lighting</a:t>
            </a:r>
          </a:p>
        </p:txBody>
      </p:sp>
      <p:sp>
        <p:nvSpPr>
          <p:cNvPr id="28" name="TextBox 27">
            <a:extLst>
              <a:ext uri="{FF2B5EF4-FFF2-40B4-BE49-F238E27FC236}">
                <a16:creationId xmlns:a16="http://schemas.microsoft.com/office/drawing/2014/main" id="{251A9781-280D-2D3C-27F0-1351A773740A}"/>
              </a:ext>
            </a:extLst>
          </p:cNvPr>
          <p:cNvSpPr txBox="1"/>
          <p:nvPr/>
        </p:nvSpPr>
        <p:spPr>
          <a:xfrm>
            <a:off x="452550" y="5102100"/>
            <a:ext cx="6053975"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Dimming in X8 mode</a:t>
            </a:r>
          </a:p>
        </p:txBody>
      </p:sp>
      <p:sp>
        <p:nvSpPr>
          <p:cNvPr id="30" name="TextBox 29">
            <a:extLst>
              <a:ext uri="{FF2B5EF4-FFF2-40B4-BE49-F238E27FC236}">
                <a16:creationId xmlns:a16="http://schemas.microsoft.com/office/drawing/2014/main" id="{BE50E68E-9820-BAC4-D5D5-038F40D46973}"/>
              </a:ext>
            </a:extLst>
          </p:cNvPr>
          <p:cNvSpPr txBox="1"/>
          <p:nvPr/>
        </p:nvSpPr>
        <p:spPr>
          <a:xfrm>
            <a:off x="2744417" y="6953709"/>
            <a:ext cx="1368965"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8. Head lighting</a:t>
            </a:r>
          </a:p>
        </p:txBody>
      </p:sp>
      <p:sp>
        <p:nvSpPr>
          <p:cNvPr id="31" name="TextBox 30">
            <a:extLst>
              <a:ext uri="{FF2B5EF4-FFF2-40B4-BE49-F238E27FC236}">
                <a16:creationId xmlns:a16="http://schemas.microsoft.com/office/drawing/2014/main" id="{D492A4CE-4153-069D-9803-2AA86FCDE9E8}"/>
              </a:ext>
            </a:extLst>
          </p:cNvPr>
          <p:cNvSpPr txBox="1"/>
          <p:nvPr/>
        </p:nvSpPr>
        <p:spPr>
          <a:xfrm>
            <a:off x="2786096" y="8721113"/>
            <a:ext cx="1285608"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9. Tail lighting</a:t>
            </a:r>
          </a:p>
        </p:txBody>
      </p:sp>
      <p:sp>
        <p:nvSpPr>
          <p:cNvPr id="19" name="TextBox 18">
            <a:extLst>
              <a:ext uri="{FF2B5EF4-FFF2-40B4-BE49-F238E27FC236}">
                <a16:creationId xmlns:a16="http://schemas.microsoft.com/office/drawing/2014/main" id="{77A794A9-CE00-CDE1-A11E-8DF2B40D346A}"/>
              </a:ext>
            </a:extLst>
          </p:cNvPr>
          <p:cNvSpPr txBox="1"/>
          <p:nvPr/>
        </p:nvSpPr>
        <p:spPr>
          <a:xfrm>
            <a:off x="4325253" y="1614973"/>
            <a:ext cx="2256430" cy="92333"/>
          </a:xfrm>
          <a:prstGeom prst="rect">
            <a:avLst/>
          </a:prstGeom>
          <a:solidFill>
            <a:schemeClr val="bg1"/>
          </a:solidFill>
          <a:ln w="3175">
            <a:noFill/>
          </a:ln>
        </p:spPr>
        <p:txBody>
          <a:bodyPr wrap="square" lIns="0" tIns="0" rIns="0" bIns="0" rtlCol="0" anchor="ctr" anchorCtr="0">
            <a:spAutoFit/>
          </a:bodyPr>
          <a:lstStyle/>
          <a:p>
            <a:r>
              <a:rPr lang="en-US" altLang="ko-KR" sz="600" i="1" dirty="0">
                <a:latin typeface="Arial" panose="020B0604020202020204" pitchFamily="34" charset="0"/>
                <a:cs typeface="Arial" panose="020B0604020202020204" pitchFamily="34" charset="0"/>
              </a:rPr>
              <a:t>These data will be applied at a next vsync after being transmitted</a:t>
            </a:r>
          </a:p>
        </p:txBody>
      </p:sp>
      <p:sp>
        <p:nvSpPr>
          <p:cNvPr id="18" name="자유형: 도형 17">
            <a:extLst>
              <a:ext uri="{FF2B5EF4-FFF2-40B4-BE49-F238E27FC236}">
                <a16:creationId xmlns:a16="http://schemas.microsoft.com/office/drawing/2014/main" id="{F3716663-1ECE-8494-235F-2DD0E1714F9E}"/>
              </a:ext>
            </a:extLst>
          </p:cNvPr>
          <p:cNvSpPr/>
          <p:nvPr/>
        </p:nvSpPr>
        <p:spPr>
          <a:xfrm>
            <a:off x="4260662" y="1575789"/>
            <a:ext cx="910945" cy="239769"/>
          </a:xfrm>
          <a:custGeom>
            <a:avLst/>
            <a:gdLst>
              <a:gd name="connsiteX0" fmla="*/ 0 w 1503336"/>
              <a:gd name="connsiteY0" fmla="*/ 108488 h 231518"/>
              <a:gd name="connsiteX1" fmla="*/ 534692 w 1503336"/>
              <a:gd name="connsiteY1" fmla="*/ 228600 h 231518"/>
              <a:gd name="connsiteX2" fmla="*/ 1011265 w 1503336"/>
              <a:gd name="connsiteY2" fmla="*/ 0 h 231518"/>
              <a:gd name="connsiteX3" fmla="*/ 1503336 w 1503336"/>
              <a:gd name="connsiteY3" fmla="*/ 228600 h 231518"/>
            </a:gdLst>
            <a:ahLst/>
            <a:cxnLst>
              <a:cxn ang="0">
                <a:pos x="connsiteX0" y="connsiteY0"/>
              </a:cxn>
              <a:cxn ang="0">
                <a:pos x="connsiteX1" y="connsiteY1"/>
              </a:cxn>
              <a:cxn ang="0">
                <a:pos x="connsiteX2" y="connsiteY2"/>
              </a:cxn>
              <a:cxn ang="0">
                <a:pos x="connsiteX3" y="connsiteY3"/>
              </a:cxn>
            </a:cxnLst>
            <a:rect l="l" t="t" r="r" b="b"/>
            <a:pathLst>
              <a:path w="1503336" h="231518">
                <a:moveTo>
                  <a:pt x="0" y="108488"/>
                </a:moveTo>
                <a:cubicBezTo>
                  <a:pt x="183074" y="177584"/>
                  <a:pt x="366148" y="246681"/>
                  <a:pt x="534692" y="228600"/>
                </a:cubicBezTo>
                <a:cubicBezTo>
                  <a:pt x="703236" y="210519"/>
                  <a:pt x="849824" y="0"/>
                  <a:pt x="1011265" y="0"/>
                </a:cubicBezTo>
                <a:cubicBezTo>
                  <a:pt x="1172706" y="0"/>
                  <a:pt x="1338021" y="114300"/>
                  <a:pt x="1503336" y="228600"/>
                </a:cubicBezTo>
              </a:path>
            </a:pathLst>
          </a:custGeom>
          <a:noFill/>
          <a:ln w="3175">
            <a:solidFill>
              <a:schemeClr val="bg1">
                <a:lumMod val="50000"/>
              </a:schemeClr>
            </a:solidFill>
            <a:headEnd type="none" w="sm" len="sm"/>
            <a:tailEnd type="triangl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8" name="TextBox 7">
            <a:extLst>
              <a:ext uri="{FF2B5EF4-FFF2-40B4-BE49-F238E27FC236}">
                <a16:creationId xmlns:a16="http://schemas.microsoft.com/office/drawing/2014/main" id="{BF9B2ED6-05B3-A08D-5240-88BBB50D0665}"/>
              </a:ext>
            </a:extLst>
          </p:cNvPr>
          <p:cNvSpPr txBox="1"/>
          <p:nvPr/>
        </p:nvSpPr>
        <p:spPr>
          <a:xfrm>
            <a:off x="419255" y="775809"/>
            <a:ext cx="6053975"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Tree>
    <p:extLst>
      <p:ext uri="{BB962C8B-B14F-4D97-AF65-F5344CB8AC3E}">
        <p14:creationId xmlns:p14="http://schemas.microsoft.com/office/powerpoint/2010/main" val="13897604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D3702-3FB4-106D-4DFA-D515ED11F3F8}"/>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C54745B9-182D-E75B-B884-F9CAC94C778C}"/>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D440FCFE-E802-D697-B0BB-E914846E81C2}"/>
              </a:ext>
            </a:extLst>
          </p:cNvPr>
          <p:cNvSpPr txBox="1"/>
          <p:nvPr/>
        </p:nvSpPr>
        <p:spPr>
          <a:xfrm>
            <a:off x="390027"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C8BCB1C4-9994-0890-1BFD-4FF3B1624386}"/>
              </a:ext>
            </a:extLst>
          </p:cNvPr>
          <p:cNvSpPr txBox="1"/>
          <p:nvPr/>
        </p:nvSpPr>
        <p:spPr>
          <a:xfrm>
            <a:off x="2055133" y="4919527"/>
            <a:ext cx="2736647"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10.  External VSYNC In and Out Scheme</a:t>
            </a:r>
          </a:p>
        </p:txBody>
      </p:sp>
      <p:sp>
        <p:nvSpPr>
          <p:cNvPr id="12" name="TextBox 11">
            <a:extLst>
              <a:ext uri="{FF2B5EF4-FFF2-40B4-BE49-F238E27FC236}">
                <a16:creationId xmlns:a16="http://schemas.microsoft.com/office/drawing/2014/main" id="{52A4CD59-EA4E-0FF2-F34F-D6E62ADF1011}"/>
              </a:ext>
            </a:extLst>
          </p:cNvPr>
          <p:cNvSpPr txBox="1"/>
          <p:nvPr/>
        </p:nvSpPr>
        <p:spPr>
          <a:xfrm>
            <a:off x="2210624" y="6810249"/>
            <a:ext cx="2425664"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11.  External FBI and FBO Scheme</a:t>
            </a:r>
          </a:p>
        </p:txBody>
      </p:sp>
      <p:grpSp>
        <p:nvGrpSpPr>
          <p:cNvPr id="14" name="그룹 13">
            <a:extLst>
              <a:ext uri="{FF2B5EF4-FFF2-40B4-BE49-F238E27FC236}">
                <a16:creationId xmlns:a16="http://schemas.microsoft.com/office/drawing/2014/main" id="{A9B9B152-31C8-1A90-8128-82617E08862D}"/>
              </a:ext>
            </a:extLst>
          </p:cNvPr>
          <p:cNvGrpSpPr/>
          <p:nvPr/>
        </p:nvGrpSpPr>
        <p:grpSpPr>
          <a:xfrm>
            <a:off x="1710249" y="3656012"/>
            <a:ext cx="1260000" cy="1116000"/>
            <a:chOff x="1016681" y="4339884"/>
            <a:chExt cx="1427516" cy="1242000"/>
          </a:xfrm>
        </p:grpSpPr>
        <p:sp>
          <p:nvSpPr>
            <p:cNvPr id="15" name="직사각형 14">
              <a:extLst>
                <a:ext uri="{FF2B5EF4-FFF2-40B4-BE49-F238E27FC236}">
                  <a16:creationId xmlns:a16="http://schemas.microsoft.com/office/drawing/2014/main" id="{58171C66-C3A1-4D27-6B28-225501FB805B}"/>
                </a:ext>
              </a:extLst>
            </p:cNvPr>
            <p:cNvSpPr/>
            <p:nvPr/>
          </p:nvSpPr>
          <p:spPr>
            <a:xfrm>
              <a:off x="1107691" y="4339884"/>
              <a:ext cx="1242579" cy="1242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16" name="그림 15">
              <a:extLst>
                <a:ext uri="{FF2B5EF4-FFF2-40B4-BE49-F238E27FC236}">
                  <a16:creationId xmlns:a16="http://schemas.microsoft.com/office/drawing/2014/main" id="{331C03C6-0C74-8B3D-4CCC-F2AB7210B63B}"/>
                </a:ext>
              </a:extLst>
            </p:cNvPr>
            <p:cNvPicPr>
              <a:picLocks noChangeAspect="1"/>
            </p:cNvPicPr>
            <p:nvPr/>
          </p:nvPicPr>
          <p:blipFill>
            <a:blip r:embed="rId2"/>
            <a:stretch>
              <a:fillRect/>
            </a:stretch>
          </p:blipFill>
          <p:spPr>
            <a:xfrm>
              <a:off x="1998904" y="4880014"/>
              <a:ext cx="216000" cy="149104"/>
            </a:xfrm>
            <a:prstGeom prst="rect">
              <a:avLst/>
            </a:prstGeom>
          </p:spPr>
        </p:pic>
        <p:cxnSp>
          <p:nvCxnSpPr>
            <p:cNvPr id="17" name="직선 연결선 16">
              <a:extLst>
                <a:ext uri="{FF2B5EF4-FFF2-40B4-BE49-F238E27FC236}">
                  <a16:creationId xmlns:a16="http://schemas.microsoft.com/office/drawing/2014/main" id="{69DF39E6-1768-8C37-87BD-4CF6053D3D92}"/>
                </a:ext>
              </a:extLst>
            </p:cNvPr>
            <p:cNvCxnSpPr>
              <a:cxnSpLocks/>
            </p:cNvCxnSpPr>
            <p:nvPr/>
          </p:nvCxnSpPr>
          <p:spPr>
            <a:xfrm>
              <a:off x="1080473" y="4957841"/>
              <a:ext cx="97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직사각형 19">
              <a:extLst>
                <a:ext uri="{FF2B5EF4-FFF2-40B4-BE49-F238E27FC236}">
                  <a16:creationId xmlns:a16="http://schemas.microsoft.com/office/drawing/2014/main" id="{74836A2D-F027-F07C-1BDA-BF5EDC8CDB24}"/>
                </a:ext>
              </a:extLst>
            </p:cNvPr>
            <p:cNvSpPr/>
            <p:nvPr/>
          </p:nvSpPr>
          <p:spPr>
            <a:xfrm>
              <a:off x="1016681" y="4899235"/>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5</a:t>
              </a:r>
              <a:endParaRPr lang="ko-KR" altLang="en-US" sz="700" dirty="0">
                <a:solidFill>
                  <a:schemeClr val="tx1"/>
                </a:solidFill>
              </a:endParaRPr>
            </a:p>
          </p:txBody>
        </p:sp>
        <p:cxnSp>
          <p:nvCxnSpPr>
            <p:cNvPr id="21" name="직선 연결선 20">
              <a:extLst>
                <a:ext uri="{FF2B5EF4-FFF2-40B4-BE49-F238E27FC236}">
                  <a16:creationId xmlns:a16="http://schemas.microsoft.com/office/drawing/2014/main" id="{3539E009-7BD7-86DA-78BA-ED7FC36F1F24}"/>
                </a:ext>
              </a:extLst>
            </p:cNvPr>
            <p:cNvCxnSpPr>
              <a:cxnSpLocks/>
            </p:cNvCxnSpPr>
            <p:nvPr/>
          </p:nvCxnSpPr>
          <p:spPr>
            <a:xfrm>
              <a:off x="2164233" y="4954566"/>
              <a:ext cx="160912" cy="972"/>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직사각형 21">
              <a:extLst>
                <a:ext uri="{FF2B5EF4-FFF2-40B4-BE49-F238E27FC236}">
                  <a16:creationId xmlns:a16="http://schemas.microsoft.com/office/drawing/2014/main" id="{2A907AD8-9A87-41FC-9F38-63610C108F0D}"/>
                </a:ext>
              </a:extLst>
            </p:cNvPr>
            <p:cNvSpPr/>
            <p:nvPr/>
          </p:nvSpPr>
          <p:spPr>
            <a:xfrm>
              <a:off x="2264197" y="4903286"/>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14</a:t>
              </a:r>
              <a:endParaRPr lang="ko-KR" altLang="en-US" sz="700" dirty="0">
                <a:solidFill>
                  <a:schemeClr val="tx1"/>
                </a:solidFill>
              </a:endParaRPr>
            </a:p>
          </p:txBody>
        </p:sp>
        <p:cxnSp>
          <p:nvCxnSpPr>
            <p:cNvPr id="23" name="직선 연결선 22">
              <a:extLst>
                <a:ext uri="{FF2B5EF4-FFF2-40B4-BE49-F238E27FC236}">
                  <a16:creationId xmlns:a16="http://schemas.microsoft.com/office/drawing/2014/main" id="{9D2D962F-C48C-54B9-697C-64EFC4E8AFE2}"/>
                </a:ext>
              </a:extLst>
            </p:cNvPr>
            <p:cNvCxnSpPr>
              <a:cxnSpLocks/>
            </p:cNvCxnSpPr>
            <p:nvPr/>
          </p:nvCxnSpPr>
          <p:spPr>
            <a:xfrm>
              <a:off x="1964153" y="4800442"/>
              <a:ext cx="144688"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직선 연결선 23">
              <a:extLst>
                <a:ext uri="{FF2B5EF4-FFF2-40B4-BE49-F238E27FC236}">
                  <a16:creationId xmlns:a16="http://schemas.microsoft.com/office/drawing/2014/main" id="{BCE622DB-4F3D-B37E-EE91-36C82C18E89B}"/>
                </a:ext>
              </a:extLst>
            </p:cNvPr>
            <p:cNvCxnSpPr>
              <a:cxnSpLocks/>
            </p:cNvCxnSpPr>
            <p:nvPr/>
          </p:nvCxnSpPr>
          <p:spPr>
            <a:xfrm>
              <a:off x="2108841" y="4795042"/>
              <a:ext cx="0" cy="123005"/>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직사각형 24">
              <a:extLst>
                <a:ext uri="{FF2B5EF4-FFF2-40B4-BE49-F238E27FC236}">
                  <a16:creationId xmlns:a16="http://schemas.microsoft.com/office/drawing/2014/main" id="{6D2A2C08-B0B9-52DF-7C38-82AC31DA4C9D}"/>
                </a:ext>
              </a:extLst>
            </p:cNvPr>
            <p:cNvSpPr/>
            <p:nvPr/>
          </p:nvSpPr>
          <p:spPr>
            <a:xfrm>
              <a:off x="1597370" y="4755959"/>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IO_MODE</a:t>
              </a:r>
              <a:endParaRPr lang="ko-KR" altLang="en-US" sz="600" dirty="0">
                <a:solidFill>
                  <a:schemeClr val="tx1"/>
                </a:solidFill>
              </a:endParaRPr>
            </a:p>
          </p:txBody>
        </p:sp>
      </p:grpSp>
      <p:sp>
        <p:nvSpPr>
          <p:cNvPr id="27" name="TextBox 26">
            <a:extLst>
              <a:ext uri="{FF2B5EF4-FFF2-40B4-BE49-F238E27FC236}">
                <a16:creationId xmlns:a16="http://schemas.microsoft.com/office/drawing/2014/main" id="{92BEA8F5-FC42-6580-6395-0E35A6C2FD7C}"/>
              </a:ext>
            </a:extLst>
          </p:cNvPr>
          <p:cNvSpPr txBox="1"/>
          <p:nvPr/>
        </p:nvSpPr>
        <p:spPr>
          <a:xfrm>
            <a:off x="2133097" y="3656262"/>
            <a:ext cx="458780" cy="230832"/>
          </a:xfrm>
          <a:prstGeom prst="rect">
            <a:avLst/>
          </a:prstGeom>
          <a:noFill/>
        </p:spPr>
        <p:txBody>
          <a:bodyPr wrap="none" rtlCol="0">
            <a:spAutoFit/>
          </a:bodyPr>
          <a:lstStyle/>
          <a:p>
            <a:r>
              <a:rPr lang="en-US" altLang="ko-KR" sz="900" dirty="0"/>
              <a:t>XD #n</a:t>
            </a:r>
            <a:endParaRPr lang="ko-KR" altLang="en-US" sz="900" dirty="0"/>
          </a:p>
        </p:txBody>
      </p:sp>
      <p:cxnSp>
        <p:nvCxnSpPr>
          <p:cNvPr id="29" name="직선 연결선 28">
            <a:extLst>
              <a:ext uri="{FF2B5EF4-FFF2-40B4-BE49-F238E27FC236}">
                <a16:creationId xmlns:a16="http://schemas.microsoft.com/office/drawing/2014/main" id="{8A68B854-66DA-DC07-5022-C3226BF9E866}"/>
              </a:ext>
            </a:extLst>
          </p:cNvPr>
          <p:cNvCxnSpPr/>
          <p:nvPr/>
        </p:nvCxnSpPr>
        <p:spPr>
          <a:xfrm>
            <a:off x="5052215" y="4220835"/>
            <a:ext cx="254000" cy="0"/>
          </a:xfrm>
          <a:prstGeom prst="line">
            <a:avLst/>
          </a:prstGeom>
          <a:ln w="12700">
            <a:headEnd type="non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32" name="직선 연결선 31">
            <a:extLst>
              <a:ext uri="{FF2B5EF4-FFF2-40B4-BE49-F238E27FC236}">
                <a16:creationId xmlns:a16="http://schemas.microsoft.com/office/drawing/2014/main" id="{D8270661-2D7F-3059-CD70-327205206669}"/>
              </a:ext>
            </a:extLst>
          </p:cNvPr>
          <p:cNvCxnSpPr/>
          <p:nvPr/>
        </p:nvCxnSpPr>
        <p:spPr>
          <a:xfrm>
            <a:off x="1456919" y="4211251"/>
            <a:ext cx="254000" cy="0"/>
          </a:xfrm>
          <a:prstGeom prst="line">
            <a:avLst/>
          </a:prstGeom>
          <a:ln w="12700">
            <a:headEnd type="non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33" name="직선 연결선 32">
            <a:extLst>
              <a:ext uri="{FF2B5EF4-FFF2-40B4-BE49-F238E27FC236}">
                <a16:creationId xmlns:a16="http://schemas.microsoft.com/office/drawing/2014/main" id="{8919DF4E-D928-CEF3-0FDF-B3A81E15785C}"/>
              </a:ext>
            </a:extLst>
          </p:cNvPr>
          <p:cNvCxnSpPr/>
          <p:nvPr/>
        </p:nvCxnSpPr>
        <p:spPr>
          <a:xfrm>
            <a:off x="2969446" y="4211251"/>
            <a:ext cx="828000" cy="0"/>
          </a:xfrm>
          <a:prstGeom prst="line">
            <a:avLst/>
          </a:prstGeom>
          <a:ln w="12700">
            <a:headEnd type="none" w="sm" len="sm"/>
            <a:tailEnd type="triangle" w="sm" len="sm"/>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DB78AE91-F1F9-266A-2777-7290C185947A}"/>
              </a:ext>
            </a:extLst>
          </p:cNvPr>
          <p:cNvSpPr txBox="1"/>
          <p:nvPr/>
        </p:nvSpPr>
        <p:spPr>
          <a:xfrm>
            <a:off x="1002362" y="4094192"/>
            <a:ext cx="476412" cy="230832"/>
          </a:xfrm>
          <a:prstGeom prst="rect">
            <a:avLst/>
          </a:prstGeom>
          <a:noFill/>
        </p:spPr>
        <p:txBody>
          <a:bodyPr wrap="none" rtlCol="0">
            <a:spAutoFit/>
          </a:bodyPr>
          <a:lstStyle/>
          <a:p>
            <a:r>
              <a:rPr lang="en-US" altLang="ko-KR" sz="900" dirty="0"/>
              <a:t>#n VSI</a:t>
            </a:r>
            <a:endParaRPr lang="ko-KR" altLang="en-US" sz="900" dirty="0"/>
          </a:p>
        </p:txBody>
      </p:sp>
      <p:sp>
        <p:nvSpPr>
          <p:cNvPr id="35" name="TextBox 34">
            <a:extLst>
              <a:ext uri="{FF2B5EF4-FFF2-40B4-BE49-F238E27FC236}">
                <a16:creationId xmlns:a16="http://schemas.microsoft.com/office/drawing/2014/main" id="{E2FFD0DD-7EF4-9678-0C58-E8A8E55D6366}"/>
              </a:ext>
            </a:extLst>
          </p:cNvPr>
          <p:cNvSpPr txBox="1"/>
          <p:nvPr/>
        </p:nvSpPr>
        <p:spPr>
          <a:xfrm>
            <a:off x="5246169" y="4094192"/>
            <a:ext cx="710451" cy="230832"/>
          </a:xfrm>
          <a:prstGeom prst="rect">
            <a:avLst/>
          </a:prstGeom>
          <a:noFill/>
        </p:spPr>
        <p:txBody>
          <a:bodyPr wrap="none" rtlCol="0">
            <a:spAutoFit/>
          </a:bodyPr>
          <a:lstStyle/>
          <a:p>
            <a:r>
              <a:rPr lang="en-US" altLang="ko-KR" sz="900" dirty="0"/>
              <a:t>#(n+1) VSO</a:t>
            </a:r>
            <a:endParaRPr lang="ko-KR" altLang="en-US" sz="900" dirty="0"/>
          </a:p>
        </p:txBody>
      </p:sp>
      <p:cxnSp>
        <p:nvCxnSpPr>
          <p:cNvPr id="36" name="직선 연결선 35">
            <a:extLst>
              <a:ext uri="{FF2B5EF4-FFF2-40B4-BE49-F238E27FC236}">
                <a16:creationId xmlns:a16="http://schemas.microsoft.com/office/drawing/2014/main" id="{4947F037-E9B6-91E4-553F-C3E9C48B3357}"/>
              </a:ext>
            </a:extLst>
          </p:cNvPr>
          <p:cNvCxnSpPr/>
          <p:nvPr/>
        </p:nvCxnSpPr>
        <p:spPr>
          <a:xfrm>
            <a:off x="5064731" y="6092621"/>
            <a:ext cx="254000" cy="0"/>
          </a:xfrm>
          <a:prstGeom prst="line">
            <a:avLst/>
          </a:prstGeom>
          <a:ln w="12700">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37" name="직선 연결선 36">
            <a:extLst>
              <a:ext uri="{FF2B5EF4-FFF2-40B4-BE49-F238E27FC236}">
                <a16:creationId xmlns:a16="http://schemas.microsoft.com/office/drawing/2014/main" id="{962D46E7-4A0F-3C0F-4024-B3E27756B3EA}"/>
              </a:ext>
            </a:extLst>
          </p:cNvPr>
          <p:cNvCxnSpPr/>
          <p:nvPr/>
        </p:nvCxnSpPr>
        <p:spPr>
          <a:xfrm>
            <a:off x="1454581" y="6079459"/>
            <a:ext cx="254000" cy="0"/>
          </a:xfrm>
          <a:prstGeom prst="line">
            <a:avLst/>
          </a:prstGeom>
          <a:ln w="12700">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38" name="직선 연결선 37">
            <a:extLst>
              <a:ext uri="{FF2B5EF4-FFF2-40B4-BE49-F238E27FC236}">
                <a16:creationId xmlns:a16="http://schemas.microsoft.com/office/drawing/2014/main" id="{3A0939CC-116E-1C92-26DA-4402FD3F728E}"/>
              </a:ext>
            </a:extLst>
          </p:cNvPr>
          <p:cNvCxnSpPr/>
          <p:nvPr/>
        </p:nvCxnSpPr>
        <p:spPr>
          <a:xfrm>
            <a:off x="2969446" y="6079459"/>
            <a:ext cx="864000" cy="0"/>
          </a:xfrm>
          <a:prstGeom prst="line">
            <a:avLst/>
          </a:prstGeom>
          <a:ln w="12700">
            <a:headEnd type="triangle" w="sm" len="sm"/>
            <a:tailEnd type="none" w="sm" len="sm"/>
          </a:ln>
        </p:spPr>
        <p:style>
          <a:lnRef idx="1">
            <a:schemeClr val="accent1"/>
          </a:lnRef>
          <a:fillRef idx="0">
            <a:schemeClr val="accent1"/>
          </a:fillRef>
          <a:effectRef idx="0">
            <a:schemeClr val="accent1"/>
          </a:effectRef>
          <a:fontRef idx="minor">
            <a:schemeClr val="tx1"/>
          </a:fontRef>
        </p:style>
      </p:cxnSp>
      <p:grpSp>
        <p:nvGrpSpPr>
          <p:cNvPr id="39" name="그룹 38">
            <a:extLst>
              <a:ext uri="{FF2B5EF4-FFF2-40B4-BE49-F238E27FC236}">
                <a16:creationId xmlns:a16="http://schemas.microsoft.com/office/drawing/2014/main" id="{7B1A385C-4FD0-4E32-E92A-3CD08D443981}"/>
              </a:ext>
            </a:extLst>
          </p:cNvPr>
          <p:cNvGrpSpPr/>
          <p:nvPr/>
        </p:nvGrpSpPr>
        <p:grpSpPr>
          <a:xfrm>
            <a:off x="1707309" y="5520720"/>
            <a:ext cx="1260000" cy="1116000"/>
            <a:chOff x="1710249" y="5520720"/>
            <a:chExt cx="1425650" cy="1242000"/>
          </a:xfrm>
        </p:grpSpPr>
        <p:sp>
          <p:nvSpPr>
            <p:cNvPr id="40" name="직사각형 39">
              <a:extLst>
                <a:ext uri="{FF2B5EF4-FFF2-40B4-BE49-F238E27FC236}">
                  <a16:creationId xmlns:a16="http://schemas.microsoft.com/office/drawing/2014/main" id="{0421B15B-DFCD-8A82-A59A-EE90364EE6BC}"/>
                </a:ext>
              </a:extLst>
            </p:cNvPr>
            <p:cNvSpPr/>
            <p:nvPr/>
          </p:nvSpPr>
          <p:spPr>
            <a:xfrm>
              <a:off x="1805772" y="5520720"/>
              <a:ext cx="1242579" cy="1242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41" name="그림 40">
              <a:extLst>
                <a:ext uri="{FF2B5EF4-FFF2-40B4-BE49-F238E27FC236}">
                  <a16:creationId xmlns:a16="http://schemas.microsoft.com/office/drawing/2014/main" id="{4D33E3C3-7B6F-FC54-83CF-1F3B5639D61F}"/>
                </a:ext>
              </a:extLst>
            </p:cNvPr>
            <p:cNvPicPr>
              <a:picLocks noChangeAspect="1"/>
            </p:cNvPicPr>
            <p:nvPr/>
          </p:nvPicPr>
          <p:blipFill>
            <a:blip r:embed="rId3"/>
            <a:stretch>
              <a:fillRect/>
            </a:stretch>
          </p:blipFill>
          <p:spPr>
            <a:xfrm flipH="1">
              <a:off x="2182938" y="6279640"/>
              <a:ext cx="216000" cy="115821"/>
            </a:xfrm>
            <a:prstGeom prst="rect">
              <a:avLst/>
            </a:prstGeom>
          </p:spPr>
        </p:pic>
        <p:sp>
          <p:nvSpPr>
            <p:cNvPr id="42" name="직사각형 41">
              <a:extLst>
                <a:ext uri="{FF2B5EF4-FFF2-40B4-BE49-F238E27FC236}">
                  <a16:creationId xmlns:a16="http://schemas.microsoft.com/office/drawing/2014/main" id="{FD64EA4B-51F6-267A-7E5F-420E674DD603}"/>
                </a:ext>
              </a:extLst>
            </p:cNvPr>
            <p:cNvSpPr/>
            <p:nvPr/>
          </p:nvSpPr>
          <p:spPr>
            <a:xfrm>
              <a:off x="2280598" y="6086021"/>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internal FB</a:t>
              </a:r>
              <a:endParaRPr lang="ko-KR" altLang="en-US" sz="600" dirty="0">
                <a:solidFill>
                  <a:schemeClr val="tx1"/>
                </a:solidFill>
              </a:endParaRPr>
            </a:p>
          </p:txBody>
        </p:sp>
        <p:grpSp>
          <p:nvGrpSpPr>
            <p:cNvPr id="43" name="그룹 42">
              <a:extLst>
                <a:ext uri="{FF2B5EF4-FFF2-40B4-BE49-F238E27FC236}">
                  <a16:creationId xmlns:a16="http://schemas.microsoft.com/office/drawing/2014/main" id="{61769630-9172-43B0-0FBA-D66198180433}"/>
                </a:ext>
              </a:extLst>
            </p:cNvPr>
            <p:cNvGrpSpPr/>
            <p:nvPr/>
          </p:nvGrpSpPr>
          <p:grpSpPr>
            <a:xfrm>
              <a:off x="2727037" y="5877564"/>
              <a:ext cx="108000" cy="252000"/>
              <a:chOff x="4029465" y="4076226"/>
              <a:chExt cx="108000" cy="252000"/>
            </a:xfrm>
          </p:grpSpPr>
          <p:pic>
            <p:nvPicPr>
              <p:cNvPr id="65" name="그림 64">
                <a:extLst>
                  <a:ext uri="{FF2B5EF4-FFF2-40B4-BE49-F238E27FC236}">
                    <a16:creationId xmlns:a16="http://schemas.microsoft.com/office/drawing/2014/main" id="{3D256343-F1E8-3460-026B-342D5072C21F}"/>
                  </a:ext>
                </a:extLst>
              </p:cNvPr>
              <p:cNvPicPr>
                <a:picLocks noChangeAspect="1"/>
              </p:cNvPicPr>
              <p:nvPr/>
            </p:nvPicPr>
            <p:blipFill>
              <a:blip r:embed="rId4"/>
              <a:stretch>
                <a:fillRect/>
              </a:stretch>
            </p:blipFill>
            <p:spPr>
              <a:xfrm>
                <a:off x="4048886" y="4076226"/>
                <a:ext cx="65825" cy="252000"/>
              </a:xfrm>
              <a:prstGeom prst="rect">
                <a:avLst/>
              </a:prstGeom>
            </p:spPr>
          </p:pic>
          <p:cxnSp>
            <p:nvCxnSpPr>
              <p:cNvPr id="66" name="직선 연결선 65">
                <a:extLst>
                  <a:ext uri="{FF2B5EF4-FFF2-40B4-BE49-F238E27FC236}">
                    <a16:creationId xmlns:a16="http://schemas.microsoft.com/office/drawing/2014/main" id="{3DD30026-AD29-F01C-59FB-D8C2525B214F}"/>
                  </a:ext>
                </a:extLst>
              </p:cNvPr>
              <p:cNvCxnSpPr/>
              <p:nvPr/>
            </p:nvCxnSpPr>
            <p:spPr>
              <a:xfrm flipV="1">
                <a:off x="4029465" y="4095974"/>
                <a:ext cx="108000" cy="0"/>
              </a:xfrm>
              <a:prstGeom prst="line">
                <a:avLst/>
              </a:prstGeom>
              <a:ln w="571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4" name="그룹 43">
              <a:extLst>
                <a:ext uri="{FF2B5EF4-FFF2-40B4-BE49-F238E27FC236}">
                  <a16:creationId xmlns:a16="http://schemas.microsoft.com/office/drawing/2014/main" id="{0859FB3A-70FF-A953-44F9-CB06659477C3}"/>
                </a:ext>
              </a:extLst>
            </p:cNvPr>
            <p:cNvGrpSpPr/>
            <p:nvPr/>
          </p:nvGrpSpPr>
          <p:grpSpPr>
            <a:xfrm>
              <a:off x="1978383" y="6217989"/>
              <a:ext cx="234000" cy="399680"/>
              <a:chOff x="2505005" y="3797258"/>
              <a:chExt cx="234000" cy="399680"/>
            </a:xfrm>
          </p:grpSpPr>
          <p:pic>
            <p:nvPicPr>
              <p:cNvPr id="62" name="그림 61">
                <a:extLst>
                  <a:ext uri="{FF2B5EF4-FFF2-40B4-BE49-F238E27FC236}">
                    <a16:creationId xmlns:a16="http://schemas.microsoft.com/office/drawing/2014/main" id="{6D1D604B-CCB3-35B8-BFEF-7ED9B0608554}"/>
                  </a:ext>
                </a:extLst>
              </p:cNvPr>
              <p:cNvPicPr>
                <a:picLocks noChangeAspect="1"/>
              </p:cNvPicPr>
              <p:nvPr/>
            </p:nvPicPr>
            <p:blipFill>
              <a:blip r:embed="rId5"/>
              <a:stretch>
                <a:fillRect/>
              </a:stretch>
            </p:blipFill>
            <p:spPr>
              <a:xfrm>
                <a:off x="2505005" y="4119156"/>
                <a:ext cx="144000" cy="77782"/>
              </a:xfrm>
              <a:prstGeom prst="rect">
                <a:avLst/>
              </a:prstGeom>
            </p:spPr>
          </p:pic>
          <p:pic>
            <p:nvPicPr>
              <p:cNvPr id="63" name="그림 62">
                <a:extLst>
                  <a:ext uri="{FF2B5EF4-FFF2-40B4-BE49-F238E27FC236}">
                    <a16:creationId xmlns:a16="http://schemas.microsoft.com/office/drawing/2014/main" id="{518B831E-9238-BD59-FA14-8716BED8C5FB}"/>
                  </a:ext>
                </a:extLst>
              </p:cNvPr>
              <p:cNvPicPr>
                <a:picLocks noChangeAspect="1"/>
              </p:cNvPicPr>
              <p:nvPr/>
            </p:nvPicPr>
            <p:blipFill>
              <a:blip r:embed="rId6"/>
              <a:stretch>
                <a:fillRect/>
              </a:stretch>
            </p:blipFill>
            <p:spPr>
              <a:xfrm flipH="1">
                <a:off x="2559005" y="3797258"/>
                <a:ext cx="180000" cy="239124"/>
              </a:xfrm>
              <a:prstGeom prst="rect">
                <a:avLst/>
              </a:prstGeom>
            </p:spPr>
          </p:pic>
          <p:cxnSp>
            <p:nvCxnSpPr>
              <p:cNvPr id="64" name="직선 연결선 63">
                <a:extLst>
                  <a:ext uri="{FF2B5EF4-FFF2-40B4-BE49-F238E27FC236}">
                    <a16:creationId xmlns:a16="http://schemas.microsoft.com/office/drawing/2014/main" id="{AF024AFB-1F5B-05C4-29C3-20C0057720A5}"/>
                  </a:ext>
                </a:extLst>
              </p:cNvPr>
              <p:cNvCxnSpPr>
                <a:cxnSpLocks/>
              </p:cNvCxnSpPr>
              <p:nvPr/>
            </p:nvCxnSpPr>
            <p:spPr>
              <a:xfrm flipV="1">
                <a:off x="2575872" y="4029580"/>
                <a:ext cx="0" cy="90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5" name="직선 연결선 44">
              <a:extLst>
                <a:ext uri="{FF2B5EF4-FFF2-40B4-BE49-F238E27FC236}">
                  <a16:creationId xmlns:a16="http://schemas.microsoft.com/office/drawing/2014/main" id="{9BD3E1D9-562B-21FB-51CB-3F713BE1E0C2}"/>
                </a:ext>
              </a:extLst>
            </p:cNvPr>
            <p:cNvCxnSpPr>
              <a:cxnSpLocks/>
            </p:cNvCxnSpPr>
            <p:nvPr/>
          </p:nvCxnSpPr>
          <p:spPr>
            <a:xfrm flipV="1">
              <a:off x="2050077" y="6137201"/>
              <a:ext cx="0" cy="90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직선 연결선 45">
              <a:extLst>
                <a:ext uri="{FF2B5EF4-FFF2-40B4-BE49-F238E27FC236}">
                  <a16:creationId xmlns:a16="http://schemas.microsoft.com/office/drawing/2014/main" id="{B281402E-6C3F-3D34-EC9D-04ECEBF315BB}"/>
                </a:ext>
              </a:extLst>
            </p:cNvPr>
            <p:cNvCxnSpPr>
              <a:cxnSpLocks/>
            </p:cNvCxnSpPr>
            <p:nvPr/>
          </p:nvCxnSpPr>
          <p:spPr>
            <a:xfrm>
              <a:off x="1772175" y="6139250"/>
              <a:ext cx="277075"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직사각형 46">
              <a:extLst>
                <a:ext uri="{FF2B5EF4-FFF2-40B4-BE49-F238E27FC236}">
                  <a16:creationId xmlns:a16="http://schemas.microsoft.com/office/drawing/2014/main" id="{C8E2A17B-7D65-E760-020F-CAB776CD4594}"/>
                </a:ext>
              </a:extLst>
            </p:cNvPr>
            <p:cNvSpPr/>
            <p:nvPr/>
          </p:nvSpPr>
          <p:spPr>
            <a:xfrm>
              <a:off x="1710249" y="6084910"/>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5</a:t>
              </a:r>
              <a:endParaRPr lang="ko-KR" altLang="en-US" sz="700" dirty="0">
                <a:solidFill>
                  <a:schemeClr val="tx1"/>
                </a:solidFill>
              </a:endParaRPr>
            </a:p>
          </p:txBody>
        </p:sp>
        <p:cxnSp>
          <p:nvCxnSpPr>
            <p:cNvPr id="48" name="직선 연결선 47">
              <a:extLst>
                <a:ext uri="{FF2B5EF4-FFF2-40B4-BE49-F238E27FC236}">
                  <a16:creationId xmlns:a16="http://schemas.microsoft.com/office/drawing/2014/main" id="{0A54B736-9029-FCB1-2C16-CCBC29E65AAE}"/>
                </a:ext>
              </a:extLst>
            </p:cNvPr>
            <p:cNvCxnSpPr>
              <a:cxnSpLocks/>
            </p:cNvCxnSpPr>
            <p:nvPr/>
          </p:nvCxnSpPr>
          <p:spPr>
            <a:xfrm>
              <a:off x="2144800" y="6338455"/>
              <a:ext cx="7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49" name="직사각형 48">
              <a:extLst>
                <a:ext uri="{FF2B5EF4-FFF2-40B4-BE49-F238E27FC236}">
                  <a16:creationId xmlns:a16="http://schemas.microsoft.com/office/drawing/2014/main" id="{5617E4D9-6E43-C5BE-BABF-272F98E33664}"/>
                </a:ext>
              </a:extLst>
            </p:cNvPr>
            <p:cNvSpPr/>
            <p:nvPr/>
          </p:nvSpPr>
          <p:spPr>
            <a:xfrm>
              <a:off x="2144800" y="6386765"/>
              <a:ext cx="852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50" name="직선 연결선 49">
              <a:extLst>
                <a:ext uri="{FF2B5EF4-FFF2-40B4-BE49-F238E27FC236}">
                  <a16:creationId xmlns:a16="http://schemas.microsoft.com/office/drawing/2014/main" id="{B6DD8469-6C49-6907-0041-85BB2E9180F8}"/>
                </a:ext>
              </a:extLst>
            </p:cNvPr>
            <p:cNvCxnSpPr>
              <a:cxnSpLocks/>
            </p:cNvCxnSpPr>
            <p:nvPr/>
          </p:nvCxnSpPr>
          <p:spPr>
            <a:xfrm>
              <a:off x="2353255" y="6311583"/>
              <a:ext cx="108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직선 연결선 50">
              <a:extLst>
                <a:ext uri="{FF2B5EF4-FFF2-40B4-BE49-F238E27FC236}">
                  <a16:creationId xmlns:a16="http://schemas.microsoft.com/office/drawing/2014/main" id="{04F28DA3-93E0-C274-FA15-306F8EE2F31A}"/>
                </a:ext>
              </a:extLst>
            </p:cNvPr>
            <p:cNvCxnSpPr>
              <a:cxnSpLocks/>
            </p:cNvCxnSpPr>
            <p:nvPr/>
          </p:nvCxnSpPr>
          <p:spPr>
            <a:xfrm flipV="1">
              <a:off x="2457294" y="6182848"/>
              <a:ext cx="1283" cy="126433"/>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52" name="타원 51">
              <a:extLst>
                <a:ext uri="{FF2B5EF4-FFF2-40B4-BE49-F238E27FC236}">
                  <a16:creationId xmlns:a16="http://schemas.microsoft.com/office/drawing/2014/main" id="{432D55E2-1AD3-801B-C82D-FC6521EEEE14}"/>
                </a:ext>
              </a:extLst>
            </p:cNvPr>
            <p:cNvSpPr/>
            <p:nvPr/>
          </p:nvSpPr>
          <p:spPr>
            <a:xfrm>
              <a:off x="2351712" y="6297183"/>
              <a:ext cx="28800" cy="28800"/>
            </a:xfrm>
            <a:prstGeom prst="ellipse">
              <a:avLst/>
            </a:prstGeom>
            <a:solidFill>
              <a:schemeClr val="bg1"/>
            </a:solidFill>
            <a:ln w="508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53" name="직선 연결선 52">
              <a:extLst>
                <a:ext uri="{FF2B5EF4-FFF2-40B4-BE49-F238E27FC236}">
                  <a16:creationId xmlns:a16="http://schemas.microsoft.com/office/drawing/2014/main" id="{DF8765B1-EAE4-42D6-339F-4877A928BB63}"/>
                </a:ext>
              </a:extLst>
            </p:cNvPr>
            <p:cNvCxnSpPr>
              <a:cxnSpLocks/>
            </p:cNvCxnSpPr>
            <p:nvPr/>
          </p:nvCxnSpPr>
          <p:spPr>
            <a:xfrm flipH="1" flipV="1">
              <a:off x="2783339" y="6085839"/>
              <a:ext cx="0" cy="252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직선 연결선 53">
              <a:extLst>
                <a:ext uri="{FF2B5EF4-FFF2-40B4-BE49-F238E27FC236}">
                  <a16:creationId xmlns:a16="http://schemas.microsoft.com/office/drawing/2014/main" id="{54678486-C5FB-753C-5D86-78222464FE60}"/>
                </a:ext>
              </a:extLst>
            </p:cNvPr>
            <p:cNvCxnSpPr>
              <a:cxnSpLocks/>
            </p:cNvCxnSpPr>
            <p:nvPr/>
          </p:nvCxnSpPr>
          <p:spPr>
            <a:xfrm>
              <a:off x="2781852" y="6145205"/>
              <a:ext cx="324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55" name="직사각형 54">
              <a:extLst>
                <a:ext uri="{FF2B5EF4-FFF2-40B4-BE49-F238E27FC236}">
                  <a16:creationId xmlns:a16="http://schemas.microsoft.com/office/drawing/2014/main" id="{07B3DC11-2ED5-D8C4-9BAC-9B4DC87C04E5}"/>
                </a:ext>
              </a:extLst>
            </p:cNvPr>
            <p:cNvSpPr/>
            <p:nvPr/>
          </p:nvSpPr>
          <p:spPr>
            <a:xfrm>
              <a:off x="2955899" y="6090379"/>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14</a:t>
              </a:r>
              <a:endParaRPr lang="ko-KR" altLang="en-US" sz="700" dirty="0">
                <a:solidFill>
                  <a:schemeClr val="tx1"/>
                </a:solidFill>
              </a:endParaRPr>
            </a:p>
          </p:txBody>
        </p:sp>
        <p:sp>
          <p:nvSpPr>
            <p:cNvPr id="56" name="TextBox 55">
              <a:extLst>
                <a:ext uri="{FF2B5EF4-FFF2-40B4-BE49-F238E27FC236}">
                  <a16:creationId xmlns:a16="http://schemas.microsoft.com/office/drawing/2014/main" id="{5546C5FC-8D3D-2939-A023-EC2C97FB002F}"/>
                </a:ext>
              </a:extLst>
            </p:cNvPr>
            <p:cNvSpPr txBox="1"/>
            <p:nvPr/>
          </p:nvSpPr>
          <p:spPr>
            <a:xfrm>
              <a:off x="2150379" y="5521637"/>
              <a:ext cx="458780" cy="230832"/>
            </a:xfrm>
            <a:prstGeom prst="rect">
              <a:avLst/>
            </a:prstGeom>
            <a:noFill/>
          </p:spPr>
          <p:txBody>
            <a:bodyPr wrap="none" rtlCol="0">
              <a:spAutoFit/>
            </a:bodyPr>
            <a:lstStyle/>
            <a:p>
              <a:r>
                <a:rPr lang="en-US" altLang="ko-KR" sz="900" dirty="0"/>
                <a:t>XD #n</a:t>
              </a:r>
              <a:endParaRPr lang="ko-KR" altLang="en-US" sz="900" dirty="0"/>
            </a:p>
          </p:txBody>
        </p:sp>
        <p:sp>
          <p:nvSpPr>
            <p:cNvPr id="57" name="직사각형 56">
              <a:extLst>
                <a:ext uri="{FF2B5EF4-FFF2-40B4-BE49-F238E27FC236}">
                  <a16:creationId xmlns:a16="http://schemas.microsoft.com/office/drawing/2014/main" id="{0F01B714-8629-553F-D239-2E4322A7B2EC}"/>
                </a:ext>
              </a:extLst>
            </p:cNvPr>
            <p:cNvSpPr/>
            <p:nvPr/>
          </p:nvSpPr>
          <p:spPr>
            <a:xfrm>
              <a:off x="2354178" y="6331072"/>
              <a:ext cx="457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58" name="직선 연결선 57">
              <a:extLst>
                <a:ext uri="{FF2B5EF4-FFF2-40B4-BE49-F238E27FC236}">
                  <a16:creationId xmlns:a16="http://schemas.microsoft.com/office/drawing/2014/main" id="{B8DC7470-1698-1052-EFC7-CD8106679F90}"/>
                </a:ext>
              </a:extLst>
            </p:cNvPr>
            <p:cNvCxnSpPr>
              <a:cxnSpLocks/>
            </p:cNvCxnSpPr>
            <p:nvPr/>
          </p:nvCxnSpPr>
          <p:spPr>
            <a:xfrm>
              <a:off x="2354571" y="6343611"/>
              <a:ext cx="43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직선 연결선 58">
              <a:extLst>
                <a:ext uri="{FF2B5EF4-FFF2-40B4-BE49-F238E27FC236}">
                  <a16:creationId xmlns:a16="http://schemas.microsoft.com/office/drawing/2014/main" id="{0E68641C-E039-FFFC-A812-C9B531C3F024}"/>
                </a:ext>
              </a:extLst>
            </p:cNvPr>
            <p:cNvCxnSpPr>
              <a:cxnSpLocks/>
            </p:cNvCxnSpPr>
            <p:nvPr/>
          </p:nvCxnSpPr>
          <p:spPr>
            <a:xfrm>
              <a:off x="2350443" y="6374821"/>
              <a:ext cx="43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직선 연결선 59">
              <a:extLst>
                <a:ext uri="{FF2B5EF4-FFF2-40B4-BE49-F238E27FC236}">
                  <a16:creationId xmlns:a16="http://schemas.microsoft.com/office/drawing/2014/main" id="{30CB0F55-082C-3304-8ECA-09921BC8EA1D}"/>
                </a:ext>
              </a:extLst>
            </p:cNvPr>
            <p:cNvCxnSpPr>
              <a:cxnSpLocks/>
            </p:cNvCxnSpPr>
            <p:nvPr/>
          </p:nvCxnSpPr>
          <p:spPr>
            <a:xfrm flipV="1">
              <a:off x="2777552" y="6378161"/>
              <a:ext cx="1283" cy="126433"/>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직사각형 60">
              <a:extLst>
                <a:ext uri="{FF2B5EF4-FFF2-40B4-BE49-F238E27FC236}">
                  <a16:creationId xmlns:a16="http://schemas.microsoft.com/office/drawing/2014/main" id="{1922C4AD-4F32-6630-55E9-BA9D4664E9E3}"/>
                </a:ext>
              </a:extLst>
            </p:cNvPr>
            <p:cNvSpPr/>
            <p:nvPr/>
          </p:nvSpPr>
          <p:spPr>
            <a:xfrm>
              <a:off x="2581395" y="6484596"/>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IO_MODE</a:t>
              </a:r>
              <a:endParaRPr lang="ko-KR" altLang="en-US" sz="600" dirty="0">
                <a:solidFill>
                  <a:schemeClr val="tx1"/>
                </a:solidFill>
              </a:endParaRPr>
            </a:p>
          </p:txBody>
        </p:sp>
      </p:grpSp>
      <p:grpSp>
        <p:nvGrpSpPr>
          <p:cNvPr id="67" name="그룹 66">
            <a:extLst>
              <a:ext uri="{FF2B5EF4-FFF2-40B4-BE49-F238E27FC236}">
                <a16:creationId xmlns:a16="http://schemas.microsoft.com/office/drawing/2014/main" id="{7530E7CE-2AC4-6C12-D34D-DF638F05D6DB}"/>
              </a:ext>
            </a:extLst>
          </p:cNvPr>
          <p:cNvGrpSpPr/>
          <p:nvPr/>
        </p:nvGrpSpPr>
        <p:grpSpPr>
          <a:xfrm>
            <a:off x="3803983" y="5536434"/>
            <a:ext cx="1260000" cy="1116000"/>
            <a:chOff x="3851023" y="5521734"/>
            <a:chExt cx="1425650" cy="1243428"/>
          </a:xfrm>
        </p:grpSpPr>
        <p:sp>
          <p:nvSpPr>
            <p:cNvPr id="68" name="직사각형 67">
              <a:extLst>
                <a:ext uri="{FF2B5EF4-FFF2-40B4-BE49-F238E27FC236}">
                  <a16:creationId xmlns:a16="http://schemas.microsoft.com/office/drawing/2014/main" id="{4E2AF30E-63BA-9E04-A6E2-DD51F117FBAB}"/>
                </a:ext>
              </a:extLst>
            </p:cNvPr>
            <p:cNvSpPr/>
            <p:nvPr/>
          </p:nvSpPr>
          <p:spPr>
            <a:xfrm>
              <a:off x="3946546" y="5523162"/>
              <a:ext cx="1242579" cy="1242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69" name="그림 68">
              <a:extLst>
                <a:ext uri="{FF2B5EF4-FFF2-40B4-BE49-F238E27FC236}">
                  <a16:creationId xmlns:a16="http://schemas.microsoft.com/office/drawing/2014/main" id="{B780A26A-6F21-32F6-A041-E58918A37F60}"/>
                </a:ext>
              </a:extLst>
            </p:cNvPr>
            <p:cNvPicPr>
              <a:picLocks noChangeAspect="1"/>
            </p:cNvPicPr>
            <p:nvPr/>
          </p:nvPicPr>
          <p:blipFill>
            <a:blip r:embed="rId3"/>
            <a:stretch>
              <a:fillRect/>
            </a:stretch>
          </p:blipFill>
          <p:spPr>
            <a:xfrm flipH="1">
              <a:off x="4323712" y="6282082"/>
              <a:ext cx="216000" cy="115821"/>
            </a:xfrm>
            <a:prstGeom prst="rect">
              <a:avLst/>
            </a:prstGeom>
          </p:spPr>
        </p:pic>
        <p:sp>
          <p:nvSpPr>
            <p:cNvPr id="70" name="직사각형 69">
              <a:extLst>
                <a:ext uri="{FF2B5EF4-FFF2-40B4-BE49-F238E27FC236}">
                  <a16:creationId xmlns:a16="http://schemas.microsoft.com/office/drawing/2014/main" id="{C047AF00-445C-6BF0-1BCB-05FC8951123B}"/>
                </a:ext>
              </a:extLst>
            </p:cNvPr>
            <p:cNvSpPr/>
            <p:nvPr/>
          </p:nvSpPr>
          <p:spPr>
            <a:xfrm>
              <a:off x="4421372" y="6088463"/>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internal FB</a:t>
              </a:r>
              <a:endParaRPr lang="ko-KR" altLang="en-US" sz="600" dirty="0">
                <a:solidFill>
                  <a:schemeClr val="tx1"/>
                </a:solidFill>
              </a:endParaRPr>
            </a:p>
          </p:txBody>
        </p:sp>
        <p:grpSp>
          <p:nvGrpSpPr>
            <p:cNvPr id="71" name="그룹 70">
              <a:extLst>
                <a:ext uri="{FF2B5EF4-FFF2-40B4-BE49-F238E27FC236}">
                  <a16:creationId xmlns:a16="http://schemas.microsoft.com/office/drawing/2014/main" id="{E72747DF-6B25-5A5F-7C64-2DFA20CDC1F6}"/>
                </a:ext>
              </a:extLst>
            </p:cNvPr>
            <p:cNvGrpSpPr/>
            <p:nvPr/>
          </p:nvGrpSpPr>
          <p:grpSpPr>
            <a:xfrm>
              <a:off x="4867811" y="5880006"/>
              <a:ext cx="108000" cy="252000"/>
              <a:chOff x="4029465" y="4076226"/>
              <a:chExt cx="108000" cy="252000"/>
            </a:xfrm>
          </p:grpSpPr>
          <p:pic>
            <p:nvPicPr>
              <p:cNvPr id="94" name="그림 93">
                <a:extLst>
                  <a:ext uri="{FF2B5EF4-FFF2-40B4-BE49-F238E27FC236}">
                    <a16:creationId xmlns:a16="http://schemas.microsoft.com/office/drawing/2014/main" id="{F8A59E9C-C04D-7FEC-88AD-274730BBC934}"/>
                  </a:ext>
                </a:extLst>
              </p:cNvPr>
              <p:cNvPicPr>
                <a:picLocks noChangeAspect="1"/>
              </p:cNvPicPr>
              <p:nvPr/>
            </p:nvPicPr>
            <p:blipFill>
              <a:blip r:embed="rId4"/>
              <a:stretch>
                <a:fillRect/>
              </a:stretch>
            </p:blipFill>
            <p:spPr>
              <a:xfrm>
                <a:off x="4045946" y="4076226"/>
                <a:ext cx="65825" cy="252000"/>
              </a:xfrm>
              <a:prstGeom prst="rect">
                <a:avLst/>
              </a:prstGeom>
            </p:spPr>
          </p:pic>
          <p:cxnSp>
            <p:nvCxnSpPr>
              <p:cNvPr id="95" name="직선 연결선 94">
                <a:extLst>
                  <a:ext uri="{FF2B5EF4-FFF2-40B4-BE49-F238E27FC236}">
                    <a16:creationId xmlns:a16="http://schemas.microsoft.com/office/drawing/2014/main" id="{C9F65BB7-D3A6-CA89-E790-A52A7E45B6D8}"/>
                  </a:ext>
                </a:extLst>
              </p:cNvPr>
              <p:cNvCxnSpPr/>
              <p:nvPr/>
            </p:nvCxnSpPr>
            <p:spPr>
              <a:xfrm flipV="1">
                <a:off x="4029465" y="4095974"/>
                <a:ext cx="108000" cy="0"/>
              </a:xfrm>
              <a:prstGeom prst="line">
                <a:avLst/>
              </a:prstGeom>
              <a:ln w="571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2" name="그룹 71">
              <a:extLst>
                <a:ext uri="{FF2B5EF4-FFF2-40B4-BE49-F238E27FC236}">
                  <a16:creationId xmlns:a16="http://schemas.microsoft.com/office/drawing/2014/main" id="{2785E19C-B333-2E9D-3C57-ED36D30E6BE1}"/>
                </a:ext>
              </a:extLst>
            </p:cNvPr>
            <p:cNvGrpSpPr/>
            <p:nvPr/>
          </p:nvGrpSpPr>
          <p:grpSpPr>
            <a:xfrm>
              <a:off x="4119157" y="6220431"/>
              <a:ext cx="234000" cy="399680"/>
              <a:chOff x="2505005" y="3797258"/>
              <a:chExt cx="234000" cy="399680"/>
            </a:xfrm>
          </p:grpSpPr>
          <p:pic>
            <p:nvPicPr>
              <p:cNvPr id="91" name="그림 90">
                <a:extLst>
                  <a:ext uri="{FF2B5EF4-FFF2-40B4-BE49-F238E27FC236}">
                    <a16:creationId xmlns:a16="http://schemas.microsoft.com/office/drawing/2014/main" id="{37AF93A0-00DE-7ED6-BA8F-B8389FEB04EF}"/>
                  </a:ext>
                </a:extLst>
              </p:cNvPr>
              <p:cNvPicPr>
                <a:picLocks noChangeAspect="1"/>
              </p:cNvPicPr>
              <p:nvPr/>
            </p:nvPicPr>
            <p:blipFill>
              <a:blip r:embed="rId5"/>
              <a:stretch>
                <a:fillRect/>
              </a:stretch>
            </p:blipFill>
            <p:spPr>
              <a:xfrm>
                <a:off x="2505005" y="4119156"/>
                <a:ext cx="144000" cy="77782"/>
              </a:xfrm>
              <a:prstGeom prst="rect">
                <a:avLst/>
              </a:prstGeom>
            </p:spPr>
          </p:pic>
          <p:pic>
            <p:nvPicPr>
              <p:cNvPr id="92" name="그림 91">
                <a:extLst>
                  <a:ext uri="{FF2B5EF4-FFF2-40B4-BE49-F238E27FC236}">
                    <a16:creationId xmlns:a16="http://schemas.microsoft.com/office/drawing/2014/main" id="{8712E4CF-A56C-14EB-CA54-5247370DA851}"/>
                  </a:ext>
                </a:extLst>
              </p:cNvPr>
              <p:cNvPicPr>
                <a:picLocks noChangeAspect="1"/>
              </p:cNvPicPr>
              <p:nvPr/>
            </p:nvPicPr>
            <p:blipFill>
              <a:blip r:embed="rId6"/>
              <a:stretch>
                <a:fillRect/>
              </a:stretch>
            </p:blipFill>
            <p:spPr>
              <a:xfrm flipH="1">
                <a:off x="2559005" y="3797258"/>
                <a:ext cx="180000" cy="239124"/>
              </a:xfrm>
              <a:prstGeom prst="rect">
                <a:avLst/>
              </a:prstGeom>
            </p:spPr>
          </p:pic>
          <p:cxnSp>
            <p:nvCxnSpPr>
              <p:cNvPr id="93" name="직선 연결선 92">
                <a:extLst>
                  <a:ext uri="{FF2B5EF4-FFF2-40B4-BE49-F238E27FC236}">
                    <a16:creationId xmlns:a16="http://schemas.microsoft.com/office/drawing/2014/main" id="{BC3DD87A-E438-6C69-417E-36697B4AD335}"/>
                  </a:ext>
                </a:extLst>
              </p:cNvPr>
              <p:cNvCxnSpPr>
                <a:cxnSpLocks/>
              </p:cNvCxnSpPr>
              <p:nvPr/>
            </p:nvCxnSpPr>
            <p:spPr>
              <a:xfrm flipV="1">
                <a:off x="2575872" y="4029580"/>
                <a:ext cx="0" cy="90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73" name="직선 연결선 72">
              <a:extLst>
                <a:ext uri="{FF2B5EF4-FFF2-40B4-BE49-F238E27FC236}">
                  <a16:creationId xmlns:a16="http://schemas.microsoft.com/office/drawing/2014/main" id="{1631AB78-F73F-4C79-5705-0EC245EAB57E}"/>
                </a:ext>
              </a:extLst>
            </p:cNvPr>
            <p:cNvCxnSpPr>
              <a:cxnSpLocks/>
            </p:cNvCxnSpPr>
            <p:nvPr/>
          </p:nvCxnSpPr>
          <p:spPr>
            <a:xfrm flipV="1">
              <a:off x="4190851" y="6139643"/>
              <a:ext cx="0" cy="90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직선 연결선 73">
              <a:extLst>
                <a:ext uri="{FF2B5EF4-FFF2-40B4-BE49-F238E27FC236}">
                  <a16:creationId xmlns:a16="http://schemas.microsoft.com/office/drawing/2014/main" id="{FEE2AB3E-6531-C656-DE12-120996E7C132}"/>
                </a:ext>
              </a:extLst>
            </p:cNvPr>
            <p:cNvCxnSpPr>
              <a:cxnSpLocks/>
            </p:cNvCxnSpPr>
            <p:nvPr/>
          </p:nvCxnSpPr>
          <p:spPr>
            <a:xfrm>
              <a:off x="3912949" y="6141692"/>
              <a:ext cx="277075"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75" name="직사각형 74">
              <a:extLst>
                <a:ext uri="{FF2B5EF4-FFF2-40B4-BE49-F238E27FC236}">
                  <a16:creationId xmlns:a16="http://schemas.microsoft.com/office/drawing/2014/main" id="{F76B9398-A990-EB39-B5BC-34E984999F56}"/>
                </a:ext>
              </a:extLst>
            </p:cNvPr>
            <p:cNvSpPr/>
            <p:nvPr/>
          </p:nvSpPr>
          <p:spPr>
            <a:xfrm>
              <a:off x="3851023" y="6087352"/>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5</a:t>
              </a:r>
              <a:endParaRPr lang="ko-KR" altLang="en-US" sz="700" dirty="0">
                <a:solidFill>
                  <a:schemeClr val="tx1"/>
                </a:solidFill>
              </a:endParaRPr>
            </a:p>
          </p:txBody>
        </p:sp>
        <p:cxnSp>
          <p:nvCxnSpPr>
            <p:cNvPr id="76" name="직선 연결선 75">
              <a:extLst>
                <a:ext uri="{FF2B5EF4-FFF2-40B4-BE49-F238E27FC236}">
                  <a16:creationId xmlns:a16="http://schemas.microsoft.com/office/drawing/2014/main" id="{9DD989FA-038A-F8B4-73DF-56663EB40726}"/>
                </a:ext>
              </a:extLst>
            </p:cNvPr>
            <p:cNvCxnSpPr>
              <a:cxnSpLocks/>
            </p:cNvCxnSpPr>
            <p:nvPr/>
          </p:nvCxnSpPr>
          <p:spPr>
            <a:xfrm>
              <a:off x="4285574" y="6340897"/>
              <a:ext cx="7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77" name="직사각형 76">
              <a:extLst>
                <a:ext uri="{FF2B5EF4-FFF2-40B4-BE49-F238E27FC236}">
                  <a16:creationId xmlns:a16="http://schemas.microsoft.com/office/drawing/2014/main" id="{9F34D4BA-9112-8930-32DD-55A6A77928AF}"/>
                </a:ext>
              </a:extLst>
            </p:cNvPr>
            <p:cNvSpPr/>
            <p:nvPr/>
          </p:nvSpPr>
          <p:spPr>
            <a:xfrm>
              <a:off x="4285574" y="6389207"/>
              <a:ext cx="852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78" name="직선 연결선 77">
              <a:extLst>
                <a:ext uri="{FF2B5EF4-FFF2-40B4-BE49-F238E27FC236}">
                  <a16:creationId xmlns:a16="http://schemas.microsoft.com/office/drawing/2014/main" id="{1A0A123B-1B0D-61F8-8CD3-9BA279EA6EDF}"/>
                </a:ext>
              </a:extLst>
            </p:cNvPr>
            <p:cNvCxnSpPr>
              <a:cxnSpLocks/>
            </p:cNvCxnSpPr>
            <p:nvPr/>
          </p:nvCxnSpPr>
          <p:spPr>
            <a:xfrm>
              <a:off x="4494029" y="6314025"/>
              <a:ext cx="108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직선 연결선 78">
              <a:extLst>
                <a:ext uri="{FF2B5EF4-FFF2-40B4-BE49-F238E27FC236}">
                  <a16:creationId xmlns:a16="http://schemas.microsoft.com/office/drawing/2014/main" id="{8DB1D884-8EFD-395B-DE17-8F4F3FFF87DC}"/>
                </a:ext>
              </a:extLst>
            </p:cNvPr>
            <p:cNvCxnSpPr>
              <a:cxnSpLocks/>
            </p:cNvCxnSpPr>
            <p:nvPr/>
          </p:nvCxnSpPr>
          <p:spPr>
            <a:xfrm flipV="1">
              <a:off x="4598068" y="6185290"/>
              <a:ext cx="1283" cy="126433"/>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80" name="타원 79">
              <a:extLst>
                <a:ext uri="{FF2B5EF4-FFF2-40B4-BE49-F238E27FC236}">
                  <a16:creationId xmlns:a16="http://schemas.microsoft.com/office/drawing/2014/main" id="{43F090DD-FF53-B503-80BF-885B6FE6FB7D}"/>
                </a:ext>
              </a:extLst>
            </p:cNvPr>
            <p:cNvSpPr/>
            <p:nvPr/>
          </p:nvSpPr>
          <p:spPr>
            <a:xfrm>
              <a:off x="4492486" y="6299625"/>
              <a:ext cx="28800" cy="28800"/>
            </a:xfrm>
            <a:prstGeom prst="ellipse">
              <a:avLst/>
            </a:prstGeom>
            <a:solidFill>
              <a:schemeClr val="bg1"/>
            </a:solidFill>
            <a:ln w="508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81" name="직선 연결선 80">
              <a:extLst>
                <a:ext uri="{FF2B5EF4-FFF2-40B4-BE49-F238E27FC236}">
                  <a16:creationId xmlns:a16="http://schemas.microsoft.com/office/drawing/2014/main" id="{7A5EF94D-4968-6969-39E1-A5B0989F8C70}"/>
                </a:ext>
              </a:extLst>
            </p:cNvPr>
            <p:cNvCxnSpPr>
              <a:cxnSpLocks/>
            </p:cNvCxnSpPr>
            <p:nvPr/>
          </p:nvCxnSpPr>
          <p:spPr>
            <a:xfrm flipH="1" flipV="1">
              <a:off x="4924113" y="6092409"/>
              <a:ext cx="0" cy="252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직선 연결선 81">
              <a:extLst>
                <a:ext uri="{FF2B5EF4-FFF2-40B4-BE49-F238E27FC236}">
                  <a16:creationId xmlns:a16="http://schemas.microsoft.com/office/drawing/2014/main" id="{AD7A9DC5-9127-DE74-D282-1C69CD9B8D68}"/>
                </a:ext>
              </a:extLst>
            </p:cNvPr>
            <p:cNvCxnSpPr>
              <a:cxnSpLocks/>
            </p:cNvCxnSpPr>
            <p:nvPr/>
          </p:nvCxnSpPr>
          <p:spPr>
            <a:xfrm>
              <a:off x="4922626" y="6147647"/>
              <a:ext cx="324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83" name="직사각형 82">
              <a:extLst>
                <a:ext uri="{FF2B5EF4-FFF2-40B4-BE49-F238E27FC236}">
                  <a16:creationId xmlns:a16="http://schemas.microsoft.com/office/drawing/2014/main" id="{81B11FA8-BEB5-4ACD-2760-CCD58811A24D}"/>
                </a:ext>
              </a:extLst>
            </p:cNvPr>
            <p:cNvSpPr/>
            <p:nvPr/>
          </p:nvSpPr>
          <p:spPr>
            <a:xfrm>
              <a:off x="5096673" y="6092821"/>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14</a:t>
              </a:r>
              <a:endParaRPr lang="ko-KR" altLang="en-US" sz="700" dirty="0">
                <a:solidFill>
                  <a:schemeClr val="tx1"/>
                </a:solidFill>
              </a:endParaRPr>
            </a:p>
          </p:txBody>
        </p:sp>
        <p:sp>
          <p:nvSpPr>
            <p:cNvPr id="85" name="TextBox 84">
              <a:extLst>
                <a:ext uri="{FF2B5EF4-FFF2-40B4-BE49-F238E27FC236}">
                  <a16:creationId xmlns:a16="http://schemas.microsoft.com/office/drawing/2014/main" id="{414E48A5-FFB8-2E3E-48CD-3D3A814E0554}"/>
                </a:ext>
              </a:extLst>
            </p:cNvPr>
            <p:cNvSpPr txBox="1"/>
            <p:nvPr/>
          </p:nvSpPr>
          <p:spPr>
            <a:xfrm>
              <a:off x="4260402" y="5521734"/>
              <a:ext cx="670376" cy="230832"/>
            </a:xfrm>
            <a:prstGeom prst="rect">
              <a:avLst/>
            </a:prstGeom>
            <a:noFill/>
          </p:spPr>
          <p:txBody>
            <a:bodyPr wrap="none" rtlCol="0">
              <a:spAutoFit/>
            </a:bodyPr>
            <a:lstStyle/>
            <a:p>
              <a:r>
                <a:rPr lang="en-US" altLang="ko-KR" sz="900" dirty="0"/>
                <a:t>XD #(n+1)</a:t>
              </a:r>
              <a:endParaRPr lang="ko-KR" altLang="en-US" sz="900" dirty="0"/>
            </a:p>
          </p:txBody>
        </p:sp>
        <p:sp>
          <p:nvSpPr>
            <p:cNvPr id="86" name="직사각형 85">
              <a:extLst>
                <a:ext uri="{FF2B5EF4-FFF2-40B4-BE49-F238E27FC236}">
                  <a16:creationId xmlns:a16="http://schemas.microsoft.com/office/drawing/2014/main" id="{20E33567-1DD3-B395-99E8-30D1329A62BD}"/>
                </a:ext>
              </a:extLst>
            </p:cNvPr>
            <p:cNvSpPr/>
            <p:nvPr/>
          </p:nvSpPr>
          <p:spPr>
            <a:xfrm>
              <a:off x="4496237" y="6332100"/>
              <a:ext cx="457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87" name="직선 연결선 86">
              <a:extLst>
                <a:ext uri="{FF2B5EF4-FFF2-40B4-BE49-F238E27FC236}">
                  <a16:creationId xmlns:a16="http://schemas.microsoft.com/office/drawing/2014/main" id="{F565880D-FC67-B90D-89D7-B23249296EF9}"/>
                </a:ext>
              </a:extLst>
            </p:cNvPr>
            <p:cNvCxnSpPr>
              <a:cxnSpLocks/>
            </p:cNvCxnSpPr>
            <p:nvPr/>
          </p:nvCxnSpPr>
          <p:spPr>
            <a:xfrm>
              <a:off x="4496630" y="6344639"/>
              <a:ext cx="43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직선 연결선 87">
              <a:extLst>
                <a:ext uri="{FF2B5EF4-FFF2-40B4-BE49-F238E27FC236}">
                  <a16:creationId xmlns:a16="http://schemas.microsoft.com/office/drawing/2014/main" id="{82088B12-2F58-1325-6D55-C63969ABACD1}"/>
                </a:ext>
              </a:extLst>
            </p:cNvPr>
            <p:cNvCxnSpPr>
              <a:cxnSpLocks/>
            </p:cNvCxnSpPr>
            <p:nvPr/>
          </p:nvCxnSpPr>
          <p:spPr>
            <a:xfrm>
              <a:off x="4492502" y="6375849"/>
              <a:ext cx="43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직선 연결선 88">
              <a:extLst>
                <a:ext uri="{FF2B5EF4-FFF2-40B4-BE49-F238E27FC236}">
                  <a16:creationId xmlns:a16="http://schemas.microsoft.com/office/drawing/2014/main" id="{EE932F73-0001-175E-364E-EB481908129A}"/>
                </a:ext>
              </a:extLst>
            </p:cNvPr>
            <p:cNvCxnSpPr>
              <a:cxnSpLocks/>
            </p:cNvCxnSpPr>
            <p:nvPr/>
          </p:nvCxnSpPr>
          <p:spPr>
            <a:xfrm flipV="1">
              <a:off x="4919611" y="6379189"/>
              <a:ext cx="1283" cy="126433"/>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90" name="직사각형 89">
              <a:extLst>
                <a:ext uri="{FF2B5EF4-FFF2-40B4-BE49-F238E27FC236}">
                  <a16:creationId xmlns:a16="http://schemas.microsoft.com/office/drawing/2014/main" id="{3C948585-6FA5-1A28-3DD9-9B106F2777E3}"/>
                </a:ext>
              </a:extLst>
            </p:cNvPr>
            <p:cNvSpPr/>
            <p:nvPr/>
          </p:nvSpPr>
          <p:spPr>
            <a:xfrm>
              <a:off x="4723454" y="6485624"/>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IO_MODE</a:t>
              </a:r>
              <a:endParaRPr lang="ko-KR" altLang="en-US" sz="600" dirty="0">
                <a:solidFill>
                  <a:schemeClr val="tx1"/>
                </a:solidFill>
              </a:endParaRPr>
            </a:p>
          </p:txBody>
        </p:sp>
      </p:grpSp>
      <p:sp>
        <p:nvSpPr>
          <p:cNvPr id="96" name="TextBox 95">
            <a:extLst>
              <a:ext uri="{FF2B5EF4-FFF2-40B4-BE49-F238E27FC236}">
                <a16:creationId xmlns:a16="http://schemas.microsoft.com/office/drawing/2014/main" id="{DCD4C79E-4462-E9CA-03EE-830BA679B544}"/>
              </a:ext>
            </a:extLst>
          </p:cNvPr>
          <p:cNvSpPr txBox="1"/>
          <p:nvPr/>
        </p:nvSpPr>
        <p:spPr>
          <a:xfrm>
            <a:off x="986068" y="5965243"/>
            <a:ext cx="521297" cy="230832"/>
          </a:xfrm>
          <a:prstGeom prst="rect">
            <a:avLst/>
          </a:prstGeom>
          <a:noFill/>
        </p:spPr>
        <p:txBody>
          <a:bodyPr wrap="none" rtlCol="0">
            <a:spAutoFit/>
          </a:bodyPr>
          <a:lstStyle/>
          <a:p>
            <a:r>
              <a:rPr lang="en-US" altLang="ko-KR" sz="900" dirty="0"/>
              <a:t>#n FBO</a:t>
            </a:r>
            <a:endParaRPr lang="ko-KR" altLang="en-US" sz="900" dirty="0"/>
          </a:p>
        </p:txBody>
      </p:sp>
      <p:sp>
        <p:nvSpPr>
          <p:cNvPr id="97" name="TextBox 96">
            <a:extLst>
              <a:ext uri="{FF2B5EF4-FFF2-40B4-BE49-F238E27FC236}">
                <a16:creationId xmlns:a16="http://schemas.microsoft.com/office/drawing/2014/main" id="{E1B050A7-E398-2D00-435D-4DCEA44DD044}"/>
              </a:ext>
            </a:extLst>
          </p:cNvPr>
          <p:cNvSpPr txBox="1"/>
          <p:nvPr/>
        </p:nvSpPr>
        <p:spPr>
          <a:xfrm>
            <a:off x="5264675" y="5964383"/>
            <a:ext cx="659155" cy="230832"/>
          </a:xfrm>
          <a:prstGeom prst="rect">
            <a:avLst/>
          </a:prstGeom>
          <a:noFill/>
        </p:spPr>
        <p:txBody>
          <a:bodyPr wrap="none" rtlCol="0">
            <a:spAutoFit/>
          </a:bodyPr>
          <a:lstStyle/>
          <a:p>
            <a:r>
              <a:rPr lang="en-US" altLang="ko-KR" sz="900" dirty="0"/>
              <a:t>#(n+1) FBI</a:t>
            </a:r>
            <a:endParaRPr lang="ko-KR" altLang="en-US" sz="900" dirty="0"/>
          </a:p>
        </p:txBody>
      </p:sp>
      <p:sp>
        <p:nvSpPr>
          <p:cNvPr id="98" name="TextBox 97">
            <a:extLst>
              <a:ext uri="{FF2B5EF4-FFF2-40B4-BE49-F238E27FC236}">
                <a16:creationId xmlns:a16="http://schemas.microsoft.com/office/drawing/2014/main" id="{2A527A70-CB2F-48C6-D867-7A19D027E92C}"/>
              </a:ext>
            </a:extLst>
          </p:cNvPr>
          <p:cNvSpPr txBox="1"/>
          <p:nvPr/>
        </p:nvSpPr>
        <p:spPr>
          <a:xfrm>
            <a:off x="407554" y="1556966"/>
            <a:ext cx="6047999" cy="307777"/>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XD has 3 external signal IO modes which can be configured through the IO_MODE bits in the LD MODE register. This function of each mode and the connection scheme is shown as follows.</a:t>
            </a:r>
          </a:p>
        </p:txBody>
      </p:sp>
      <p:sp>
        <p:nvSpPr>
          <p:cNvPr id="99" name="TextBox 98">
            <a:extLst>
              <a:ext uri="{FF2B5EF4-FFF2-40B4-BE49-F238E27FC236}">
                <a16:creationId xmlns:a16="http://schemas.microsoft.com/office/drawing/2014/main" id="{89FCD265-789C-5243-C30D-1A3EB4295AE4}"/>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Optional external VSYNC and FB</a:t>
            </a:r>
          </a:p>
        </p:txBody>
      </p:sp>
      <p:sp>
        <p:nvSpPr>
          <p:cNvPr id="100" name="TextBox 99">
            <a:extLst>
              <a:ext uri="{FF2B5EF4-FFF2-40B4-BE49-F238E27FC236}">
                <a16:creationId xmlns:a16="http://schemas.microsoft.com/office/drawing/2014/main" id="{BECAAEA6-9B32-D4C5-52B6-6D67FBC3B73A}"/>
              </a:ext>
            </a:extLst>
          </p:cNvPr>
          <p:cNvSpPr txBox="1"/>
          <p:nvPr/>
        </p:nvSpPr>
        <p:spPr>
          <a:xfrm>
            <a:off x="2904664" y="4010564"/>
            <a:ext cx="524503" cy="230832"/>
          </a:xfrm>
          <a:prstGeom prst="rect">
            <a:avLst/>
          </a:prstGeom>
          <a:noFill/>
        </p:spPr>
        <p:txBody>
          <a:bodyPr wrap="none" rtlCol="0">
            <a:spAutoFit/>
          </a:bodyPr>
          <a:lstStyle/>
          <a:p>
            <a:r>
              <a:rPr lang="en-US" altLang="ko-KR" sz="900" dirty="0"/>
              <a:t>#n VSO</a:t>
            </a:r>
            <a:endParaRPr lang="ko-KR" altLang="en-US" sz="900" dirty="0"/>
          </a:p>
        </p:txBody>
      </p:sp>
      <p:graphicFrame>
        <p:nvGraphicFramePr>
          <p:cNvPr id="101" name="표 100">
            <a:extLst>
              <a:ext uri="{FF2B5EF4-FFF2-40B4-BE49-F238E27FC236}">
                <a16:creationId xmlns:a16="http://schemas.microsoft.com/office/drawing/2014/main" id="{EF25D819-22C6-AAAD-5E55-5DCCF2E5D88C}"/>
              </a:ext>
            </a:extLst>
          </p:cNvPr>
          <p:cNvGraphicFramePr>
            <a:graphicFrameLocks noGrp="1"/>
          </p:cNvGraphicFramePr>
          <p:nvPr>
            <p:extLst>
              <p:ext uri="{D42A27DB-BD31-4B8C-83A1-F6EECF244321}">
                <p14:modId xmlns:p14="http://schemas.microsoft.com/office/powerpoint/2010/main" val="681487272"/>
              </p:ext>
            </p:extLst>
          </p:nvPr>
        </p:nvGraphicFramePr>
        <p:xfrm>
          <a:off x="407553" y="1955313"/>
          <a:ext cx="6048000" cy="1377120"/>
        </p:xfrm>
        <a:graphic>
          <a:graphicData uri="http://schemas.openxmlformats.org/drawingml/2006/table">
            <a:tbl>
              <a:tblPr firstRow="1" bandRow="1">
                <a:tableStyleId>{5C22544A-7EE6-4342-B048-85BDC9FD1C3A}</a:tableStyleId>
              </a:tblPr>
              <a:tblGrid>
                <a:gridCol w="578453">
                  <a:extLst>
                    <a:ext uri="{9D8B030D-6E8A-4147-A177-3AD203B41FA5}">
                      <a16:colId xmlns:a16="http://schemas.microsoft.com/office/drawing/2014/main" val="2861869108"/>
                    </a:ext>
                  </a:extLst>
                </a:gridCol>
                <a:gridCol w="1071671">
                  <a:extLst>
                    <a:ext uri="{9D8B030D-6E8A-4147-A177-3AD203B41FA5}">
                      <a16:colId xmlns:a16="http://schemas.microsoft.com/office/drawing/2014/main" val="3471461862"/>
                    </a:ext>
                  </a:extLst>
                </a:gridCol>
                <a:gridCol w="487597">
                  <a:extLst>
                    <a:ext uri="{9D8B030D-6E8A-4147-A177-3AD203B41FA5}">
                      <a16:colId xmlns:a16="http://schemas.microsoft.com/office/drawing/2014/main" val="4138367841"/>
                    </a:ext>
                  </a:extLst>
                </a:gridCol>
                <a:gridCol w="487597">
                  <a:extLst>
                    <a:ext uri="{9D8B030D-6E8A-4147-A177-3AD203B41FA5}">
                      <a16:colId xmlns:a16="http://schemas.microsoft.com/office/drawing/2014/main" val="3589866634"/>
                    </a:ext>
                  </a:extLst>
                </a:gridCol>
                <a:gridCol w="487597">
                  <a:extLst>
                    <a:ext uri="{9D8B030D-6E8A-4147-A177-3AD203B41FA5}">
                      <a16:colId xmlns:a16="http://schemas.microsoft.com/office/drawing/2014/main" val="203027085"/>
                    </a:ext>
                  </a:extLst>
                </a:gridCol>
                <a:gridCol w="487597">
                  <a:extLst>
                    <a:ext uri="{9D8B030D-6E8A-4147-A177-3AD203B41FA5}">
                      <a16:colId xmlns:a16="http://schemas.microsoft.com/office/drawing/2014/main" val="1213780966"/>
                    </a:ext>
                  </a:extLst>
                </a:gridCol>
                <a:gridCol w="2447488">
                  <a:extLst>
                    <a:ext uri="{9D8B030D-6E8A-4147-A177-3AD203B41FA5}">
                      <a16:colId xmlns:a16="http://schemas.microsoft.com/office/drawing/2014/main" val="4000803811"/>
                    </a:ext>
                  </a:extLst>
                </a:gridCol>
              </a:tblGrid>
              <a:tr h="193193">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IO_MODE</a:t>
                      </a:r>
                    </a:p>
                    <a:p>
                      <a:pPr algn="ctr" latinLnBrk="1"/>
                      <a:r>
                        <a:rPr lang="en-US" altLang="ko-KR" sz="800" b="0" dirty="0">
                          <a:solidFill>
                            <a:schemeClr val="tx1"/>
                          </a:solidFill>
                          <a:latin typeface="Arial" panose="020B0604020202020204" pitchFamily="34" charset="0"/>
                          <a:ea typeface="+mn-ea"/>
                          <a:cs typeface="Arial" panose="020B0604020202020204" pitchFamily="34" charset="0"/>
                        </a:rPr>
                        <a:t>[1:0]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Description</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FBI</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FBO</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VSI</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VSO</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Remark</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140453051"/>
                  </a:ext>
                </a:extLst>
              </a:tr>
              <a:tr h="287019">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00</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NOP (default)</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l" latinLnBrk="1"/>
                      <a:r>
                        <a:rPr lang="en-US" altLang="ko-KR" sz="800" dirty="0">
                          <a:solidFill>
                            <a:schemeClr val="tx1"/>
                          </a:solidFill>
                          <a:latin typeface="Arial" panose="020B0604020202020204" pitchFamily="34" charset="0"/>
                          <a:ea typeface="+mn-ea"/>
                          <a:cs typeface="Arial" panose="020B0604020202020204" pitchFamily="34" charset="0"/>
                        </a:rPr>
                        <a:t>The pins, 5 and 14, can be connected to GND.</a:t>
                      </a:r>
                    </a:p>
                    <a:p>
                      <a:pPr algn="l" latinLnBrk="1"/>
                      <a:r>
                        <a:rPr lang="en-US" altLang="ko-KR" sz="800" dirty="0">
                          <a:solidFill>
                            <a:schemeClr val="tx1"/>
                          </a:solidFill>
                          <a:latin typeface="Arial" panose="020B0604020202020204" pitchFamily="34" charset="0"/>
                          <a:ea typeface="+mn-ea"/>
                          <a:cs typeface="Arial" panose="020B0604020202020204" pitchFamily="34" charset="0"/>
                        </a:rPr>
                        <a:t>The FB and VSYNC signal can be replaced by</a:t>
                      </a:r>
                    </a:p>
                    <a:p>
                      <a:pPr algn="l" latinLnBrk="1"/>
                      <a:r>
                        <a:rPr lang="en-US" altLang="ko-KR" sz="800" dirty="0">
                          <a:solidFill>
                            <a:schemeClr val="tx1"/>
                          </a:solidFill>
                          <a:latin typeface="Arial" panose="020B0604020202020204" pitchFamily="34" charset="0"/>
                          <a:ea typeface="+mn-ea"/>
                          <a:cs typeface="Arial" panose="020B0604020202020204" pitchFamily="34" charset="0"/>
                        </a:rPr>
                        <a:t> the communication method.</a:t>
                      </a: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990245991"/>
                  </a:ext>
                </a:extLst>
              </a:tr>
              <a:tr h="193193">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01</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VSYNC daisy mode</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l" latinLnBrk="1"/>
                      <a:r>
                        <a:rPr lang="en-US" altLang="ko-KR" sz="800" dirty="0">
                          <a:solidFill>
                            <a:schemeClr val="tx1"/>
                          </a:solidFill>
                          <a:latin typeface="Arial" panose="020B0604020202020204" pitchFamily="34" charset="0"/>
                          <a:ea typeface="+mn-ea"/>
                          <a:cs typeface="Arial" panose="020B0604020202020204" pitchFamily="34" charset="0"/>
                        </a:rPr>
                        <a:t>The FB signal can be replaced by the communication method.</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213828537"/>
                  </a:ext>
                </a:extLst>
              </a:tr>
              <a:tr h="193193">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10</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FB daisy mode</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800" dirty="0">
                          <a:solidFill>
                            <a:schemeClr val="tx1"/>
                          </a:solidFill>
                          <a:latin typeface="Arial" panose="020B0604020202020204" pitchFamily="34" charset="0"/>
                          <a:ea typeface="+mn-ea"/>
                          <a:cs typeface="Arial" panose="020B0604020202020204" pitchFamily="34" charset="0"/>
                        </a:rPr>
                        <a:t>The VSYNC signal can be replaced by the communication method.</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62294112"/>
                  </a:ext>
                </a:extLst>
              </a:tr>
              <a:tr h="193193">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11</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VSYNC and FB</a:t>
                      </a:r>
                    </a:p>
                    <a:p>
                      <a:pPr algn="ctr" latinLnBrk="1"/>
                      <a:r>
                        <a:rPr lang="en-US" altLang="ko-KR" sz="800" dirty="0">
                          <a:solidFill>
                            <a:schemeClr val="tx1"/>
                          </a:solidFill>
                          <a:latin typeface="Arial" panose="020B0604020202020204" pitchFamily="34" charset="0"/>
                          <a:ea typeface="+mn-ea"/>
                          <a:cs typeface="Arial" panose="020B0604020202020204" pitchFamily="34" charset="0"/>
                        </a:rPr>
                        <a:t>non-daisy mode</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800" dirty="0">
                          <a:solidFill>
                            <a:schemeClr val="tx1"/>
                          </a:solidFill>
                          <a:latin typeface="Arial" panose="020B0604020202020204" pitchFamily="34" charset="0"/>
                          <a:ea typeface="+mn-ea"/>
                          <a:cs typeface="Arial" panose="020B0604020202020204" pitchFamily="34" charset="0"/>
                        </a:rPr>
                        <a:t>The VSYNC and FB signal can be replaced by the communication method.</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52375884"/>
                  </a:ext>
                </a:extLst>
              </a:tr>
            </a:tbl>
          </a:graphicData>
        </a:graphic>
      </p:graphicFrame>
      <p:grpSp>
        <p:nvGrpSpPr>
          <p:cNvPr id="102" name="그룹 101">
            <a:extLst>
              <a:ext uri="{FF2B5EF4-FFF2-40B4-BE49-F238E27FC236}">
                <a16:creationId xmlns:a16="http://schemas.microsoft.com/office/drawing/2014/main" id="{6F1221A9-C188-4ACF-18C9-7F312DA7B559}"/>
              </a:ext>
            </a:extLst>
          </p:cNvPr>
          <p:cNvGrpSpPr/>
          <p:nvPr/>
        </p:nvGrpSpPr>
        <p:grpSpPr>
          <a:xfrm>
            <a:off x="3803795" y="3669248"/>
            <a:ext cx="1260000" cy="1116000"/>
            <a:chOff x="3803795" y="3654548"/>
            <a:chExt cx="1260000" cy="1116000"/>
          </a:xfrm>
        </p:grpSpPr>
        <p:grpSp>
          <p:nvGrpSpPr>
            <p:cNvPr id="103" name="그룹 102">
              <a:extLst>
                <a:ext uri="{FF2B5EF4-FFF2-40B4-BE49-F238E27FC236}">
                  <a16:creationId xmlns:a16="http://schemas.microsoft.com/office/drawing/2014/main" id="{F1584148-91DB-43CD-8E79-EB40C0E0B87B}"/>
                </a:ext>
              </a:extLst>
            </p:cNvPr>
            <p:cNvGrpSpPr/>
            <p:nvPr/>
          </p:nvGrpSpPr>
          <p:grpSpPr>
            <a:xfrm>
              <a:off x="3803795" y="3654548"/>
              <a:ext cx="1260000" cy="1116000"/>
              <a:chOff x="1016681" y="4339884"/>
              <a:chExt cx="1427516" cy="1242000"/>
            </a:xfrm>
          </p:grpSpPr>
          <p:sp>
            <p:nvSpPr>
              <p:cNvPr id="106" name="직사각형 105">
                <a:extLst>
                  <a:ext uri="{FF2B5EF4-FFF2-40B4-BE49-F238E27FC236}">
                    <a16:creationId xmlns:a16="http://schemas.microsoft.com/office/drawing/2014/main" id="{8C1DB4FE-3F77-A2A9-6DA9-CF739412400D}"/>
                  </a:ext>
                </a:extLst>
              </p:cNvPr>
              <p:cNvSpPr/>
              <p:nvPr/>
            </p:nvSpPr>
            <p:spPr>
              <a:xfrm>
                <a:off x="1107691" y="4339884"/>
                <a:ext cx="1242579" cy="1242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107" name="그림 106">
                <a:extLst>
                  <a:ext uri="{FF2B5EF4-FFF2-40B4-BE49-F238E27FC236}">
                    <a16:creationId xmlns:a16="http://schemas.microsoft.com/office/drawing/2014/main" id="{E0F57D28-CD79-17A3-0D60-38A97A8187A5}"/>
                  </a:ext>
                </a:extLst>
              </p:cNvPr>
              <p:cNvPicPr>
                <a:picLocks noChangeAspect="1"/>
              </p:cNvPicPr>
              <p:nvPr/>
            </p:nvPicPr>
            <p:blipFill>
              <a:blip r:embed="rId2"/>
              <a:stretch>
                <a:fillRect/>
              </a:stretch>
            </p:blipFill>
            <p:spPr>
              <a:xfrm>
                <a:off x="1998904" y="4880014"/>
                <a:ext cx="216000" cy="149104"/>
              </a:xfrm>
              <a:prstGeom prst="rect">
                <a:avLst/>
              </a:prstGeom>
            </p:spPr>
          </p:pic>
          <p:cxnSp>
            <p:nvCxnSpPr>
              <p:cNvPr id="108" name="직선 연결선 107">
                <a:extLst>
                  <a:ext uri="{FF2B5EF4-FFF2-40B4-BE49-F238E27FC236}">
                    <a16:creationId xmlns:a16="http://schemas.microsoft.com/office/drawing/2014/main" id="{27FEA9B7-CDDF-1D78-2439-E5406F60CB01}"/>
                  </a:ext>
                </a:extLst>
              </p:cNvPr>
              <p:cNvCxnSpPr>
                <a:cxnSpLocks/>
              </p:cNvCxnSpPr>
              <p:nvPr/>
            </p:nvCxnSpPr>
            <p:spPr>
              <a:xfrm>
                <a:off x="1080473" y="4957841"/>
                <a:ext cx="97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09" name="직사각형 108">
                <a:extLst>
                  <a:ext uri="{FF2B5EF4-FFF2-40B4-BE49-F238E27FC236}">
                    <a16:creationId xmlns:a16="http://schemas.microsoft.com/office/drawing/2014/main" id="{7D4D9AD9-4266-9199-6028-F6C927AA69E1}"/>
                  </a:ext>
                </a:extLst>
              </p:cNvPr>
              <p:cNvSpPr/>
              <p:nvPr/>
            </p:nvSpPr>
            <p:spPr>
              <a:xfrm>
                <a:off x="1016681" y="4899235"/>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5</a:t>
                </a:r>
                <a:endParaRPr lang="ko-KR" altLang="en-US" sz="700" dirty="0">
                  <a:solidFill>
                    <a:schemeClr val="tx1"/>
                  </a:solidFill>
                </a:endParaRPr>
              </a:p>
            </p:txBody>
          </p:sp>
          <p:cxnSp>
            <p:nvCxnSpPr>
              <p:cNvPr id="110" name="직선 연결선 109">
                <a:extLst>
                  <a:ext uri="{FF2B5EF4-FFF2-40B4-BE49-F238E27FC236}">
                    <a16:creationId xmlns:a16="http://schemas.microsoft.com/office/drawing/2014/main" id="{08A195FF-C659-141E-4B89-663E56B96BD8}"/>
                  </a:ext>
                </a:extLst>
              </p:cNvPr>
              <p:cNvCxnSpPr>
                <a:cxnSpLocks/>
              </p:cNvCxnSpPr>
              <p:nvPr/>
            </p:nvCxnSpPr>
            <p:spPr>
              <a:xfrm>
                <a:off x="2164233" y="4954566"/>
                <a:ext cx="160912" cy="972"/>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직사각형 110">
                <a:extLst>
                  <a:ext uri="{FF2B5EF4-FFF2-40B4-BE49-F238E27FC236}">
                    <a16:creationId xmlns:a16="http://schemas.microsoft.com/office/drawing/2014/main" id="{87B1BA43-087F-F54C-6153-09A44F593A91}"/>
                  </a:ext>
                </a:extLst>
              </p:cNvPr>
              <p:cNvSpPr/>
              <p:nvPr/>
            </p:nvSpPr>
            <p:spPr>
              <a:xfrm>
                <a:off x="2264197" y="4903286"/>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14</a:t>
                </a:r>
                <a:endParaRPr lang="ko-KR" altLang="en-US" sz="700" dirty="0">
                  <a:solidFill>
                    <a:schemeClr val="tx1"/>
                  </a:solidFill>
                </a:endParaRPr>
              </a:p>
            </p:txBody>
          </p:sp>
          <p:cxnSp>
            <p:nvCxnSpPr>
              <p:cNvPr id="112" name="직선 연결선 111">
                <a:extLst>
                  <a:ext uri="{FF2B5EF4-FFF2-40B4-BE49-F238E27FC236}">
                    <a16:creationId xmlns:a16="http://schemas.microsoft.com/office/drawing/2014/main" id="{18CE2BA2-121B-867C-C88F-E81AB7649D57}"/>
                  </a:ext>
                </a:extLst>
              </p:cNvPr>
              <p:cNvCxnSpPr>
                <a:cxnSpLocks/>
              </p:cNvCxnSpPr>
              <p:nvPr/>
            </p:nvCxnSpPr>
            <p:spPr>
              <a:xfrm>
                <a:off x="1964153" y="4800442"/>
                <a:ext cx="144688"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직선 연결선 112">
                <a:extLst>
                  <a:ext uri="{FF2B5EF4-FFF2-40B4-BE49-F238E27FC236}">
                    <a16:creationId xmlns:a16="http://schemas.microsoft.com/office/drawing/2014/main" id="{BFBB7947-2DC2-54C4-A7F4-3D41A4CF9B40}"/>
                  </a:ext>
                </a:extLst>
              </p:cNvPr>
              <p:cNvCxnSpPr>
                <a:cxnSpLocks/>
              </p:cNvCxnSpPr>
              <p:nvPr/>
            </p:nvCxnSpPr>
            <p:spPr>
              <a:xfrm>
                <a:off x="2108841" y="4797283"/>
                <a:ext cx="0" cy="123005"/>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4" name="TextBox 103">
              <a:extLst>
                <a:ext uri="{FF2B5EF4-FFF2-40B4-BE49-F238E27FC236}">
                  <a16:creationId xmlns:a16="http://schemas.microsoft.com/office/drawing/2014/main" id="{088E3FE4-E03E-53B7-F90D-0DF026754B51}"/>
                </a:ext>
              </a:extLst>
            </p:cNvPr>
            <p:cNvSpPr txBox="1"/>
            <p:nvPr/>
          </p:nvSpPr>
          <p:spPr>
            <a:xfrm>
              <a:off x="4087587" y="3664558"/>
              <a:ext cx="644728" cy="230832"/>
            </a:xfrm>
            <a:prstGeom prst="rect">
              <a:avLst/>
            </a:prstGeom>
            <a:noFill/>
          </p:spPr>
          <p:txBody>
            <a:bodyPr wrap="none" rtlCol="0">
              <a:spAutoFit/>
            </a:bodyPr>
            <a:lstStyle/>
            <a:p>
              <a:r>
                <a:rPr lang="en-US" altLang="ko-KR" sz="900" dirty="0"/>
                <a:t>XD #(n+1)</a:t>
              </a:r>
              <a:endParaRPr lang="ko-KR" altLang="en-US" sz="900" dirty="0"/>
            </a:p>
          </p:txBody>
        </p:sp>
        <p:sp>
          <p:nvSpPr>
            <p:cNvPr id="105" name="직사각형 104">
              <a:extLst>
                <a:ext uri="{FF2B5EF4-FFF2-40B4-BE49-F238E27FC236}">
                  <a16:creationId xmlns:a16="http://schemas.microsoft.com/office/drawing/2014/main" id="{CFFE0CAD-52F0-FEF7-83C7-7D4CB2DB349B}"/>
                </a:ext>
              </a:extLst>
            </p:cNvPr>
            <p:cNvSpPr/>
            <p:nvPr/>
          </p:nvSpPr>
          <p:spPr>
            <a:xfrm>
              <a:off x="4278404" y="4020317"/>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IO_MODE</a:t>
              </a:r>
              <a:endParaRPr lang="ko-KR" altLang="en-US" sz="600" dirty="0">
                <a:solidFill>
                  <a:schemeClr val="tx1"/>
                </a:solidFill>
              </a:endParaRPr>
            </a:p>
          </p:txBody>
        </p:sp>
      </p:grpSp>
      <p:sp>
        <p:nvSpPr>
          <p:cNvPr id="114" name="TextBox 113">
            <a:extLst>
              <a:ext uri="{FF2B5EF4-FFF2-40B4-BE49-F238E27FC236}">
                <a16:creationId xmlns:a16="http://schemas.microsoft.com/office/drawing/2014/main" id="{046782E7-66A4-7E28-BC82-11D421F5A740}"/>
              </a:ext>
            </a:extLst>
          </p:cNvPr>
          <p:cNvSpPr txBox="1"/>
          <p:nvPr/>
        </p:nvSpPr>
        <p:spPr>
          <a:xfrm>
            <a:off x="2958347" y="5886001"/>
            <a:ext cx="473206" cy="230832"/>
          </a:xfrm>
          <a:prstGeom prst="rect">
            <a:avLst/>
          </a:prstGeom>
          <a:noFill/>
        </p:spPr>
        <p:txBody>
          <a:bodyPr wrap="none" rtlCol="0">
            <a:spAutoFit/>
          </a:bodyPr>
          <a:lstStyle/>
          <a:p>
            <a:r>
              <a:rPr lang="en-US" altLang="ko-KR" sz="900" dirty="0"/>
              <a:t>#n FBI</a:t>
            </a:r>
            <a:endParaRPr lang="ko-KR" altLang="en-US" sz="900" dirty="0"/>
          </a:p>
        </p:txBody>
      </p:sp>
      <p:sp>
        <p:nvSpPr>
          <p:cNvPr id="115" name="TextBox 114">
            <a:extLst>
              <a:ext uri="{FF2B5EF4-FFF2-40B4-BE49-F238E27FC236}">
                <a16:creationId xmlns:a16="http://schemas.microsoft.com/office/drawing/2014/main" id="{C95DFDFB-5F78-D8F7-C4A3-033BD6D9F1F8}"/>
              </a:ext>
            </a:extLst>
          </p:cNvPr>
          <p:cNvSpPr txBox="1"/>
          <p:nvPr/>
        </p:nvSpPr>
        <p:spPr>
          <a:xfrm>
            <a:off x="2210624" y="8690366"/>
            <a:ext cx="2425664"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12.  External FBO and VSI Scheme</a:t>
            </a:r>
          </a:p>
        </p:txBody>
      </p:sp>
      <p:cxnSp>
        <p:nvCxnSpPr>
          <p:cNvPr id="116" name="직선 연결선 115">
            <a:extLst>
              <a:ext uri="{FF2B5EF4-FFF2-40B4-BE49-F238E27FC236}">
                <a16:creationId xmlns:a16="http://schemas.microsoft.com/office/drawing/2014/main" id="{21522562-F0C1-38A5-3125-5DF65CF37D83}"/>
              </a:ext>
            </a:extLst>
          </p:cNvPr>
          <p:cNvCxnSpPr/>
          <p:nvPr/>
        </p:nvCxnSpPr>
        <p:spPr>
          <a:xfrm>
            <a:off x="2639223" y="7924725"/>
            <a:ext cx="254000" cy="0"/>
          </a:xfrm>
          <a:prstGeom prst="line">
            <a:avLst/>
          </a:prstGeom>
          <a:ln w="12700">
            <a:headEnd type="triangle" w="sm" len="sm"/>
            <a:tailEnd type="none" w="sm" len="sm"/>
          </a:ln>
        </p:spPr>
        <p:style>
          <a:lnRef idx="1">
            <a:schemeClr val="accent1"/>
          </a:lnRef>
          <a:fillRef idx="0">
            <a:schemeClr val="accent1"/>
          </a:fillRef>
          <a:effectRef idx="0">
            <a:schemeClr val="accent1"/>
          </a:effectRef>
          <a:fontRef idx="minor">
            <a:schemeClr val="tx1"/>
          </a:fontRef>
        </p:style>
      </p:cxnSp>
      <p:sp>
        <p:nvSpPr>
          <p:cNvPr id="117" name="TextBox 116">
            <a:extLst>
              <a:ext uri="{FF2B5EF4-FFF2-40B4-BE49-F238E27FC236}">
                <a16:creationId xmlns:a16="http://schemas.microsoft.com/office/drawing/2014/main" id="{FF8A721C-05B0-59E2-A244-0067AEC919B8}"/>
              </a:ext>
            </a:extLst>
          </p:cNvPr>
          <p:cNvSpPr txBox="1"/>
          <p:nvPr/>
        </p:nvSpPr>
        <p:spPr>
          <a:xfrm>
            <a:off x="2290553" y="7804491"/>
            <a:ext cx="377026" cy="230832"/>
          </a:xfrm>
          <a:prstGeom prst="rect">
            <a:avLst/>
          </a:prstGeom>
          <a:noFill/>
        </p:spPr>
        <p:txBody>
          <a:bodyPr wrap="none" rtlCol="0">
            <a:spAutoFit/>
          </a:bodyPr>
          <a:lstStyle/>
          <a:p>
            <a:r>
              <a:rPr lang="en-US" altLang="ko-KR" sz="900" dirty="0"/>
              <a:t>FBO</a:t>
            </a:r>
            <a:endParaRPr lang="ko-KR" altLang="en-US" sz="900" dirty="0"/>
          </a:p>
        </p:txBody>
      </p:sp>
      <p:cxnSp>
        <p:nvCxnSpPr>
          <p:cNvPr id="118" name="직선 연결선 117">
            <a:extLst>
              <a:ext uri="{FF2B5EF4-FFF2-40B4-BE49-F238E27FC236}">
                <a16:creationId xmlns:a16="http://schemas.microsoft.com/office/drawing/2014/main" id="{8C788C0A-F5A8-378B-ACCF-F2AF69DC79BC}"/>
              </a:ext>
            </a:extLst>
          </p:cNvPr>
          <p:cNvCxnSpPr>
            <a:cxnSpLocks/>
          </p:cNvCxnSpPr>
          <p:nvPr/>
        </p:nvCxnSpPr>
        <p:spPr>
          <a:xfrm flipH="1">
            <a:off x="4162267" y="7921905"/>
            <a:ext cx="252000" cy="0"/>
          </a:xfrm>
          <a:prstGeom prst="line">
            <a:avLst/>
          </a:prstGeom>
          <a:ln w="12700">
            <a:headEnd type="none" w="sm" len="sm"/>
            <a:tailEnd type="triangle" w="sm" len="sm"/>
          </a:ln>
        </p:spPr>
        <p:style>
          <a:lnRef idx="1">
            <a:schemeClr val="accent1"/>
          </a:lnRef>
          <a:fillRef idx="0">
            <a:schemeClr val="accent1"/>
          </a:fillRef>
          <a:effectRef idx="0">
            <a:schemeClr val="accent1"/>
          </a:effectRef>
          <a:fontRef idx="minor">
            <a:schemeClr val="tx1"/>
          </a:fontRef>
        </p:style>
      </p:cxnSp>
      <p:sp>
        <p:nvSpPr>
          <p:cNvPr id="119" name="TextBox 118">
            <a:extLst>
              <a:ext uri="{FF2B5EF4-FFF2-40B4-BE49-F238E27FC236}">
                <a16:creationId xmlns:a16="http://schemas.microsoft.com/office/drawing/2014/main" id="{5183351A-5215-7C8D-4602-55DBB3F2402E}"/>
              </a:ext>
            </a:extLst>
          </p:cNvPr>
          <p:cNvSpPr txBox="1"/>
          <p:nvPr/>
        </p:nvSpPr>
        <p:spPr>
          <a:xfrm>
            <a:off x="4369966" y="7807431"/>
            <a:ext cx="332142" cy="230832"/>
          </a:xfrm>
          <a:prstGeom prst="rect">
            <a:avLst/>
          </a:prstGeom>
          <a:noFill/>
        </p:spPr>
        <p:txBody>
          <a:bodyPr wrap="none" rtlCol="0">
            <a:spAutoFit/>
          </a:bodyPr>
          <a:lstStyle/>
          <a:p>
            <a:r>
              <a:rPr lang="en-US" altLang="ko-KR" sz="900" dirty="0"/>
              <a:t>VSI</a:t>
            </a:r>
            <a:endParaRPr lang="ko-KR" altLang="en-US" sz="900" dirty="0"/>
          </a:p>
        </p:txBody>
      </p:sp>
      <p:grpSp>
        <p:nvGrpSpPr>
          <p:cNvPr id="120" name="그룹 119">
            <a:extLst>
              <a:ext uri="{FF2B5EF4-FFF2-40B4-BE49-F238E27FC236}">
                <a16:creationId xmlns:a16="http://schemas.microsoft.com/office/drawing/2014/main" id="{1179BA43-F2D9-B9C4-BC7E-6DE5580EACAD}"/>
              </a:ext>
            </a:extLst>
          </p:cNvPr>
          <p:cNvGrpSpPr/>
          <p:nvPr/>
        </p:nvGrpSpPr>
        <p:grpSpPr>
          <a:xfrm>
            <a:off x="2895027" y="7363609"/>
            <a:ext cx="1260000" cy="1116000"/>
            <a:chOff x="2988890" y="7363609"/>
            <a:chExt cx="1425650" cy="1242622"/>
          </a:xfrm>
        </p:grpSpPr>
        <p:sp>
          <p:nvSpPr>
            <p:cNvPr id="121" name="직사각형 120">
              <a:extLst>
                <a:ext uri="{FF2B5EF4-FFF2-40B4-BE49-F238E27FC236}">
                  <a16:creationId xmlns:a16="http://schemas.microsoft.com/office/drawing/2014/main" id="{9AC3C9FA-0900-703C-804C-536B7D61ED7D}"/>
                </a:ext>
              </a:extLst>
            </p:cNvPr>
            <p:cNvSpPr/>
            <p:nvPr/>
          </p:nvSpPr>
          <p:spPr>
            <a:xfrm>
              <a:off x="3084413" y="7364231"/>
              <a:ext cx="1242579" cy="1242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122" name="그림 121">
              <a:extLst>
                <a:ext uri="{FF2B5EF4-FFF2-40B4-BE49-F238E27FC236}">
                  <a16:creationId xmlns:a16="http://schemas.microsoft.com/office/drawing/2014/main" id="{8E4F018D-86C6-437C-92FE-A921FDB63DAD}"/>
                </a:ext>
              </a:extLst>
            </p:cNvPr>
            <p:cNvPicPr>
              <a:picLocks noChangeAspect="1"/>
            </p:cNvPicPr>
            <p:nvPr/>
          </p:nvPicPr>
          <p:blipFill>
            <a:blip r:embed="rId3"/>
            <a:stretch>
              <a:fillRect/>
            </a:stretch>
          </p:blipFill>
          <p:spPr>
            <a:xfrm flipH="1">
              <a:off x="3461579" y="8123151"/>
              <a:ext cx="216000" cy="115821"/>
            </a:xfrm>
            <a:prstGeom prst="rect">
              <a:avLst/>
            </a:prstGeom>
          </p:spPr>
        </p:pic>
        <p:sp>
          <p:nvSpPr>
            <p:cNvPr id="123" name="직사각형 122">
              <a:extLst>
                <a:ext uri="{FF2B5EF4-FFF2-40B4-BE49-F238E27FC236}">
                  <a16:creationId xmlns:a16="http://schemas.microsoft.com/office/drawing/2014/main" id="{3C052A2B-65BF-1F22-7D6D-77B94AB3A10E}"/>
                </a:ext>
              </a:extLst>
            </p:cNvPr>
            <p:cNvSpPr/>
            <p:nvPr/>
          </p:nvSpPr>
          <p:spPr>
            <a:xfrm>
              <a:off x="3559239" y="7929532"/>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internal FB</a:t>
              </a:r>
              <a:endParaRPr lang="ko-KR" altLang="en-US" sz="600" dirty="0">
                <a:solidFill>
                  <a:schemeClr val="tx1"/>
                </a:solidFill>
              </a:endParaRPr>
            </a:p>
          </p:txBody>
        </p:sp>
        <p:grpSp>
          <p:nvGrpSpPr>
            <p:cNvPr id="124" name="그룹 123">
              <a:extLst>
                <a:ext uri="{FF2B5EF4-FFF2-40B4-BE49-F238E27FC236}">
                  <a16:creationId xmlns:a16="http://schemas.microsoft.com/office/drawing/2014/main" id="{E6FF7224-0C43-CD68-E3A0-F3D57E4F3629}"/>
                </a:ext>
              </a:extLst>
            </p:cNvPr>
            <p:cNvGrpSpPr/>
            <p:nvPr/>
          </p:nvGrpSpPr>
          <p:grpSpPr>
            <a:xfrm>
              <a:off x="3257024" y="8061500"/>
              <a:ext cx="234000" cy="399680"/>
              <a:chOff x="2505005" y="3797258"/>
              <a:chExt cx="234000" cy="399680"/>
            </a:xfrm>
          </p:grpSpPr>
          <p:pic>
            <p:nvPicPr>
              <p:cNvPr id="141" name="그림 140">
                <a:extLst>
                  <a:ext uri="{FF2B5EF4-FFF2-40B4-BE49-F238E27FC236}">
                    <a16:creationId xmlns:a16="http://schemas.microsoft.com/office/drawing/2014/main" id="{CF1A2088-C391-3ABB-5D53-8F8A11E1D92E}"/>
                  </a:ext>
                </a:extLst>
              </p:cNvPr>
              <p:cNvPicPr>
                <a:picLocks noChangeAspect="1"/>
              </p:cNvPicPr>
              <p:nvPr/>
            </p:nvPicPr>
            <p:blipFill>
              <a:blip r:embed="rId5"/>
              <a:stretch>
                <a:fillRect/>
              </a:stretch>
            </p:blipFill>
            <p:spPr>
              <a:xfrm>
                <a:off x="2505005" y="4119156"/>
                <a:ext cx="144000" cy="77782"/>
              </a:xfrm>
              <a:prstGeom prst="rect">
                <a:avLst/>
              </a:prstGeom>
            </p:spPr>
          </p:pic>
          <p:pic>
            <p:nvPicPr>
              <p:cNvPr id="142" name="그림 141">
                <a:extLst>
                  <a:ext uri="{FF2B5EF4-FFF2-40B4-BE49-F238E27FC236}">
                    <a16:creationId xmlns:a16="http://schemas.microsoft.com/office/drawing/2014/main" id="{A3ECD2AD-9C41-DB07-3AA3-FC340BBE7F99}"/>
                  </a:ext>
                </a:extLst>
              </p:cNvPr>
              <p:cNvPicPr>
                <a:picLocks noChangeAspect="1"/>
              </p:cNvPicPr>
              <p:nvPr/>
            </p:nvPicPr>
            <p:blipFill>
              <a:blip r:embed="rId6"/>
              <a:stretch>
                <a:fillRect/>
              </a:stretch>
            </p:blipFill>
            <p:spPr>
              <a:xfrm flipH="1">
                <a:off x="2559005" y="3797258"/>
                <a:ext cx="180000" cy="239124"/>
              </a:xfrm>
              <a:prstGeom prst="rect">
                <a:avLst/>
              </a:prstGeom>
            </p:spPr>
          </p:pic>
          <p:cxnSp>
            <p:nvCxnSpPr>
              <p:cNvPr id="143" name="직선 연결선 142">
                <a:extLst>
                  <a:ext uri="{FF2B5EF4-FFF2-40B4-BE49-F238E27FC236}">
                    <a16:creationId xmlns:a16="http://schemas.microsoft.com/office/drawing/2014/main" id="{9AAE7F91-EC40-92CB-CF96-C2DF948001A6}"/>
                  </a:ext>
                </a:extLst>
              </p:cNvPr>
              <p:cNvCxnSpPr>
                <a:cxnSpLocks/>
              </p:cNvCxnSpPr>
              <p:nvPr/>
            </p:nvCxnSpPr>
            <p:spPr>
              <a:xfrm flipV="1">
                <a:off x="2575872" y="4029580"/>
                <a:ext cx="0" cy="90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5" name="직선 연결선 124">
              <a:extLst>
                <a:ext uri="{FF2B5EF4-FFF2-40B4-BE49-F238E27FC236}">
                  <a16:creationId xmlns:a16="http://schemas.microsoft.com/office/drawing/2014/main" id="{D3016DAA-FF01-F0B3-CF67-0CC5ABC938A7}"/>
                </a:ext>
              </a:extLst>
            </p:cNvPr>
            <p:cNvCxnSpPr>
              <a:cxnSpLocks/>
            </p:cNvCxnSpPr>
            <p:nvPr/>
          </p:nvCxnSpPr>
          <p:spPr>
            <a:xfrm flipV="1">
              <a:off x="3328718" y="7980712"/>
              <a:ext cx="0" cy="90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6" name="직선 연결선 125">
              <a:extLst>
                <a:ext uri="{FF2B5EF4-FFF2-40B4-BE49-F238E27FC236}">
                  <a16:creationId xmlns:a16="http://schemas.microsoft.com/office/drawing/2014/main" id="{01B204D2-EF9C-DC82-2BBD-017268126BE2}"/>
                </a:ext>
              </a:extLst>
            </p:cNvPr>
            <p:cNvCxnSpPr>
              <a:cxnSpLocks/>
            </p:cNvCxnSpPr>
            <p:nvPr/>
          </p:nvCxnSpPr>
          <p:spPr>
            <a:xfrm>
              <a:off x="3050816" y="7982761"/>
              <a:ext cx="277075"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27" name="직사각형 126">
              <a:extLst>
                <a:ext uri="{FF2B5EF4-FFF2-40B4-BE49-F238E27FC236}">
                  <a16:creationId xmlns:a16="http://schemas.microsoft.com/office/drawing/2014/main" id="{4398194D-240B-3067-DF0F-F6D358357C9C}"/>
                </a:ext>
              </a:extLst>
            </p:cNvPr>
            <p:cNvSpPr/>
            <p:nvPr/>
          </p:nvSpPr>
          <p:spPr>
            <a:xfrm>
              <a:off x="2988890" y="7928421"/>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5</a:t>
              </a:r>
              <a:endParaRPr lang="ko-KR" altLang="en-US" sz="700" dirty="0">
                <a:solidFill>
                  <a:schemeClr val="tx1"/>
                </a:solidFill>
              </a:endParaRPr>
            </a:p>
          </p:txBody>
        </p:sp>
        <p:cxnSp>
          <p:nvCxnSpPr>
            <p:cNvPr id="128" name="직선 연결선 127">
              <a:extLst>
                <a:ext uri="{FF2B5EF4-FFF2-40B4-BE49-F238E27FC236}">
                  <a16:creationId xmlns:a16="http://schemas.microsoft.com/office/drawing/2014/main" id="{4834F270-7096-1D08-F785-9C5957BFDA76}"/>
                </a:ext>
              </a:extLst>
            </p:cNvPr>
            <p:cNvCxnSpPr>
              <a:cxnSpLocks/>
            </p:cNvCxnSpPr>
            <p:nvPr/>
          </p:nvCxnSpPr>
          <p:spPr>
            <a:xfrm>
              <a:off x="3423441" y="8181966"/>
              <a:ext cx="7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29" name="직사각형 128">
              <a:extLst>
                <a:ext uri="{FF2B5EF4-FFF2-40B4-BE49-F238E27FC236}">
                  <a16:creationId xmlns:a16="http://schemas.microsoft.com/office/drawing/2014/main" id="{664869B2-0FDA-BA6E-D1DB-91AC508EDACE}"/>
                </a:ext>
              </a:extLst>
            </p:cNvPr>
            <p:cNvSpPr/>
            <p:nvPr/>
          </p:nvSpPr>
          <p:spPr>
            <a:xfrm>
              <a:off x="3423441" y="8230276"/>
              <a:ext cx="852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130" name="직선 연결선 129">
              <a:extLst>
                <a:ext uri="{FF2B5EF4-FFF2-40B4-BE49-F238E27FC236}">
                  <a16:creationId xmlns:a16="http://schemas.microsoft.com/office/drawing/2014/main" id="{41CBD166-B1F4-DC70-7FF3-D37E0BDBADF9}"/>
                </a:ext>
              </a:extLst>
            </p:cNvPr>
            <p:cNvCxnSpPr>
              <a:cxnSpLocks/>
            </p:cNvCxnSpPr>
            <p:nvPr/>
          </p:nvCxnSpPr>
          <p:spPr>
            <a:xfrm>
              <a:off x="3631896" y="8155094"/>
              <a:ext cx="108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a:extLst>
                <a:ext uri="{FF2B5EF4-FFF2-40B4-BE49-F238E27FC236}">
                  <a16:creationId xmlns:a16="http://schemas.microsoft.com/office/drawing/2014/main" id="{3C7E8C06-95E3-07AE-646D-68D16E443CA2}"/>
                </a:ext>
              </a:extLst>
            </p:cNvPr>
            <p:cNvCxnSpPr>
              <a:cxnSpLocks/>
            </p:cNvCxnSpPr>
            <p:nvPr/>
          </p:nvCxnSpPr>
          <p:spPr>
            <a:xfrm flipV="1">
              <a:off x="3735935" y="8026359"/>
              <a:ext cx="1283" cy="126433"/>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32" name="타원 131">
              <a:extLst>
                <a:ext uri="{FF2B5EF4-FFF2-40B4-BE49-F238E27FC236}">
                  <a16:creationId xmlns:a16="http://schemas.microsoft.com/office/drawing/2014/main" id="{AF2BC833-45B6-A5E2-7B83-7AD2936607F3}"/>
                </a:ext>
              </a:extLst>
            </p:cNvPr>
            <p:cNvSpPr/>
            <p:nvPr/>
          </p:nvSpPr>
          <p:spPr>
            <a:xfrm>
              <a:off x="3630353" y="8140694"/>
              <a:ext cx="28800" cy="28800"/>
            </a:xfrm>
            <a:prstGeom prst="ellipse">
              <a:avLst/>
            </a:prstGeom>
            <a:solidFill>
              <a:schemeClr val="bg1"/>
            </a:solidFill>
            <a:ln w="508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33" name="직사각형 132">
              <a:extLst>
                <a:ext uri="{FF2B5EF4-FFF2-40B4-BE49-F238E27FC236}">
                  <a16:creationId xmlns:a16="http://schemas.microsoft.com/office/drawing/2014/main" id="{E8D49661-E413-0D1D-FDEB-9C4C1C75514B}"/>
                </a:ext>
              </a:extLst>
            </p:cNvPr>
            <p:cNvSpPr/>
            <p:nvPr/>
          </p:nvSpPr>
          <p:spPr>
            <a:xfrm>
              <a:off x="4234540" y="7933890"/>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14</a:t>
              </a:r>
              <a:endParaRPr lang="ko-KR" altLang="en-US" sz="700" dirty="0">
                <a:solidFill>
                  <a:schemeClr val="tx1"/>
                </a:solidFill>
              </a:endParaRPr>
            </a:p>
          </p:txBody>
        </p:sp>
        <p:sp>
          <p:nvSpPr>
            <p:cNvPr id="134" name="TextBox 133">
              <a:extLst>
                <a:ext uri="{FF2B5EF4-FFF2-40B4-BE49-F238E27FC236}">
                  <a16:creationId xmlns:a16="http://schemas.microsoft.com/office/drawing/2014/main" id="{8BF30B8E-6F19-0A48-B05B-31AB27FF6BAB}"/>
                </a:ext>
              </a:extLst>
            </p:cNvPr>
            <p:cNvSpPr txBox="1"/>
            <p:nvPr/>
          </p:nvSpPr>
          <p:spPr>
            <a:xfrm>
              <a:off x="3546556" y="7363609"/>
              <a:ext cx="314510" cy="230832"/>
            </a:xfrm>
            <a:prstGeom prst="rect">
              <a:avLst/>
            </a:prstGeom>
            <a:noFill/>
          </p:spPr>
          <p:txBody>
            <a:bodyPr wrap="none" rtlCol="0">
              <a:spAutoFit/>
            </a:bodyPr>
            <a:lstStyle/>
            <a:p>
              <a:r>
                <a:rPr lang="en-US" altLang="ko-KR" sz="900" dirty="0"/>
                <a:t>XD</a:t>
              </a:r>
              <a:endParaRPr lang="ko-KR" altLang="en-US" sz="900" dirty="0"/>
            </a:p>
          </p:txBody>
        </p:sp>
        <p:sp>
          <p:nvSpPr>
            <p:cNvPr id="135" name="직사각형 134">
              <a:extLst>
                <a:ext uri="{FF2B5EF4-FFF2-40B4-BE49-F238E27FC236}">
                  <a16:creationId xmlns:a16="http://schemas.microsoft.com/office/drawing/2014/main" id="{6625CCB2-D629-34B4-7DD8-6C9DD881F47D}"/>
                </a:ext>
              </a:extLst>
            </p:cNvPr>
            <p:cNvSpPr/>
            <p:nvPr/>
          </p:nvSpPr>
          <p:spPr>
            <a:xfrm>
              <a:off x="3632819" y="8174583"/>
              <a:ext cx="457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136" name="직선 연결선 135">
              <a:extLst>
                <a:ext uri="{FF2B5EF4-FFF2-40B4-BE49-F238E27FC236}">
                  <a16:creationId xmlns:a16="http://schemas.microsoft.com/office/drawing/2014/main" id="{5EE303B3-5355-B09E-21BB-DD4C43E1D0DB}"/>
                </a:ext>
              </a:extLst>
            </p:cNvPr>
            <p:cNvCxnSpPr>
              <a:cxnSpLocks/>
            </p:cNvCxnSpPr>
            <p:nvPr/>
          </p:nvCxnSpPr>
          <p:spPr>
            <a:xfrm>
              <a:off x="3629084" y="8218332"/>
              <a:ext cx="504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7" name="직선 연결선 136">
              <a:extLst>
                <a:ext uri="{FF2B5EF4-FFF2-40B4-BE49-F238E27FC236}">
                  <a16:creationId xmlns:a16="http://schemas.microsoft.com/office/drawing/2014/main" id="{5B81B309-B098-BCE0-B9DD-CDF9C21AB0B9}"/>
                </a:ext>
              </a:extLst>
            </p:cNvPr>
            <p:cNvCxnSpPr>
              <a:cxnSpLocks/>
            </p:cNvCxnSpPr>
            <p:nvPr/>
          </p:nvCxnSpPr>
          <p:spPr>
            <a:xfrm flipV="1">
              <a:off x="3738436" y="8218141"/>
              <a:ext cx="1283" cy="126433"/>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38" name="직사각형 137">
              <a:extLst>
                <a:ext uri="{FF2B5EF4-FFF2-40B4-BE49-F238E27FC236}">
                  <a16:creationId xmlns:a16="http://schemas.microsoft.com/office/drawing/2014/main" id="{19E22056-464E-F81A-26E0-04EB4DD46B38}"/>
                </a:ext>
              </a:extLst>
            </p:cNvPr>
            <p:cNvSpPr/>
            <p:nvPr/>
          </p:nvSpPr>
          <p:spPr>
            <a:xfrm>
              <a:off x="3549341" y="8328107"/>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IO_MODE</a:t>
              </a:r>
              <a:endParaRPr lang="ko-KR" altLang="en-US" sz="600" dirty="0">
                <a:solidFill>
                  <a:schemeClr val="tx1"/>
                </a:solidFill>
              </a:endParaRPr>
            </a:p>
          </p:txBody>
        </p:sp>
        <p:pic>
          <p:nvPicPr>
            <p:cNvPr id="139" name="그림 138">
              <a:extLst>
                <a:ext uri="{FF2B5EF4-FFF2-40B4-BE49-F238E27FC236}">
                  <a16:creationId xmlns:a16="http://schemas.microsoft.com/office/drawing/2014/main" id="{764C7CEE-E0EA-1086-7756-83EC811318C7}"/>
                </a:ext>
              </a:extLst>
            </p:cNvPr>
            <p:cNvPicPr>
              <a:picLocks noChangeAspect="1"/>
            </p:cNvPicPr>
            <p:nvPr/>
          </p:nvPicPr>
          <p:blipFill>
            <a:blip r:embed="rId2"/>
            <a:stretch>
              <a:fillRect/>
            </a:stretch>
          </p:blipFill>
          <p:spPr>
            <a:xfrm rot="10641360">
              <a:off x="4013600" y="7927439"/>
              <a:ext cx="216000" cy="149104"/>
            </a:xfrm>
            <a:prstGeom prst="rect">
              <a:avLst/>
            </a:prstGeom>
          </p:spPr>
        </p:pic>
        <p:cxnSp>
          <p:nvCxnSpPr>
            <p:cNvPr id="140" name="직선 연결선 139">
              <a:extLst>
                <a:ext uri="{FF2B5EF4-FFF2-40B4-BE49-F238E27FC236}">
                  <a16:creationId xmlns:a16="http://schemas.microsoft.com/office/drawing/2014/main" id="{14F605FA-D34C-4F61-9B16-ABBB03B92F44}"/>
                </a:ext>
              </a:extLst>
            </p:cNvPr>
            <p:cNvCxnSpPr>
              <a:cxnSpLocks/>
            </p:cNvCxnSpPr>
            <p:nvPr/>
          </p:nvCxnSpPr>
          <p:spPr>
            <a:xfrm flipV="1">
              <a:off x="4134822" y="8054264"/>
              <a:ext cx="1283" cy="162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44" name="TextBox 143">
            <a:extLst>
              <a:ext uri="{FF2B5EF4-FFF2-40B4-BE49-F238E27FC236}">
                <a16:creationId xmlns:a16="http://schemas.microsoft.com/office/drawing/2014/main" id="{8574E76A-D8EB-91F1-6C87-CD4C61BB6486}"/>
              </a:ext>
            </a:extLst>
          </p:cNvPr>
          <p:cNvSpPr txBox="1"/>
          <p:nvPr/>
        </p:nvSpPr>
        <p:spPr>
          <a:xfrm>
            <a:off x="419255" y="775809"/>
            <a:ext cx="6053975"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Tree>
    <p:extLst>
      <p:ext uri="{BB962C8B-B14F-4D97-AF65-F5344CB8AC3E}">
        <p14:creationId xmlns:p14="http://schemas.microsoft.com/office/powerpoint/2010/main" val="2131652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99D9A718-EAE2-4D8C-B8BD-17D024CE14FF}"/>
              </a:ext>
            </a:extLst>
          </p:cNvPr>
          <p:cNvSpPr txBox="1"/>
          <p:nvPr/>
        </p:nvSpPr>
        <p:spPr>
          <a:xfrm>
            <a:off x="400532" y="776213"/>
            <a:ext cx="6061635"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Register Map</a:t>
            </a:r>
          </a:p>
        </p:txBody>
      </p:sp>
      <p:sp>
        <p:nvSpPr>
          <p:cNvPr id="3" name="TextBox 2">
            <a:extLst>
              <a:ext uri="{FF2B5EF4-FFF2-40B4-BE49-F238E27FC236}">
                <a16:creationId xmlns:a16="http://schemas.microsoft.com/office/drawing/2014/main" id="{3361CF8C-9724-C6B9-548F-BF8FA6528D54}"/>
              </a:ext>
            </a:extLst>
          </p:cNvPr>
          <p:cNvSpPr txBox="1"/>
          <p:nvPr/>
        </p:nvSpPr>
        <p:spPr>
          <a:xfrm>
            <a:off x="413543" y="274753"/>
            <a:ext cx="6048623"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91BA68BD-CD99-1E39-D8C4-B3DECE023D43}"/>
              </a:ext>
            </a:extLst>
          </p:cNvPr>
          <p:cNvGraphicFramePr>
            <a:graphicFrameLocks noGrp="1"/>
          </p:cNvGraphicFramePr>
          <p:nvPr>
            <p:extLst>
              <p:ext uri="{D42A27DB-BD31-4B8C-83A1-F6EECF244321}">
                <p14:modId xmlns:p14="http://schemas.microsoft.com/office/powerpoint/2010/main" val="779409023"/>
              </p:ext>
            </p:extLst>
          </p:nvPr>
        </p:nvGraphicFramePr>
        <p:xfrm>
          <a:off x="413541" y="1730617"/>
          <a:ext cx="6034056" cy="372600"/>
        </p:xfrm>
        <a:graphic>
          <a:graphicData uri="http://schemas.openxmlformats.org/drawingml/2006/table">
            <a:tbl>
              <a:tblPr firstRow="1" bandRow="1">
                <a:tableStyleId>{5C22544A-7EE6-4342-B048-85BDC9FD1C3A}</a:tableStyleId>
              </a:tblPr>
              <a:tblGrid>
                <a:gridCol w="277693">
                  <a:extLst>
                    <a:ext uri="{9D8B030D-6E8A-4147-A177-3AD203B41FA5}">
                      <a16:colId xmlns:a16="http://schemas.microsoft.com/office/drawing/2014/main" val="657570846"/>
                    </a:ext>
                  </a:extLst>
                </a:gridCol>
                <a:gridCol w="331674">
                  <a:extLst>
                    <a:ext uri="{9D8B030D-6E8A-4147-A177-3AD203B41FA5}">
                      <a16:colId xmlns:a16="http://schemas.microsoft.com/office/drawing/2014/main" val="3259894497"/>
                    </a:ext>
                  </a:extLst>
                </a:gridCol>
                <a:gridCol w="413801">
                  <a:extLst>
                    <a:ext uri="{9D8B030D-6E8A-4147-A177-3AD203B41FA5}">
                      <a16:colId xmlns:a16="http://schemas.microsoft.com/office/drawing/2014/main" val="4170535043"/>
                    </a:ext>
                  </a:extLst>
                </a:gridCol>
                <a:gridCol w="417574">
                  <a:extLst>
                    <a:ext uri="{9D8B030D-6E8A-4147-A177-3AD203B41FA5}">
                      <a16:colId xmlns:a16="http://schemas.microsoft.com/office/drawing/2014/main" val="2079070694"/>
                    </a:ext>
                  </a:extLst>
                </a:gridCol>
                <a:gridCol w="417574">
                  <a:extLst>
                    <a:ext uri="{9D8B030D-6E8A-4147-A177-3AD203B41FA5}">
                      <a16:colId xmlns:a16="http://schemas.microsoft.com/office/drawing/2014/main" val="4213315911"/>
                    </a:ext>
                  </a:extLst>
                </a:gridCol>
                <a:gridCol w="417574">
                  <a:extLst>
                    <a:ext uri="{9D8B030D-6E8A-4147-A177-3AD203B41FA5}">
                      <a16:colId xmlns:a16="http://schemas.microsoft.com/office/drawing/2014/main" val="2769999950"/>
                    </a:ext>
                  </a:extLst>
                </a:gridCol>
                <a:gridCol w="417574">
                  <a:extLst>
                    <a:ext uri="{9D8B030D-6E8A-4147-A177-3AD203B41FA5}">
                      <a16:colId xmlns:a16="http://schemas.microsoft.com/office/drawing/2014/main" val="135637185"/>
                    </a:ext>
                  </a:extLst>
                </a:gridCol>
                <a:gridCol w="417574">
                  <a:extLst>
                    <a:ext uri="{9D8B030D-6E8A-4147-A177-3AD203B41FA5}">
                      <a16:colId xmlns:a16="http://schemas.microsoft.com/office/drawing/2014/main" val="3038050475"/>
                    </a:ext>
                  </a:extLst>
                </a:gridCol>
                <a:gridCol w="417574">
                  <a:extLst>
                    <a:ext uri="{9D8B030D-6E8A-4147-A177-3AD203B41FA5}">
                      <a16:colId xmlns:a16="http://schemas.microsoft.com/office/drawing/2014/main" val="1979433044"/>
                    </a:ext>
                  </a:extLst>
                </a:gridCol>
                <a:gridCol w="417574">
                  <a:extLst>
                    <a:ext uri="{9D8B030D-6E8A-4147-A177-3AD203B41FA5}">
                      <a16:colId xmlns:a16="http://schemas.microsoft.com/office/drawing/2014/main" val="4270661649"/>
                    </a:ext>
                  </a:extLst>
                </a:gridCol>
                <a:gridCol w="417574">
                  <a:extLst>
                    <a:ext uri="{9D8B030D-6E8A-4147-A177-3AD203B41FA5}">
                      <a16:colId xmlns:a16="http://schemas.microsoft.com/office/drawing/2014/main" val="3027041370"/>
                    </a:ext>
                  </a:extLst>
                </a:gridCol>
                <a:gridCol w="417574">
                  <a:extLst>
                    <a:ext uri="{9D8B030D-6E8A-4147-A177-3AD203B41FA5}">
                      <a16:colId xmlns:a16="http://schemas.microsoft.com/office/drawing/2014/main" val="2852526216"/>
                    </a:ext>
                  </a:extLst>
                </a:gridCol>
                <a:gridCol w="417574">
                  <a:extLst>
                    <a:ext uri="{9D8B030D-6E8A-4147-A177-3AD203B41FA5}">
                      <a16:colId xmlns:a16="http://schemas.microsoft.com/office/drawing/2014/main" val="103420222"/>
                    </a:ext>
                  </a:extLst>
                </a:gridCol>
                <a:gridCol w="417574">
                  <a:extLst>
                    <a:ext uri="{9D8B030D-6E8A-4147-A177-3AD203B41FA5}">
                      <a16:colId xmlns:a16="http://schemas.microsoft.com/office/drawing/2014/main" val="1470405609"/>
                    </a:ext>
                  </a:extLst>
                </a:gridCol>
                <a:gridCol w="41757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RST</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VS_RST</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E_RST</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ID [4:0]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7" name="TextBox 6">
            <a:extLst>
              <a:ext uri="{FF2B5EF4-FFF2-40B4-BE49-F238E27FC236}">
                <a16:creationId xmlns:a16="http://schemas.microsoft.com/office/drawing/2014/main" id="{FC28EF0F-BE36-6237-CD6A-53BD8C559916}"/>
              </a:ext>
            </a:extLst>
          </p:cNvPr>
          <p:cNvSpPr txBox="1"/>
          <p:nvPr/>
        </p:nvSpPr>
        <p:spPr>
          <a:xfrm>
            <a:off x="400531" y="1465288"/>
            <a:ext cx="6061635" cy="261610"/>
          </a:xfrm>
          <a:prstGeom prst="rect">
            <a:avLst/>
          </a:prstGeom>
          <a:noFill/>
        </p:spPr>
        <p:txBody>
          <a:bodyPr wrap="square" lIns="0" rIns="36000" rtlCol="0" anchor="t" anchorCtr="0">
            <a:spAutoFit/>
          </a:bodyPr>
          <a:lstStyle/>
          <a:p>
            <a:r>
              <a:rPr lang="en-US" altLang="ko-KR" sz="1100" b="1" dirty="0">
                <a:latin typeface="Arial" panose="020B0604020202020204" pitchFamily="34" charset="0"/>
                <a:cs typeface="Arial" panose="020B0604020202020204" pitchFamily="34" charset="0"/>
              </a:rPr>
              <a:t> RESET / ID</a:t>
            </a:r>
          </a:p>
        </p:txBody>
      </p:sp>
      <p:graphicFrame>
        <p:nvGraphicFramePr>
          <p:cNvPr id="5" name="표 4">
            <a:extLst>
              <a:ext uri="{FF2B5EF4-FFF2-40B4-BE49-F238E27FC236}">
                <a16:creationId xmlns:a16="http://schemas.microsoft.com/office/drawing/2014/main" id="{3579A5FB-07AA-E388-F2C4-FDAC9EB25F8E}"/>
              </a:ext>
            </a:extLst>
          </p:cNvPr>
          <p:cNvGraphicFramePr>
            <a:graphicFrameLocks noGrp="1"/>
          </p:cNvGraphicFramePr>
          <p:nvPr>
            <p:extLst>
              <p:ext uri="{D42A27DB-BD31-4B8C-83A1-F6EECF244321}">
                <p14:modId xmlns:p14="http://schemas.microsoft.com/office/powerpoint/2010/main" val="266628963"/>
              </p:ext>
            </p:extLst>
          </p:nvPr>
        </p:nvGraphicFramePr>
        <p:xfrm>
          <a:off x="404812" y="2156360"/>
          <a:ext cx="6048622" cy="3062417"/>
        </p:xfrm>
        <a:graphic>
          <a:graphicData uri="http://schemas.openxmlformats.org/drawingml/2006/table">
            <a:tbl>
              <a:tblPr firstRow="1" bandRow="1">
                <a:tableStyleId>{5C22544A-7EE6-4342-B048-85BDC9FD1C3A}</a:tableStyleId>
              </a:tblPr>
              <a:tblGrid>
                <a:gridCol w="411264">
                  <a:extLst>
                    <a:ext uri="{9D8B030D-6E8A-4147-A177-3AD203B41FA5}">
                      <a16:colId xmlns:a16="http://schemas.microsoft.com/office/drawing/2014/main" val="4170535043"/>
                    </a:ext>
                  </a:extLst>
                </a:gridCol>
                <a:gridCol w="594736">
                  <a:extLst>
                    <a:ext uri="{9D8B030D-6E8A-4147-A177-3AD203B41FA5}">
                      <a16:colId xmlns:a16="http://schemas.microsoft.com/office/drawing/2014/main" val="2079070694"/>
                    </a:ext>
                  </a:extLst>
                </a:gridCol>
                <a:gridCol w="287961">
                  <a:extLst>
                    <a:ext uri="{9D8B030D-6E8A-4147-A177-3AD203B41FA5}">
                      <a16:colId xmlns:a16="http://schemas.microsoft.com/office/drawing/2014/main" val="3858367650"/>
                    </a:ext>
                  </a:extLst>
                </a:gridCol>
                <a:gridCol w="4754661">
                  <a:extLst>
                    <a:ext uri="{9D8B030D-6E8A-4147-A177-3AD203B41FA5}">
                      <a16:colId xmlns:a16="http://schemas.microsoft.com/office/drawing/2014/main" val="32595803"/>
                    </a:ext>
                  </a:extLst>
                </a:gridCol>
              </a:tblGrid>
              <a:tr h="277491">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a:noFill/>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3226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RST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All internal logics are initialized to a default state and this bit will be auto-cleared after internal initialization.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1576041"/>
                  </a:ext>
                </a:extLst>
              </a:tr>
              <a:tr h="53226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VS_RST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If this bit is set, then the serializer and de-serializer of XD will be initialized to a default state at every vsync. This bit set does not affect all internal registers and buffers.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3354998"/>
                  </a:ext>
                </a:extLst>
              </a:tr>
              <a:tr h="68828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E_RST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If this bit is set, then the serializer and de-serializer of XD will be initialized to a default state at the last to second pwmclk. So, it is careful that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the XD access at the back of the frame should be avoided. This bit set does not affect all internal registers and buffers.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5687421"/>
                  </a:ext>
                </a:extLst>
              </a:tr>
              <a:tr h="99552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ID</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T>
                      <a:noFill/>
                    </a:lnT>
                  </a:tcPr>
                </a:tc>
                <a:tc>
                  <a:txBody>
                    <a:bodyPr/>
                    <a:lstStyle/>
                    <a:p>
                      <a:pPr algn="just" latinLnBrk="1"/>
                      <a:r>
                        <a:rPr lang="en-US" altLang="ko-KR" sz="900" b="0" dirty="0">
                          <a:solidFill>
                            <a:schemeClr val="tx1"/>
                          </a:solidFill>
                          <a:latin typeface="Arial" panose="020B0604020202020204" pitchFamily="34" charset="0"/>
                          <a:ea typeface="+mn-ea"/>
                          <a:cs typeface="Arial" panose="020B0604020202020204" pitchFamily="34" charset="0"/>
                        </a:rPr>
                        <a:t>These bits are read only. If the XD12 will receive the ID-Gen command from the XC24 controller, then the ID value is automatically generated. The ID value is needed for proper reading, so, the ID-Gen command must be firstly executed by the XC24 controller before executing any commands.  If all XD12 drivers daisied will receive the ID-Gen command, the last-located device will have the first number of ID, and the first located device will have the last number of ID, that is, the number of daisied devices. The ID value can not be written by a Host.</a:t>
                      </a:r>
                    </a:p>
                  </a:txBody>
                  <a:tcPr marL="36000" marR="0" marT="36000" marB="36000">
                    <a:lnL>
                      <a:noFill/>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2461270"/>
                  </a:ext>
                </a:extLst>
              </a:tr>
            </a:tbl>
          </a:graphicData>
        </a:graphic>
      </p:graphicFrame>
    </p:spTree>
    <p:extLst>
      <p:ext uri="{BB962C8B-B14F-4D97-AF65-F5344CB8AC3E}">
        <p14:creationId xmlns:p14="http://schemas.microsoft.com/office/powerpoint/2010/main" val="35174991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9674D-B4CF-426E-9A52-D8DB44C761A6}"/>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E15CCA80-A638-E88A-3056-A4BF8A4B2E83}"/>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9AB81759-69D4-139C-380E-40A4F6C6F498}"/>
              </a:ext>
            </a:extLst>
          </p:cNvPr>
          <p:cNvSpPr txBox="1"/>
          <p:nvPr/>
        </p:nvSpPr>
        <p:spPr>
          <a:xfrm>
            <a:off x="400532" y="776213"/>
            <a:ext cx="6061635"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Register Map</a:t>
            </a:r>
          </a:p>
        </p:txBody>
      </p:sp>
      <p:sp>
        <p:nvSpPr>
          <p:cNvPr id="3" name="TextBox 2">
            <a:extLst>
              <a:ext uri="{FF2B5EF4-FFF2-40B4-BE49-F238E27FC236}">
                <a16:creationId xmlns:a16="http://schemas.microsoft.com/office/drawing/2014/main" id="{D38F9FB2-A3B2-9252-CEF4-91D2AC9FED56}"/>
              </a:ext>
            </a:extLst>
          </p:cNvPr>
          <p:cNvSpPr txBox="1"/>
          <p:nvPr/>
        </p:nvSpPr>
        <p:spPr>
          <a:xfrm>
            <a:off x="413543" y="274753"/>
            <a:ext cx="6048623"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8520B269-8193-567D-4EB9-C00357497F02}"/>
              </a:ext>
            </a:extLst>
          </p:cNvPr>
          <p:cNvSpPr txBox="1"/>
          <p:nvPr/>
        </p:nvSpPr>
        <p:spPr>
          <a:xfrm>
            <a:off x="400531" y="1465288"/>
            <a:ext cx="6061635" cy="261610"/>
          </a:xfrm>
          <a:prstGeom prst="rect">
            <a:avLst/>
          </a:prstGeom>
          <a:noFill/>
        </p:spPr>
        <p:txBody>
          <a:bodyPr wrap="square" lIns="0" rIns="36000" rtlCol="0" anchor="t" anchorCtr="0">
            <a:spAutoFit/>
          </a:bodyPr>
          <a:lstStyle/>
          <a:p>
            <a:r>
              <a:rPr lang="en-US" altLang="ko-KR" sz="1100" b="1" dirty="0">
                <a:latin typeface="Arial" panose="020B0604020202020204" pitchFamily="34" charset="0"/>
                <a:cs typeface="Arial" panose="020B0604020202020204" pitchFamily="34" charset="0"/>
              </a:rPr>
              <a:t>LD</a:t>
            </a:r>
            <a:r>
              <a:rPr lang="ko-KR" altLang="en-US" sz="1100" b="1" dirty="0">
                <a:latin typeface="Arial" panose="020B0604020202020204" pitchFamily="34" charset="0"/>
                <a:cs typeface="Arial" panose="020B0604020202020204" pitchFamily="34" charset="0"/>
              </a:rPr>
              <a:t> </a:t>
            </a:r>
            <a:r>
              <a:rPr lang="en-US" altLang="ko-KR" sz="1100" b="1" dirty="0">
                <a:latin typeface="Arial" panose="020B0604020202020204" pitchFamily="34" charset="0"/>
                <a:cs typeface="Arial" panose="020B0604020202020204" pitchFamily="34" charset="0"/>
              </a:rPr>
              <a:t>MODE</a:t>
            </a:r>
          </a:p>
        </p:txBody>
      </p:sp>
      <p:graphicFrame>
        <p:nvGraphicFramePr>
          <p:cNvPr id="6" name="표 5">
            <a:extLst>
              <a:ext uri="{FF2B5EF4-FFF2-40B4-BE49-F238E27FC236}">
                <a16:creationId xmlns:a16="http://schemas.microsoft.com/office/drawing/2014/main" id="{0311427A-EC8F-5618-376F-971CD969EDAA}"/>
              </a:ext>
            </a:extLst>
          </p:cNvPr>
          <p:cNvGraphicFramePr>
            <a:graphicFrameLocks noGrp="1"/>
          </p:cNvGraphicFramePr>
          <p:nvPr>
            <p:extLst>
              <p:ext uri="{D42A27DB-BD31-4B8C-83A1-F6EECF244321}">
                <p14:modId xmlns:p14="http://schemas.microsoft.com/office/powerpoint/2010/main" val="2888550301"/>
              </p:ext>
            </p:extLst>
          </p:nvPr>
        </p:nvGraphicFramePr>
        <p:xfrm>
          <a:off x="400531" y="2164976"/>
          <a:ext cx="6044197" cy="4036225"/>
        </p:xfrm>
        <a:graphic>
          <a:graphicData uri="http://schemas.openxmlformats.org/drawingml/2006/table">
            <a:tbl>
              <a:tblPr firstRow="1" bandRow="1">
                <a:tableStyleId>{5C22544A-7EE6-4342-B048-85BDC9FD1C3A}</a:tableStyleId>
              </a:tblPr>
              <a:tblGrid>
                <a:gridCol w="443164">
                  <a:extLst>
                    <a:ext uri="{9D8B030D-6E8A-4147-A177-3AD203B41FA5}">
                      <a16:colId xmlns:a16="http://schemas.microsoft.com/office/drawing/2014/main" val="4170535043"/>
                    </a:ext>
                  </a:extLst>
                </a:gridCol>
                <a:gridCol w="983634">
                  <a:extLst>
                    <a:ext uri="{9D8B030D-6E8A-4147-A177-3AD203B41FA5}">
                      <a16:colId xmlns:a16="http://schemas.microsoft.com/office/drawing/2014/main" val="2079070694"/>
                    </a:ext>
                  </a:extLst>
                </a:gridCol>
                <a:gridCol w="4617399">
                  <a:extLst>
                    <a:ext uri="{9D8B030D-6E8A-4147-A177-3AD203B41FA5}">
                      <a16:colId xmlns:a16="http://schemas.microsoft.com/office/drawing/2014/main" val="32595803"/>
                    </a:ext>
                  </a:extLst>
                </a:gridCol>
              </a:tblGrid>
              <a:tr h="30673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8439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determines the dimming sequence. Even if the LD_MODE and LD_DIR  value will be changed in the middle of current frame, the dimming sequence will keep the current mode to complete the current frame until a next frame start, and then, the new frame according to the changed LD_MODE or LD_DIR will begin dimming at a next SYNC command.</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151828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IO_MODE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determine the FB and VSYNC functional usage as a pin. Refer to below table.</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8491822"/>
                  </a:ext>
                </a:extLst>
              </a:tr>
              <a:tr h="64241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LD_DIR</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the direction of modulated edge with increasing on time from a internal vsync.  For details, refer to Fig. 6,7,8 and 9.</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Head Shift Lighting</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Tail Shift Lighting</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8028463"/>
                  </a:ext>
                </a:extLst>
              </a:tr>
              <a:tr h="78439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LD_MODE</a:t>
                      </a: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the dimming mode, Normal or X8 mode. The Normal mode is for general dimming sequence and the X8 mode is for 8 times repeated dimming sequence in one frame.  For details, Fig. 6,7,8 and 9.</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Normal mode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X8 mode</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3402798"/>
                  </a:ext>
                </a:extLst>
              </a:tr>
            </a:tbl>
          </a:graphicData>
        </a:graphic>
      </p:graphicFrame>
      <p:graphicFrame>
        <p:nvGraphicFramePr>
          <p:cNvPr id="11" name="표 10">
            <a:extLst>
              <a:ext uri="{FF2B5EF4-FFF2-40B4-BE49-F238E27FC236}">
                <a16:creationId xmlns:a16="http://schemas.microsoft.com/office/drawing/2014/main" id="{519E0C4D-384D-2B6A-D790-0BF4B617A509}"/>
              </a:ext>
            </a:extLst>
          </p:cNvPr>
          <p:cNvGraphicFramePr>
            <a:graphicFrameLocks noGrp="1"/>
          </p:cNvGraphicFramePr>
          <p:nvPr>
            <p:extLst>
              <p:ext uri="{D42A27DB-BD31-4B8C-83A1-F6EECF244321}">
                <p14:modId xmlns:p14="http://schemas.microsoft.com/office/powerpoint/2010/main" val="2689237663"/>
              </p:ext>
            </p:extLst>
          </p:nvPr>
        </p:nvGraphicFramePr>
        <p:xfrm>
          <a:off x="409481" y="1727777"/>
          <a:ext cx="6037277" cy="372600"/>
        </p:xfrm>
        <a:graphic>
          <a:graphicData uri="http://schemas.openxmlformats.org/drawingml/2006/table">
            <a:tbl>
              <a:tblPr firstRow="1" bandRow="1">
                <a:tableStyleId>{5C22544A-7EE6-4342-B048-85BDC9FD1C3A}</a:tableStyleId>
              </a:tblPr>
              <a:tblGrid>
                <a:gridCol w="270229">
                  <a:extLst>
                    <a:ext uri="{9D8B030D-6E8A-4147-A177-3AD203B41FA5}">
                      <a16:colId xmlns:a16="http://schemas.microsoft.com/office/drawing/2014/main" val="657570846"/>
                    </a:ext>
                  </a:extLst>
                </a:gridCol>
                <a:gridCol w="328870">
                  <a:extLst>
                    <a:ext uri="{9D8B030D-6E8A-4147-A177-3AD203B41FA5}">
                      <a16:colId xmlns:a16="http://schemas.microsoft.com/office/drawing/2014/main" val="3259894497"/>
                    </a:ext>
                  </a:extLst>
                </a:gridCol>
                <a:gridCol w="420574">
                  <a:extLst>
                    <a:ext uri="{9D8B030D-6E8A-4147-A177-3AD203B41FA5}">
                      <a16:colId xmlns:a16="http://schemas.microsoft.com/office/drawing/2014/main" val="4170535043"/>
                    </a:ext>
                  </a:extLst>
                </a:gridCol>
                <a:gridCol w="408938">
                  <a:extLst>
                    <a:ext uri="{9D8B030D-6E8A-4147-A177-3AD203B41FA5}">
                      <a16:colId xmlns:a16="http://schemas.microsoft.com/office/drawing/2014/main" val="2079070694"/>
                    </a:ext>
                  </a:extLst>
                </a:gridCol>
                <a:gridCol w="408938">
                  <a:extLst>
                    <a:ext uri="{9D8B030D-6E8A-4147-A177-3AD203B41FA5}">
                      <a16:colId xmlns:a16="http://schemas.microsoft.com/office/drawing/2014/main" val="4213315911"/>
                    </a:ext>
                  </a:extLst>
                </a:gridCol>
                <a:gridCol w="408938">
                  <a:extLst>
                    <a:ext uri="{9D8B030D-6E8A-4147-A177-3AD203B41FA5}">
                      <a16:colId xmlns:a16="http://schemas.microsoft.com/office/drawing/2014/main" val="2769999950"/>
                    </a:ext>
                  </a:extLst>
                </a:gridCol>
                <a:gridCol w="408938">
                  <a:extLst>
                    <a:ext uri="{9D8B030D-6E8A-4147-A177-3AD203B41FA5}">
                      <a16:colId xmlns:a16="http://schemas.microsoft.com/office/drawing/2014/main" val="135637185"/>
                    </a:ext>
                  </a:extLst>
                </a:gridCol>
                <a:gridCol w="408938">
                  <a:extLst>
                    <a:ext uri="{9D8B030D-6E8A-4147-A177-3AD203B41FA5}">
                      <a16:colId xmlns:a16="http://schemas.microsoft.com/office/drawing/2014/main" val="3038050475"/>
                    </a:ext>
                  </a:extLst>
                </a:gridCol>
                <a:gridCol w="408938">
                  <a:extLst>
                    <a:ext uri="{9D8B030D-6E8A-4147-A177-3AD203B41FA5}">
                      <a16:colId xmlns:a16="http://schemas.microsoft.com/office/drawing/2014/main" val="1979433044"/>
                    </a:ext>
                  </a:extLst>
                </a:gridCol>
                <a:gridCol w="408938">
                  <a:extLst>
                    <a:ext uri="{9D8B030D-6E8A-4147-A177-3AD203B41FA5}">
                      <a16:colId xmlns:a16="http://schemas.microsoft.com/office/drawing/2014/main" val="4270661649"/>
                    </a:ext>
                  </a:extLst>
                </a:gridCol>
                <a:gridCol w="408938">
                  <a:extLst>
                    <a:ext uri="{9D8B030D-6E8A-4147-A177-3AD203B41FA5}">
                      <a16:colId xmlns:a16="http://schemas.microsoft.com/office/drawing/2014/main" val="3027041370"/>
                    </a:ext>
                  </a:extLst>
                </a:gridCol>
                <a:gridCol w="408938">
                  <a:extLst>
                    <a:ext uri="{9D8B030D-6E8A-4147-A177-3AD203B41FA5}">
                      <a16:colId xmlns:a16="http://schemas.microsoft.com/office/drawing/2014/main" val="2852526216"/>
                    </a:ext>
                  </a:extLst>
                </a:gridCol>
                <a:gridCol w="408938">
                  <a:extLst>
                    <a:ext uri="{9D8B030D-6E8A-4147-A177-3AD203B41FA5}">
                      <a16:colId xmlns:a16="http://schemas.microsoft.com/office/drawing/2014/main" val="103420222"/>
                    </a:ext>
                  </a:extLst>
                </a:gridCol>
                <a:gridCol w="408938">
                  <a:extLst>
                    <a:ext uri="{9D8B030D-6E8A-4147-A177-3AD203B41FA5}">
                      <a16:colId xmlns:a16="http://schemas.microsoft.com/office/drawing/2014/main" val="1470405609"/>
                    </a:ext>
                  </a:extLst>
                </a:gridCol>
                <a:gridCol w="51928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IO_MODE</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LD_DIR</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LD_MODE</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4" name="표 3">
            <a:extLst>
              <a:ext uri="{FF2B5EF4-FFF2-40B4-BE49-F238E27FC236}">
                <a16:creationId xmlns:a16="http://schemas.microsoft.com/office/drawing/2014/main" id="{BCC12723-47DC-D3B8-6F23-C2B940CE99BC}"/>
              </a:ext>
            </a:extLst>
          </p:cNvPr>
          <p:cNvGraphicFramePr>
            <a:graphicFrameLocks noGrp="1"/>
          </p:cNvGraphicFramePr>
          <p:nvPr>
            <p:extLst>
              <p:ext uri="{D42A27DB-BD31-4B8C-83A1-F6EECF244321}">
                <p14:modId xmlns:p14="http://schemas.microsoft.com/office/powerpoint/2010/main" val="80831770"/>
              </p:ext>
            </p:extLst>
          </p:nvPr>
        </p:nvGraphicFramePr>
        <p:xfrm>
          <a:off x="1878280" y="3490896"/>
          <a:ext cx="4550051" cy="1135505"/>
        </p:xfrm>
        <a:graphic>
          <a:graphicData uri="http://schemas.openxmlformats.org/drawingml/2006/table">
            <a:tbl>
              <a:tblPr firstRow="1" bandRow="1">
                <a:tableStyleId>{5C22544A-7EE6-4342-B048-85BDC9FD1C3A}</a:tableStyleId>
              </a:tblPr>
              <a:tblGrid>
                <a:gridCol w="298799">
                  <a:extLst>
                    <a:ext uri="{9D8B030D-6E8A-4147-A177-3AD203B41FA5}">
                      <a16:colId xmlns:a16="http://schemas.microsoft.com/office/drawing/2014/main" val="2861869108"/>
                    </a:ext>
                  </a:extLst>
                </a:gridCol>
                <a:gridCol w="748109">
                  <a:extLst>
                    <a:ext uri="{9D8B030D-6E8A-4147-A177-3AD203B41FA5}">
                      <a16:colId xmlns:a16="http://schemas.microsoft.com/office/drawing/2014/main" val="3471461862"/>
                    </a:ext>
                  </a:extLst>
                </a:gridCol>
                <a:gridCol w="258967">
                  <a:extLst>
                    <a:ext uri="{9D8B030D-6E8A-4147-A177-3AD203B41FA5}">
                      <a16:colId xmlns:a16="http://schemas.microsoft.com/office/drawing/2014/main" val="4138367841"/>
                    </a:ext>
                  </a:extLst>
                </a:gridCol>
                <a:gridCol w="258967">
                  <a:extLst>
                    <a:ext uri="{9D8B030D-6E8A-4147-A177-3AD203B41FA5}">
                      <a16:colId xmlns:a16="http://schemas.microsoft.com/office/drawing/2014/main" val="3589866634"/>
                    </a:ext>
                  </a:extLst>
                </a:gridCol>
                <a:gridCol w="258967">
                  <a:extLst>
                    <a:ext uri="{9D8B030D-6E8A-4147-A177-3AD203B41FA5}">
                      <a16:colId xmlns:a16="http://schemas.microsoft.com/office/drawing/2014/main" val="203027085"/>
                    </a:ext>
                  </a:extLst>
                </a:gridCol>
                <a:gridCol w="258967">
                  <a:extLst>
                    <a:ext uri="{9D8B030D-6E8A-4147-A177-3AD203B41FA5}">
                      <a16:colId xmlns:a16="http://schemas.microsoft.com/office/drawing/2014/main" val="1213780966"/>
                    </a:ext>
                  </a:extLst>
                </a:gridCol>
                <a:gridCol w="2467275">
                  <a:extLst>
                    <a:ext uri="{9D8B030D-6E8A-4147-A177-3AD203B41FA5}">
                      <a16:colId xmlns:a16="http://schemas.microsoft.com/office/drawing/2014/main" val="4000803811"/>
                    </a:ext>
                  </a:extLst>
                </a:gridCol>
              </a:tblGrid>
              <a:tr h="154929">
                <a:tc>
                  <a:txBody>
                    <a:bodyPr/>
                    <a:lstStyle/>
                    <a:p>
                      <a:pPr algn="ctr" latinLnBrk="1"/>
                      <a:r>
                        <a:rPr lang="en-US" altLang="ko-KR" sz="750" b="0" dirty="0">
                          <a:solidFill>
                            <a:schemeClr val="tx1"/>
                          </a:solidFill>
                          <a:latin typeface="Arial" panose="020B0604020202020204" pitchFamily="34" charset="0"/>
                          <a:ea typeface="+mn-ea"/>
                          <a:cs typeface="Arial" panose="020B0604020202020204" pitchFamily="34" charset="0"/>
                        </a:rPr>
                        <a:t>Value</a:t>
                      </a:r>
                      <a:endParaRPr lang="ko-KR" altLang="en-US" sz="75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750" b="0" dirty="0">
                          <a:solidFill>
                            <a:schemeClr val="tx1"/>
                          </a:solidFill>
                          <a:latin typeface="Arial" panose="020B0604020202020204" pitchFamily="34" charset="0"/>
                          <a:ea typeface="+mn-ea"/>
                          <a:cs typeface="Arial" panose="020B0604020202020204" pitchFamily="34" charset="0"/>
                        </a:rPr>
                        <a:t>Description</a:t>
                      </a:r>
                      <a:endParaRPr lang="ko-KR" altLang="en-US" sz="75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750" b="0" dirty="0">
                          <a:solidFill>
                            <a:schemeClr val="tx1"/>
                          </a:solidFill>
                          <a:latin typeface="Arial" panose="020B0604020202020204" pitchFamily="34" charset="0"/>
                          <a:ea typeface="+mn-ea"/>
                          <a:cs typeface="Arial" panose="020B0604020202020204" pitchFamily="34" charset="0"/>
                        </a:rPr>
                        <a:t>FBI</a:t>
                      </a:r>
                      <a:endParaRPr lang="ko-KR" altLang="en-US" sz="75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750" b="0" dirty="0">
                          <a:solidFill>
                            <a:schemeClr val="tx1"/>
                          </a:solidFill>
                          <a:latin typeface="Arial" panose="020B0604020202020204" pitchFamily="34" charset="0"/>
                          <a:ea typeface="+mn-ea"/>
                          <a:cs typeface="Arial" panose="020B0604020202020204" pitchFamily="34" charset="0"/>
                        </a:rPr>
                        <a:t>FBO</a:t>
                      </a:r>
                      <a:endParaRPr lang="ko-KR" altLang="en-US" sz="75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750" b="0" dirty="0">
                          <a:solidFill>
                            <a:schemeClr val="tx1"/>
                          </a:solidFill>
                          <a:latin typeface="Arial" panose="020B0604020202020204" pitchFamily="34" charset="0"/>
                          <a:ea typeface="+mn-ea"/>
                          <a:cs typeface="Arial" panose="020B0604020202020204" pitchFamily="34" charset="0"/>
                        </a:rPr>
                        <a:t>VSI</a:t>
                      </a:r>
                      <a:endParaRPr lang="ko-KR" altLang="en-US" sz="75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750" b="0" dirty="0">
                          <a:solidFill>
                            <a:schemeClr val="tx1"/>
                          </a:solidFill>
                          <a:latin typeface="Arial" panose="020B0604020202020204" pitchFamily="34" charset="0"/>
                          <a:ea typeface="+mn-ea"/>
                          <a:cs typeface="Arial" panose="020B0604020202020204" pitchFamily="34" charset="0"/>
                        </a:rPr>
                        <a:t>VSO</a:t>
                      </a:r>
                      <a:endParaRPr lang="ko-KR" altLang="en-US" sz="75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750" b="0" dirty="0">
                          <a:solidFill>
                            <a:schemeClr val="tx1"/>
                          </a:solidFill>
                          <a:latin typeface="Arial" panose="020B0604020202020204" pitchFamily="34" charset="0"/>
                          <a:ea typeface="+mn-ea"/>
                          <a:cs typeface="Arial" panose="020B0604020202020204" pitchFamily="34" charset="0"/>
                        </a:rPr>
                        <a:t>Remark</a:t>
                      </a:r>
                      <a:endParaRPr lang="ko-KR" altLang="en-US" sz="75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40453051"/>
                  </a:ext>
                </a:extLst>
              </a:tr>
              <a:tr h="245144">
                <a:tc>
                  <a:txBody>
                    <a:bodyPr/>
                    <a:lstStyle/>
                    <a:p>
                      <a:pPr algn="ctr" latinLnBrk="1"/>
                      <a:r>
                        <a:rPr lang="en-US" altLang="ko-KR" sz="750" dirty="0">
                          <a:solidFill>
                            <a:schemeClr val="tx1"/>
                          </a:solidFill>
                          <a:latin typeface="Arial" panose="020B0604020202020204" pitchFamily="34" charset="0"/>
                          <a:ea typeface="+mn-ea"/>
                          <a:cs typeface="Arial" panose="020B0604020202020204" pitchFamily="34" charset="0"/>
                        </a:rPr>
                        <a:t>00</a:t>
                      </a:r>
                      <a:endParaRPr lang="ko-KR" altLang="en-US" sz="75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750" dirty="0">
                          <a:solidFill>
                            <a:schemeClr val="tx1"/>
                          </a:solidFill>
                          <a:latin typeface="Arial" panose="020B0604020202020204" pitchFamily="34" charset="0"/>
                          <a:ea typeface="+mn-ea"/>
                          <a:cs typeface="Arial" panose="020B0604020202020204" pitchFamily="34" charset="0"/>
                        </a:rPr>
                        <a:t>NOP (default)</a:t>
                      </a:r>
                      <a:endParaRPr lang="ko-KR" altLang="en-US" sz="75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7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7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7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7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750" dirty="0">
                          <a:solidFill>
                            <a:schemeClr val="tx1"/>
                          </a:solidFill>
                          <a:latin typeface="Arial" panose="020B0604020202020204" pitchFamily="34" charset="0"/>
                          <a:ea typeface="+mn-ea"/>
                          <a:cs typeface="Arial" panose="020B0604020202020204" pitchFamily="34" charset="0"/>
                        </a:rPr>
                        <a:t>VSYNC and FB can be got through a communication.</a:t>
                      </a:r>
                      <a:endParaRPr lang="ko-KR" altLang="en-US" sz="750" dirty="0">
                        <a:solidFill>
                          <a:schemeClr val="tx1"/>
                        </a:solidFill>
                        <a:latin typeface="Arial" panose="020B0604020202020204" pitchFamily="34" charset="0"/>
                        <a:ea typeface="+mn-ea"/>
                        <a:cs typeface="Arial" panose="020B0604020202020204" pitchFamily="34" charset="0"/>
                      </a:endParaRPr>
                    </a:p>
                    <a:p>
                      <a:pPr algn="l" latinLnBrk="1"/>
                      <a:r>
                        <a:rPr lang="en-US" altLang="ko-KR" sz="750" dirty="0">
                          <a:solidFill>
                            <a:schemeClr val="tx1"/>
                          </a:solidFill>
                          <a:latin typeface="Arial" panose="020B0604020202020204" pitchFamily="34" charset="0"/>
                          <a:ea typeface="+mn-ea"/>
                          <a:cs typeface="Arial" panose="020B0604020202020204" pitchFamily="34" charset="0"/>
                        </a:rPr>
                        <a:t>The pins, 5 and 14, can be connected to GND.</a:t>
                      </a: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990245991"/>
                  </a:ext>
                </a:extLst>
              </a:tr>
              <a:tr h="245144">
                <a:tc>
                  <a:txBody>
                    <a:bodyPr/>
                    <a:lstStyle/>
                    <a:p>
                      <a:pPr algn="ctr" latinLnBrk="1"/>
                      <a:r>
                        <a:rPr lang="en-US" altLang="ko-KR" sz="750" dirty="0">
                          <a:solidFill>
                            <a:schemeClr val="tx1"/>
                          </a:solidFill>
                          <a:latin typeface="Arial" panose="020B0604020202020204" pitchFamily="34" charset="0"/>
                          <a:ea typeface="+mn-ea"/>
                          <a:cs typeface="Arial" panose="020B0604020202020204" pitchFamily="34" charset="0"/>
                        </a:rPr>
                        <a:t>01</a:t>
                      </a:r>
                      <a:endParaRPr lang="ko-KR" altLang="en-US" sz="75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750" dirty="0">
                          <a:solidFill>
                            <a:schemeClr val="tx1"/>
                          </a:solidFill>
                          <a:latin typeface="Arial" panose="020B0604020202020204" pitchFamily="34" charset="0"/>
                          <a:ea typeface="+mn-ea"/>
                          <a:cs typeface="Arial" panose="020B0604020202020204" pitchFamily="34" charset="0"/>
                        </a:rPr>
                        <a:t>VSYNC daisy</a:t>
                      </a:r>
                      <a:endParaRPr lang="ko-KR" altLang="en-US" sz="75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7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7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7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7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l" latinLnBrk="1"/>
                      <a:r>
                        <a:rPr lang="en-US" altLang="ko-KR" sz="750" dirty="0">
                          <a:solidFill>
                            <a:schemeClr val="tx1"/>
                          </a:solidFill>
                          <a:latin typeface="Arial" panose="020B0604020202020204" pitchFamily="34" charset="0"/>
                          <a:ea typeface="+mn-ea"/>
                          <a:cs typeface="Arial" panose="020B0604020202020204" pitchFamily="34" charset="0"/>
                        </a:rPr>
                        <a:t>External VSYNC signal scheme in a daisy</a:t>
                      </a:r>
                    </a:p>
                    <a:p>
                      <a:pPr algn="l" latinLnBrk="1"/>
                      <a:r>
                        <a:rPr lang="en-US" altLang="ko-KR" sz="750" dirty="0">
                          <a:solidFill>
                            <a:schemeClr val="tx1"/>
                          </a:solidFill>
                          <a:latin typeface="Arial" panose="020B0604020202020204" pitchFamily="34" charset="0"/>
                          <a:ea typeface="+mn-ea"/>
                          <a:cs typeface="Arial" panose="020B0604020202020204" pitchFamily="34" charset="0"/>
                        </a:rPr>
                        <a:t>FB can be got through a communication.</a:t>
                      </a:r>
                      <a:endParaRPr lang="ko-KR" altLang="en-US" sz="75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213828537"/>
                  </a:ext>
                </a:extLst>
              </a:tr>
              <a:tr h="245144">
                <a:tc>
                  <a:txBody>
                    <a:bodyPr/>
                    <a:lstStyle/>
                    <a:p>
                      <a:pPr algn="ctr" latinLnBrk="1"/>
                      <a:r>
                        <a:rPr lang="en-US" altLang="ko-KR" sz="750" dirty="0">
                          <a:solidFill>
                            <a:schemeClr val="tx1"/>
                          </a:solidFill>
                          <a:latin typeface="Arial" panose="020B0604020202020204" pitchFamily="34" charset="0"/>
                          <a:ea typeface="+mn-ea"/>
                          <a:cs typeface="Arial" panose="020B0604020202020204" pitchFamily="34" charset="0"/>
                        </a:rPr>
                        <a:t>10</a:t>
                      </a:r>
                      <a:endParaRPr lang="ko-KR" altLang="en-US" sz="75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750" dirty="0">
                          <a:solidFill>
                            <a:schemeClr val="tx1"/>
                          </a:solidFill>
                          <a:latin typeface="Arial" panose="020B0604020202020204" pitchFamily="34" charset="0"/>
                          <a:ea typeface="+mn-ea"/>
                          <a:cs typeface="Arial" panose="020B0604020202020204" pitchFamily="34" charset="0"/>
                        </a:rPr>
                        <a:t>FB daisy</a:t>
                      </a:r>
                      <a:endParaRPr lang="ko-KR" altLang="en-US" sz="75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7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7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7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7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l" latinLnBrk="1"/>
                      <a:r>
                        <a:rPr lang="en-US" altLang="ko-KR" sz="750" dirty="0">
                          <a:solidFill>
                            <a:schemeClr val="tx1"/>
                          </a:solidFill>
                          <a:latin typeface="Arial" panose="020B0604020202020204" pitchFamily="34" charset="0"/>
                          <a:ea typeface="+mn-ea"/>
                          <a:cs typeface="Arial" panose="020B0604020202020204" pitchFamily="34" charset="0"/>
                        </a:rPr>
                        <a:t>External FB signal scheme in a daisy</a:t>
                      </a:r>
                    </a:p>
                    <a:p>
                      <a:pPr algn="l" latinLnBrk="1"/>
                      <a:r>
                        <a:rPr lang="en-US" altLang="ko-KR" sz="750" dirty="0">
                          <a:solidFill>
                            <a:schemeClr val="tx1"/>
                          </a:solidFill>
                          <a:latin typeface="Arial" panose="020B0604020202020204" pitchFamily="34" charset="0"/>
                          <a:ea typeface="+mn-ea"/>
                          <a:cs typeface="Arial" panose="020B0604020202020204" pitchFamily="34" charset="0"/>
                        </a:rPr>
                        <a:t>VSYNC can be got through a communication.</a:t>
                      </a:r>
                      <a:endParaRPr lang="ko-KR" altLang="en-US" sz="75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62294112"/>
                  </a:ext>
                </a:extLst>
              </a:tr>
              <a:tr h="245144">
                <a:tc>
                  <a:txBody>
                    <a:bodyPr/>
                    <a:lstStyle/>
                    <a:p>
                      <a:pPr algn="ctr" latinLnBrk="1"/>
                      <a:r>
                        <a:rPr lang="en-US" altLang="ko-KR" sz="750" dirty="0">
                          <a:solidFill>
                            <a:schemeClr val="tx1"/>
                          </a:solidFill>
                          <a:latin typeface="Arial" panose="020B0604020202020204" pitchFamily="34" charset="0"/>
                          <a:ea typeface="+mn-ea"/>
                          <a:cs typeface="Arial" panose="020B0604020202020204" pitchFamily="34" charset="0"/>
                        </a:rPr>
                        <a:t>11</a:t>
                      </a:r>
                      <a:endParaRPr lang="ko-KR" altLang="en-US" sz="75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750" dirty="0">
                          <a:solidFill>
                            <a:schemeClr val="tx1"/>
                          </a:solidFill>
                          <a:latin typeface="Arial" panose="020B0604020202020204" pitchFamily="34" charset="0"/>
                          <a:ea typeface="+mn-ea"/>
                          <a:cs typeface="Arial" panose="020B0604020202020204" pitchFamily="34" charset="0"/>
                        </a:rPr>
                        <a:t>VSYNC and FB</a:t>
                      </a:r>
                    </a:p>
                    <a:p>
                      <a:pPr algn="ctr" latinLnBrk="1"/>
                      <a:r>
                        <a:rPr lang="en-US" altLang="ko-KR" sz="750" dirty="0">
                          <a:solidFill>
                            <a:schemeClr val="tx1"/>
                          </a:solidFill>
                          <a:latin typeface="Arial" panose="020B0604020202020204" pitchFamily="34" charset="0"/>
                          <a:ea typeface="+mn-ea"/>
                          <a:cs typeface="Arial" panose="020B0604020202020204" pitchFamily="34" charset="0"/>
                        </a:rPr>
                        <a:t>non-daisy</a:t>
                      </a:r>
                      <a:endParaRPr lang="ko-KR" altLang="en-US" sz="75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7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7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7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7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750" dirty="0">
                          <a:solidFill>
                            <a:schemeClr val="tx1"/>
                          </a:solidFill>
                          <a:latin typeface="Arial" panose="020B0604020202020204" pitchFamily="34" charset="0"/>
                          <a:ea typeface="+mn-ea"/>
                          <a:cs typeface="Arial" panose="020B0604020202020204" pitchFamily="34" charset="0"/>
                        </a:rPr>
                        <a:t>External VSYNC and FB signal scheme</a:t>
                      </a:r>
                    </a:p>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750" dirty="0">
                          <a:solidFill>
                            <a:schemeClr val="tx1"/>
                          </a:solidFill>
                          <a:latin typeface="Arial" panose="020B0604020202020204" pitchFamily="34" charset="0"/>
                          <a:ea typeface="+mn-ea"/>
                          <a:cs typeface="Arial" panose="020B0604020202020204" pitchFamily="34" charset="0"/>
                        </a:rPr>
                        <a:t>VSYNC and FB can be got through a communication.</a:t>
                      </a:r>
                      <a:endParaRPr lang="ko-KR" altLang="en-US" sz="75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52375884"/>
                  </a:ext>
                </a:extLst>
              </a:tr>
            </a:tbl>
          </a:graphicData>
        </a:graphic>
      </p:graphicFrame>
    </p:spTree>
    <p:extLst>
      <p:ext uri="{BB962C8B-B14F-4D97-AF65-F5344CB8AC3E}">
        <p14:creationId xmlns:p14="http://schemas.microsoft.com/office/powerpoint/2010/main" val="37908398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1" name="표 10">
            <a:extLst>
              <a:ext uri="{FF2B5EF4-FFF2-40B4-BE49-F238E27FC236}">
                <a16:creationId xmlns:a16="http://schemas.microsoft.com/office/drawing/2014/main" id="{14285246-E127-43FC-3DA8-40FA6321DBDC}"/>
              </a:ext>
            </a:extLst>
          </p:cNvPr>
          <p:cNvGraphicFramePr>
            <a:graphicFrameLocks noGrp="1"/>
          </p:cNvGraphicFramePr>
          <p:nvPr>
            <p:extLst>
              <p:ext uri="{D42A27DB-BD31-4B8C-83A1-F6EECF244321}">
                <p14:modId xmlns:p14="http://schemas.microsoft.com/office/powerpoint/2010/main" val="234234862"/>
              </p:ext>
            </p:extLst>
          </p:nvPr>
        </p:nvGraphicFramePr>
        <p:xfrm>
          <a:off x="407945" y="1541367"/>
          <a:ext cx="6045482" cy="1439320"/>
        </p:xfrm>
        <a:graphic>
          <a:graphicData uri="http://schemas.openxmlformats.org/drawingml/2006/table">
            <a:tbl>
              <a:tblPr firstRow="1" bandRow="1">
                <a:tableStyleId>{5C22544A-7EE6-4342-B048-85BDC9FD1C3A}</a:tableStyleId>
              </a:tblPr>
              <a:tblGrid>
                <a:gridCol w="444016">
                  <a:extLst>
                    <a:ext uri="{9D8B030D-6E8A-4147-A177-3AD203B41FA5}">
                      <a16:colId xmlns:a16="http://schemas.microsoft.com/office/drawing/2014/main" val="4170535043"/>
                    </a:ext>
                  </a:extLst>
                </a:gridCol>
                <a:gridCol w="1055077">
                  <a:extLst>
                    <a:ext uri="{9D8B030D-6E8A-4147-A177-3AD203B41FA5}">
                      <a16:colId xmlns:a16="http://schemas.microsoft.com/office/drawing/2014/main" val="2079070694"/>
                    </a:ext>
                  </a:extLst>
                </a:gridCol>
                <a:gridCol w="4546389">
                  <a:extLst>
                    <a:ext uri="{9D8B030D-6E8A-4147-A177-3AD203B41FA5}">
                      <a16:colId xmlns:a16="http://schemas.microsoft.com/office/drawing/2014/main" val="32595803"/>
                    </a:ext>
                  </a:extLst>
                </a:gridCol>
              </a:tblGrid>
              <a:tr h="27004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8865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SF_PERIOD</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determines the length of sub-frame shown in Fig. 6, and if the value will be changed in the middle of a frame, the value will be applied in the next frame. Therefore, this advantage will be useful to switch the frame period during dimming without any flicker. If the value will be increased or decreased gradually to be met the changed frame period,100</a:t>
                      </a:r>
                      <a:r>
                        <a:rPr lang="en-US" altLang="ko-KR" sz="900" b="0" dirty="0">
                          <a:solidFill>
                            <a:schemeClr val="tx1"/>
                          </a:solidFill>
                          <a:latin typeface="맑은 고딕" panose="020B0503020000020004" pitchFamily="50" charset="-127"/>
                          <a:ea typeface="+mn-ea"/>
                          <a:cs typeface="Arial" panose="020B0604020202020204" pitchFamily="34" charset="0"/>
                        </a:rPr>
                        <a:t>↔120hz, </a:t>
                      </a:r>
                      <a:r>
                        <a:rPr lang="en-US" altLang="ko-KR" sz="900" b="0" dirty="0">
                          <a:solidFill>
                            <a:schemeClr val="tx1"/>
                          </a:solidFill>
                          <a:latin typeface="Arial" panose="020B0604020202020204" pitchFamily="34" charset="0"/>
                          <a:ea typeface="+mn-ea"/>
                          <a:cs typeface="Arial" panose="020B0604020202020204" pitchFamily="34" charset="0"/>
                        </a:rPr>
                        <a:t>it results in nearly flicker-less. It needs to be careful to determine the SF_PERIOD that the value should be </a:t>
                      </a:r>
                      <a:r>
                        <a:rPr lang="en-US" altLang="ko-KR" sz="900" b="0" i="1" dirty="0">
                          <a:solidFill>
                            <a:schemeClr val="tx1"/>
                          </a:solidFill>
                          <a:latin typeface="Arial" panose="020B0604020202020204" pitchFamily="34" charset="0"/>
                          <a:ea typeface="+mn-ea"/>
                          <a:cs typeface="Arial" panose="020B0604020202020204" pitchFamily="34" charset="0"/>
                        </a:rPr>
                        <a:t>an integer number </a:t>
                      </a:r>
                      <a:r>
                        <a:rPr lang="en-US" altLang="ko-KR" sz="900" b="0" dirty="0">
                          <a:solidFill>
                            <a:schemeClr val="tx1"/>
                          </a:solidFill>
                          <a:latin typeface="Arial" panose="020B0604020202020204" pitchFamily="34" charset="0"/>
                          <a:ea typeface="+mn-ea"/>
                          <a:cs typeface="Arial" panose="020B0604020202020204" pitchFamily="34" charset="0"/>
                        </a:rPr>
                        <a:t>after being calculated by a follow formula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SF_PERIOD = (the frame period / SF_SIZE) / MCLK</a:t>
                      </a: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0" name="표 9">
            <a:extLst>
              <a:ext uri="{FF2B5EF4-FFF2-40B4-BE49-F238E27FC236}">
                <a16:creationId xmlns:a16="http://schemas.microsoft.com/office/drawing/2014/main" id="{EAC0DE82-DBB0-B75B-5DAA-F618CA49EDD6}"/>
              </a:ext>
            </a:extLst>
          </p:cNvPr>
          <p:cNvGraphicFramePr>
            <a:graphicFrameLocks noGrp="1"/>
          </p:cNvGraphicFramePr>
          <p:nvPr>
            <p:extLst>
              <p:ext uri="{D42A27DB-BD31-4B8C-83A1-F6EECF244321}">
                <p14:modId xmlns:p14="http://schemas.microsoft.com/office/powerpoint/2010/main" val="2926104611"/>
              </p:ext>
            </p:extLst>
          </p:nvPr>
        </p:nvGraphicFramePr>
        <p:xfrm>
          <a:off x="381027" y="3817414"/>
          <a:ext cx="6066701" cy="479200"/>
        </p:xfrm>
        <a:graphic>
          <a:graphicData uri="http://schemas.openxmlformats.org/drawingml/2006/table">
            <a:tbl>
              <a:tblPr firstRow="1" bandRow="1">
                <a:tableStyleId>{5C22544A-7EE6-4342-B048-85BDC9FD1C3A}</a:tableStyleId>
              </a:tblPr>
              <a:tblGrid>
                <a:gridCol w="442117">
                  <a:extLst>
                    <a:ext uri="{9D8B030D-6E8A-4147-A177-3AD203B41FA5}">
                      <a16:colId xmlns:a16="http://schemas.microsoft.com/office/drawing/2014/main" val="4170535043"/>
                    </a:ext>
                  </a:extLst>
                </a:gridCol>
                <a:gridCol w="1050567">
                  <a:extLst>
                    <a:ext uri="{9D8B030D-6E8A-4147-A177-3AD203B41FA5}">
                      <a16:colId xmlns:a16="http://schemas.microsoft.com/office/drawing/2014/main" val="2079070694"/>
                    </a:ext>
                  </a:extLst>
                </a:gridCol>
                <a:gridCol w="4574017">
                  <a:extLst>
                    <a:ext uri="{9D8B030D-6E8A-4147-A177-3AD203B41FA5}">
                      <a16:colId xmlns:a16="http://schemas.microsoft.com/office/drawing/2014/main" val="32595803"/>
                    </a:ext>
                  </a:extLst>
                </a:gridCol>
              </a:tblGrid>
              <a:tr h="27004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8781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SF_SIZE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SF_SIZE determines the total number of sub-frames in one frame shown in Fig. 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3582489"/>
                  </a:ext>
                </a:extLst>
              </a:tr>
            </a:tbl>
          </a:graphicData>
        </a:graphic>
      </p:graphicFrame>
      <p:sp>
        <p:nvSpPr>
          <p:cNvPr id="13" name="TextBox 12">
            <a:extLst>
              <a:ext uri="{FF2B5EF4-FFF2-40B4-BE49-F238E27FC236}">
                <a16:creationId xmlns:a16="http://schemas.microsoft.com/office/drawing/2014/main" id="{73440F33-4BCE-8AB1-2175-28FBD67160EF}"/>
              </a:ext>
            </a:extLst>
          </p:cNvPr>
          <p:cNvSpPr txBox="1"/>
          <p:nvPr/>
        </p:nvSpPr>
        <p:spPr>
          <a:xfrm>
            <a:off x="407945" y="3122374"/>
            <a:ext cx="606295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SF SIZE</a:t>
            </a:r>
          </a:p>
        </p:txBody>
      </p:sp>
      <p:graphicFrame>
        <p:nvGraphicFramePr>
          <p:cNvPr id="15" name="표 14">
            <a:extLst>
              <a:ext uri="{FF2B5EF4-FFF2-40B4-BE49-F238E27FC236}">
                <a16:creationId xmlns:a16="http://schemas.microsoft.com/office/drawing/2014/main" id="{3C26C8CF-B06F-F2E1-D4AC-FF96B5CC5C7E}"/>
              </a:ext>
            </a:extLst>
          </p:cNvPr>
          <p:cNvGraphicFramePr>
            <a:graphicFrameLocks noGrp="1"/>
          </p:cNvGraphicFramePr>
          <p:nvPr>
            <p:extLst>
              <p:ext uri="{D42A27DB-BD31-4B8C-83A1-F6EECF244321}">
                <p14:modId xmlns:p14="http://schemas.microsoft.com/office/powerpoint/2010/main" val="3785671372"/>
              </p:ext>
            </p:extLst>
          </p:nvPr>
        </p:nvGraphicFramePr>
        <p:xfrm>
          <a:off x="381021" y="5259790"/>
          <a:ext cx="6066701" cy="1301595"/>
        </p:xfrm>
        <a:graphic>
          <a:graphicData uri="http://schemas.openxmlformats.org/drawingml/2006/table">
            <a:tbl>
              <a:tblPr firstRow="1" bandRow="1">
                <a:tableStyleId>{5C22544A-7EE6-4342-B048-85BDC9FD1C3A}</a:tableStyleId>
              </a:tblPr>
              <a:tblGrid>
                <a:gridCol w="442117">
                  <a:extLst>
                    <a:ext uri="{9D8B030D-6E8A-4147-A177-3AD203B41FA5}">
                      <a16:colId xmlns:a16="http://schemas.microsoft.com/office/drawing/2014/main" val="4170535043"/>
                    </a:ext>
                  </a:extLst>
                </a:gridCol>
                <a:gridCol w="1050567">
                  <a:extLst>
                    <a:ext uri="{9D8B030D-6E8A-4147-A177-3AD203B41FA5}">
                      <a16:colId xmlns:a16="http://schemas.microsoft.com/office/drawing/2014/main" val="2079070694"/>
                    </a:ext>
                  </a:extLst>
                </a:gridCol>
                <a:gridCol w="4574017">
                  <a:extLst>
                    <a:ext uri="{9D8B030D-6E8A-4147-A177-3AD203B41FA5}">
                      <a16:colId xmlns:a16="http://schemas.microsoft.com/office/drawing/2014/main" val="32595803"/>
                    </a:ext>
                  </a:extLst>
                </a:gridCol>
              </a:tblGrid>
              <a:tr h="261658">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66748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10:7</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LD_SIZE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value determines how many LD data will be transmitted for one time. This value is not needed to match with the number of enabled channels in the CHANNEL ENABLE register. It keeps in mind that the LD data to be transmitted </a:t>
                      </a:r>
                      <a:r>
                        <a:rPr lang="en-US" altLang="ko-KR" sz="900" b="0" i="1" dirty="0">
                          <a:solidFill>
                            <a:schemeClr val="tx1"/>
                          </a:solidFill>
                          <a:latin typeface="Arial" panose="020B0604020202020204" pitchFamily="34" charset="0"/>
                          <a:ea typeface="+mn-ea"/>
                          <a:cs typeface="Arial" panose="020B0604020202020204" pitchFamily="34" charset="0"/>
                        </a:rPr>
                        <a:t>will be mapped sequentially from channel 1 to channel n regardless of the corresponded CHx_EN bit activation</a:t>
                      </a:r>
                      <a:r>
                        <a:rPr lang="en-US" altLang="ko-KR" sz="900" b="0" dirty="0">
                          <a:solidFill>
                            <a:schemeClr val="tx1"/>
                          </a:solidFill>
                          <a:latin typeface="Arial" panose="020B0604020202020204" pitchFamily="34" charset="0"/>
                          <a:ea typeface="+mn-ea"/>
                          <a:cs typeface="Arial" panose="020B0604020202020204" pitchFamily="34" charset="0"/>
                        </a:rPr>
                        <a: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7245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SF_X8_SIZE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SF_X8_SIZE</a:t>
                      </a:r>
                      <a:r>
                        <a:rPr lang="ko-KR" altLang="en-US" sz="900" b="0" dirty="0">
                          <a:solidFill>
                            <a:schemeClr val="tx1"/>
                          </a:solidFill>
                          <a:latin typeface="Arial" panose="020B0604020202020204" pitchFamily="34" charset="0"/>
                          <a:ea typeface="+mn-ea"/>
                          <a:cs typeface="Arial" panose="020B0604020202020204" pitchFamily="34" charset="0"/>
                        </a:rPr>
                        <a:t> </a:t>
                      </a:r>
                      <a:r>
                        <a:rPr lang="en-US" altLang="ko-KR" sz="900" b="0" dirty="0">
                          <a:solidFill>
                            <a:schemeClr val="tx1"/>
                          </a:solidFill>
                          <a:latin typeface="Arial" panose="020B0604020202020204" pitchFamily="34" charset="0"/>
                          <a:ea typeface="+mn-ea"/>
                          <a:cs typeface="Arial" panose="020B0604020202020204" pitchFamily="34" charset="0"/>
                        </a:rPr>
                        <a:t>determines the number of sub-frame to be repeated 8 times in a frame, so the set value must be divided the SF_SIZE by 8. For more details, refer to the Fig. 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39349171"/>
                  </a:ext>
                </a:extLst>
              </a:tr>
            </a:tbl>
          </a:graphicData>
        </a:graphic>
      </p:graphicFrame>
      <p:sp>
        <p:nvSpPr>
          <p:cNvPr id="18" name="TextBox 17">
            <a:extLst>
              <a:ext uri="{FF2B5EF4-FFF2-40B4-BE49-F238E27FC236}">
                <a16:creationId xmlns:a16="http://schemas.microsoft.com/office/drawing/2014/main" id="{C2BD314D-1132-1D85-789B-26AF97F14C50}"/>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0467CCE9-B058-A9D3-D5AD-CF31F006F2AB}"/>
              </a:ext>
            </a:extLst>
          </p:cNvPr>
          <p:cNvGraphicFramePr>
            <a:graphicFrameLocks noGrp="1"/>
          </p:cNvGraphicFramePr>
          <p:nvPr>
            <p:extLst>
              <p:ext uri="{D42A27DB-BD31-4B8C-83A1-F6EECF244321}">
                <p14:modId xmlns:p14="http://schemas.microsoft.com/office/powerpoint/2010/main" val="1260380268"/>
              </p:ext>
            </p:extLst>
          </p:nvPr>
        </p:nvGraphicFramePr>
        <p:xfrm>
          <a:off x="399211" y="1139567"/>
          <a:ext cx="6054216" cy="372600"/>
        </p:xfrm>
        <a:graphic>
          <a:graphicData uri="http://schemas.openxmlformats.org/drawingml/2006/table">
            <a:tbl>
              <a:tblPr firstRow="1" bandRow="1">
                <a:tableStyleId>{5C22544A-7EE6-4342-B048-85BDC9FD1C3A}</a:tableStyleId>
              </a:tblPr>
              <a:tblGrid>
                <a:gridCol w="271753">
                  <a:extLst>
                    <a:ext uri="{9D8B030D-6E8A-4147-A177-3AD203B41FA5}">
                      <a16:colId xmlns:a16="http://schemas.microsoft.com/office/drawing/2014/main" val="657570846"/>
                    </a:ext>
                  </a:extLst>
                </a:gridCol>
                <a:gridCol w="321166">
                  <a:extLst>
                    <a:ext uri="{9D8B030D-6E8A-4147-A177-3AD203B41FA5}">
                      <a16:colId xmlns:a16="http://schemas.microsoft.com/office/drawing/2014/main" val="3259894497"/>
                    </a:ext>
                  </a:extLst>
                </a:gridCol>
                <a:gridCol w="424837">
                  <a:extLst>
                    <a:ext uri="{9D8B030D-6E8A-4147-A177-3AD203B41FA5}">
                      <a16:colId xmlns:a16="http://schemas.microsoft.com/office/drawing/2014/main" val="4170535043"/>
                    </a:ext>
                  </a:extLst>
                </a:gridCol>
                <a:gridCol w="419705">
                  <a:extLst>
                    <a:ext uri="{9D8B030D-6E8A-4147-A177-3AD203B41FA5}">
                      <a16:colId xmlns:a16="http://schemas.microsoft.com/office/drawing/2014/main" val="2079070694"/>
                    </a:ext>
                  </a:extLst>
                </a:gridCol>
                <a:gridCol w="419705">
                  <a:extLst>
                    <a:ext uri="{9D8B030D-6E8A-4147-A177-3AD203B41FA5}">
                      <a16:colId xmlns:a16="http://schemas.microsoft.com/office/drawing/2014/main" val="4213315911"/>
                    </a:ext>
                  </a:extLst>
                </a:gridCol>
                <a:gridCol w="419705">
                  <a:extLst>
                    <a:ext uri="{9D8B030D-6E8A-4147-A177-3AD203B41FA5}">
                      <a16:colId xmlns:a16="http://schemas.microsoft.com/office/drawing/2014/main" val="2769999950"/>
                    </a:ext>
                  </a:extLst>
                </a:gridCol>
                <a:gridCol w="419705">
                  <a:extLst>
                    <a:ext uri="{9D8B030D-6E8A-4147-A177-3AD203B41FA5}">
                      <a16:colId xmlns:a16="http://schemas.microsoft.com/office/drawing/2014/main" val="135637185"/>
                    </a:ext>
                  </a:extLst>
                </a:gridCol>
                <a:gridCol w="419705">
                  <a:extLst>
                    <a:ext uri="{9D8B030D-6E8A-4147-A177-3AD203B41FA5}">
                      <a16:colId xmlns:a16="http://schemas.microsoft.com/office/drawing/2014/main" val="3038050475"/>
                    </a:ext>
                  </a:extLst>
                </a:gridCol>
                <a:gridCol w="419705">
                  <a:extLst>
                    <a:ext uri="{9D8B030D-6E8A-4147-A177-3AD203B41FA5}">
                      <a16:colId xmlns:a16="http://schemas.microsoft.com/office/drawing/2014/main" val="1979433044"/>
                    </a:ext>
                  </a:extLst>
                </a:gridCol>
                <a:gridCol w="419705">
                  <a:extLst>
                    <a:ext uri="{9D8B030D-6E8A-4147-A177-3AD203B41FA5}">
                      <a16:colId xmlns:a16="http://schemas.microsoft.com/office/drawing/2014/main" val="4270661649"/>
                    </a:ext>
                  </a:extLst>
                </a:gridCol>
                <a:gridCol w="419705">
                  <a:extLst>
                    <a:ext uri="{9D8B030D-6E8A-4147-A177-3AD203B41FA5}">
                      <a16:colId xmlns:a16="http://schemas.microsoft.com/office/drawing/2014/main" val="3027041370"/>
                    </a:ext>
                  </a:extLst>
                </a:gridCol>
                <a:gridCol w="419705">
                  <a:extLst>
                    <a:ext uri="{9D8B030D-6E8A-4147-A177-3AD203B41FA5}">
                      <a16:colId xmlns:a16="http://schemas.microsoft.com/office/drawing/2014/main" val="2852526216"/>
                    </a:ext>
                  </a:extLst>
                </a:gridCol>
                <a:gridCol w="419705">
                  <a:extLst>
                    <a:ext uri="{9D8B030D-6E8A-4147-A177-3AD203B41FA5}">
                      <a16:colId xmlns:a16="http://schemas.microsoft.com/office/drawing/2014/main" val="103420222"/>
                    </a:ext>
                  </a:extLst>
                </a:gridCol>
                <a:gridCol w="419705">
                  <a:extLst>
                    <a:ext uri="{9D8B030D-6E8A-4147-A177-3AD203B41FA5}">
                      <a16:colId xmlns:a16="http://schemas.microsoft.com/office/drawing/2014/main" val="1470405609"/>
                    </a:ext>
                  </a:extLst>
                </a:gridCol>
                <a:gridCol w="41970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SF_PERIOD [11:0]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endPar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DELAY_SIZE [6:0]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LD_FORCE</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5" name="TextBox 4">
            <a:extLst>
              <a:ext uri="{FF2B5EF4-FFF2-40B4-BE49-F238E27FC236}">
                <a16:creationId xmlns:a16="http://schemas.microsoft.com/office/drawing/2014/main" id="{457784A5-338A-F324-10D9-9B221E9FA7A8}"/>
              </a:ext>
            </a:extLst>
          </p:cNvPr>
          <p:cNvSpPr txBox="1"/>
          <p:nvPr/>
        </p:nvSpPr>
        <p:spPr>
          <a:xfrm>
            <a:off x="389762" y="4582185"/>
            <a:ext cx="605796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CH SIZE / SF X8 SIZE</a:t>
            </a:r>
          </a:p>
        </p:txBody>
      </p:sp>
      <p:graphicFrame>
        <p:nvGraphicFramePr>
          <p:cNvPr id="7" name="표 6">
            <a:extLst>
              <a:ext uri="{FF2B5EF4-FFF2-40B4-BE49-F238E27FC236}">
                <a16:creationId xmlns:a16="http://schemas.microsoft.com/office/drawing/2014/main" id="{FC56CDC0-43AB-5A02-B5E6-5B6E811D962D}"/>
              </a:ext>
            </a:extLst>
          </p:cNvPr>
          <p:cNvGraphicFramePr>
            <a:graphicFrameLocks noGrp="1"/>
          </p:cNvGraphicFramePr>
          <p:nvPr>
            <p:extLst>
              <p:ext uri="{D42A27DB-BD31-4B8C-83A1-F6EECF244321}">
                <p14:modId xmlns:p14="http://schemas.microsoft.com/office/powerpoint/2010/main" val="2761599346"/>
              </p:ext>
            </p:extLst>
          </p:nvPr>
        </p:nvGraphicFramePr>
        <p:xfrm>
          <a:off x="389763" y="3386265"/>
          <a:ext cx="6057965" cy="387840"/>
        </p:xfrm>
        <a:graphic>
          <a:graphicData uri="http://schemas.openxmlformats.org/drawingml/2006/table">
            <a:tbl>
              <a:tblPr firstRow="1" bandRow="1">
                <a:tableStyleId>{5C22544A-7EE6-4342-B048-85BDC9FD1C3A}</a:tableStyleId>
              </a:tblPr>
              <a:tblGrid>
                <a:gridCol w="271976">
                  <a:extLst>
                    <a:ext uri="{9D8B030D-6E8A-4147-A177-3AD203B41FA5}">
                      <a16:colId xmlns:a16="http://schemas.microsoft.com/office/drawing/2014/main" val="657570846"/>
                    </a:ext>
                  </a:extLst>
                </a:gridCol>
                <a:gridCol w="332788">
                  <a:extLst>
                    <a:ext uri="{9D8B030D-6E8A-4147-A177-3AD203B41FA5}">
                      <a16:colId xmlns:a16="http://schemas.microsoft.com/office/drawing/2014/main" val="3259894497"/>
                    </a:ext>
                  </a:extLst>
                </a:gridCol>
                <a:gridCol w="418361">
                  <a:extLst>
                    <a:ext uri="{9D8B030D-6E8A-4147-A177-3AD203B41FA5}">
                      <a16:colId xmlns:a16="http://schemas.microsoft.com/office/drawing/2014/main" val="4170535043"/>
                    </a:ext>
                  </a:extLst>
                </a:gridCol>
                <a:gridCol w="419570">
                  <a:extLst>
                    <a:ext uri="{9D8B030D-6E8A-4147-A177-3AD203B41FA5}">
                      <a16:colId xmlns:a16="http://schemas.microsoft.com/office/drawing/2014/main" val="2079070694"/>
                    </a:ext>
                  </a:extLst>
                </a:gridCol>
                <a:gridCol w="419570">
                  <a:extLst>
                    <a:ext uri="{9D8B030D-6E8A-4147-A177-3AD203B41FA5}">
                      <a16:colId xmlns:a16="http://schemas.microsoft.com/office/drawing/2014/main" val="4213315911"/>
                    </a:ext>
                  </a:extLst>
                </a:gridCol>
                <a:gridCol w="419570">
                  <a:extLst>
                    <a:ext uri="{9D8B030D-6E8A-4147-A177-3AD203B41FA5}">
                      <a16:colId xmlns:a16="http://schemas.microsoft.com/office/drawing/2014/main" val="2769999950"/>
                    </a:ext>
                  </a:extLst>
                </a:gridCol>
                <a:gridCol w="419570">
                  <a:extLst>
                    <a:ext uri="{9D8B030D-6E8A-4147-A177-3AD203B41FA5}">
                      <a16:colId xmlns:a16="http://schemas.microsoft.com/office/drawing/2014/main" val="135637185"/>
                    </a:ext>
                  </a:extLst>
                </a:gridCol>
                <a:gridCol w="419570">
                  <a:extLst>
                    <a:ext uri="{9D8B030D-6E8A-4147-A177-3AD203B41FA5}">
                      <a16:colId xmlns:a16="http://schemas.microsoft.com/office/drawing/2014/main" val="3038050475"/>
                    </a:ext>
                  </a:extLst>
                </a:gridCol>
                <a:gridCol w="419570">
                  <a:extLst>
                    <a:ext uri="{9D8B030D-6E8A-4147-A177-3AD203B41FA5}">
                      <a16:colId xmlns:a16="http://schemas.microsoft.com/office/drawing/2014/main" val="1979433044"/>
                    </a:ext>
                  </a:extLst>
                </a:gridCol>
                <a:gridCol w="419570">
                  <a:extLst>
                    <a:ext uri="{9D8B030D-6E8A-4147-A177-3AD203B41FA5}">
                      <a16:colId xmlns:a16="http://schemas.microsoft.com/office/drawing/2014/main" val="4270661649"/>
                    </a:ext>
                  </a:extLst>
                </a:gridCol>
                <a:gridCol w="419570">
                  <a:extLst>
                    <a:ext uri="{9D8B030D-6E8A-4147-A177-3AD203B41FA5}">
                      <a16:colId xmlns:a16="http://schemas.microsoft.com/office/drawing/2014/main" val="3027041370"/>
                    </a:ext>
                  </a:extLst>
                </a:gridCol>
                <a:gridCol w="419570">
                  <a:extLst>
                    <a:ext uri="{9D8B030D-6E8A-4147-A177-3AD203B41FA5}">
                      <a16:colId xmlns:a16="http://schemas.microsoft.com/office/drawing/2014/main" val="2852526216"/>
                    </a:ext>
                  </a:extLst>
                </a:gridCol>
                <a:gridCol w="419570">
                  <a:extLst>
                    <a:ext uri="{9D8B030D-6E8A-4147-A177-3AD203B41FA5}">
                      <a16:colId xmlns:a16="http://schemas.microsoft.com/office/drawing/2014/main" val="103420222"/>
                    </a:ext>
                  </a:extLst>
                </a:gridCol>
                <a:gridCol w="419570">
                  <a:extLst>
                    <a:ext uri="{9D8B030D-6E8A-4147-A177-3AD203B41FA5}">
                      <a16:colId xmlns:a16="http://schemas.microsoft.com/office/drawing/2014/main" val="1470405609"/>
                    </a:ext>
                  </a:extLst>
                </a:gridCol>
                <a:gridCol w="41957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x</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x</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x</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x</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SF_SIZE [7:0]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72408139"/>
                  </a:ext>
                </a:extLst>
              </a:tr>
            </a:tbl>
          </a:graphicData>
        </a:graphic>
      </p:graphicFrame>
      <p:graphicFrame>
        <p:nvGraphicFramePr>
          <p:cNvPr id="8" name="표 7">
            <a:extLst>
              <a:ext uri="{FF2B5EF4-FFF2-40B4-BE49-F238E27FC236}">
                <a16:creationId xmlns:a16="http://schemas.microsoft.com/office/drawing/2014/main" id="{F1E21CAF-1E60-AB6F-37D3-6ED4315D7014}"/>
              </a:ext>
            </a:extLst>
          </p:cNvPr>
          <p:cNvGraphicFramePr>
            <a:graphicFrameLocks noGrp="1"/>
          </p:cNvGraphicFramePr>
          <p:nvPr>
            <p:extLst>
              <p:ext uri="{D42A27DB-BD31-4B8C-83A1-F6EECF244321}">
                <p14:modId xmlns:p14="http://schemas.microsoft.com/office/powerpoint/2010/main" val="290131855"/>
              </p:ext>
            </p:extLst>
          </p:nvPr>
        </p:nvGraphicFramePr>
        <p:xfrm>
          <a:off x="381029" y="4843540"/>
          <a:ext cx="6066705" cy="372600"/>
        </p:xfrm>
        <a:graphic>
          <a:graphicData uri="http://schemas.openxmlformats.org/drawingml/2006/table">
            <a:tbl>
              <a:tblPr firstRow="1" bandRow="1">
                <a:tableStyleId>{5C22544A-7EE6-4342-B048-85BDC9FD1C3A}</a:tableStyleId>
              </a:tblPr>
              <a:tblGrid>
                <a:gridCol w="279109">
                  <a:extLst>
                    <a:ext uri="{9D8B030D-6E8A-4147-A177-3AD203B41FA5}">
                      <a16:colId xmlns:a16="http://schemas.microsoft.com/office/drawing/2014/main" val="657570846"/>
                    </a:ext>
                  </a:extLst>
                </a:gridCol>
                <a:gridCol w="326718">
                  <a:extLst>
                    <a:ext uri="{9D8B030D-6E8A-4147-A177-3AD203B41FA5}">
                      <a16:colId xmlns:a16="http://schemas.microsoft.com/office/drawing/2014/main" val="3259894497"/>
                    </a:ext>
                  </a:extLst>
                </a:gridCol>
                <a:gridCol w="418706">
                  <a:extLst>
                    <a:ext uri="{9D8B030D-6E8A-4147-A177-3AD203B41FA5}">
                      <a16:colId xmlns:a16="http://schemas.microsoft.com/office/drawing/2014/main" val="4170535043"/>
                    </a:ext>
                  </a:extLst>
                </a:gridCol>
                <a:gridCol w="420181">
                  <a:extLst>
                    <a:ext uri="{9D8B030D-6E8A-4147-A177-3AD203B41FA5}">
                      <a16:colId xmlns:a16="http://schemas.microsoft.com/office/drawing/2014/main" val="2079070694"/>
                    </a:ext>
                  </a:extLst>
                </a:gridCol>
                <a:gridCol w="420181">
                  <a:extLst>
                    <a:ext uri="{9D8B030D-6E8A-4147-A177-3AD203B41FA5}">
                      <a16:colId xmlns:a16="http://schemas.microsoft.com/office/drawing/2014/main" val="4213315911"/>
                    </a:ext>
                  </a:extLst>
                </a:gridCol>
                <a:gridCol w="420181">
                  <a:extLst>
                    <a:ext uri="{9D8B030D-6E8A-4147-A177-3AD203B41FA5}">
                      <a16:colId xmlns:a16="http://schemas.microsoft.com/office/drawing/2014/main" val="2769999950"/>
                    </a:ext>
                  </a:extLst>
                </a:gridCol>
                <a:gridCol w="420181">
                  <a:extLst>
                    <a:ext uri="{9D8B030D-6E8A-4147-A177-3AD203B41FA5}">
                      <a16:colId xmlns:a16="http://schemas.microsoft.com/office/drawing/2014/main" val="135637185"/>
                    </a:ext>
                  </a:extLst>
                </a:gridCol>
                <a:gridCol w="420181">
                  <a:extLst>
                    <a:ext uri="{9D8B030D-6E8A-4147-A177-3AD203B41FA5}">
                      <a16:colId xmlns:a16="http://schemas.microsoft.com/office/drawing/2014/main" val="3038050475"/>
                    </a:ext>
                  </a:extLst>
                </a:gridCol>
                <a:gridCol w="420181">
                  <a:extLst>
                    <a:ext uri="{9D8B030D-6E8A-4147-A177-3AD203B41FA5}">
                      <a16:colId xmlns:a16="http://schemas.microsoft.com/office/drawing/2014/main" val="1979433044"/>
                    </a:ext>
                  </a:extLst>
                </a:gridCol>
                <a:gridCol w="420181">
                  <a:extLst>
                    <a:ext uri="{9D8B030D-6E8A-4147-A177-3AD203B41FA5}">
                      <a16:colId xmlns:a16="http://schemas.microsoft.com/office/drawing/2014/main" val="4270661649"/>
                    </a:ext>
                  </a:extLst>
                </a:gridCol>
                <a:gridCol w="420181">
                  <a:extLst>
                    <a:ext uri="{9D8B030D-6E8A-4147-A177-3AD203B41FA5}">
                      <a16:colId xmlns:a16="http://schemas.microsoft.com/office/drawing/2014/main" val="3027041370"/>
                    </a:ext>
                  </a:extLst>
                </a:gridCol>
                <a:gridCol w="420181">
                  <a:extLst>
                    <a:ext uri="{9D8B030D-6E8A-4147-A177-3AD203B41FA5}">
                      <a16:colId xmlns:a16="http://schemas.microsoft.com/office/drawing/2014/main" val="2852526216"/>
                    </a:ext>
                  </a:extLst>
                </a:gridCol>
                <a:gridCol w="420181">
                  <a:extLst>
                    <a:ext uri="{9D8B030D-6E8A-4147-A177-3AD203B41FA5}">
                      <a16:colId xmlns:a16="http://schemas.microsoft.com/office/drawing/2014/main" val="103420222"/>
                    </a:ext>
                  </a:extLst>
                </a:gridCol>
                <a:gridCol w="420181">
                  <a:extLst>
                    <a:ext uri="{9D8B030D-6E8A-4147-A177-3AD203B41FA5}">
                      <a16:colId xmlns:a16="http://schemas.microsoft.com/office/drawing/2014/main" val="1470405609"/>
                    </a:ext>
                  </a:extLst>
                </a:gridCol>
                <a:gridCol w="42018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LD_SIZE [3:0]</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SF_X8_SIZE [4:0]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29589405"/>
                  </a:ext>
                </a:extLst>
              </a:tr>
            </a:tbl>
          </a:graphicData>
        </a:graphic>
      </p:graphicFrame>
      <p:graphicFrame>
        <p:nvGraphicFramePr>
          <p:cNvPr id="3" name="표 2">
            <a:extLst>
              <a:ext uri="{FF2B5EF4-FFF2-40B4-BE49-F238E27FC236}">
                <a16:creationId xmlns:a16="http://schemas.microsoft.com/office/drawing/2014/main" id="{3FFE0055-74EF-8AD2-C210-61FEF432AFB7}"/>
              </a:ext>
            </a:extLst>
          </p:cNvPr>
          <p:cNvGraphicFramePr>
            <a:graphicFrameLocks noGrp="1"/>
          </p:cNvGraphicFramePr>
          <p:nvPr>
            <p:extLst>
              <p:ext uri="{D42A27DB-BD31-4B8C-83A1-F6EECF244321}">
                <p14:modId xmlns:p14="http://schemas.microsoft.com/office/powerpoint/2010/main" val="764100346"/>
              </p:ext>
            </p:extLst>
          </p:nvPr>
        </p:nvGraphicFramePr>
        <p:xfrm>
          <a:off x="347134" y="7456651"/>
          <a:ext cx="6100587" cy="1439320"/>
        </p:xfrm>
        <a:graphic>
          <a:graphicData uri="http://schemas.openxmlformats.org/drawingml/2006/table">
            <a:tbl>
              <a:tblPr firstRow="1" bandRow="1">
                <a:tableStyleId>{5C22544A-7EE6-4342-B048-85BDC9FD1C3A}</a:tableStyleId>
              </a:tblPr>
              <a:tblGrid>
                <a:gridCol w="444587">
                  <a:extLst>
                    <a:ext uri="{9D8B030D-6E8A-4147-A177-3AD203B41FA5}">
                      <a16:colId xmlns:a16="http://schemas.microsoft.com/office/drawing/2014/main" val="4170535043"/>
                    </a:ext>
                  </a:extLst>
                </a:gridCol>
                <a:gridCol w="1056434">
                  <a:extLst>
                    <a:ext uri="{9D8B030D-6E8A-4147-A177-3AD203B41FA5}">
                      <a16:colId xmlns:a16="http://schemas.microsoft.com/office/drawing/2014/main" val="2079070694"/>
                    </a:ext>
                  </a:extLst>
                </a:gridCol>
                <a:gridCol w="4599566">
                  <a:extLst>
                    <a:ext uri="{9D8B030D-6E8A-4147-A177-3AD203B41FA5}">
                      <a16:colId xmlns:a16="http://schemas.microsoft.com/office/drawing/2014/main" val="32595803"/>
                    </a:ext>
                  </a:extLst>
                </a:gridCol>
              </a:tblGrid>
              <a:tr h="27004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7237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SF_BFI</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SF_BFI_SIZE determines how many sub-frames are turned-off in a frame. The number should be less than the SF_SIZE in a Normal mode and the SF_X8_SIZE in a X8 mode and can be set to 0 to fully turn-on for a frame time.  Even if the value will be changed, the value is kept until completing the current frame, and applied from a next frame.  For more details, refer to the Fig. 6,7,8,9 and the number of sub-frame turned-on is as follows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 (SF_SIZE – SF_BFI_SIZE) @ Normal mode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 (SF_X8_SIZE – SF_BFI_SIZE) @ X8 mode</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6757228"/>
                  </a:ext>
                </a:extLst>
              </a:tr>
            </a:tbl>
          </a:graphicData>
        </a:graphic>
      </p:graphicFrame>
      <p:sp>
        <p:nvSpPr>
          <p:cNvPr id="4" name="TextBox 3">
            <a:extLst>
              <a:ext uri="{FF2B5EF4-FFF2-40B4-BE49-F238E27FC236}">
                <a16:creationId xmlns:a16="http://schemas.microsoft.com/office/drawing/2014/main" id="{2B4BD9C3-16B9-44A7-5DB9-0511570391D9}"/>
              </a:ext>
            </a:extLst>
          </p:cNvPr>
          <p:cNvSpPr txBox="1"/>
          <p:nvPr/>
        </p:nvSpPr>
        <p:spPr>
          <a:xfrm>
            <a:off x="381021" y="6776169"/>
            <a:ext cx="606670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SF BFI SIZE</a:t>
            </a:r>
          </a:p>
        </p:txBody>
      </p:sp>
      <p:graphicFrame>
        <p:nvGraphicFramePr>
          <p:cNvPr id="9" name="표 8">
            <a:extLst>
              <a:ext uri="{FF2B5EF4-FFF2-40B4-BE49-F238E27FC236}">
                <a16:creationId xmlns:a16="http://schemas.microsoft.com/office/drawing/2014/main" id="{A2E8440B-1BB2-DC20-CF7D-B322BEED7CFF}"/>
              </a:ext>
            </a:extLst>
          </p:cNvPr>
          <p:cNvGraphicFramePr>
            <a:graphicFrameLocks noGrp="1"/>
          </p:cNvGraphicFramePr>
          <p:nvPr>
            <p:extLst>
              <p:ext uri="{D42A27DB-BD31-4B8C-83A1-F6EECF244321}">
                <p14:modId xmlns:p14="http://schemas.microsoft.com/office/powerpoint/2010/main" val="3757778268"/>
              </p:ext>
            </p:extLst>
          </p:nvPr>
        </p:nvGraphicFramePr>
        <p:xfrm>
          <a:off x="381021" y="7037524"/>
          <a:ext cx="6066708" cy="372600"/>
        </p:xfrm>
        <a:graphic>
          <a:graphicData uri="http://schemas.openxmlformats.org/drawingml/2006/table">
            <a:tbl>
              <a:tblPr firstRow="1" bandRow="1">
                <a:tableStyleId>{5C22544A-7EE6-4342-B048-85BDC9FD1C3A}</a:tableStyleId>
              </a:tblPr>
              <a:tblGrid>
                <a:gridCol w="273696">
                  <a:extLst>
                    <a:ext uri="{9D8B030D-6E8A-4147-A177-3AD203B41FA5}">
                      <a16:colId xmlns:a16="http://schemas.microsoft.com/office/drawing/2014/main" val="657570846"/>
                    </a:ext>
                  </a:extLst>
                </a:gridCol>
                <a:gridCol w="329890">
                  <a:extLst>
                    <a:ext uri="{9D8B030D-6E8A-4147-A177-3AD203B41FA5}">
                      <a16:colId xmlns:a16="http://schemas.microsoft.com/office/drawing/2014/main" val="3259894497"/>
                    </a:ext>
                  </a:extLst>
                </a:gridCol>
                <a:gridCol w="418706">
                  <a:extLst>
                    <a:ext uri="{9D8B030D-6E8A-4147-A177-3AD203B41FA5}">
                      <a16:colId xmlns:a16="http://schemas.microsoft.com/office/drawing/2014/main" val="4170535043"/>
                    </a:ext>
                  </a:extLst>
                </a:gridCol>
                <a:gridCol w="420368">
                  <a:extLst>
                    <a:ext uri="{9D8B030D-6E8A-4147-A177-3AD203B41FA5}">
                      <a16:colId xmlns:a16="http://schemas.microsoft.com/office/drawing/2014/main" val="2079070694"/>
                    </a:ext>
                  </a:extLst>
                </a:gridCol>
                <a:gridCol w="420368">
                  <a:extLst>
                    <a:ext uri="{9D8B030D-6E8A-4147-A177-3AD203B41FA5}">
                      <a16:colId xmlns:a16="http://schemas.microsoft.com/office/drawing/2014/main" val="4213315911"/>
                    </a:ext>
                  </a:extLst>
                </a:gridCol>
                <a:gridCol w="420368">
                  <a:extLst>
                    <a:ext uri="{9D8B030D-6E8A-4147-A177-3AD203B41FA5}">
                      <a16:colId xmlns:a16="http://schemas.microsoft.com/office/drawing/2014/main" val="2769999950"/>
                    </a:ext>
                  </a:extLst>
                </a:gridCol>
                <a:gridCol w="420368">
                  <a:extLst>
                    <a:ext uri="{9D8B030D-6E8A-4147-A177-3AD203B41FA5}">
                      <a16:colId xmlns:a16="http://schemas.microsoft.com/office/drawing/2014/main" val="135637185"/>
                    </a:ext>
                  </a:extLst>
                </a:gridCol>
                <a:gridCol w="420368">
                  <a:extLst>
                    <a:ext uri="{9D8B030D-6E8A-4147-A177-3AD203B41FA5}">
                      <a16:colId xmlns:a16="http://schemas.microsoft.com/office/drawing/2014/main" val="3038050475"/>
                    </a:ext>
                  </a:extLst>
                </a:gridCol>
                <a:gridCol w="420368">
                  <a:extLst>
                    <a:ext uri="{9D8B030D-6E8A-4147-A177-3AD203B41FA5}">
                      <a16:colId xmlns:a16="http://schemas.microsoft.com/office/drawing/2014/main" val="1979433044"/>
                    </a:ext>
                  </a:extLst>
                </a:gridCol>
                <a:gridCol w="420368">
                  <a:extLst>
                    <a:ext uri="{9D8B030D-6E8A-4147-A177-3AD203B41FA5}">
                      <a16:colId xmlns:a16="http://schemas.microsoft.com/office/drawing/2014/main" val="4270661649"/>
                    </a:ext>
                  </a:extLst>
                </a:gridCol>
                <a:gridCol w="420368">
                  <a:extLst>
                    <a:ext uri="{9D8B030D-6E8A-4147-A177-3AD203B41FA5}">
                      <a16:colId xmlns:a16="http://schemas.microsoft.com/office/drawing/2014/main" val="3027041370"/>
                    </a:ext>
                  </a:extLst>
                </a:gridCol>
                <a:gridCol w="420368">
                  <a:extLst>
                    <a:ext uri="{9D8B030D-6E8A-4147-A177-3AD203B41FA5}">
                      <a16:colId xmlns:a16="http://schemas.microsoft.com/office/drawing/2014/main" val="2852526216"/>
                    </a:ext>
                  </a:extLst>
                </a:gridCol>
                <a:gridCol w="420368">
                  <a:extLst>
                    <a:ext uri="{9D8B030D-6E8A-4147-A177-3AD203B41FA5}">
                      <a16:colId xmlns:a16="http://schemas.microsoft.com/office/drawing/2014/main" val="103420222"/>
                    </a:ext>
                  </a:extLst>
                </a:gridCol>
                <a:gridCol w="420368">
                  <a:extLst>
                    <a:ext uri="{9D8B030D-6E8A-4147-A177-3AD203B41FA5}">
                      <a16:colId xmlns:a16="http://schemas.microsoft.com/office/drawing/2014/main" val="1470405609"/>
                    </a:ext>
                  </a:extLst>
                </a:gridCol>
                <a:gridCol w="42036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SF_BFI_SIZE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6474633"/>
                  </a:ext>
                </a:extLst>
              </a:tr>
            </a:tbl>
          </a:graphicData>
        </a:graphic>
      </p:graphicFrame>
      <p:sp>
        <p:nvSpPr>
          <p:cNvPr id="12" name="TextBox 11">
            <a:extLst>
              <a:ext uri="{FF2B5EF4-FFF2-40B4-BE49-F238E27FC236}">
                <a16:creationId xmlns:a16="http://schemas.microsoft.com/office/drawing/2014/main" id="{A59C9265-29A4-447A-61F5-78D3E9C3AE23}"/>
              </a:ext>
            </a:extLst>
          </p:cNvPr>
          <p:cNvSpPr txBox="1"/>
          <p:nvPr/>
        </p:nvSpPr>
        <p:spPr>
          <a:xfrm>
            <a:off x="399212" y="871566"/>
            <a:ext cx="606295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SF PERIOD</a:t>
            </a:r>
          </a:p>
        </p:txBody>
      </p:sp>
    </p:spTree>
    <p:extLst>
      <p:ext uri="{BB962C8B-B14F-4D97-AF65-F5344CB8AC3E}">
        <p14:creationId xmlns:p14="http://schemas.microsoft.com/office/powerpoint/2010/main" val="27087303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0A0E28D5-A8BE-3313-6E1E-880FD4AA20EE}"/>
              </a:ext>
            </a:extLst>
          </p:cNvPr>
          <p:cNvSpPr txBox="1"/>
          <p:nvPr/>
        </p:nvSpPr>
        <p:spPr>
          <a:xfrm>
            <a:off x="401833" y="3671684"/>
            <a:ext cx="605239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MAX CURRENT VREF</a:t>
            </a:r>
          </a:p>
        </p:txBody>
      </p:sp>
      <p:graphicFrame>
        <p:nvGraphicFramePr>
          <p:cNvPr id="5" name="표 4">
            <a:extLst>
              <a:ext uri="{FF2B5EF4-FFF2-40B4-BE49-F238E27FC236}">
                <a16:creationId xmlns:a16="http://schemas.microsoft.com/office/drawing/2014/main" id="{45DE8FCB-50B5-353C-2592-F95A83E0479C}"/>
              </a:ext>
            </a:extLst>
          </p:cNvPr>
          <p:cNvGraphicFramePr>
            <a:graphicFrameLocks noGrp="1"/>
          </p:cNvGraphicFramePr>
          <p:nvPr>
            <p:extLst>
              <p:ext uri="{D42A27DB-BD31-4B8C-83A1-F6EECF244321}">
                <p14:modId xmlns:p14="http://schemas.microsoft.com/office/powerpoint/2010/main" val="2649202661"/>
              </p:ext>
            </p:extLst>
          </p:nvPr>
        </p:nvGraphicFramePr>
        <p:xfrm>
          <a:off x="393894" y="6162482"/>
          <a:ext cx="6060332" cy="372600"/>
        </p:xfrm>
        <a:graphic>
          <a:graphicData uri="http://schemas.openxmlformats.org/drawingml/2006/table">
            <a:tbl>
              <a:tblPr firstRow="1" bandRow="1">
                <a:tableStyleId>{5C22544A-7EE6-4342-B048-85BDC9FD1C3A}</a:tableStyleId>
              </a:tblPr>
              <a:tblGrid>
                <a:gridCol w="277694">
                  <a:extLst>
                    <a:ext uri="{9D8B030D-6E8A-4147-A177-3AD203B41FA5}">
                      <a16:colId xmlns:a16="http://schemas.microsoft.com/office/drawing/2014/main" val="657570846"/>
                    </a:ext>
                  </a:extLst>
                </a:gridCol>
                <a:gridCol w="323910">
                  <a:extLst>
                    <a:ext uri="{9D8B030D-6E8A-4147-A177-3AD203B41FA5}">
                      <a16:colId xmlns:a16="http://schemas.microsoft.com/office/drawing/2014/main" val="3259894497"/>
                    </a:ext>
                  </a:extLst>
                </a:gridCol>
                <a:gridCol w="431880">
                  <a:extLst>
                    <a:ext uri="{9D8B030D-6E8A-4147-A177-3AD203B41FA5}">
                      <a16:colId xmlns:a16="http://schemas.microsoft.com/office/drawing/2014/main" val="4170535043"/>
                    </a:ext>
                  </a:extLst>
                </a:gridCol>
                <a:gridCol w="418904">
                  <a:extLst>
                    <a:ext uri="{9D8B030D-6E8A-4147-A177-3AD203B41FA5}">
                      <a16:colId xmlns:a16="http://schemas.microsoft.com/office/drawing/2014/main" val="2079070694"/>
                    </a:ext>
                  </a:extLst>
                </a:gridCol>
                <a:gridCol w="418904">
                  <a:extLst>
                    <a:ext uri="{9D8B030D-6E8A-4147-A177-3AD203B41FA5}">
                      <a16:colId xmlns:a16="http://schemas.microsoft.com/office/drawing/2014/main" val="4213315911"/>
                    </a:ext>
                  </a:extLst>
                </a:gridCol>
                <a:gridCol w="418904">
                  <a:extLst>
                    <a:ext uri="{9D8B030D-6E8A-4147-A177-3AD203B41FA5}">
                      <a16:colId xmlns:a16="http://schemas.microsoft.com/office/drawing/2014/main" val="2769999950"/>
                    </a:ext>
                  </a:extLst>
                </a:gridCol>
                <a:gridCol w="418904">
                  <a:extLst>
                    <a:ext uri="{9D8B030D-6E8A-4147-A177-3AD203B41FA5}">
                      <a16:colId xmlns:a16="http://schemas.microsoft.com/office/drawing/2014/main" val="135637185"/>
                    </a:ext>
                  </a:extLst>
                </a:gridCol>
                <a:gridCol w="418904">
                  <a:extLst>
                    <a:ext uri="{9D8B030D-6E8A-4147-A177-3AD203B41FA5}">
                      <a16:colId xmlns:a16="http://schemas.microsoft.com/office/drawing/2014/main" val="3038050475"/>
                    </a:ext>
                  </a:extLst>
                </a:gridCol>
                <a:gridCol w="418904">
                  <a:extLst>
                    <a:ext uri="{9D8B030D-6E8A-4147-A177-3AD203B41FA5}">
                      <a16:colId xmlns:a16="http://schemas.microsoft.com/office/drawing/2014/main" val="1979433044"/>
                    </a:ext>
                  </a:extLst>
                </a:gridCol>
                <a:gridCol w="418904">
                  <a:extLst>
                    <a:ext uri="{9D8B030D-6E8A-4147-A177-3AD203B41FA5}">
                      <a16:colId xmlns:a16="http://schemas.microsoft.com/office/drawing/2014/main" val="4270661649"/>
                    </a:ext>
                  </a:extLst>
                </a:gridCol>
                <a:gridCol w="418904">
                  <a:extLst>
                    <a:ext uri="{9D8B030D-6E8A-4147-A177-3AD203B41FA5}">
                      <a16:colId xmlns:a16="http://schemas.microsoft.com/office/drawing/2014/main" val="3027041370"/>
                    </a:ext>
                  </a:extLst>
                </a:gridCol>
                <a:gridCol w="418904">
                  <a:extLst>
                    <a:ext uri="{9D8B030D-6E8A-4147-A177-3AD203B41FA5}">
                      <a16:colId xmlns:a16="http://schemas.microsoft.com/office/drawing/2014/main" val="2852526216"/>
                    </a:ext>
                  </a:extLst>
                </a:gridCol>
                <a:gridCol w="418904">
                  <a:extLst>
                    <a:ext uri="{9D8B030D-6E8A-4147-A177-3AD203B41FA5}">
                      <a16:colId xmlns:a16="http://schemas.microsoft.com/office/drawing/2014/main" val="103420222"/>
                    </a:ext>
                  </a:extLst>
                </a:gridCol>
                <a:gridCol w="418904">
                  <a:extLst>
                    <a:ext uri="{9D8B030D-6E8A-4147-A177-3AD203B41FA5}">
                      <a16:colId xmlns:a16="http://schemas.microsoft.com/office/drawing/2014/main" val="1470405609"/>
                    </a:ext>
                  </a:extLst>
                </a:gridCol>
                <a:gridCol w="41890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CH12_EN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CH11_EN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CH10_EN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CH9_EN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CH8_EN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CH7_EN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CH6_EN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CH5_EN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CH4_EN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CH3_EN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5246DEB0-6373-C080-BE63-A9B65ACD3330}"/>
              </a:ext>
            </a:extLst>
          </p:cNvPr>
          <p:cNvGraphicFramePr>
            <a:graphicFrameLocks noGrp="1"/>
          </p:cNvGraphicFramePr>
          <p:nvPr>
            <p:extLst>
              <p:ext uri="{D42A27DB-BD31-4B8C-83A1-F6EECF244321}">
                <p14:modId xmlns:p14="http://schemas.microsoft.com/office/powerpoint/2010/main" val="212570897"/>
              </p:ext>
            </p:extLst>
          </p:nvPr>
        </p:nvGraphicFramePr>
        <p:xfrm>
          <a:off x="389338" y="4359803"/>
          <a:ext cx="6058537" cy="1165000"/>
        </p:xfrm>
        <a:graphic>
          <a:graphicData uri="http://schemas.openxmlformats.org/drawingml/2006/table">
            <a:tbl>
              <a:tblPr firstRow="1" bandRow="1">
                <a:tableStyleId>{5C22544A-7EE6-4342-B048-85BDC9FD1C3A}</a:tableStyleId>
              </a:tblPr>
              <a:tblGrid>
                <a:gridCol w="374083">
                  <a:extLst>
                    <a:ext uri="{9D8B030D-6E8A-4147-A177-3AD203B41FA5}">
                      <a16:colId xmlns:a16="http://schemas.microsoft.com/office/drawing/2014/main" val="4170535043"/>
                    </a:ext>
                  </a:extLst>
                </a:gridCol>
                <a:gridCol w="1116592">
                  <a:extLst>
                    <a:ext uri="{9D8B030D-6E8A-4147-A177-3AD203B41FA5}">
                      <a16:colId xmlns:a16="http://schemas.microsoft.com/office/drawing/2014/main" val="2079070694"/>
                    </a:ext>
                  </a:extLst>
                </a:gridCol>
                <a:gridCol w="4567862">
                  <a:extLst>
                    <a:ext uri="{9D8B030D-6E8A-4147-A177-3AD203B41FA5}">
                      <a16:colId xmlns:a16="http://schemas.microsoft.com/office/drawing/2014/main" val="32595803"/>
                    </a:ext>
                  </a:extLst>
                </a:gridCol>
              </a:tblGrid>
              <a:tr h="27004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61171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MAX_CURR_VREF</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MAX_CURR_VREF determines the maximum current value of a frame to be dimmed. If the max current level is set to 8mA, then the MAX_CURR_VREF value is proportional to the max current level, and so this value decides the max current reference of all blocks being dimmed for a frame. The set value will come into effect at the next internal vsync assertion even if the value is set during current dimming frame earlier than the next vsync.</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 name="TextBox 2">
            <a:extLst>
              <a:ext uri="{FF2B5EF4-FFF2-40B4-BE49-F238E27FC236}">
                <a16:creationId xmlns:a16="http://schemas.microsoft.com/office/drawing/2014/main" id="{17071C8F-EA75-1BCF-7B88-D66AE747CB85}"/>
              </a:ext>
            </a:extLst>
          </p:cNvPr>
          <p:cNvSpPr txBox="1"/>
          <p:nvPr/>
        </p:nvSpPr>
        <p:spPr>
          <a:xfrm>
            <a:off x="389338" y="5899290"/>
            <a:ext cx="6058537"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CHANNEL ENABLE</a:t>
            </a:r>
          </a:p>
        </p:txBody>
      </p:sp>
      <p:graphicFrame>
        <p:nvGraphicFramePr>
          <p:cNvPr id="14" name="표 13">
            <a:extLst>
              <a:ext uri="{FF2B5EF4-FFF2-40B4-BE49-F238E27FC236}">
                <a16:creationId xmlns:a16="http://schemas.microsoft.com/office/drawing/2014/main" id="{1CA3539C-262F-DCFF-AAB8-7187F49BD04E}"/>
              </a:ext>
            </a:extLst>
          </p:cNvPr>
          <p:cNvGraphicFramePr>
            <a:graphicFrameLocks noGrp="1"/>
          </p:cNvGraphicFramePr>
          <p:nvPr>
            <p:extLst>
              <p:ext uri="{D42A27DB-BD31-4B8C-83A1-F6EECF244321}">
                <p14:modId xmlns:p14="http://schemas.microsoft.com/office/powerpoint/2010/main" val="1502481556"/>
              </p:ext>
            </p:extLst>
          </p:nvPr>
        </p:nvGraphicFramePr>
        <p:xfrm>
          <a:off x="389337" y="3934134"/>
          <a:ext cx="6064893" cy="372600"/>
        </p:xfrm>
        <a:graphic>
          <a:graphicData uri="http://schemas.openxmlformats.org/drawingml/2006/table">
            <a:tbl>
              <a:tblPr firstRow="1" bandRow="1">
                <a:tableStyleId>{5C22544A-7EE6-4342-B048-85BDC9FD1C3A}</a:tableStyleId>
              </a:tblPr>
              <a:tblGrid>
                <a:gridCol w="277384">
                  <a:extLst>
                    <a:ext uri="{9D8B030D-6E8A-4147-A177-3AD203B41FA5}">
                      <a16:colId xmlns:a16="http://schemas.microsoft.com/office/drawing/2014/main" val="657570846"/>
                    </a:ext>
                  </a:extLst>
                </a:gridCol>
                <a:gridCol w="323751">
                  <a:extLst>
                    <a:ext uri="{9D8B030D-6E8A-4147-A177-3AD203B41FA5}">
                      <a16:colId xmlns:a16="http://schemas.microsoft.com/office/drawing/2014/main" val="3259894497"/>
                    </a:ext>
                  </a:extLst>
                </a:gridCol>
                <a:gridCol w="430082">
                  <a:extLst>
                    <a:ext uri="{9D8B030D-6E8A-4147-A177-3AD203B41FA5}">
                      <a16:colId xmlns:a16="http://schemas.microsoft.com/office/drawing/2014/main" val="4170535043"/>
                    </a:ext>
                  </a:extLst>
                </a:gridCol>
                <a:gridCol w="419473">
                  <a:extLst>
                    <a:ext uri="{9D8B030D-6E8A-4147-A177-3AD203B41FA5}">
                      <a16:colId xmlns:a16="http://schemas.microsoft.com/office/drawing/2014/main" val="2079070694"/>
                    </a:ext>
                  </a:extLst>
                </a:gridCol>
                <a:gridCol w="419473">
                  <a:extLst>
                    <a:ext uri="{9D8B030D-6E8A-4147-A177-3AD203B41FA5}">
                      <a16:colId xmlns:a16="http://schemas.microsoft.com/office/drawing/2014/main" val="4213315911"/>
                    </a:ext>
                  </a:extLst>
                </a:gridCol>
                <a:gridCol w="419473">
                  <a:extLst>
                    <a:ext uri="{9D8B030D-6E8A-4147-A177-3AD203B41FA5}">
                      <a16:colId xmlns:a16="http://schemas.microsoft.com/office/drawing/2014/main" val="2769999950"/>
                    </a:ext>
                  </a:extLst>
                </a:gridCol>
                <a:gridCol w="419473">
                  <a:extLst>
                    <a:ext uri="{9D8B030D-6E8A-4147-A177-3AD203B41FA5}">
                      <a16:colId xmlns:a16="http://schemas.microsoft.com/office/drawing/2014/main" val="135637185"/>
                    </a:ext>
                  </a:extLst>
                </a:gridCol>
                <a:gridCol w="419473">
                  <a:extLst>
                    <a:ext uri="{9D8B030D-6E8A-4147-A177-3AD203B41FA5}">
                      <a16:colId xmlns:a16="http://schemas.microsoft.com/office/drawing/2014/main" val="3038050475"/>
                    </a:ext>
                  </a:extLst>
                </a:gridCol>
                <a:gridCol w="419473">
                  <a:extLst>
                    <a:ext uri="{9D8B030D-6E8A-4147-A177-3AD203B41FA5}">
                      <a16:colId xmlns:a16="http://schemas.microsoft.com/office/drawing/2014/main" val="1979433044"/>
                    </a:ext>
                  </a:extLst>
                </a:gridCol>
                <a:gridCol w="419473">
                  <a:extLst>
                    <a:ext uri="{9D8B030D-6E8A-4147-A177-3AD203B41FA5}">
                      <a16:colId xmlns:a16="http://schemas.microsoft.com/office/drawing/2014/main" val="4270661649"/>
                    </a:ext>
                  </a:extLst>
                </a:gridCol>
                <a:gridCol w="419473">
                  <a:extLst>
                    <a:ext uri="{9D8B030D-6E8A-4147-A177-3AD203B41FA5}">
                      <a16:colId xmlns:a16="http://schemas.microsoft.com/office/drawing/2014/main" val="3027041370"/>
                    </a:ext>
                  </a:extLst>
                </a:gridCol>
                <a:gridCol w="419473">
                  <a:extLst>
                    <a:ext uri="{9D8B030D-6E8A-4147-A177-3AD203B41FA5}">
                      <a16:colId xmlns:a16="http://schemas.microsoft.com/office/drawing/2014/main" val="2852526216"/>
                    </a:ext>
                  </a:extLst>
                </a:gridCol>
                <a:gridCol w="419473">
                  <a:extLst>
                    <a:ext uri="{9D8B030D-6E8A-4147-A177-3AD203B41FA5}">
                      <a16:colId xmlns:a16="http://schemas.microsoft.com/office/drawing/2014/main" val="103420222"/>
                    </a:ext>
                  </a:extLst>
                </a:gridCol>
                <a:gridCol w="419473">
                  <a:extLst>
                    <a:ext uri="{9D8B030D-6E8A-4147-A177-3AD203B41FA5}">
                      <a16:colId xmlns:a16="http://schemas.microsoft.com/office/drawing/2014/main" val="1470405609"/>
                    </a:ext>
                  </a:extLst>
                </a:gridCol>
                <a:gridCol w="41947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MAX_CURR_VREF [11:0]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67D1A3AD-711E-55B7-D628-AE9B100E153B}"/>
              </a:ext>
            </a:extLst>
          </p:cNvPr>
          <p:cNvGraphicFramePr>
            <a:graphicFrameLocks noGrp="1"/>
          </p:cNvGraphicFramePr>
          <p:nvPr>
            <p:extLst>
              <p:ext uri="{D42A27DB-BD31-4B8C-83A1-F6EECF244321}">
                <p14:modId xmlns:p14="http://schemas.microsoft.com/office/powerpoint/2010/main" val="1684076478"/>
              </p:ext>
            </p:extLst>
          </p:nvPr>
        </p:nvGraphicFramePr>
        <p:xfrm>
          <a:off x="393894" y="2236807"/>
          <a:ext cx="6060335" cy="1027840"/>
        </p:xfrm>
        <a:graphic>
          <a:graphicData uri="http://schemas.openxmlformats.org/drawingml/2006/table">
            <a:tbl>
              <a:tblPr firstRow="1" bandRow="1">
                <a:tableStyleId>{5C22544A-7EE6-4342-B048-85BDC9FD1C3A}</a:tableStyleId>
              </a:tblPr>
              <a:tblGrid>
                <a:gridCol w="441653">
                  <a:extLst>
                    <a:ext uri="{9D8B030D-6E8A-4147-A177-3AD203B41FA5}">
                      <a16:colId xmlns:a16="http://schemas.microsoft.com/office/drawing/2014/main" val="4170535043"/>
                    </a:ext>
                  </a:extLst>
                </a:gridCol>
                <a:gridCol w="1049464">
                  <a:extLst>
                    <a:ext uri="{9D8B030D-6E8A-4147-A177-3AD203B41FA5}">
                      <a16:colId xmlns:a16="http://schemas.microsoft.com/office/drawing/2014/main" val="2079070694"/>
                    </a:ext>
                  </a:extLst>
                </a:gridCol>
                <a:gridCol w="4569218">
                  <a:extLst>
                    <a:ext uri="{9D8B030D-6E8A-4147-A177-3AD203B41FA5}">
                      <a16:colId xmlns:a16="http://schemas.microsoft.com/office/drawing/2014/main" val="32595803"/>
                    </a:ext>
                  </a:extLst>
                </a:gridCol>
              </a:tblGrid>
              <a:tr h="270040">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70786">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LD_FIX</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The LD_FIX register is used to continuously out a fixed value written in this register instead of LD data to be transmitted form a Host, regardless of the frame sync signal. This function can be used 2 ways, one is for device testing along with the TEST_EN bit  and the LD_FIX_EN bit, and the other is for the vsync missing detected. When the vsync missing is detected, then the LD data is out with these registers value.</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3" name="표 12">
            <a:extLst>
              <a:ext uri="{FF2B5EF4-FFF2-40B4-BE49-F238E27FC236}">
                <a16:creationId xmlns:a16="http://schemas.microsoft.com/office/drawing/2014/main" id="{5709856C-2E86-DC40-C611-2C3007EB3584}"/>
              </a:ext>
            </a:extLst>
          </p:cNvPr>
          <p:cNvGraphicFramePr>
            <a:graphicFrameLocks noGrp="1"/>
          </p:cNvGraphicFramePr>
          <p:nvPr>
            <p:extLst>
              <p:ext uri="{D42A27DB-BD31-4B8C-83A1-F6EECF244321}">
                <p14:modId xmlns:p14="http://schemas.microsoft.com/office/powerpoint/2010/main" val="290187441"/>
              </p:ext>
            </p:extLst>
          </p:nvPr>
        </p:nvGraphicFramePr>
        <p:xfrm>
          <a:off x="395630" y="1818397"/>
          <a:ext cx="6060337" cy="372600"/>
        </p:xfrm>
        <a:graphic>
          <a:graphicData uri="http://schemas.openxmlformats.org/drawingml/2006/table">
            <a:tbl>
              <a:tblPr firstRow="1" bandRow="1">
                <a:tableStyleId>{5C22544A-7EE6-4342-B048-85BDC9FD1C3A}</a:tableStyleId>
              </a:tblPr>
              <a:tblGrid>
                <a:gridCol w="274217">
                  <a:extLst>
                    <a:ext uri="{9D8B030D-6E8A-4147-A177-3AD203B41FA5}">
                      <a16:colId xmlns:a16="http://schemas.microsoft.com/office/drawing/2014/main" val="657570846"/>
                    </a:ext>
                  </a:extLst>
                </a:gridCol>
                <a:gridCol w="326680">
                  <a:extLst>
                    <a:ext uri="{9D8B030D-6E8A-4147-A177-3AD203B41FA5}">
                      <a16:colId xmlns:a16="http://schemas.microsoft.com/office/drawing/2014/main" val="3259894497"/>
                    </a:ext>
                  </a:extLst>
                </a:gridCol>
                <a:gridCol w="431344">
                  <a:extLst>
                    <a:ext uri="{9D8B030D-6E8A-4147-A177-3AD203B41FA5}">
                      <a16:colId xmlns:a16="http://schemas.microsoft.com/office/drawing/2014/main" val="4170535043"/>
                    </a:ext>
                  </a:extLst>
                </a:gridCol>
                <a:gridCol w="419008">
                  <a:extLst>
                    <a:ext uri="{9D8B030D-6E8A-4147-A177-3AD203B41FA5}">
                      <a16:colId xmlns:a16="http://schemas.microsoft.com/office/drawing/2014/main" val="2079070694"/>
                    </a:ext>
                  </a:extLst>
                </a:gridCol>
                <a:gridCol w="419008">
                  <a:extLst>
                    <a:ext uri="{9D8B030D-6E8A-4147-A177-3AD203B41FA5}">
                      <a16:colId xmlns:a16="http://schemas.microsoft.com/office/drawing/2014/main" val="4213315911"/>
                    </a:ext>
                  </a:extLst>
                </a:gridCol>
                <a:gridCol w="419008">
                  <a:extLst>
                    <a:ext uri="{9D8B030D-6E8A-4147-A177-3AD203B41FA5}">
                      <a16:colId xmlns:a16="http://schemas.microsoft.com/office/drawing/2014/main" val="2769999950"/>
                    </a:ext>
                  </a:extLst>
                </a:gridCol>
                <a:gridCol w="419008">
                  <a:extLst>
                    <a:ext uri="{9D8B030D-6E8A-4147-A177-3AD203B41FA5}">
                      <a16:colId xmlns:a16="http://schemas.microsoft.com/office/drawing/2014/main" val="135637185"/>
                    </a:ext>
                  </a:extLst>
                </a:gridCol>
                <a:gridCol w="419008">
                  <a:extLst>
                    <a:ext uri="{9D8B030D-6E8A-4147-A177-3AD203B41FA5}">
                      <a16:colId xmlns:a16="http://schemas.microsoft.com/office/drawing/2014/main" val="3038050475"/>
                    </a:ext>
                  </a:extLst>
                </a:gridCol>
                <a:gridCol w="419008">
                  <a:extLst>
                    <a:ext uri="{9D8B030D-6E8A-4147-A177-3AD203B41FA5}">
                      <a16:colId xmlns:a16="http://schemas.microsoft.com/office/drawing/2014/main" val="1979433044"/>
                    </a:ext>
                  </a:extLst>
                </a:gridCol>
                <a:gridCol w="419008">
                  <a:extLst>
                    <a:ext uri="{9D8B030D-6E8A-4147-A177-3AD203B41FA5}">
                      <a16:colId xmlns:a16="http://schemas.microsoft.com/office/drawing/2014/main" val="4270661649"/>
                    </a:ext>
                  </a:extLst>
                </a:gridCol>
                <a:gridCol w="419008">
                  <a:extLst>
                    <a:ext uri="{9D8B030D-6E8A-4147-A177-3AD203B41FA5}">
                      <a16:colId xmlns:a16="http://schemas.microsoft.com/office/drawing/2014/main" val="3027041370"/>
                    </a:ext>
                  </a:extLst>
                </a:gridCol>
                <a:gridCol w="419008">
                  <a:extLst>
                    <a:ext uri="{9D8B030D-6E8A-4147-A177-3AD203B41FA5}">
                      <a16:colId xmlns:a16="http://schemas.microsoft.com/office/drawing/2014/main" val="2852526216"/>
                    </a:ext>
                  </a:extLst>
                </a:gridCol>
                <a:gridCol w="419008">
                  <a:extLst>
                    <a:ext uri="{9D8B030D-6E8A-4147-A177-3AD203B41FA5}">
                      <a16:colId xmlns:a16="http://schemas.microsoft.com/office/drawing/2014/main" val="103420222"/>
                    </a:ext>
                  </a:extLst>
                </a:gridCol>
                <a:gridCol w="419008">
                  <a:extLst>
                    <a:ext uri="{9D8B030D-6E8A-4147-A177-3AD203B41FA5}">
                      <a16:colId xmlns:a16="http://schemas.microsoft.com/office/drawing/2014/main" val="1470405609"/>
                    </a:ext>
                  </a:extLst>
                </a:gridCol>
                <a:gridCol w="41900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LD_FIX [15:12]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LD_FORCE</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5" name="TextBox 14">
            <a:extLst>
              <a:ext uri="{FF2B5EF4-FFF2-40B4-BE49-F238E27FC236}">
                <a16:creationId xmlns:a16="http://schemas.microsoft.com/office/drawing/2014/main" id="{1D8580F7-F2E4-8053-4A99-A58314104D97}"/>
              </a:ext>
            </a:extLst>
          </p:cNvPr>
          <p:cNvSpPr txBox="1"/>
          <p:nvPr/>
        </p:nvSpPr>
        <p:spPr>
          <a:xfrm>
            <a:off x="408538" y="1557146"/>
            <a:ext cx="6039337"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LD FIX 2</a:t>
            </a:r>
          </a:p>
        </p:txBody>
      </p:sp>
      <p:graphicFrame>
        <p:nvGraphicFramePr>
          <p:cNvPr id="17" name="표 16">
            <a:extLst>
              <a:ext uri="{FF2B5EF4-FFF2-40B4-BE49-F238E27FC236}">
                <a16:creationId xmlns:a16="http://schemas.microsoft.com/office/drawing/2014/main" id="{A092D8A5-A411-6844-D949-F1443BF38479}"/>
              </a:ext>
            </a:extLst>
          </p:cNvPr>
          <p:cNvGraphicFramePr>
            <a:graphicFrameLocks noGrp="1"/>
          </p:cNvGraphicFramePr>
          <p:nvPr>
            <p:extLst>
              <p:ext uri="{D42A27DB-BD31-4B8C-83A1-F6EECF244321}">
                <p14:modId xmlns:p14="http://schemas.microsoft.com/office/powerpoint/2010/main" val="49283788"/>
              </p:ext>
            </p:extLst>
          </p:nvPr>
        </p:nvGraphicFramePr>
        <p:xfrm>
          <a:off x="401833" y="1133895"/>
          <a:ext cx="6060335" cy="372600"/>
        </p:xfrm>
        <a:graphic>
          <a:graphicData uri="http://schemas.openxmlformats.org/drawingml/2006/table">
            <a:tbl>
              <a:tblPr firstRow="1" bandRow="1">
                <a:tableStyleId>{5C22544A-7EE6-4342-B048-85BDC9FD1C3A}</a:tableStyleId>
              </a:tblPr>
              <a:tblGrid>
                <a:gridCol w="275760">
                  <a:extLst>
                    <a:ext uri="{9D8B030D-6E8A-4147-A177-3AD203B41FA5}">
                      <a16:colId xmlns:a16="http://schemas.microsoft.com/office/drawing/2014/main" val="657570846"/>
                    </a:ext>
                  </a:extLst>
                </a:gridCol>
                <a:gridCol w="326413">
                  <a:extLst>
                    <a:ext uri="{9D8B030D-6E8A-4147-A177-3AD203B41FA5}">
                      <a16:colId xmlns:a16="http://schemas.microsoft.com/office/drawing/2014/main" val="3259894497"/>
                    </a:ext>
                  </a:extLst>
                </a:gridCol>
                <a:gridCol w="424654">
                  <a:extLst>
                    <a:ext uri="{9D8B030D-6E8A-4147-A177-3AD203B41FA5}">
                      <a16:colId xmlns:a16="http://schemas.microsoft.com/office/drawing/2014/main" val="4170535043"/>
                    </a:ext>
                  </a:extLst>
                </a:gridCol>
                <a:gridCol w="419459">
                  <a:extLst>
                    <a:ext uri="{9D8B030D-6E8A-4147-A177-3AD203B41FA5}">
                      <a16:colId xmlns:a16="http://schemas.microsoft.com/office/drawing/2014/main" val="2079070694"/>
                    </a:ext>
                  </a:extLst>
                </a:gridCol>
                <a:gridCol w="419459">
                  <a:extLst>
                    <a:ext uri="{9D8B030D-6E8A-4147-A177-3AD203B41FA5}">
                      <a16:colId xmlns:a16="http://schemas.microsoft.com/office/drawing/2014/main" val="4213315911"/>
                    </a:ext>
                  </a:extLst>
                </a:gridCol>
                <a:gridCol w="419459">
                  <a:extLst>
                    <a:ext uri="{9D8B030D-6E8A-4147-A177-3AD203B41FA5}">
                      <a16:colId xmlns:a16="http://schemas.microsoft.com/office/drawing/2014/main" val="2769999950"/>
                    </a:ext>
                  </a:extLst>
                </a:gridCol>
                <a:gridCol w="419459">
                  <a:extLst>
                    <a:ext uri="{9D8B030D-6E8A-4147-A177-3AD203B41FA5}">
                      <a16:colId xmlns:a16="http://schemas.microsoft.com/office/drawing/2014/main" val="135637185"/>
                    </a:ext>
                  </a:extLst>
                </a:gridCol>
                <a:gridCol w="419459">
                  <a:extLst>
                    <a:ext uri="{9D8B030D-6E8A-4147-A177-3AD203B41FA5}">
                      <a16:colId xmlns:a16="http://schemas.microsoft.com/office/drawing/2014/main" val="3038050475"/>
                    </a:ext>
                  </a:extLst>
                </a:gridCol>
                <a:gridCol w="419459">
                  <a:extLst>
                    <a:ext uri="{9D8B030D-6E8A-4147-A177-3AD203B41FA5}">
                      <a16:colId xmlns:a16="http://schemas.microsoft.com/office/drawing/2014/main" val="1979433044"/>
                    </a:ext>
                  </a:extLst>
                </a:gridCol>
                <a:gridCol w="419459">
                  <a:extLst>
                    <a:ext uri="{9D8B030D-6E8A-4147-A177-3AD203B41FA5}">
                      <a16:colId xmlns:a16="http://schemas.microsoft.com/office/drawing/2014/main" val="4270661649"/>
                    </a:ext>
                  </a:extLst>
                </a:gridCol>
                <a:gridCol w="419459">
                  <a:extLst>
                    <a:ext uri="{9D8B030D-6E8A-4147-A177-3AD203B41FA5}">
                      <a16:colId xmlns:a16="http://schemas.microsoft.com/office/drawing/2014/main" val="3027041370"/>
                    </a:ext>
                  </a:extLst>
                </a:gridCol>
                <a:gridCol w="419459">
                  <a:extLst>
                    <a:ext uri="{9D8B030D-6E8A-4147-A177-3AD203B41FA5}">
                      <a16:colId xmlns:a16="http://schemas.microsoft.com/office/drawing/2014/main" val="2852526216"/>
                    </a:ext>
                  </a:extLst>
                </a:gridCol>
                <a:gridCol w="419459">
                  <a:extLst>
                    <a:ext uri="{9D8B030D-6E8A-4147-A177-3AD203B41FA5}">
                      <a16:colId xmlns:a16="http://schemas.microsoft.com/office/drawing/2014/main" val="103420222"/>
                    </a:ext>
                  </a:extLst>
                </a:gridCol>
                <a:gridCol w="419459">
                  <a:extLst>
                    <a:ext uri="{9D8B030D-6E8A-4147-A177-3AD203B41FA5}">
                      <a16:colId xmlns:a16="http://schemas.microsoft.com/office/drawing/2014/main" val="1470405609"/>
                    </a:ext>
                  </a:extLst>
                </a:gridCol>
                <a:gridCol w="41945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0xFFF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LD_FIX [11:0]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LD_FIX [15:12]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LD_FORCE</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 name="TextBox 3">
            <a:extLst>
              <a:ext uri="{FF2B5EF4-FFF2-40B4-BE49-F238E27FC236}">
                <a16:creationId xmlns:a16="http://schemas.microsoft.com/office/drawing/2014/main" id="{CE3B5FEB-A084-7AE5-02B7-4C21818E7B3D}"/>
              </a:ext>
            </a:extLst>
          </p:cNvPr>
          <p:cNvSpPr txBox="1"/>
          <p:nvPr/>
        </p:nvSpPr>
        <p:spPr>
          <a:xfrm>
            <a:off x="404813" y="871566"/>
            <a:ext cx="604306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LD FIX1</a:t>
            </a:r>
          </a:p>
        </p:txBody>
      </p:sp>
      <p:graphicFrame>
        <p:nvGraphicFramePr>
          <p:cNvPr id="8" name="표 7">
            <a:extLst>
              <a:ext uri="{FF2B5EF4-FFF2-40B4-BE49-F238E27FC236}">
                <a16:creationId xmlns:a16="http://schemas.microsoft.com/office/drawing/2014/main" id="{97111597-06D4-E24B-066B-F502EEE30499}"/>
              </a:ext>
            </a:extLst>
          </p:cNvPr>
          <p:cNvGraphicFramePr>
            <a:graphicFrameLocks noGrp="1"/>
          </p:cNvGraphicFramePr>
          <p:nvPr>
            <p:extLst>
              <p:ext uri="{D42A27DB-BD31-4B8C-83A1-F6EECF244321}">
                <p14:modId xmlns:p14="http://schemas.microsoft.com/office/powerpoint/2010/main" val="4094512459"/>
              </p:ext>
            </p:extLst>
          </p:nvPr>
        </p:nvGraphicFramePr>
        <p:xfrm>
          <a:off x="389761" y="6576423"/>
          <a:ext cx="6058367" cy="2025032"/>
        </p:xfrm>
        <a:graphic>
          <a:graphicData uri="http://schemas.openxmlformats.org/drawingml/2006/table">
            <a:tbl>
              <a:tblPr firstRow="1" bandRow="1">
                <a:tableStyleId>{5C22544A-7EE6-4342-B048-85BDC9FD1C3A}</a:tableStyleId>
              </a:tblPr>
              <a:tblGrid>
                <a:gridCol w="441510">
                  <a:extLst>
                    <a:ext uri="{9D8B030D-6E8A-4147-A177-3AD203B41FA5}">
                      <a16:colId xmlns:a16="http://schemas.microsoft.com/office/drawing/2014/main" val="4170535043"/>
                    </a:ext>
                  </a:extLst>
                </a:gridCol>
                <a:gridCol w="1049124">
                  <a:extLst>
                    <a:ext uri="{9D8B030D-6E8A-4147-A177-3AD203B41FA5}">
                      <a16:colId xmlns:a16="http://schemas.microsoft.com/office/drawing/2014/main" val="2079070694"/>
                    </a:ext>
                  </a:extLst>
                </a:gridCol>
                <a:gridCol w="4567733">
                  <a:extLst>
                    <a:ext uri="{9D8B030D-6E8A-4147-A177-3AD203B41FA5}">
                      <a16:colId xmlns:a16="http://schemas.microsoft.com/office/drawing/2014/main" val="32595803"/>
                    </a:ext>
                  </a:extLst>
                </a:gridCol>
              </a:tblGrid>
              <a:tr h="30711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CHx_EN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These bits should be set if the corresponding channels are to be used, but</a:t>
                      </a:r>
                      <a:r>
                        <a:rPr kumimoji="0" lang="ko-KR" alt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can</a:t>
                      </a:r>
                      <a:r>
                        <a:rPr kumimoji="0" lang="ko-KR" alt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not</a:t>
                      </a:r>
                      <a:r>
                        <a:rPr kumimoji="0" lang="ko-KR" alt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be</a:t>
                      </a:r>
                      <a:r>
                        <a:rPr kumimoji="0" lang="ko-KR" alt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set</a:t>
                      </a:r>
                      <a:r>
                        <a:rPr kumimoji="0" lang="ko-KR" alt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if</a:t>
                      </a:r>
                      <a:r>
                        <a:rPr kumimoji="0" lang="ko-KR" alt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any</a:t>
                      </a:r>
                      <a:r>
                        <a:rPr kumimoji="0" lang="ko-KR" alt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channel</a:t>
                      </a:r>
                      <a:r>
                        <a:rPr kumimoji="0" lang="ko-KR" alt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is</a:t>
                      </a:r>
                      <a:r>
                        <a:rPr kumimoji="0" lang="ko-KR" alt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not</a:t>
                      </a:r>
                      <a:r>
                        <a:rPr kumimoji="0" lang="ko-KR" alt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  The number of enabled channels in these registers does not need to match the LD_SIZE value. It is careful that the number of enabled channels should be the same as the LD_SIZE value, but the number can be smaller than the LD_SIZE value like the special mapping below.</a:t>
                      </a: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3582489"/>
                  </a:ext>
                </a:extLst>
              </a:tr>
            </a:tbl>
          </a:graphicData>
        </a:graphic>
      </p:graphicFrame>
      <p:graphicFrame>
        <p:nvGraphicFramePr>
          <p:cNvPr id="9" name="표 8">
            <a:extLst>
              <a:ext uri="{FF2B5EF4-FFF2-40B4-BE49-F238E27FC236}">
                <a16:creationId xmlns:a16="http://schemas.microsoft.com/office/drawing/2014/main" id="{85A064BC-A0CF-8729-0287-DF3C76B7FB83}"/>
              </a:ext>
            </a:extLst>
          </p:cNvPr>
          <p:cNvGraphicFramePr>
            <a:graphicFrameLocks noGrp="1"/>
          </p:cNvGraphicFramePr>
          <p:nvPr>
            <p:extLst>
              <p:ext uri="{D42A27DB-BD31-4B8C-83A1-F6EECF244321}">
                <p14:modId xmlns:p14="http://schemas.microsoft.com/office/powerpoint/2010/main" val="2019396286"/>
              </p:ext>
            </p:extLst>
          </p:nvPr>
        </p:nvGraphicFramePr>
        <p:xfrm>
          <a:off x="1913829" y="7777158"/>
          <a:ext cx="3491366" cy="227760"/>
        </p:xfrm>
        <a:graphic>
          <a:graphicData uri="http://schemas.openxmlformats.org/drawingml/2006/table">
            <a:tbl>
              <a:tblPr firstRow="1" bandRow="1">
                <a:tableStyleId>{5C22544A-7EE6-4342-B048-85BDC9FD1C3A}</a:tableStyleId>
              </a:tblPr>
              <a:tblGrid>
                <a:gridCol w="380263">
                  <a:extLst>
                    <a:ext uri="{9D8B030D-6E8A-4147-A177-3AD203B41FA5}">
                      <a16:colId xmlns:a16="http://schemas.microsoft.com/office/drawing/2014/main" val="4138367841"/>
                    </a:ext>
                  </a:extLst>
                </a:gridCol>
                <a:gridCol w="380263">
                  <a:extLst>
                    <a:ext uri="{9D8B030D-6E8A-4147-A177-3AD203B41FA5}">
                      <a16:colId xmlns:a16="http://schemas.microsoft.com/office/drawing/2014/main" val="3589866634"/>
                    </a:ext>
                  </a:extLst>
                </a:gridCol>
                <a:gridCol w="380263">
                  <a:extLst>
                    <a:ext uri="{9D8B030D-6E8A-4147-A177-3AD203B41FA5}">
                      <a16:colId xmlns:a16="http://schemas.microsoft.com/office/drawing/2014/main" val="203027085"/>
                    </a:ext>
                  </a:extLst>
                </a:gridCol>
                <a:gridCol w="380263">
                  <a:extLst>
                    <a:ext uri="{9D8B030D-6E8A-4147-A177-3AD203B41FA5}">
                      <a16:colId xmlns:a16="http://schemas.microsoft.com/office/drawing/2014/main" val="1213780966"/>
                    </a:ext>
                  </a:extLst>
                </a:gridCol>
                <a:gridCol w="380263">
                  <a:extLst>
                    <a:ext uri="{9D8B030D-6E8A-4147-A177-3AD203B41FA5}">
                      <a16:colId xmlns:a16="http://schemas.microsoft.com/office/drawing/2014/main" val="2173165944"/>
                    </a:ext>
                  </a:extLst>
                </a:gridCol>
                <a:gridCol w="380263">
                  <a:extLst>
                    <a:ext uri="{9D8B030D-6E8A-4147-A177-3AD203B41FA5}">
                      <a16:colId xmlns:a16="http://schemas.microsoft.com/office/drawing/2014/main" val="3651997756"/>
                    </a:ext>
                  </a:extLst>
                </a:gridCol>
                <a:gridCol w="380263">
                  <a:extLst>
                    <a:ext uri="{9D8B030D-6E8A-4147-A177-3AD203B41FA5}">
                      <a16:colId xmlns:a16="http://schemas.microsoft.com/office/drawing/2014/main" val="4226967004"/>
                    </a:ext>
                  </a:extLst>
                </a:gridCol>
                <a:gridCol w="829525">
                  <a:extLst>
                    <a:ext uri="{9D8B030D-6E8A-4147-A177-3AD203B41FA5}">
                      <a16:colId xmlns:a16="http://schemas.microsoft.com/office/drawing/2014/main" val="1995533423"/>
                    </a:ext>
                  </a:extLst>
                </a:gridCol>
              </a:tblGrid>
              <a:tr h="0">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CH1_EN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CH3_EN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CH4_EN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CH5_EN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CH6_EN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CH7_EN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CH8_EN~CH12_EN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40453051"/>
                  </a:ext>
                </a:extLst>
              </a:tr>
              <a:tr h="0">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all 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990245991"/>
                  </a:ext>
                </a:extLst>
              </a:tr>
            </a:tbl>
          </a:graphicData>
        </a:graphic>
      </p:graphicFrame>
      <p:sp>
        <p:nvSpPr>
          <p:cNvPr id="10" name="TextBox 9">
            <a:extLst>
              <a:ext uri="{FF2B5EF4-FFF2-40B4-BE49-F238E27FC236}">
                <a16:creationId xmlns:a16="http://schemas.microsoft.com/office/drawing/2014/main" id="{C8A5E23F-D969-D3E8-16F2-BA7A70CCE531}"/>
              </a:ext>
            </a:extLst>
          </p:cNvPr>
          <p:cNvSpPr txBox="1"/>
          <p:nvPr/>
        </p:nvSpPr>
        <p:spPr>
          <a:xfrm>
            <a:off x="5452503" y="7789474"/>
            <a:ext cx="854401" cy="215444"/>
          </a:xfrm>
          <a:prstGeom prst="rect">
            <a:avLst/>
          </a:prstGeom>
          <a:noFill/>
        </p:spPr>
        <p:txBody>
          <a:bodyPr wrap="none" lIns="0" tIns="0" rIns="0" bIns="0" rtlCol="0" anchor="ctr" anchorCtr="0">
            <a:spAutoFit/>
          </a:bodyPr>
          <a:lstStyle/>
          <a:p>
            <a:r>
              <a:rPr lang="en-US" altLang="ko-KR" sz="700" i="1" dirty="0">
                <a:latin typeface="Arial" panose="020B0604020202020204" pitchFamily="34" charset="0"/>
                <a:cs typeface="Arial" panose="020B0604020202020204" pitchFamily="34" charset="0"/>
              </a:rPr>
              <a:t>the number of</a:t>
            </a:r>
          </a:p>
          <a:p>
            <a:r>
              <a:rPr lang="en-US" altLang="ko-KR" sz="700" i="1" dirty="0">
                <a:latin typeface="Arial" panose="020B0604020202020204" pitchFamily="34" charset="0"/>
                <a:cs typeface="Arial" panose="020B0604020202020204" pitchFamily="34" charset="0"/>
              </a:rPr>
              <a:t>enabled channels = 5</a:t>
            </a:r>
            <a:endParaRPr lang="ko-KR" altLang="en-US" sz="700" i="1" dirty="0">
              <a:latin typeface="Arial" panose="020B0604020202020204" pitchFamily="34" charset="0"/>
              <a:cs typeface="Arial" panose="020B0604020202020204" pitchFamily="34" charset="0"/>
            </a:endParaRPr>
          </a:p>
        </p:txBody>
      </p:sp>
      <p:cxnSp>
        <p:nvCxnSpPr>
          <p:cNvPr id="16" name="직선 화살표 연결선 15">
            <a:extLst>
              <a:ext uri="{FF2B5EF4-FFF2-40B4-BE49-F238E27FC236}">
                <a16:creationId xmlns:a16="http://schemas.microsoft.com/office/drawing/2014/main" id="{F0F94BF4-DF94-B6B9-17B5-22665EB6687E}"/>
              </a:ext>
            </a:extLst>
          </p:cNvPr>
          <p:cNvCxnSpPr>
            <a:cxnSpLocks/>
          </p:cNvCxnSpPr>
          <p:nvPr/>
        </p:nvCxnSpPr>
        <p:spPr>
          <a:xfrm>
            <a:off x="1906186" y="8250567"/>
            <a:ext cx="2664000" cy="0"/>
          </a:xfrm>
          <a:prstGeom prst="straightConnector1">
            <a:avLst/>
          </a:prstGeom>
          <a:ln w="3175">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B838D90-973D-5F79-3608-97709249A45B}"/>
              </a:ext>
            </a:extLst>
          </p:cNvPr>
          <p:cNvSpPr txBox="1"/>
          <p:nvPr/>
        </p:nvSpPr>
        <p:spPr>
          <a:xfrm>
            <a:off x="2222643" y="8150797"/>
            <a:ext cx="2090317" cy="215444"/>
          </a:xfrm>
          <a:prstGeom prst="rect">
            <a:avLst/>
          </a:prstGeom>
          <a:solidFill>
            <a:schemeClr val="bg1"/>
          </a:solidFill>
        </p:spPr>
        <p:txBody>
          <a:bodyPr wrap="none" lIns="0" tIns="0" rIns="0" bIns="0" rtlCol="0" anchor="ctr" anchorCtr="0">
            <a:spAutoFit/>
          </a:bodyPr>
          <a:lstStyle/>
          <a:p>
            <a:pPr algn="ctr"/>
            <a:r>
              <a:rPr lang="en-US" altLang="ko-KR" sz="700" i="1" dirty="0">
                <a:latin typeface="Arial" panose="020B0604020202020204" pitchFamily="34" charset="0"/>
                <a:cs typeface="Arial" panose="020B0604020202020204" pitchFamily="34" charset="0"/>
              </a:rPr>
              <a:t>the amount of LD data to be transmitted for one time</a:t>
            </a:r>
          </a:p>
          <a:p>
            <a:pPr algn="ctr"/>
            <a:r>
              <a:rPr lang="en-US" altLang="ko-KR" sz="700" i="1" dirty="0">
                <a:latin typeface="Arial" panose="020B0604020202020204" pitchFamily="34" charset="0"/>
                <a:cs typeface="Arial" panose="020B0604020202020204" pitchFamily="34" charset="0"/>
              </a:rPr>
              <a:t>LD_SIZE = 7</a:t>
            </a:r>
            <a:endParaRPr lang="ko-KR" altLang="en-US" sz="700" i="1" dirty="0">
              <a:latin typeface="Arial" panose="020B0604020202020204" pitchFamily="34" charset="0"/>
              <a:cs typeface="Arial" panose="020B0604020202020204" pitchFamily="34" charset="0"/>
            </a:endParaRPr>
          </a:p>
        </p:txBody>
      </p:sp>
      <p:cxnSp>
        <p:nvCxnSpPr>
          <p:cNvPr id="19" name="직선 연결선 18">
            <a:extLst>
              <a:ext uri="{FF2B5EF4-FFF2-40B4-BE49-F238E27FC236}">
                <a16:creationId xmlns:a16="http://schemas.microsoft.com/office/drawing/2014/main" id="{0EFAC6BA-ED3A-F6CC-110E-3561FF3B754E}"/>
              </a:ext>
            </a:extLst>
          </p:cNvPr>
          <p:cNvCxnSpPr/>
          <p:nvPr/>
        </p:nvCxnSpPr>
        <p:spPr>
          <a:xfrm>
            <a:off x="1913829" y="8068469"/>
            <a:ext cx="0" cy="252000"/>
          </a:xfrm>
          <a:prstGeom prst="line">
            <a:avLst/>
          </a:prstGeom>
          <a:ln w="31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0" name="직선 연결선 19">
            <a:extLst>
              <a:ext uri="{FF2B5EF4-FFF2-40B4-BE49-F238E27FC236}">
                <a16:creationId xmlns:a16="http://schemas.microsoft.com/office/drawing/2014/main" id="{8B44F42A-5EC9-EF79-57A0-C54B1BA8B34F}"/>
              </a:ext>
            </a:extLst>
          </p:cNvPr>
          <p:cNvCxnSpPr/>
          <p:nvPr/>
        </p:nvCxnSpPr>
        <p:spPr>
          <a:xfrm>
            <a:off x="4570186" y="8064495"/>
            <a:ext cx="0" cy="252000"/>
          </a:xfrm>
          <a:prstGeom prst="line">
            <a:avLst/>
          </a:prstGeom>
          <a:ln w="31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685F3709-7F46-CE83-CEC6-D55F0795FAEC}"/>
              </a:ext>
            </a:extLst>
          </p:cNvPr>
          <p:cNvSpPr txBox="1"/>
          <p:nvPr/>
        </p:nvSpPr>
        <p:spPr>
          <a:xfrm>
            <a:off x="2239076" y="8419893"/>
            <a:ext cx="3157917" cy="107722"/>
          </a:xfrm>
          <a:prstGeom prst="rect">
            <a:avLst/>
          </a:prstGeom>
          <a:solidFill>
            <a:schemeClr val="bg1"/>
          </a:solidFill>
        </p:spPr>
        <p:txBody>
          <a:bodyPr wrap="none" lIns="0" tIns="0" rIns="0" bIns="0" rtlCol="0" anchor="ctr" anchorCtr="0">
            <a:spAutoFit/>
          </a:bodyPr>
          <a:lstStyle/>
          <a:p>
            <a:pPr algn="ctr"/>
            <a:r>
              <a:rPr lang="en-US" altLang="ko-KR" sz="700" i="1" dirty="0">
                <a:latin typeface="Arial" panose="020B0604020202020204" pitchFamily="34" charset="0"/>
                <a:cs typeface="Arial" panose="020B0604020202020204" pitchFamily="34" charset="0"/>
              </a:rPr>
              <a:t>wherein, the LD data of the disabled channels, CH2 and CH5, can be any value</a:t>
            </a:r>
            <a:endParaRPr lang="ko-KR" altLang="en-US" sz="700" i="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662257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84F39684-074B-5DEA-EE16-EDB1308D9CD6}"/>
              </a:ext>
            </a:extLst>
          </p:cNvPr>
          <p:cNvGraphicFramePr>
            <a:graphicFrameLocks noGrp="1"/>
          </p:cNvGraphicFramePr>
          <p:nvPr>
            <p:extLst>
              <p:ext uri="{D42A27DB-BD31-4B8C-83A1-F6EECF244321}">
                <p14:modId xmlns:p14="http://schemas.microsoft.com/office/powerpoint/2010/main" val="3999865627"/>
              </p:ext>
            </p:extLst>
          </p:nvPr>
        </p:nvGraphicFramePr>
        <p:xfrm>
          <a:off x="399453" y="1573469"/>
          <a:ext cx="6053982" cy="6116084"/>
        </p:xfrm>
        <a:graphic>
          <a:graphicData uri="http://schemas.openxmlformats.org/drawingml/2006/table">
            <a:tbl>
              <a:tblPr firstRow="1" bandRow="1">
                <a:tableStyleId>{5C22544A-7EE6-4342-B048-85BDC9FD1C3A}</a:tableStyleId>
              </a:tblPr>
              <a:tblGrid>
                <a:gridCol w="433076">
                  <a:extLst>
                    <a:ext uri="{9D8B030D-6E8A-4147-A177-3AD203B41FA5}">
                      <a16:colId xmlns:a16="http://schemas.microsoft.com/office/drawing/2014/main" val="4170535043"/>
                    </a:ext>
                  </a:extLst>
                </a:gridCol>
                <a:gridCol w="752560">
                  <a:extLst>
                    <a:ext uri="{9D8B030D-6E8A-4147-A177-3AD203B41FA5}">
                      <a16:colId xmlns:a16="http://schemas.microsoft.com/office/drawing/2014/main" val="2079070694"/>
                    </a:ext>
                  </a:extLst>
                </a:gridCol>
                <a:gridCol w="4868346">
                  <a:extLst>
                    <a:ext uri="{9D8B030D-6E8A-4147-A177-3AD203B41FA5}">
                      <a16:colId xmlns:a16="http://schemas.microsoft.com/office/drawing/2014/main" val="32595803"/>
                    </a:ext>
                  </a:extLst>
                </a:gridCol>
              </a:tblGrid>
              <a:tr h="2772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8563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MISS_VS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The MISS_VS bit indicates whether the vsync missing event happens, and auto-cleared after readout this register.</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8563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OV15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The OV15 indicates whether the internal LDO keeps over 1.8V for 100us or not, and auto-cleared after a readout this register.</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13603462"/>
                  </a:ext>
                </a:extLst>
              </a:tr>
              <a:tr h="38563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UV15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The UV15 indicates whether the internal LDO keeps under 1.2V for 100us or not, and auto-cleared after a readout this register.</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3823765"/>
                  </a:ext>
                </a:extLst>
              </a:tr>
              <a:tr h="130201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THERMAL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THERMAL bit indicates whether the XD12 device has internally a thermal event from overheating due to high current for a long time.  This bit will keep asserted as long as the internal THERMAL event is not cleared. The THERMAL threshold can be set by the OFS_TEMP of the LD CONTROL register. </a:t>
                      </a: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T_OFF_E bit of the FAULT MODE register is set, all output sink drivers will be turned-off under the THERMAL bit is set until the internal temperature goes down below the set level of the OFS_TEMP. This bit involves other fault events in the readout information, MISS_VS,OV15 and UV15 at the FAULT_(AUTO)_READ transaction.</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36956073"/>
                  </a:ext>
                </a:extLst>
              </a:tr>
              <a:tr h="130201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SHORT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SHORT bit indicates whether the XD12 output pin is short to a VLED line due to any soldering condition. The detection condition can be set by the SHORT_LEVEL of the FAULT LEVEL register and the SHORT ENABLE LEVEL register.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This bit is set when the SHORT_DEC_EN1/2 bit is set and the SHORT event occurs in even one of the activated channels, and then, will be auto-cleared after readout this register, but the bit will be set again as long as the SHORT event is still valid. If the S_OFF_E bit of the FAULT MODE register is set, the corresponding output sink driver will be turned-off under this bit is set until the event is cleared.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3801518"/>
                  </a:ext>
                </a:extLst>
              </a:tr>
              <a:tr h="138686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OPEN</a:t>
                      </a: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OPEN bit indicates whether the XD12 output pin is open in spite of being activated. The open level is fixed to 0.25V.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This bit is set when the OPEN_DEC_EN bit is set and the OPEN event occurs in even one of the activated channels and then, will be auto-cleared after readout this register, but the bit will be set again as long as the OPEN event is still valid. If the O_OFF_E bit of the FAULT MODE register is set, the corresponding output sink driver will be turned-off under this bit is set until the event is cleared. It needs to follow below to determine the validity of the OPEN event.</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700" b="0" i="0" kern="1200" dirty="0">
                          <a:solidFill>
                            <a:schemeClr val="dk1"/>
                          </a:solidFill>
                          <a:effectLst/>
                          <a:latin typeface="Arial" panose="020B0604020202020204" pitchFamily="34" charset="0"/>
                          <a:ea typeface="+mn-ea"/>
                          <a:cs typeface="Arial" panose="020B0604020202020204" pitchFamily="34" charset="0"/>
                        </a:rPr>
                        <a:t>   * in case that the OPEN and FB are simultaneously-asserted even if the LD data are all 0</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700" b="0" i="0" kern="1200" dirty="0">
                          <a:solidFill>
                            <a:schemeClr val="dk1"/>
                          </a:solidFill>
                          <a:effectLst/>
                          <a:latin typeface="Arial" panose="020B0604020202020204" pitchFamily="34" charset="0"/>
                          <a:ea typeface="+mn-ea"/>
                          <a:cs typeface="Arial" panose="020B0604020202020204" pitchFamily="34" charset="0"/>
                        </a:rPr>
                        <a:t>   * in case that the OPEN and FB are simultaneously-asserted even if the VLED remains at the max level for a long time.</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5460863"/>
                  </a:ext>
                </a:extLst>
              </a:tr>
              <a:tr h="69109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FB bit indicates whether the XD12 output pin’s headroom voltage is below the value set by FB_LEVEL of the FAULT LEVEL register.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This bit is set when a FB event occurs in even one of the activated channels and then, will be auto-cleared after readout this register. This bit will be set again after readout as long as the FB event is still valid.</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2155465"/>
                  </a:ext>
                </a:extLst>
              </a:tr>
            </a:tbl>
          </a:graphicData>
        </a:graphic>
      </p:graphicFrame>
      <p:graphicFrame>
        <p:nvGraphicFramePr>
          <p:cNvPr id="14" name="표 13">
            <a:extLst>
              <a:ext uri="{FF2B5EF4-FFF2-40B4-BE49-F238E27FC236}">
                <a16:creationId xmlns:a16="http://schemas.microsoft.com/office/drawing/2014/main" id="{7475652E-49D4-5321-BD7A-5EA905AD066A}"/>
              </a:ext>
            </a:extLst>
          </p:cNvPr>
          <p:cNvGraphicFramePr>
            <a:graphicFrameLocks noGrp="1"/>
          </p:cNvGraphicFramePr>
          <p:nvPr>
            <p:extLst>
              <p:ext uri="{D42A27DB-BD31-4B8C-83A1-F6EECF244321}">
                <p14:modId xmlns:p14="http://schemas.microsoft.com/office/powerpoint/2010/main" val="1386399510"/>
              </p:ext>
            </p:extLst>
          </p:nvPr>
        </p:nvGraphicFramePr>
        <p:xfrm>
          <a:off x="404814" y="1139247"/>
          <a:ext cx="6044930" cy="372600"/>
        </p:xfrm>
        <a:graphic>
          <a:graphicData uri="http://schemas.openxmlformats.org/drawingml/2006/table">
            <a:tbl>
              <a:tblPr firstRow="1" bandRow="1">
                <a:tableStyleId>{5C22544A-7EE6-4342-B048-85BDC9FD1C3A}</a:tableStyleId>
              </a:tblPr>
              <a:tblGrid>
                <a:gridCol w="318117">
                  <a:extLst>
                    <a:ext uri="{9D8B030D-6E8A-4147-A177-3AD203B41FA5}">
                      <a16:colId xmlns:a16="http://schemas.microsoft.com/office/drawing/2014/main" val="657570846"/>
                    </a:ext>
                  </a:extLst>
                </a:gridCol>
                <a:gridCol w="315636">
                  <a:extLst>
                    <a:ext uri="{9D8B030D-6E8A-4147-A177-3AD203B41FA5}">
                      <a16:colId xmlns:a16="http://schemas.microsoft.com/office/drawing/2014/main" val="3259894497"/>
                    </a:ext>
                  </a:extLst>
                </a:gridCol>
                <a:gridCol w="423301">
                  <a:extLst>
                    <a:ext uri="{9D8B030D-6E8A-4147-A177-3AD203B41FA5}">
                      <a16:colId xmlns:a16="http://schemas.microsoft.com/office/drawing/2014/main" val="4170535043"/>
                    </a:ext>
                  </a:extLst>
                </a:gridCol>
                <a:gridCol w="481786">
                  <a:extLst>
                    <a:ext uri="{9D8B030D-6E8A-4147-A177-3AD203B41FA5}">
                      <a16:colId xmlns:a16="http://schemas.microsoft.com/office/drawing/2014/main" val="2079070694"/>
                    </a:ext>
                  </a:extLst>
                </a:gridCol>
                <a:gridCol w="406154">
                  <a:extLst>
                    <a:ext uri="{9D8B030D-6E8A-4147-A177-3AD203B41FA5}">
                      <a16:colId xmlns:a16="http://schemas.microsoft.com/office/drawing/2014/main" val="2769999950"/>
                    </a:ext>
                  </a:extLst>
                </a:gridCol>
                <a:gridCol w="428469">
                  <a:extLst>
                    <a:ext uri="{9D8B030D-6E8A-4147-A177-3AD203B41FA5}">
                      <a16:colId xmlns:a16="http://schemas.microsoft.com/office/drawing/2014/main" val="3038050475"/>
                    </a:ext>
                  </a:extLst>
                </a:gridCol>
                <a:gridCol w="417691">
                  <a:extLst>
                    <a:ext uri="{9D8B030D-6E8A-4147-A177-3AD203B41FA5}">
                      <a16:colId xmlns:a16="http://schemas.microsoft.com/office/drawing/2014/main" val="4270661649"/>
                    </a:ext>
                  </a:extLst>
                </a:gridCol>
                <a:gridCol w="406154">
                  <a:extLst>
                    <a:ext uri="{9D8B030D-6E8A-4147-A177-3AD203B41FA5}">
                      <a16:colId xmlns:a16="http://schemas.microsoft.com/office/drawing/2014/main" val="2852526216"/>
                    </a:ext>
                  </a:extLst>
                </a:gridCol>
                <a:gridCol w="406154">
                  <a:extLst>
                    <a:ext uri="{9D8B030D-6E8A-4147-A177-3AD203B41FA5}">
                      <a16:colId xmlns:a16="http://schemas.microsoft.com/office/drawing/2014/main" val="1470405609"/>
                    </a:ext>
                  </a:extLst>
                </a:gridCol>
                <a:gridCol w="406154">
                  <a:extLst>
                    <a:ext uri="{9D8B030D-6E8A-4147-A177-3AD203B41FA5}">
                      <a16:colId xmlns:a16="http://schemas.microsoft.com/office/drawing/2014/main" val="1218351508"/>
                    </a:ext>
                  </a:extLst>
                </a:gridCol>
                <a:gridCol w="406154">
                  <a:extLst>
                    <a:ext uri="{9D8B030D-6E8A-4147-A177-3AD203B41FA5}">
                      <a16:colId xmlns:a16="http://schemas.microsoft.com/office/drawing/2014/main" val="4005485702"/>
                    </a:ext>
                  </a:extLst>
                </a:gridCol>
                <a:gridCol w="526603">
                  <a:extLst>
                    <a:ext uri="{9D8B030D-6E8A-4147-A177-3AD203B41FA5}">
                      <a16:colId xmlns:a16="http://schemas.microsoft.com/office/drawing/2014/main" val="458505686"/>
                    </a:ext>
                  </a:extLst>
                </a:gridCol>
                <a:gridCol w="394018">
                  <a:extLst>
                    <a:ext uri="{9D8B030D-6E8A-4147-A177-3AD203B41FA5}">
                      <a16:colId xmlns:a16="http://schemas.microsoft.com/office/drawing/2014/main" val="2230129811"/>
                    </a:ext>
                  </a:extLst>
                </a:gridCol>
                <a:gridCol w="324926">
                  <a:extLst>
                    <a:ext uri="{9D8B030D-6E8A-4147-A177-3AD203B41FA5}">
                      <a16:colId xmlns:a16="http://schemas.microsoft.com/office/drawing/2014/main" val="1744565479"/>
                    </a:ext>
                  </a:extLst>
                </a:gridCol>
                <a:gridCol w="383613">
                  <a:extLst>
                    <a:ext uri="{9D8B030D-6E8A-4147-A177-3AD203B41FA5}">
                      <a16:colId xmlns:a16="http://schemas.microsoft.com/office/drawing/2014/main" val="165270496"/>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B9</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B5</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B4</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RO</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MISS_VS</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OV15</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UV15</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THERMAL</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SHORT</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OPEN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 name="TextBox 2">
            <a:extLst>
              <a:ext uri="{FF2B5EF4-FFF2-40B4-BE49-F238E27FC236}">
                <a16:creationId xmlns:a16="http://schemas.microsoft.com/office/drawing/2014/main" id="{95471C2E-7A3C-451F-A0B2-BCFB1084CC9E}"/>
              </a:ext>
            </a:extLst>
          </p:cNvPr>
          <p:cNvSpPr txBox="1"/>
          <p:nvPr/>
        </p:nvSpPr>
        <p:spPr>
          <a:xfrm>
            <a:off x="399454" y="871566"/>
            <a:ext cx="606271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STATUS</a:t>
            </a:r>
          </a:p>
        </p:txBody>
      </p:sp>
    </p:spTree>
    <p:extLst>
      <p:ext uri="{BB962C8B-B14F-4D97-AF65-F5344CB8AC3E}">
        <p14:creationId xmlns:p14="http://schemas.microsoft.com/office/powerpoint/2010/main" val="42943524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02008-B45F-3F26-DB8D-ADADCE973357}"/>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BF5BE9D4-CAC6-8B39-FD00-4CB36D4B0876}"/>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5" name="표 14">
            <a:extLst>
              <a:ext uri="{FF2B5EF4-FFF2-40B4-BE49-F238E27FC236}">
                <a16:creationId xmlns:a16="http://schemas.microsoft.com/office/drawing/2014/main" id="{AEE7D0A9-4644-D6EF-4D56-D7AFB94B7F55}"/>
              </a:ext>
            </a:extLst>
          </p:cNvPr>
          <p:cNvGraphicFramePr>
            <a:graphicFrameLocks noGrp="1"/>
          </p:cNvGraphicFramePr>
          <p:nvPr>
            <p:extLst>
              <p:ext uri="{D42A27DB-BD31-4B8C-83A1-F6EECF244321}">
                <p14:modId xmlns:p14="http://schemas.microsoft.com/office/powerpoint/2010/main" val="449901955"/>
              </p:ext>
            </p:extLst>
          </p:nvPr>
        </p:nvGraphicFramePr>
        <p:xfrm>
          <a:off x="404810" y="1552875"/>
          <a:ext cx="6048623" cy="2471164"/>
        </p:xfrm>
        <a:graphic>
          <a:graphicData uri="http://schemas.openxmlformats.org/drawingml/2006/table">
            <a:tbl>
              <a:tblPr firstRow="1" bandRow="1">
                <a:tableStyleId>{5C22544A-7EE6-4342-B048-85BDC9FD1C3A}</a:tableStyleId>
              </a:tblPr>
              <a:tblGrid>
                <a:gridCol w="353208">
                  <a:extLst>
                    <a:ext uri="{9D8B030D-6E8A-4147-A177-3AD203B41FA5}">
                      <a16:colId xmlns:a16="http://schemas.microsoft.com/office/drawing/2014/main" val="4170535043"/>
                    </a:ext>
                  </a:extLst>
                </a:gridCol>
                <a:gridCol w="1457002">
                  <a:extLst>
                    <a:ext uri="{9D8B030D-6E8A-4147-A177-3AD203B41FA5}">
                      <a16:colId xmlns:a16="http://schemas.microsoft.com/office/drawing/2014/main" val="2079070694"/>
                    </a:ext>
                  </a:extLst>
                </a:gridCol>
                <a:gridCol w="4238413">
                  <a:extLst>
                    <a:ext uri="{9D8B030D-6E8A-4147-A177-3AD203B41FA5}">
                      <a16:colId xmlns:a16="http://schemas.microsoft.com/office/drawing/2014/main" val="32595803"/>
                    </a:ext>
                  </a:extLst>
                </a:gridCol>
              </a:tblGrid>
              <a:tr h="29709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90708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DEV_MAX_CURR_</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DEV_MAX_CURR_LEVEL determines the physical maximum current level of the device.  The max dimming sink-current set by the MAX_CURR_VREF can not be beyond the DEV_MAX_CURR_LEVEL.</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3b’000 : max   4mA           3b’011 : max 16mA           3b’110 : max 46mA</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3b’001 : max   8mA           3b’100 : max 24mA           3b’111 : max 64mA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3b’010 : max 12mA           3b’101 : max 32mA</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65545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SHORT_LEVEL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SHORT_LEVEL determines the level at which a SHORT event occurs.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3b’000 : above   3V           3b’011 : above   8V           3b’110 : above 24V</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3b’001 : above   4V           3b’100 : above 12V           3b’111 : above 36V</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3b’010 : above   6V           3b’101 : above 16V</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162860"/>
                  </a:ext>
                </a:extLst>
              </a:tr>
              <a:tr h="61153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FB_LEVEL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FB_LEVEL determines the level at which a FB event occurs.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3b’000 : below  0.40V       3b’011 : below 0.70V         3b’110 : below 1.15V</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3b’001 : below  0.50V       3b’100 : below 0.85V         3b’111 : below 1.30V</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3b’010 : below  0.60V       3b’101 : below 1.00V</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0507561"/>
                  </a:ext>
                </a:extLst>
              </a:tr>
            </a:tbl>
          </a:graphicData>
        </a:graphic>
      </p:graphicFrame>
      <p:graphicFrame>
        <p:nvGraphicFramePr>
          <p:cNvPr id="8" name="표 7">
            <a:extLst>
              <a:ext uri="{FF2B5EF4-FFF2-40B4-BE49-F238E27FC236}">
                <a16:creationId xmlns:a16="http://schemas.microsoft.com/office/drawing/2014/main" id="{62AD2B7E-11D6-64EA-B321-2C0CCC2151A9}"/>
              </a:ext>
            </a:extLst>
          </p:cNvPr>
          <p:cNvGraphicFramePr>
            <a:graphicFrameLocks noGrp="1"/>
          </p:cNvGraphicFramePr>
          <p:nvPr>
            <p:extLst>
              <p:ext uri="{D42A27DB-BD31-4B8C-83A1-F6EECF244321}">
                <p14:modId xmlns:p14="http://schemas.microsoft.com/office/powerpoint/2010/main" val="1504365211"/>
              </p:ext>
            </p:extLst>
          </p:nvPr>
        </p:nvGraphicFramePr>
        <p:xfrm>
          <a:off x="404811" y="1132673"/>
          <a:ext cx="6048623" cy="372600"/>
        </p:xfrm>
        <a:graphic>
          <a:graphicData uri="http://schemas.openxmlformats.org/drawingml/2006/table">
            <a:tbl>
              <a:tblPr firstRow="1" bandRow="1">
                <a:tableStyleId>{5C22544A-7EE6-4342-B048-85BDC9FD1C3A}</a:tableStyleId>
              </a:tblPr>
              <a:tblGrid>
                <a:gridCol w="273644">
                  <a:extLst>
                    <a:ext uri="{9D8B030D-6E8A-4147-A177-3AD203B41FA5}">
                      <a16:colId xmlns:a16="http://schemas.microsoft.com/office/drawing/2014/main" val="657570846"/>
                    </a:ext>
                  </a:extLst>
                </a:gridCol>
                <a:gridCol w="321449">
                  <a:extLst>
                    <a:ext uri="{9D8B030D-6E8A-4147-A177-3AD203B41FA5}">
                      <a16:colId xmlns:a16="http://schemas.microsoft.com/office/drawing/2014/main" val="3259894497"/>
                    </a:ext>
                  </a:extLst>
                </a:gridCol>
                <a:gridCol w="435646">
                  <a:extLst>
                    <a:ext uri="{9D8B030D-6E8A-4147-A177-3AD203B41FA5}">
                      <a16:colId xmlns:a16="http://schemas.microsoft.com/office/drawing/2014/main" val="4170535043"/>
                    </a:ext>
                  </a:extLst>
                </a:gridCol>
                <a:gridCol w="418157">
                  <a:extLst>
                    <a:ext uri="{9D8B030D-6E8A-4147-A177-3AD203B41FA5}">
                      <a16:colId xmlns:a16="http://schemas.microsoft.com/office/drawing/2014/main" val="2079070694"/>
                    </a:ext>
                  </a:extLst>
                </a:gridCol>
                <a:gridCol w="418157">
                  <a:extLst>
                    <a:ext uri="{9D8B030D-6E8A-4147-A177-3AD203B41FA5}">
                      <a16:colId xmlns:a16="http://schemas.microsoft.com/office/drawing/2014/main" val="4213315911"/>
                    </a:ext>
                  </a:extLst>
                </a:gridCol>
                <a:gridCol w="418157">
                  <a:extLst>
                    <a:ext uri="{9D8B030D-6E8A-4147-A177-3AD203B41FA5}">
                      <a16:colId xmlns:a16="http://schemas.microsoft.com/office/drawing/2014/main" val="2769999950"/>
                    </a:ext>
                  </a:extLst>
                </a:gridCol>
                <a:gridCol w="418157">
                  <a:extLst>
                    <a:ext uri="{9D8B030D-6E8A-4147-A177-3AD203B41FA5}">
                      <a16:colId xmlns:a16="http://schemas.microsoft.com/office/drawing/2014/main" val="135637185"/>
                    </a:ext>
                  </a:extLst>
                </a:gridCol>
                <a:gridCol w="418157">
                  <a:extLst>
                    <a:ext uri="{9D8B030D-6E8A-4147-A177-3AD203B41FA5}">
                      <a16:colId xmlns:a16="http://schemas.microsoft.com/office/drawing/2014/main" val="3038050475"/>
                    </a:ext>
                  </a:extLst>
                </a:gridCol>
                <a:gridCol w="418157">
                  <a:extLst>
                    <a:ext uri="{9D8B030D-6E8A-4147-A177-3AD203B41FA5}">
                      <a16:colId xmlns:a16="http://schemas.microsoft.com/office/drawing/2014/main" val="1979433044"/>
                    </a:ext>
                  </a:extLst>
                </a:gridCol>
                <a:gridCol w="418157">
                  <a:extLst>
                    <a:ext uri="{9D8B030D-6E8A-4147-A177-3AD203B41FA5}">
                      <a16:colId xmlns:a16="http://schemas.microsoft.com/office/drawing/2014/main" val="4270661649"/>
                    </a:ext>
                  </a:extLst>
                </a:gridCol>
                <a:gridCol w="418157">
                  <a:extLst>
                    <a:ext uri="{9D8B030D-6E8A-4147-A177-3AD203B41FA5}">
                      <a16:colId xmlns:a16="http://schemas.microsoft.com/office/drawing/2014/main" val="3027041370"/>
                    </a:ext>
                  </a:extLst>
                </a:gridCol>
                <a:gridCol w="418157">
                  <a:extLst>
                    <a:ext uri="{9D8B030D-6E8A-4147-A177-3AD203B41FA5}">
                      <a16:colId xmlns:a16="http://schemas.microsoft.com/office/drawing/2014/main" val="2852526216"/>
                    </a:ext>
                  </a:extLst>
                </a:gridCol>
                <a:gridCol w="418157">
                  <a:extLst>
                    <a:ext uri="{9D8B030D-6E8A-4147-A177-3AD203B41FA5}">
                      <a16:colId xmlns:a16="http://schemas.microsoft.com/office/drawing/2014/main" val="103420222"/>
                    </a:ext>
                  </a:extLst>
                </a:gridCol>
                <a:gridCol w="418157">
                  <a:extLst>
                    <a:ext uri="{9D8B030D-6E8A-4147-A177-3AD203B41FA5}">
                      <a16:colId xmlns:a16="http://schemas.microsoft.com/office/drawing/2014/main" val="1470405609"/>
                    </a:ext>
                  </a:extLst>
                </a:gridCol>
                <a:gridCol w="41815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DEV_MAX_CURR_LEVEL [2:0]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SHORT_LEVEL [2:0]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FB_LEVEL [2:0]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FB_LEVEL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2" name="TextBox 11">
            <a:extLst>
              <a:ext uri="{FF2B5EF4-FFF2-40B4-BE49-F238E27FC236}">
                <a16:creationId xmlns:a16="http://schemas.microsoft.com/office/drawing/2014/main" id="{7F6B6A49-0669-D252-9A40-F3BE5451E05B}"/>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883EED0C-0B97-C30F-69ED-D8B8EDE03289}"/>
              </a:ext>
            </a:extLst>
          </p:cNvPr>
          <p:cNvSpPr txBox="1"/>
          <p:nvPr/>
        </p:nvSpPr>
        <p:spPr>
          <a:xfrm>
            <a:off x="399454" y="871566"/>
            <a:ext cx="606271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LEVEL</a:t>
            </a:r>
          </a:p>
        </p:txBody>
      </p:sp>
    </p:spTree>
    <p:extLst>
      <p:ext uri="{BB962C8B-B14F-4D97-AF65-F5344CB8AC3E}">
        <p14:creationId xmlns:p14="http://schemas.microsoft.com/office/powerpoint/2010/main" val="26106774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84F39684-074B-5DEA-EE16-EDB1308D9CD6}"/>
              </a:ext>
            </a:extLst>
          </p:cNvPr>
          <p:cNvGraphicFramePr>
            <a:graphicFrameLocks noGrp="1"/>
          </p:cNvGraphicFramePr>
          <p:nvPr>
            <p:extLst>
              <p:ext uri="{D42A27DB-BD31-4B8C-83A1-F6EECF244321}">
                <p14:modId xmlns:p14="http://schemas.microsoft.com/office/powerpoint/2010/main" val="524652775"/>
              </p:ext>
            </p:extLst>
          </p:nvPr>
        </p:nvGraphicFramePr>
        <p:xfrm>
          <a:off x="399453" y="1566631"/>
          <a:ext cx="6053980" cy="7171285"/>
        </p:xfrm>
        <a:graphic>
          <a:graphicData uri="http://schemas.openxmlformats.org/drawingml/2006/table">
            <a:tbl>
              <a:tblPr firstRow="1" bandRow="1">
                <a:tableStyleId>{5C22544A-7EE6-4342-B048-85BDC9FD1C3A}</a:tableStyleId>
              </a:tblPr>
              <a:tblGrid>
                <a:gridCol w="282696">
                  <a:extLst>
                    <a:ext uri="{9D8B030D-6E8A-4147-A177-3AD203B41FA5}">
                      <a16:colId xmlns:a16="http://schemas.microsoft.com/office/drawing/2014/main" val="4170535043"/>
                    </a:ext>
                  </a:extLst>
                </a:gridCol>
                <a:gridCol w="1042133">
                  <a:extLst>
                    <a:ext uri="{9D8B030D-6E8A-4147-A177-3AD203B41FA5}">
                      <a16:colId xmlns:a16="http://schemas.microsoft.com/office/drawing/2014/main" val="2079070694"/>
                    </a:ext>
                  </a:extLst>
                </a:gridCol>
                <a:gridCol w="227380">
                  <a:extLst>
                    <a:ext uri="{9D8B030D-6E8A-4147-A177-3AD203B41FA5}">
                      <a16:colId xmlns:a16="http://schemas.microsoft.com/office/drawing/2014/main" val="3082338701"/>
                    </a:ext>
                  </a:extLst>
                </a:gridCol>
                <a:gridCol w="4501771">
                  <a:extLst>
                    <a:ext uri="{9D8B030D-6E8A-4147-A177-3AD203B41FA5}">
                      <a16:colId xmlns:a16="http://schemas.microsoft.com/office/drawing/2014/main" val="32595803"/>
                    </a:ext>
                  </a:extLst>
                </a:gridCol>
              </a:tblGrid>
              <a:tr h="29179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83085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TIMEOUT_EN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If this bit is set, the internal timeout timer starts counting after some read-back command stream is done and stops after the XD responds own information to the front XD. If the timer will be expired due to any no response, internal communication logics will be recovered to the standby state. The timeout counter is </a:t>
                      </a:r>
                      <a:r>
                        <a:rPr lang="en-US" altLang="ko-KR" sz="900" b="0" i="0" kern="1200" dirty="0">
                          <a:solidFill>
                            <a:schemeClr val="dk1"/>
                          </a:solidFill>
                          <a:effectLst/>
                          <a:latin typeface="Arial" panose="020B0604020202020204" pitchFamily="34" charset="0"/>
                          <a:ea typeface="+mn-ea"/>
                          <a:cs typeface="Arial" panose="020B0604020202020204" pitchFamily="34" charset="0"/>
                        </a:rPr>
                        <a:t>expired at approximately 2.1ms upon receiving the read command. Recommended to be set.</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0412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OVUV15_EN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enables the detection of OV15 and UV15 of the internal LDO output.</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83595832"/>
                  </a:ext>
                </a:extLst>
              </a:tr>
              <a:tr h="53008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MISS_VS_DIMM</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the MS_VS_DIMM = 1 and the MS_VS_DET_E = 1, if the vsync missing event happens, then the dimming will be automatically fixed to the LD FIX 1/2 and the VREF FIX value until receiving a vsync.</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43260266"/>
                  </a:ext>
                </a:extLst>
              </a:tr>
              <a:tr h="53008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MISS_VS_DET_E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enables to detect whether the vsync input is missed or not. If the vsync is not supplied within about 35ms, then the vsync missing event is asserted internally. This event assertion can be readout through the FALUT STATUS register.</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430546"/>
                  </a:ext>
                </a:extLst>
              </a:tr>
              <a:tr h="53008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OPEN_DET_EN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enable the LED OPEN detection that can work under only the LD data are all zeros. In case that the LD data are all zero and the output headroom goes below 0.25V, then the OPEN event will be asserted.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0471077"/>
                  </a:ext>
                </a:extLst>
              </a:tr>
              <a:tr h="68046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SHORT_DET_EN2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enables the LED SHORT detection that can work under only the LD data’s MSB 5 bits are not all zeros. In case that MSB 4 bits are not all zeros and the SHORT_LEVEL is set to 3V, the SHORT event will be asserted if the corresponding channel’s headroom goes above 3V.</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3801518"/>
                  </a:ext>
                </a:extLst>
              </a:tr>
              <a:tr h="68046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SHORT_DET_EN1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enables the LED SHORT detection that can work under only the LD data’s MSB 4 bits are not all zeros. In case that MSB 4 bits are not all zeros and the SHORT_LEVEL is set to 3V, the SHORT event will be asserted if the corresponding channel’s headroom goes above 3V.</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5460863"/>
                  </a:ext>
                </a:extLst>
              </a:tr>
              <a:tr h="83085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T_OFF_EN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In case of this bit = 0, even if the THERMAL event happens, all channels’ output will be not off, but the flag can be visible through the FAULT STATUS register.</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In case of this bit = 1, if the THERMAL event happens, all channels’ output will be off, and the flag can be visible through the FAULT STATUS register. It is </a:t>
                      </a:r>
                      <a:r>
                        <a:rPr lang="en-US" altLang="ko-KR" sz="900" b="0" i="1" dirty="0">
                          <a:solidFill>
                            <a:schemeClr val="tx1"/>
                          </a:solidFill>
                          <a:latin typeface="Arial" panose="020B0604020202020204" pitchFamily="34" charset="0"/>
                          <a:ea typeface="+mn-ea"/>
                          <a:cs typeface="Arial" panose="020B0604020202020204" pitchFamily="34" charset="0"/>
                        </a:rPr>
                        <a:t>recommended to be set </a:t>
                      </a:r>
                      <a:r>
                        <a:rPr lang="en-US" altLang="ko-KR" sz="900" b="0" dirty="0">
                          <a:solidFill>
                            <a:schemeClr val="tx1"/>
                          </a:solidFill>
                          <a:latin typeface="Arial" panose="020B0604020202020204" pitchFamily="34" charset="0"/>
                          <a:ea typeface="+mn-ea"/>
                          <a:cs typeface="Arial" panose="020B0604020202020204" pitchFamily="34" charset="0"/>
                        </a:rPr>
                        <a:t>for a safety and for the operating condition, refer to the Electrical characteristics.</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9934807"/>
                  </a:ext>
                </a:extLst>
              </a:tr>
              <a:tr h="113161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S_OFF_EN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In case of this bit = 0, even if the LED SHORT event happens, the corresponding channel output will be not off, but the flag can be visible through the FAULT STATUS register.</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In case of this bit = 1, if the LED SHORT event happens, the corresponding channel output will be off, and the flag can be visible through the FAULT STATUS register. The LED short detection condition can be configurable through the SHORT_LEVEL, the S1_EN bit and S2_EN bit is set. It is </a:t>
                      </a:r>
                      <a:r>
                        <a:rPr lang="en-US" altLang="ko-KR" sz="900" b="0" i="1" dirty="0">
                          <a:solidFill>
                            <a:schemeClr val="tx1"/>
                          </a:solidFill>
                          <a:latin typeface="Arial" panose="020B0604020202020204" pitchFamily="34" charset="0"/>
                          <a:ea typeface="+mn-ea"/>
                          <a:cs typeface="Arial" panose="020B0604020202020204" pitchFamily="34" charset="0"/>
                        </a:rPr>
                        <a:t>recommended to be set </a:t>
                      </a:r>
                      <a:r>
                        <a:rPr lang="en-US" altLang="ko-KR" sz="900" b="0" dirty="0">
                          <a:solidFill>
                            <a:schemeClr val="tx1"/>
                          </a:solidFill>
                          <a:latin typeface="Arial" panose="020B0604020202020204" pitchFamily="34" charset="0"/>
                          <a:ea typeface="+mn-ea"/>
                          <a:cs typeface="Arial" panose="020B0604020202020204" pitchFamily="34" charset="0"/>
                        </a:rPr>
                        <a:t>for a safe operation.</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8665145"/>
                  </a:ext>
                </a:extLst>
              </a:tr>
              <a:tr h="83085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O_OFF_EN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In case of this bit = 0, even if the LED OPEN event happens, the corresponding channel output will be not off, but the flag can be visible through the FAULT STATUS register.</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In case of this bit = 1, if the LED OPEN event happens, the corresponding channel output will be off, and the flag can be visible through the FAULT STATUS register. The LED OPEN event can be detected if the channel headroom goes down below 0.25V.</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2155465"/>
                  </a:ext>
                </a:extLst>
              </a:tr>
            </a:tbl>
          </a:graphicData>
        </a:graphic>
      </p:graphicFrame>
      <p:graphicFrame>
        <p:nvGraphicFramePr>
          <p:cNvPr id="14" name="표 13">
            <a:extLst>
              <a:ext uri="{FF2B5EF4-FFF2-40B4-BE49-F238E27FC236}">
                <a16:creationId xmlns:a16="http://schemas.microsoft.com/office/drawing/2014/main" id="{7475652E-49D4-5321-BD7A-5EA905AD066A}"/>
              </a:ext>
            </a:extLst>
          </p:cNvPr>
          <p:cNvGraphicFramePr>
            <a:graphicFrameLocks noGrp="1"/>
          </p:cNvGraphicFramePr>
          <p:nvPr>
            <p:extLst>
              <p:ext uri="{D42A27DB-BD31-4B8C-83A1-F6EECF244321}">
                <p14:modId xmlns:p14="http://schemas.microsoft.com/office/powerpoint/2010/main" val="907523476"/>
              </p:ext>
            </p:extLst>
          </p:nvPr>
        </p:nvGraphicFramePr>
        <p:xfrm>
          <a:off x="399453" y="1135405"/>
          <a:ext cx="6053980" cy="372600"/>
        </p:xfrm>
        <a:graphic>
          <a:graphicData uri="http://schemas.openxmlformats.org/drawingml/2006/table">
            <a:tbl>
              <a:tblPr firstRow="1" bandRow="1">
                <a:tableStyleId>{5C22544A-7EE6-4342-B048-85BDC9FD1C3A}</a:tableStyleId>
              </a:tblPr>
              <a:tblGrid>
                <a:gridCol w="293546">
                  <a:extLst>
                    <a:ext uri="{9D8B030D-6E8A-4147-A177-3AD203B41FA5}">
                      <a16:colId xmlns:a16="http://schemas.microsoft.com/office/drawing/2014/main" val="657570846"/>
                    </a:ext>
                  </a:extLst>
                </a:gridCol>
                <a:gridCol w="336723">
                  <a:extLst>
                    <a:ext uri="{9D8B030D-6E8A-4147-A177-3AD203B41FA5}">
                      <a16:colId xmlns:a16="http://schemas.microsoft.com/office/drawing/2014/main" val="3259894497"/>
                    </a:ext>
                  </a:extLst>
                </a:gridCol>
                <a:gridCol w="451580">
                  <a:extLst>
                    <a:ext uri="{9D8B030D-6E8A-4147-A177-3AD203B41FA5}">
                      <a16:colId xmlns:a16="http://schemas.microsoft.com/office/drawing/2014/main" val="4170535043"/>
                    </a:ext>
                  </a:extLst>
                </a:gridCol>
                <a:gridCol w="543880">
                  <a:extLst>
                    <a:ext uri="{9D8B030D-6E8A-4147-A177-3AD203B41FA5}">
                      <a16:colId xmlns:a16="http://schemas.microsoft.com/office/drawing/2014/main" val="2079070694"/>
                    </a:ext>
                  </a:extLst>
                </a:gridCol>
                <a:gridCol w="501655">
                  <a:extLst>
                    <a:ext uri="{9D8B030D-6E8A-4147-A177-3AD203B41FA5}">
                      <a16:colId xmlns:a16="http://schemas.microsoft.com/office/drawing/2014/main" val="4213315911"/>
                    </a:ext>
                  </a:extLst>
                </a:gridCol>
                <a:gridCol w="240447">
                  <a:extLst>
                    <a:ext uri="{9D8B030D-6E8A-4147-A177-3AD203B41FA5}">
                      <a16:colId xmlns:a16="http://schemas.microsoft.com/office/drawing/2014/main" val="2769999950"/>
                    </a:ext>
                  </a:extLst>
                </a:gridCol>
                <a:gridCol w="240447">
                  <a:extLst>
                    <a:ext uri="{9D8B030D-6E8A-4147-A177-3AD203B41FA5}">
                      <a16:colId xmlns:a16="http://schemas.microsoft.com/office/drawing/2014/main" val="135637185"/>
                    </a:ext>
                  </a:extLst>
                </a:gridCol>
                <a:gridCol w="635090">
                  <a:extLst>
                    <a:ext uri="{9D8B030D-6E8A-4147-A177-3AD203B41FA5}">
                      <a16:colId xmlns:a16="http://schemas.microsoft.com/office/drawing/2014/main" val="3038050475"/>
                    </a:ext>
                  </a:extLst>
                </a:gridCol>
                <a:gridCol w="680694">
                  <a:extLst>
                    <a:ext uri="{9D8B030D-6E8A-4147-A177-3AD203B41FA5}">
                      <a16:colId xmlns:a16="http://schemas.microsoft.com/office/drawing/2014/main" val="1979433044"/>
                    </a:ext>
                  </a:extLst>
                </a:gridCol>
                <a:gridCol w="243226">
                  <a:extLst>
                    <a:ext uri="{9D8B030D-6E8A-4147-A177-3AD203B41FA5}">
                      <a16:colId xmlns:a16="http://schemas.microsoft.com/office/drawing/2014/main" val="4270661649"/>
                    </a:ext>
                  </a:extLst>
                </a:gridCol>
                <a:gridCol w="280386">
                  <a:extLst>
                    <a:ext uri="{9D8B030D-6E8A-4147-A177-3AD203B41FA5}">
                      <a16:colId xmlns:a16="http://schemas.microsoft.com/office/drawing/2014/main" val="3027041370"/>
                    </a:ext>
                  </a:extLst>
                </a:gridCol>
                <a:gridCol w="280386">
                  <a:extLst>
                    <a:ext uri="{9D8B030D-6E8A-4147-A177-3AD203B41FA5}">
                      <a16:colId xmlns:a16="http://schemas.microsoft.com/office/drawing/2014/main" val="2852526216"/>
                    </a:ext>
                  </a:extLst>
                </a:gridCol>
                <a:gridCol w="435780">
                  <a:extLst>
                    <a:ext uri="{9D8B030D-6E8A-4147-A177-3AD203B41FA5}">
                      <a16:colId xmlns:a16="http://schemas.microsoft.com/office/drawing/2014/main" val="103420222"/>
                    </a:ext>
                  </a:extLst>
                </a:gridCol>
                <a:gridCol w="440848">
                  <a:extLst>
                    <a:ext uri="{9D8B030D-6E8A-4147-A177-3AD203B41FA5}">
                      <a16:colId xmlns:a16="http://schemas.microsoft.com/office/drawing/2014/main" val="1470405609"/>
                    </a:ext>
                  </a:extLst>
                </a:gridCol>
                <a:gridCol w="44929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TIMEOUT_EN</a:t>
                      </a:r>
                      <a:endParaRPr lang="ko-KR" altLang="en-US" sz="65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OVUV15_EN</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MISS_VS_DIMM</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MISS_VS_DET_E</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O_EN</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S2_EN</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S1_EN</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T_OFF_EN</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S_OFF_EN</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O_OFF_EN</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 name="TextBox 2">
            <a:extLst>
              <a:ext uri="{FF2B5EF4-FFF2-40B4-BE49-F238E27FC236}">
                <a16:creationId xmlns:a16="http://schemas.microsoft.com/office/drawing/2014/main" id="{90F48FBE-C7A9-E123-61AE-5DC42FE63F97}"/>
              </a:ext>
            </a:extLst>
          </p:cNvPr>
          <p:cNvSpPr txBox="1"/>
          <p:nvPr/>
        </p:nvSpPr>
        <p:spPr>
          <a:xfrm>
            <a:off x="399454" y="871566"/>
            <a:ext cx="605398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CONTROL</a:t>
            </a:r>
          </a:p>
        </p:txBody>
      </p:sp>
    </p:spTree>
    <p:extLst>
      <p:ext uri="{BB962C8B-B14F-4D97-AF65-F5344CB8AC3E}">
        <p14:creationId xmlns:p14="http://schemas.microsoft.com/office/powerpoint/2010/main" val="20201828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표 1">
            <a:extLst>
              <a:ext uri="{FF2B5EF4-FFF2-40B4-BE49-F238E27FC236}">
                <a16:creationId xmlns:a16="http://schemas.microsoft.com/office/drawing/2014/main" id="{21C86FD6-3222-ACED-7A3E-6B28C856AE77}"/>
              </a:ext>
            </a:extLst>
          </p:cNvPr>
          <p:cNvGraphicFramePr>
            <a:graphicFrameLocks noGrp="1"/>
          </p:cNvGraphicFramePr>
          <p:nvPr>
            <p:extLst>
              <p:ext uri="{D42A27DB-BD31-4B8C-83A1-F6EECF244321}">
                <p14:modId xmlns:p14="http://schemas.microsoft.com/office/powerpoint/2010/main" val="453720056"/>
              </p:ext>
            </p:extLst>
          </p:nvPr>
        </p:nvGraphicFramePr>
        <p:xfrm>
          <a:off x="408209" y="1139134"/>
          <a:ext cx="6053958" cy="372600"/>
        </p:xfrm>
        <a:graphic>
          <a:graphicData uri="http://schemas.openxmlformats.org/drawingml/2006/table">
            <a:tbl>
              <a:tblPr firstRow="1" bandRow="1">
                <a:tableStyleId>{5C22544A-7EE6-4342-B048-85BDC9FD1C3A}</a:tableStyleId>
              </a:tblPr>
              <a:tblGrid>
                <a:gridCol w="275907">
                  <a:extLst>
                    <a:ext uri="{9D8B030D-6E8A-4147-A177-3AD203B41FA5}">
                      <a16:colId xmlns:a16="http://schemas.microsoft.com/office/drawing/2014/main" val="657570846"/>
                    </a:ext>
                  </a:extLst>
                </a:gridCol>
                <a:gridCol w="324285">
                  <a:extLst>
                    <a:ext uri="{9D8B030D-6E8A-4147-A177-3AD203B41FA5}">
                      <a16:colId xmlns:a16="http://schemas.microsoft.com/office/drawing/2014/main" val="3259894497"/>
                    </a:ext>
                  </a:extLst>
                </a:gridCol>
                <a:gridCol w="423942">
                  <a:extLst>
                    <a:ext uri="{9D8B030D-6E8A-4147-A177-3AD203B41FA5}">
                      <a16:colId xmlns:a16="http://schemas.microsoft.com/office/drawing/2014/main" val="4170535043"/>
                    </a:ext>
                  </a:extLst>
                </a:gridCol>
                <a:gridCol w="419152">
                  <a:extLst>
                    <a:ext uri="{9D8B030D-6E8A-4147-A177-3AD203B41FA5}">
                      <a16:colId xmlns:a16="http://schemas.microsoft.com/office/drawing/2014/main" val="2079070694"/>
                    </a:ext>
                  </a:extLst>
                </a:gridCol>
                <a:gridCol w="419152">
                  <a:extLst>
                    <a:ext uri="{9D8B030D-6E8A-4147-A177-3AD203B41FA5}">
                      <a16:colId xmlns:a16="http://schemas.microsoft.com/office/drawing/2014/main" val="4213315911"/>
                    </a:ext>
                  </a:extLst>
                </a:gridCol>
                <a:gridCol w="419152">
                  <a:extLst>
                    <a:ext uri="{9D8B030D-6E8A-4147-A177-3AD203B41FA5}">
                      <a16:colId xmlns:a16="http://schemas.microsoft.com/office/drawing/2014/main" val="2769999950"/>
                    </a:ext>
                  </a:extLst>
                </a:gridCol>
                <a:gridCol w="419152">
                  <a:extLst>
                    <a:ext uri="{9D8B030D-6E8A-4147-A177-3AD203B41FA5}">
                      <a16:colId xmlns:a16="http://schemas.microsoft.com/office/drawing/2014/main" val="135637185"/>
                    </a:ext>
                  </a:extLst>
                </a:gridCol>
                <a:gridCol w="419152">
                  <a:extLst>
                    <a:ext uri="{9D8B030D-6E8A-4147-A177-3AD203B41FA5}">
                      <a16:colId xmlns:a16="http://schemas.microsoft.com/office/drawing/2014/main" val="3038050475"/>
                    </a:ext>
                  </a:extLst>
                </a:gridCol>
                <a:gridCol w="419152">
                  <a:extLst>
                    <a:ext uri="{9D8B030D-6E8A-4147-A177-3AD203B41FA5}">
                      <a16:colId xmlns:a16="http://schemas.microsoft.com/office/drawing/2014/main" val="1979433044"/>
                    </a:ext>
                  </a:extLst>
                </a:gridCol>
                <a:gridCol w="419152">
                  <a:extLst>
                    <a:ext uri="{9D8B030D-6E8A-4147-A177-3AD203B41FA5}">
                      <a16:colId xmlns:a16="http://schemas.microsoft.com/office/drawing/2014/main" val="4270661649"/>
                    </a:ext>
                  </a:extLst>
                </a:gridCol>
                <a:gridCol w="419152">
                  <a:extLst>
                    <a:ext uri="{9D8B030D-6E8A-4147-A177-3AD203B41FA5}">
                      <a16:colId xmlns:a16="http://schemas.microsoft.com/office/drawing/2014/main" val="3027041370"/>
                    </a:ext>
                  </a:extLst>
                </a:gridCol>
                <a:gridCol w="419152">
                  <a:extLst>
                    <a:ext uri="{9D8B030D-6E8A-4147-A177-3AD203B41FA5}">
                      <a16:colId xmlns:a16="http://schemas.microsoft.com/office/drawing/2014/main" val="2852526216"/>
                    </a:ext>
                  </a:extLst>
                </a:gridCol>
                <a:gridCol w="419152">
                  <a:extLst>
                    <a:ext uri="{9D8B030D-6E8A-4147-A177-3AD203B41FA5}">
                      <a16:colId xmlns:a16="http://schemas.microsoft.com/office/drawing/2014/main" val="103420222"/>
                    </a:ext>
                  </a:extLst>
                </a:gridCol>
                <a:gridCol w="419152">
                  <a:extLst>
                    <a:ext uri="{9D8B030D-6E8A-4147-A177-3AD203B41FA5}">
                      <a16:colId xmlns:a16="http://schemas.microsoft.com/office/drawing/2014/main" val="1470405609"/>
                    </a:ext>
                  </a:extLst>
                </a:gridCol>
                <a:gridCol w="41915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DELAY_CH1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09B56D3-A1E6-0BF0-F524-22950314FD50}"/>
              </a:ext>
            </a:extLst>
          </p:cNvPr>
          <p:cNvSpPr txBox="1"/>
          <p:nvPr/>
        </p:nvSpPr>
        <p:spPr>
          <a:xfrm>
            <a:off x="422288" y="1682475"/>
            <a:ext cx="603360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DELAY_CH2</a:t>
            </a:r>
          </a:p>
        </p:txBody>
      </p:sp>
      <p:sp>
        <p:nvSpPr>
          <p:cNvPr id="17" name="TextBox 16">
            <a:extLst>
              <a:ext uri="{FF2B5EF4-FFF2-40B4-BE49-F238E27FC236}">
                <a16:creationId xmlns:a16="http://schemas.microsoft.com/office/drawing/2014/main" id="{86284F22-9BD3-DA53-61A8-C4D4A8AAB9AB}"/>
              </a:ext>
            </a:extLst>
          </p:cNvPr>
          <p:cNvSpPr txBox="1"/>
          <p:nvPr/>
        </p:nvSpPr>
        <p:spPr>
          <a:xfrm>
            <a:off x="413982" y="2480556"/>
            <a:ext cx="603944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DELAY_CH3</a:t>
            </a:r>
          </a:p>
        </p:txBody>
      </p:sp>
      <p:sp>
        <p:nvSpPr>
          <p:cNvPr id="19" name="TextBox 18">
            <a:extLst>
              <a:ext uri="{FF2B5EF4-FFF2-40B4-BE49-F238E27FC236}">
                <a16:creationId xmlns:a16="http://schemas.microsoft.com/office/drawing/2014/main" id="{7DEE360B-C85A-D80A-47C2-BEB07BF4B79B}"/>
              </a:ext>
            </a:extLst>
          </p:cNvPr>
          <p:cNvSpPr txBox="1"/>
          <p:nvPr/>
        </p:nvSpPr>
        <p:spPr>
          <a:xfrm>
            <a:off x="404574" y="3278637"/>
            <a:ext cx="603360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DELAY_CH4</a:t>
            </a:r>
          </a:p>
        </p:txBody>
      </p:sp>
      <p:sp>
        <p:nvSpPr>
          <p:cNvPr id="23" name="TextBox 22">
            <a:extLst>
              <a:ext uri="{FF2B5EF4-FFF2-40B4-BE49-F238E27FC236}">
                <a16:creationId xmlns:a16="http://schemas.microsoft.com/office/drawing/2014/main" id="{E32B801D-6888-0426-D0E7-F982E65CA0DC}"/>
              </a:ext>
            </a:extLst>
          </p:cNvPr>
          <p:cNvSpPr txBox="1"/>
          <p:nvPr/>
        </p:nvSpPr>
        <p:spPr>
          <a:xfrm>
            <a:off x="399464" y="4076718"/>
            <a:ext cx="605395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DELAY_CH5</a:t>
            </a:r>
          </a:p>
        </p:txBody>
      </p:sp>
      <p:sp>
        <p:nvSpPr>
          <p:cNvPr id="26" name="TextBox 25">
            <a:extLst>
              <a:ext uri="{FF2B5EF4-FFF2-40B4-BE49-F238E27FC236}">
                <a16:creationId xmlns:a16="http://schemas.microsoft.com/office/drawing/2014/main" id="{6C90861D-FBAC-7667-8717-58192ECD3417}"/>
              </a:ext>
            </a:extLst>
          </p:cNvPr>
          <p:cNvSpPr txBox="1"/>
          <p:nvPr/>
        </p:nvSpPr>
        <p:spPr>
          <a:xfrm>
            <a:off x="399464" y="4874799"/>
            <a:ext cx="605395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DELAY_CH6</a:t>
            </a:r>
          </a:p>
        </p:txBody>
      </p:sp>
      <p:sp>
        <p:nvSpPr>
          <p:cNvPr id="28" name="TextBox 27">
            <a:extLst>
              <a:ext uri="{FF2B5EF4-FFF2-40B4-BE49-F238E27FC236}">
                <a16:creationId xmlns:a16="http://schemas.microsoft.com/office/drawing/2014/main" id="{46F71A86-4DD6-C848-44D6-CB304A051B81}"/>
              </a:ext>
            </a:extLst>
          </p:cNvPr>
          <p:cNvSpPr txBox="1"/>
          <p:nvPr/>
        </p:nvSpPr>
        <p:spPr>
          <a:xfrm>
            <a:off x="390305" y="5672880"/>
            <a:ext cx="605395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DELAY_CH7</a:t>
            </a:r>
          </a:p>
        </p:txBody>
      </p:sp>
      <p:sp>
        <p:nvSpPr>
          <p:cNvPr id="30" name="TextBox 29">
            <a:extLst>
              <a:ext uri="{FF2B5EF4-FFF2-40B4-BE49-F238E27FC236}">
                <a16:creationId xmlns:a16="http://schemas.microsoft.com/office/drawing/2014/main" id="{9DE632F2-E2A9-3D66-B79B-1C5C1B6611FD}"/>
              </a:ext>
            </a:extLst>
          </p:cNvPr>
          <p:cNvSpPr txBox="1"/>
          <p:nvPr/>
        </p:nvSpPr>
        <p:spPr>
          <a:xfrm>
            <a:off x="390305" y="6470961"/>
            <a:ext cx="605395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DELAY_CH8</a:t>
            </a:r>
          </a:p>
        </p:txBody>
      </p:sp>
      <p:sp>
        <p:nvSpPr>
          <p:cNvPr id="32" name="TextBox 31">
            <a:extLst>
              <a:ext uri="{FF2B5EF4-FFF2-40B4-BE49-F238E27FC236}">
                <a16:creationId xmlns:a16="http://schemas.microsoft.com/office/drawing/2014/main" id="{58901DC2-04E3-F4DD-F959-FE3323638762}"/>
              </a:ext>
            </a:extLst>
          </p:cNvPr>
          <p:cNvSpPr txBox="1"/>
          <p:nvPr/>
        </p:nvSpPr>
        <p:spPr>
          <a:xfrm>
            <a:off x="392902" y="7269042"/>
            <a:ext cx="603987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DELAY_CH9</a:t>
            </a:r>
          </a:p>
        </p:txBody>
      </p:sp>
      <p:sp>
        <p:nvSpPr>
          <p:cNvPr id="5" name="TextBox 4">
            <a:extLst>
              <a:ext uri="{FF2B5EF4-FFF2-40B4-BE49-F238E27FC236}">
                <a16:creationId xmlns:a16="http://schemas.microsoft.com/office/drawing/2014/main" id="{5E0C07B2-3A4C-3F42-E620-B07019820588}"/>
              </a:ext>
            </a:extLst>
          </p:cNvPr>
          <p:cNvSpPr txBox="1"/>
          <p:nvPr/>
        </p:nvSpPr>
        <p:spPr>
          <a:xfrm>
            <a:off x="390920" y="8067119"/>
            <a:ext cx="603964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DELAY_CH10</a:t>
            </a:r>
          </a:p>
        </p:txBody>
      </p:sp>
      <p:sp>
        <p:nvSpPr>
          <p:cNvPr id="8" name="TextBox 7">
            <a:extLst>
              <a:ext uri="{FF2B5EF4-FFF2-40B4-BE49-F238E27FC236}">
                <a16:creationId xmlns:a16="http://schemas.microsoft.com/office/drawing/2014/main" id="{EE80EB99-3C8E-D87B-607D-CC8405F3B532}"/>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3" name="표 2">
            <a:extLst>
              <a:ext uri="{FF2B5EF4-FFF2-40B4-BE49-F238E27FC236}">
                <a16:creationId xmlns:a16="http://schemas.microsoft.com/office/drawing/2014/main" id="{40875B01-BF9D-B25E-61B2-039D54F5B2C6}"/>
              </a:ext>
            </a:extLst>
          </p:cNvPr>
          <p:cNvGraphicFramePr>
            <a:graphicFrameLocks noGrp="1"/>
          </p:cNvGraphicFramePr>
          <p:nvPr>
            <p:extLst>
              <p:ext uri="{D42A27DB-BD31-4B8C-83A1-F6EECF244321}">
                <p14:modId xmlns:p14="http://schemas.microsoft.com/office/powerpoint/2010/main" val="1260116417"/>
              </p:ext>
            </p:extLst>
          </p:nvPr>
        </p:nvGraphicFramePr>
        <p:xfrm>
          <a:off x="408174" y="1946043"/>
          <a:ext cx="6045252" cy="372600"/>
        </p:xfrm>
        <a:graphic>
          <a:graphicData uri="http://schemas.openxmlformats.org/drawingml/2006/table">
            <a:tbl>
              <a:tblPr firstRow="1" bandRow="1">
                <a:tableStyleId>{5C22544A-7EE6-4342-B048-85BDC9FD1C3A}</a:tableStyleId>
              </a:tblPr>
              <a:tblGrid>
                <a:gridCol w="275907">
                  <a:extLst>
                    <a:ext uri="{9D8B030D-6E8A-4147-A177-3AD203B41FA5}">
                      <a16:colId xmlns:a16="http://schemas.microsoft.com/office/drawing/2014/main" val="657570846"/>
                    </a:ext>
                  </a:extLst>
                </a:gridCol>
                <a:gridCol w="329031">
                  <a:extLst>
                    <a:ext uri="{9D8B030D-6E8A-4147-A177-3AD203B41FA5}">
                      <a16:colId xmlns:a16="http://schemas.microsoft.com/office/drawing/2014/main" val="3259894497"/>
                    </a:ext>
                  </a:extLst>
                </a:gridCol>
                <a:gridCol w="423942">
                  <a:extLst>
                    <a:ext uri="{9D8B030D-6E8A-4147-A177-3AD203B41FA5}">
                      <a16:colId xmlns:a16="http://schemas.microsoft.com/office/drawing/2014/main" val="4170535043"/>
                    </a:ext>
                  </a:extLst>
                </a:gridCol>
                <a:gridCol w="418031">
                  <a:extLst>
                    <a:ext uri="{9D8B030D-6E8A-4147-A177-3AD203B41FA5}">
                      <a16:colId xmlns:a16="http://schemas.microsoft.com/office/drawing/2014/main" val="2079070694"/>
                    </a:ext>
                  </a:extLst>
                </a:gridCol>
                <a:gridCol w="418031">
                  <a:extLst>
                    <a:ext uri="{9D8B030D-6E8A-4147-A177-3AD203B41FA5}">
                      <a16:colId xmlns:a16="http://schemas.microsoft.com/office/drawing/2014/main" val="4213315911"/>
                    </a:ext>
                  </a:extLst>
                </a:gridCol>
                <a:gridCol w="418031">
                  <a:extLst>
                    <a:ext uri="{9D8B030D-6E8A-4147-A177-3AD203B41FA5}">
                      <a16:colId xmlns:a16="http://schemas.microsoft.com/office/drawing/2014/main" val="2769999950"/>
                    </a:ext>
                  </a:extLst>
                </a:gridCol>
                <a:gridCol w="418031">
                  <a:extLst>
                    <a:ext uri="{9D8B030D-6E8A-4147-A177-3AD203B41FA5}">
                      <a16:colId xmlns:a16="http://schemas.microsoft.com/office/drawing/2014/main" val="135637185"/>
                    </a:ext>
                  </a:extLst>
                </a:gridCol>
                <a:gridCol w="418031">
                  <a:extLst>
                    <a:ext uri="{9D8B030D-6E8A-4147-A177-3AD203B41FA5}">
                      <a16:colId xmlns:a16="http://schemas.microsoft.com/office/drawing/2014/main" val="3038050475"/>
                    </a:ext>
                  </a:extLst>
                </a:gridCol>
                <a:gridCol w="418031">
                  <a:extLst>
                    <a:ext uri="{9D8B030D-6E8A-4147-A177-3AD203B41FA5}">
                      <a16:colId xmlns:a16="http://schemas.microsoft.com/office/drawing/2014/main" val="1979433044"/>
                    </a:ext>
                  </a:extLst>
                </a:gridCol>
                <a:gridCol w="418031">
                  <a:extLst>
                    <a:ext uri="{9D8B030D-6E8A-4147-A177-3AD203B41FA5}">
                      <a16:colId xmlns:a16="http://schemas.microsoft.com/office/drawing/2014/main" val="4270661649"/>
                    </a:ext>
                  </a:extLst>
                </a:gridCol>
                <a:gridCol w="418031">
                  <a:extLst>
                    <a:ext uri="{9D8B030D-6E8A-4147-A177-3AD203B41FA5}">
                      <a16:colId xmlns:a16="http://schemas.microsoft.com/office/drawing/2014/main" val="3027041370"/>
                    </a:ext>
                  </a:extLst>
                </a:gridCol>
                <a:gridCol w="418031">
                  <a:extLst>
                    <a:ext uri="{9D8B030D-6E8A-4147-A177-3AD203B41FA5}">
                      <a16:colId xmlns:a16="http://schemas.microsoft.com/office/drawing/2014/main" val="2852526216"/>
                    </a:ext>
                  </a:extLst>
                </a:gridCol>
                <a:gridCol w="418031">
                  <a:extLst>
                    <a:ext uri="{9D8B030D-6E8A-4147-A177-3AD203B41FA5}">
                      <a16:colId xmlns:a16="http://schemas.microsoft.com/office/drawing/2014/main" val="103420222"/>
                    </a:ext>
                  </a:extLst>
                </a:gridCol>
                <a:gridCol w="418031">
                  <a:extLst>
                    <a:ext uri="{9D8B030D-6E8A-4147-A177-3AD203B41FA5}">
                      <a16:colId xmlns:a16="http://schemas.microsoft.com/office/drawing/2014/main" val="1470405609"/>
                    </a:ext>
                  </a:extLst>
                </a:gridCol>
                <a:gridCol w="41803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DELAY_CH2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2" name="표 11">
            <a:extLst>
              <a:ext uri="{FF2B5EF4-FFF2-40B4-BE49-F238E27FC236}">
                <a16:creationId xmlns:a16="http://schemas.microsoft.com/office/drawing/2014/main" id="{633C6583-5C79-3893-781B-ED9CA0DEC798}"/>
              </a:ext>
            </a:extLst>
          </p:cNvPr>
          <p:cNvGraphicFramePr>
            <a:graphicFrameLocks noGrp="1"/>
          </p:cNvGraphicFramePr>
          <p:nvPr>
            <p:extLst>
              <p:ext uri="{D42A27DB-BD31-4B8C-83A1-F6EECF244321}">
                <p14:modId xmlns:p14="http://schemas.microsoft.com/office/powerpoint/2010/main" val="227986039"/>
              </p:ext>
            </p:extLst>
          </p:nvPr>
        </p:nvGraphicFramePr>
        <p:xfrm>
          <a:off x="408210" y="2744258"/>
          <a:ext cx="6053966" cy="372600"/>
        </p:xfrm>
        <a:graphic>
          <a:graphicData uri="http://schemas.openxmlformats.org/drawingml/2006/table">
            <a:tbl>
              <a:tblPr firstRow="1" bandRow="1">
                <a:tableStyleId>{5C22544A-7EE6-4342-B048-85BDC9FD1C3A}</a:tableStyleId>
              </a:tblPr>
              <a:tblGrid>
                <a:gridCol w="273798">
                  <a:extLst>
                    <a:ext uri="{9D8B030D-6E8A-4147-A177-3AD203B41FA5}">
                      <a16:colId xmlns:a16="http://schemas.microsoft.com/office/drawing/2014/main" val="657570846"/>
                    </a:ext>
                  </a:extLst>
                </a:gridCol>
                <a:gridCol w="326921">
                  <a:extLst>
                    <a:ext uri="{9D8B030D-6E8A-4147-A177-3AD203B41FA5}">
                      <a16:colId xmlns:a16="http://schemas.microsoft.com/office/drawing/2014/main" val="3259894497"/>
                    </a:ext>
                  </a:extLst>
                </a:gridCol>
                <a:gridCol w="426051">
                  <a:extLst>
                    <a:ext uri="{9D8B030D-6E8A-4147-A177-3AD203B41FA5}">
                      <a16:colId xmlns:a16="http://schemas.microsoft.com/office/drawing/2014/main" val="4170535043"/>
                    </a:ext>
                  </a:extLst>
                </a:gridCol>
                <a:gridCol w="418933">
                  <a:extLst>
                    <a:ext uri="{9D8B030D-6E8A-4147-A177-3AD203B41FA5}">
                      <a16:colId xmlns:a16="http://schemas.microsoft.com/office/drawing/2014/main" val="2079070694"/>
                    </a:ext>
                  </a:extLst>
                </a:gridCol>
                <a:gridCol w="418933">
                  <a:extLst>
                    <a:ext uri="{9D8B030D-6E8A-4147-A177-3AD203B41FA5}">
                      <a16:colId xmlns:a16="http://schemas.microsoft.com/office/drawing/2014/main" val="4213315911"/>
                    </a:ext>
                  </a:extLst>
                </a:gridCol>
                <a:gridCol w="418933">
                  <a:extLst>
                    <a:ext uri="{9D8B030D-6E8A-4147-A177-3AD203B41FA5}">
                      <a16:colId xmlns:a16="http://schemas.microsoft.com/office/drawing/2014/main" val="2769999950"/>
                    </a:ext>
                  </a:extLst>
                </a:gridCol>
                <a:gridCol w="418933">
                  <a:extLst>
                    <a:ext uri="{9D8B030D-6E8A-4147-A177-3AD203B41FA5}">
                      <a16:colId xmlns:a16="http://schemas.microsoft.com/office/drawing/2014/main" val="135637185"/>
                    </a:ext>
                  </a:extLst>
                </a:gridCol>
                <a:gridCol w="418933">
                  <a:extLst>
                    <a:ext uri="{9D8B030D-6E8A-4147-A177-3AD203B41FA5}">
                      <a16:colId xmlns:a16="http://schemas.microsoft.com/office/drawing/2014/main" val="3038050475"/>
                    </a:ext>
                  </a:extLst>
                </a:gridCol>
                <a:gridCol w="418933">
                  <a:extLst>
                    <a:ext uri="{9D8B030D-6E8A-4147-A177-3AD203B41FA5}">
                      <a16:colId xmlns:a16="http://schemas.microsoft.com/office/drawing/2014/main" val="1979433044"/>
                    </a:ext>
                  </a:extLst>
                </a:gridCol>
                <a:gridCol w="418933">
                  <a:extLst>
                    <a:ext uri="{9D8B030D-6E8A-4147-A177-3AD203B41FA5}">
                      <a16:colId xmlns:a16="http://schemas.microsoft.com/office/drawing/2014/main" val="4270661649"/>
                    </a:ext>
                  </a:extLst>
                </a:gridCol>
                <a:gridCol w="418933">
                  <a:extLst>
                    <a:ext uri="{9D8B030D-6E8A-4147-A177-3AD203B41FA5}">
                      <a16:colId xmlns:a16="http://schemas.microsoft.com/office/drawing/2014/main" val="3027041370"/>
                    </a:ext>
                  </a:extLst>
                </a:gridCol>
                <a:gridCol w="418933">
                  <a:extLst>
                    <a:ext uri="{9D8B030D-6E8A-4147-A177-3AD203B41FA5}">
                      <a16:colId xmlns:a16="http://schemas.microsoft.com/office/drawing/2014/main" val="2852526216"/>
                    </a:ext>
                  </a:extLst>
                </a:gridCol>
                <a:gridCol w="418933">
                  <a:extLst>
                    <a:ext uri="{9D8B030D-6E8A-4147-A177-3AD203B41FA5}">
                      <a16:colId xmlns:a16="http://schemas.microsoft.com/office/drawing/2014/main" val="103420222"/>
                    </a:ext>
                  </a:extLst>
                </a:gridCol>
                <a:gridCol w="418933">
                  <a:extLst>
                    <a:ext uri="{9D8B030D-6E8A-4147-A177-3AD203B41FA5}">
                      <a16:colId xmlns:a16="http://schemas.microsoft.com/office/drawing/2014/main" val="1470405609"/>
                    </a:ext>
                  </a:extLst>
                </a:gridCol>
                <a:gridCol w="41893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DELAY_CH3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3" name="표 12">
            <a:extLst>
              <a:ext uri="{FF2B5EF4-FFF2-40B4-BE49-F238E27FC236}">
                <a16:creationId xmlns:a16="http://schemas.microsoft.com/office/drawing/2014/main" id="{809720F3-A7B4-ABA1-D2EE-A4DE0A2814EB}"/>
              </a:ext>
            </a:extLst>
          </p:cNvPr>
          <p:cNvGraphicFramePr>
            <a:graphicFrameLocks noGrp="1"/>
          </p:cNvGraphicFramePr>
          <p:nvPr>
            <p:extLst>
              <p:ext uri="{D42A27DB-BD31-4B8C-83A1-F6EECF244321}">
                <p14:modId xmlns:p14="http://schemas.microsoft.com/office/powerpoint/2010/main" val="2069787721"/>
              </p:ext>
            </p:extLst>
          </p:nvPr>
        </p:nvGraphicFramePr>
        <p:xfrm>
          <a:off x="408246" y="3542473"/>
          <a:ext cx="6062889" cy="372600"/>
        </p:xfrm>
        <a:graphic>
          <a:graphicData uri="http://schemas.openxmlformats.org/drawingml/2006/table">
            <a:tbl>
              <a:tblPr firstRow="1" bandRow="1">
                <a:tableStyleId>{5C22544A-7EE6-4342-B048-85BDC9FD1C3A}</a:tableStyleId>
              </a:tblPr>
              <a:tblGrid>
                <a:gridCol w="278017">
                  <a:extLst>
                    <a:ext uri="{9D8B030D-6E8A-4147-A177-3AD203B41FA5}">
                      <a16:colId xmlns:a16="http://schemas.microsoft.com/office/drawing/2014/main" val="657570846"/>
                    </a:ext>
                  </a:extLst>
                </a:gridCol>
                <a:gridCol w="322703">
                  <a:extLst>
                    <a:ext uri="{9D8B030D-6E8A-4147-A177-3AD203B41FA5}">
                      <a16:colId xmlns:a16="http://schemas.microsoft.com/office/drawing/2014/main" val="3259894497"/>
                    </a:ext>
                  </a:extLst>
                </a:gridCol>
                <a:gridCol w="421833">
                  <a:extLst>
                    <a:ext uri="{9D8B030D-6E8A-4147-A177-3AD203B41FA5}">
                      <a16:colId xmlns:a16="http://schemas.microsoft.com/office/drawing/2014/main" val="4170535043"/>
                    </a:ext>
                  </a:extLst>
                </a:gridCol>
                <a:gridCol w="420028">
                  <a:extLst>
                    <a:ext uri="{9D8B030D-6E8A-4147-A177-3AD203B41FA5}">
                      <a16:colId xmlns:a16="http://schemas.microsoft.com/office/drawing/2014/main" val="2079070694"/>
                    </a:ext>
                  </a:extLst>
                </a:gridCol>
                <a:gridCol w="420028">
                  <a:extLst>
                    <a:ext uri="{9D8B030D-6E8A-4147-A177-3AD203B41FA5}">
                      <a16:colId xmlns:a16="http://schemas.microsoft.com/office/drawing/2014/main" val="4213315911"/>
                    </a:ext>
                  </a:extLst>
                </a:gridCol>
                <a:gridCol w="420028">
                  <a:extLst>
                    <a:ext uri="{9D8B030D-6E8A-4147-A177-3AD203B41FA5}">
                      <a16:colId xmlns:a16="http://schemas.microsoft.com/office/drawing/2014/main" val="2769999950"/>
                    </a:ext>
                  </a:extLst>
                </a:gridCol>
                <a:gridCol w="420028">
                  <a:extLst>
                    <a:ext uri="{9D8B030D-6E8A-4147-A177-3AD203B41FA5}">
                      <a16:colId xmlns:a16="http://schemas.microsoft.com/office/drawing/2014/main" val="135637185"/>
                    </a:ext>
                  </a:extLst>
                </a:gridCol>
                <a:gridCol w="420028">
                  <a:extLst>
                    <a:ext uri="{9D8B030D-6E8A-4147-A177-3AD203B41FA5}">
                      <a16:colId xmlns:a16="http://schemas.microsoft.com/office/drawing/2014/main" val="3038050475"/>
                    </a:ext>
                  </a:extLst>
                </a:gridCol>
                <a:gridCol w="420028">
                  <a:extLst>
                    <a:ext uri="{9D8B030D-6E8A-4147-A177-3AD203B41FA5}">
                      <a16:colId xmlns:a16="http://schemas.microsoft.com/office/drawing/2014/main" val="1979433044"/>
                    </a:ext>
                  </a:extLst>
                </a:gridCol>
                <a:gridCol w="420028">
                  <a:extLst>
                    <a:ext uri="{9D8B030D-6E8A-4147-A177-3AD203B41FA5}">
                      <a16:colId xmlns:a16="http://schemas.microsoft.com/office/drawing/2014/main" val="4270661649"/>
                    </a:ext>
                  </a:extLst>
                </a:gridCol>
                <a:gridCol w="420028">
                  <a:extLst>
                    <a:ext uri="{9D8B030D-6E8A-4147-A177-3AD203B41FA5}">
                      <a16:colId xmlns:a16="http://schemas.microsoft.com/office/drawing/2014/main" val="3027041370"/>
                    </a:ext>
                  </a:extLst>
                </a:gridCol>
                <a:gridCol w="420028">
                  <a:extLst>
                    <a:ext uri="{9D8B030D-6E8A-4147-A177-3AD203B41FA5}">
                      <a16:colId xmlns:a16="http://schemas.microsoft.com/office/drawing/2014/main" val="2852526216"/>
                    </a:ext>
                  </a:extLst>
                </a:gridCol>
                <a:gridCol w="420028">
                  <a:extLst>
                    <a:ext uri="{9D8B030D-6E8A-4147-A177-3AD203B41FA5}">
                      <a16:colId xmlns:a16="http://schemas.microsoft.com/office/drawing/2014/main" val="103420222"/>
                    </a:ext>
                  </a:extLst>
                </a:gridCol>
                <a:gridCol w="420028">
                  <a:extLst>
                    <a:ext uri="{9D8B030D-6E8A-4147-A177-3AD203B41FA5}">
                      <a16:colId xmlns:a16="http://schemas.microsoft.com/office/drawing/2014/main" val="1470405609"/>
                    </a:ext>
                  </a:extLst>
                </a:gridCol>
                <a:gridCol w="42002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DELAY_CH4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5" name="표 14">
            <a:extLst>
              <a:ext uri="{FF2B5EF4-FFF2-40B4-BE49-F238E27FC236}">
                <a16:creationId xmlns:a16="http://schemas.microsoft.com/office/drawing/2014/main" id="{592A69BD-AFEE-224F-7D96-8E8A750949C0}"/>
              </a:ext>
            </a:extLst>
          </p:cNvPr>
          <p:cNvGraphicFramePr>
            <a:graphicFrameLocks noGrp="1"/>
          </p:cNvGraphicFramePr>
          <p:nvPr>
            <p:extLst>
              <p:ext uri="{D42A27DB-BD31-4B8C-83A1-F6EECF244321}">
                <p14:modId xmlns:p14="http://schemas.microsoft.com/office/powerpoint/2010/main" val="3302131379"/>
              </p:ext>
            </p:extLst>
          </p:nvPr>
        </p:nvGraphicFramePr>
        <p:xfrm>
          <a:off x="408209" y="4340688"/>
          <a:ext cx="6053963" cy="372600"/>
        </p:xfrm>
        <a:graphic>
          <a:graphicData uri="http://schemas.openxmlformats.org/drawingml/2006/table">
            <a:tbl>
              <a:tblPr firstRow="1" bandRow="1">
                <a:tableStyleId>{5C22544A-7EE6-4342-B048-85BDC9FD1C3A}</a:tableStyleId>
              </a:tblPr>
              <a:tblGrid>
                <a:gridCol w="275907">
                  <a:extLst>
                    <a:ext uri="{9D8B030D-6E8A-4147-A177-3AD203B41FA5}">
                      <a16:colId xmlns:a16="http://schemas.microsoft.com/office/drawing/2014/main" val="657570846"/>
                    </a:ext>
                  </a:extLst>
                </a:gridCol>
                <a:gridCol w="326920">
                  <a:extLst>
                    <a:ext uri="{9D8B030D-6E8A-4147-A177-3AD203B41FA5}">
                      <a16:colId xmlns:a16="http://schemas.microsoft.com/office/drawing/2014/main" val="3259894497"/>
                    </a:ext>
                  </a:extLst>
                </a:gridCol>
                <a:gridCol w="426052">
                  <a:extLst>
                    <a:ext uri="{9D8B030D-6E8A-4147-A177-3AD203B41FA5}">
                      <a16:colId xmlns:a16="http://schemas.microsoft.com/office/drawing/2014/main" val="4170535043"/>
                    </a:ext>
                  </a:extLst>
                </a:gridCol>
                <a:gridCol w="418757">
                  <a:extLst>
                    <a:ext uri="{9D8B030D-6E8A-4147-A177-3AD203B41FA5}">
                      <a16:colId xmlns:a16="http://schemas.microsoft.com/office/drawing/2014/main" val="2079070694"/>
                    </a:ext>
                  </a:extLst>
                </a:gridCol>
                <a:gridCol w="418757">
                  <a:extLst>
                    <a:ext uri="{9D8B030D-6E8A-4147-A177-3AD203B41FA5}">
                      <a16:colId xmlns:a16="http://schemas.microsoft.com/office/drawing/2014/main" val="4213315911"/>
                    </a:ext>
                  </a:extLst>
                </a:gridCol>
                <a:gridCol w="418757">
                  <a:extLst>
                    <a:ext uri="{9D8B030D-6E8A-4147-A177-3AD203B41FA5}">
                      <a16:colId xmlns:a16="http://schemas.microsoft.com/office/drawing/2014/main" val="2769999950"/>
                    </a:ext>
                  </a:extLst>
                </a:gridCol>
                <a:gridCol w="418757">
                  <a:extLst>
                    <a:ext uri="{9D8B030D-6E8A-4147-A177-3AD203B41FA5}">
                      <a16:colId xmlns:a16="http://schemas.microsoft.com/office/drawing/2014/main" val="135637185"/>
                    </a:ext>
                  </a:extLst>
                </a:gridCol>
                <a:gridCol w="418757">
                  <a:extLst>
                    <a:ext uri="{9D8B030D-6E8A-4147-A177-3AD203B41FA5}">
                      <a16:colId xmlns:a16="http://schemas.microsoft.com/office/drawing/2014/main" val="3038050475"/>
                    </a:ext>
                  </a:extLst>
                </a:gridCol>
                <a:gridCol w="418757">
                  <a:extLst>
                    <a:ext uri="{9D8B030D-6E8A-4147-A177-3AD203B41FA5}">
                      <a16:colId xmlns:a16="http://schemas.microsoft.com/office/drawing/2014/main" val="1979433044"/>
                    </a:ext>
                  </a:extLst>
                </a:gridCol>
                <a:gridCol w="418757">
                  <a:extLst>
                    <a:ext uri="{9D8B030D-6E8A-4147-A177-3AD203B41FA5}">
                      <a16:colId xmlns:a16="http://schemas.microsoft.com/office/drawing/2014/main" val="4270661649"/>
                    </a:ext>
                  </a:extLst>
                </a:gridCol>
                <a:gridCol w="418757">
                  <a:extLst>
                    <a:ext uri="{9D8B030D-6E8A-4147-A177-3AD203B41FA5}">
                      <a16:colId xmlns:a16="http://schemas.microsoft.com/office/drawing/2014/main" val="3027041370"/>
                    </a:ext>
                  </a:extLst>
                </a:gridCol>
                <a:gridCol w="418757">
                  <a:extLst>
                    <a:ext uri="{9D8B030D-6E8A-4147-A177-3AD203B41FA5}">
                      <a16:colId xmlns:a16="http://schemas.microsoft.com/office/drawing/2014/main" val="2852526216"/>
                    </a:ext>
                  </a:extLst>
                </a:gridCol>
                <a:gridCol w="418757">
                  <a:extLst>
                    <a:ext uri="{9D8B030D-6E8A-4147-A177-3AD203B41FA5}">
                      <a16:colId xmlns:a16="http://schemas.microsoft.com/office/drawing/2014/main" val="103420222"/>
                    </a:ext>
                  </a:extLst>
                </a:gridCol>
                <a:gridCol w="418757">
                  <a:extLst>
                    <a:ext uri="{9D8B030D-6E8A-4147-A177-3AD203B41FA5}">
                      <a16:colId xmlns:a16="http://schemas.microsoft.com/office/drawing/2014/main" val="1470405609"/>
                    </a:ext>
                  </a:extLst>
                </a:gridCol>
                <a:gridCol w="41875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DELAY_CH5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6" name="표 15">
            <a:extLst>
              <a:ext uri="{FF2B5EF4-FFF2-40B4-BE49-F238E27FC236}">
                <a16:creationId xmlns:a16="http://schemas.microsoft.com/office/drawing/2014/main" id="{59EA647F-D857-E196-D939-19F58BEB60FF}"/>
              </a:ext>
            </a:extLst>
          </p:cNvPr>
          <p:cNvGraphicFramePr>
            <a:graphicFrameLocks noGrp="1"/>
          </p:cNvGraphicFramePr>
          <p:nvPr>
            <p:extLst>
              <p:ext uri="{D42A27DB-BD31-4B8C-83A1-F6EECF244321}">
                <p14:modId xmlns:p14="http://schemas.microsoft.com/office/powerpoint/2010/main" val="3354531856"/>
              </p:ext>
            </p:extLst>
          </p:nvPr>
        </p:nvGraphicFramePr>
        <p:xfrm>
          <a:off x="408174" y="5138903"/>
          <a:ext cx="6045237" cy="372600"/>
        </p:xfrm>
        <a:graphic>
          <a:graphicData uri="http://schemas.openxmlformats.org/drawingml/2006/table">
            <a:tbl>
              <a:tblPr firstRow="1" bandRow="1">
                <a:tableStyleId>{5C22544A-7EE6-4342-B048-85BDC9FD1C3A}</a:tableStyleId>
              </a:tblPr>
              <a:tblGrid>
                <a:gridCol w="278017">
                  <a:extLst>
                    <a:ext uri="{9D8B030D-6E8A-4147-A177-3AD203B41FA5}">
                      <a16:colId xmlns:a16="http://schemas.microsoft.com/office/drawing/2014/main" val="657570846"/>
                    </a:ext>
                  </a:extLst>
                </a:gridCol>
                <a:gridCol w="324811">
                  <a:extLst>
                    <a:ext uri="{9D8B030D-6E8A-4147-A177-3AD203B41FA5}">
                      <a16:colId xmlns:a16="http://schemas.microsoft.com/office/drawing/2014/main" val="3259894497"/>
                    </a:ext>
                  </a:extLst>
                </a:gridCol>
                <a:gridCol w="419725">
                  <a:extLst>
                    <a:ext uri="{9D8B030D-6E8A-4147-A177-3AD203B41FA5}">
                      <a16:colId xmlns:a16="http://schemas.microsoft.com/office/drawing/2014/main" val="4170535043"/>
                    </a:ext>
                  </a:extLst>
                </a:gridCol>
                <a:gridCol w="418557">
                  <a:extLst>
                    <a:ext uri="{9D8B030D-6E8A-4147-A177-3AD203B41FA5}">
                      <a16:colId xmlns:a16="http://schemas.microsoft.com/office/drawing/2014/main" val="2079070694"/>
                    </a:ext>
                  </a:extLst>
                </a:gridCol>
                <a:gridCol w="418557">
                  <a:extLst>
                    <a:ext uri="{9D8B030D-6E8A-4147-A177-3AD203B41FA5}">
                      <a16:colId xmlns:a16="http://schemas.microsoft.com/office/drawing/2014/main" val="4213315911"/>
                    </a:ext>
                  </a:extLst>
                </a:gridCol>
                <a:gridCol w="418557">
                  <a:extLst>
                    <a:ext uri="{9D8B030D-6E8A-4147-A177-3AD203B41FA5}">
                      <a16:colId xmlns:a16="http://schemas.microsoft.com/office/drawing/2014/main" val="2769999950"/>
                    </a:ext>
                  </a:extLst>
                </a:gridCol>
                <a:gridCol w="418557">
                  <a:extLst>
                    <a:ext uri="{9D8B030D-6E8A-4147-A177-3AD203B41FA5}">
                      <a16:colId xmlns:a16="http://schemas.microsoft.com/office/drawing/2014/main" val="135637185"/>
                    </a:ext>
                  </a:extLst>
                </a:gridCol>
                <a:gridCol w="418557">
                  <a:extLst>
                    <a:ext uri="{9D8B030D-6E8A-4147-A177-3AD203B41FA5}">
                      <a16:colId xmlns:a16="http://schemas.microsoft.com/office/drawing/2014/main" val="3038050475"/>
                    </a:ext>
                  </a:extLst>
                </a:gridCol>
                <a:gridCol w="418557">
                  <a:extLst>
                    <a:ext uri="{9D8B030D-6E8A-4147-A177-3AD203B41FA5}">
                      <a16:colId xmlns:a16="http://schemas.microsoft.com/office/drawing/2014/main" val="1979433044"/>
                    </a:ext>
                  </a:extLst>
                </a:gridCol>
                <a:gridCol w="418557">
                  <a:extLst>
                    <a:ext uri="{9D8B030D-6E8A-4147-A177-3AD203B41FA5}">
                      <a16:colId xmlns:a16="http://schemas.microsoft.com/office/drawing/2014/main" val="4270661649"/>
                    </a:ext>
                  </a:extLst>
                </a:gridCol>
                <a:gridCol w="418557">
                  <a:extLst>
                    <a:ext uri="{9D8B030D-6E8A-4147-A177-3AD203B41FA5}">
                      <a16:colId xmlns:a16="http://schemas.microsoft.com/office/drawing/2014/main" val="3027041370"/>
                    </a:ext>
                  </a:extLst>
                </a:gridCol>
                <a:gridCol w="418557">
                  <a:extLst>
                    <a:ext uri="{9D8B030D-6E8A-4147-A177-3AD203B41FA5}">
                      <a16:colId xmlns:a16="http://schemas.microsoft.com/office/drawing/2014/main" val="2852526216"/>
                    </a:ext>
                  </a:extLst>
                </a:gridCol>
                <a:gridCol w="418557">
                  <a:extLst>
                    <a:ext uri="{9D8B030D-6E8A-4147-A177-3AD203B41FA5}">
                      <a16:colId xmlns:a16="http://schemas.microsoft.com/office/drawing/2014/main" val="103420222"/>
                    </a:ext>
                  </a:extLst>
                </a:gridCol>
                <a:gridCol w="418557">
                  <a:extLst>
                    <a:ext uri="{9D8B030D-6E8A-4147-A177-3AD203B41FA5}">
                      <a16:colId xmlns:a16="http://schemas.microsoft.com/office/drawing/2014/main" val="1470405609"/>
                    </a:ext>
                  </a:extLst>
                </a:gridCol>
                <a:gridCol w="41855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DELAY_CH6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4" name="표 33">
            <a:extLst>
              <a:ext uri="{FF2B5EF4-FFF2-40B4-BE49-F238E27FC236}">
                <a16:creationId xmlns:a16="http://schemas.microsoft.com/office/drawing/2014/main" id="{A46B3684-2AE4-B5FB-EDF7-01D1ACCFA95E}"/>
              </a:ext>
            </a:extLst>
          </p:cNvPr>
          <p:cNvGraphicFramePr>
            <a:graphicFrameLocks noGrp="1"/>
          </p:cNvGraphicFramePr>
          <p:nvPr>
            <p:extLst>
              <p:ext uri="{D42A27DB-BD31-4B8C-83A1-F6EECF244321}">
                <p14:modId xmlns:p14="http://schemas.microsoft.com/office/powerpoint/2010/main" val="1594526425"/>
              </p:ext>
            </p:extLst>
          </p:nvPr>
        </p:nvGraphicFramePr>
        <p:xfrm>
          <a:off x="408246" y="5937118"/>
          <a:ext cx="6062885" cy="372600"/>
        </p:xfrm>
        <a:graphic>
          <a:graphicData uri="http://schemas.openxmlformats.org/drawingml/2006/table">
            <a:tbl>
              <a:tblPr firstRow="1" bandRow="1">
                <a:tableStyleId>{5C22544A-7EE6-4342-B048-85BDC9FD1C3A}</a:tableStyleId>
              </a:tblPr>
              <a:tblGrid>
                <a:gridCol w="275907">
                  <a:extLst>
                    <a:ext uri="{9D8B030D-6E8A-4147-A177-3AD203B41FA5}">
                      <a16:colId xmlns:a16="http://schemas.microsoft.com/office/drawing/2014/main" val="657570846"/>
                    </a:ext>
                  </a:extLst>
                </a:gridCol>
                <a:gridCol w="324812">
                  <a:extLst>
                    <a:ext uri="{9D8B030D-6E8A-4147-A177-3AD203B41FA5}">
                      <a16:colId xmlns:a16="http://schemas.microsoft.com/office/drawing/2014/main" val="3259894497"/>
                    </a:ext>
                  </a:extLst>
                </a:gridCol>
                <a:gridCol w="423942">
                  <a:extLst>
                    <a:ext uri="{9D8B030D-6E8A-4147-A177-3AD203B41FA5}">
                      <a16:colId xmlns:a16="http://schemas.microsoft.com/office/drawing/2014/main" val="4170535043"/>
                    </a:ext>
                  </a:extLst>
                </a:gridCol>
                <a:gridCol w="419852">
                  <a:extLst>
                    <a:ext uri="{9D8B030D-6E8A-4147-A177-3AD203B41FA5}">
                      <a16:colId xmlns:a16="http://schemas.microsoft.com/office/drawing/2014/main" val="2079070694"/>
                    </a:ext>
                  </a:extLst>
                </a:gridCol>
                <a:gridCol w="419852">
                  <a:extLst>
                    <a:ext uri="{9D8B030D-6E8A-4147-A177-3AD203B41FA5}">
                      <a16:colId xmlns:a16="http://schemas.microsoft.com/office/drawing/2014/main" val="4213315911"/>
                    </a:ext>
                  </a:extLst>
                </a:gridCol>
                <a:gridCol w="419852">
                  <a:extLst>
                    <a:ext uri="{9D8B030D-6E8A-4147-A177-3AD203B41FA5}">
                      <a16:colId xmlns:a16="http://schemas.microsoft.com/office/drawing/2014/main" val="2769999950"/>
                    </a:ext>
                  </a:extLst>
                </a:gridCol>
                <a:gridCol w="419852">
                  <a:extLst>
                    <a:ext uri="{9D8B030D-6E8A-4147-A177-3AD203B41FA5}">
                      <a16:colId xmlns:a16="http://schemas.microsoft.com/office/drawing/2014/main" val="135637185"/>
                    </a:ext>
                  </a:extLst>
                </a:gridCol>
                <a:gridCol w="419852">
                  <a:extLst>
                    <a:ext uri="{9D8B030D-6E8A-4147-A177-3AD203B41FA5}">
                      <a16:colId xmlns:a16="http://schemas.microsoft.com/office/drawing/2014/main" val="3038050475"/>
                    </a:ext>
                  </a:extLst>
                </a:gridCol>
                <a:gridCol w="419852">
                  <a:extLst>
                    <a:ext uri="{9D8B030D-6E8A-4147-A177-3AD203B41FA5}">
                      <a16:colId xmlns:a16="http://schemas.microsoft.com/office/drawing/2014/main" val="1979433044"/>
                    </a:ext>
                  </a:extLst>
                </a:gridCol>
                <a:gridCol w="419852">
                  <a:extLst>
                    <a:ext uri="{9D8B030D-6E8A-4147-A177-3AD203B41FA5}">
                      <a16:colId xmlns:a16="http://schemas.microsoft.com/office/drawing/2014/main" val="4270661649"/>
                    </a:ext>
                  </a:extLst>
                </a:gridCol>
                <a:gridCol w="419852">
                  <a:extLst>
                    <a:ext uri="{9D8B030D-6E8A-4147-A177-3AD203B41FA5}">
                      <a16:colId xmlns:a16="http://schemas.microsoft.com/office/drawing/2014/main" val="3027041370"/>
                    </a:ext>
                  </a:extLst>
                </a:gridCol>
                <a:gridCol w="419852">
                  <a:extLst>
                    <a:ext uri="{9D8B030D-6E8A-4147-A177-3AD203B41FA5}">
                      <a16:colId xmlns:a16="http://schemas.microsoft.com/office/drawing/2014/main" val="2852526216"/>
                    </a:ext>
                  </a:extLst>
                </a:gridCol>
                <a:gridCol w="419852">
                  <a:extLst>
                    <a:ext uri="{9D8B030D-6E8A-4147-A177-3AD203B41FA5}">
                      <a16:colId xmlns:a16="http://schemas.microsoft.com/office/drawing/2014/main" val="103420222"/>
                    </a:ext>
                  </a:extLst>
                </a:gridCol>
                <a:gridCol w="419852">
                  <a:extLst>
                    <a:ext uri="{9D8B030D-6E8A-4147-A177-3AD203B41FA5}">
                      <a16:colId xmlns:a16="http://schemas.microsoft.com/office/drawing/2014/main" val="1470405609"/>
                    </a:ext>
                  </a:extLst>
                </a:gridCol>
                <a:gridCol w="41985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DELAY_CH7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5" name="표 34">
            <a:extLst>
              <a:ext uri="{FF2B5EF4-FFF2-40B4-BE49-F238E27FC236}">
                <a16:creationId xmlns:a16="http://schemas.microsoft.com/office/drawing/2014/main" id="{0D8DCC55-2473-2A17-AB75-4E2164EF6F5F}"/>
              </a:ext>
            </a:extLst>
          </p:cNvPr>
          <p:cNvGraphicFramePr>
            <a:graphicFrameLocks noGrp="1"/>
          </p:cNvGraphicFramePr>
          <p:nvPr>
            <p:extLst>
              <p:ext uri="{D42A27DB-BD31-4B8C-83A1-F6EECF244321}">
                <p14:modId xmlns:p14="http://schemas.microsoft.com/office/powerpoint/2010/main" val="2074209582"/>
              </p:ext>
            </p:extLst>
          </p:nvPr>
        </p:nvGraphicFramePr>
        <p:xfrm>
          <a:off x="408246" y="6735333"/>
          <a:ext cx="6062885" cy="372600"/>
        </p:xfrm>
        <a:graphic>
          <a:graphicData uri="http://schemas.openxmlformats.org/drawingml/2006/table">
            <a:tbl>
              <a:tblPr firstRow="1" bandRow="1">
                <a:tableStyleId>{5C22544A-7EE6-4342-B048-85BDC9FD1C3A}</a:tableStyleId>
              </a:tblPr>
              <a:tblGrid>
                <a:gridCol w="275907">
                  <a:extLst>
                    <a:ext uri="{9D8B030D-6E8A-4147-A177-3AD203B41FA5}">
                      <a16:colId xmlns:a16="http://schemas.microsoft.com/office/drawing/2014/main" val="657570846"/>
                    </a:ext>
                  </a:extLst>
                </a:gridCol>
                <a:gridCol w="326920">
                  <a:extLst>
                    <a:ext uri="{9D8B030D-6E8A-4147-A177-3AD203B41FA5}">
                      <a16:colId xmlns:a16="http://schemas.microsoft.com/office/drawing/2014/main" val="3259894497"/>
                    </a:ext>
                  </a:extLst>
                </a:gridCol>
                <a:gridCol w="421834">
                  <a:extLst>
                    <a:ext uri="{9D8B030D-6E8A-4147-A177-3AD203B41FA5}">
                      <a16:colId xmlns:a16="http://schemas.microsoft.com/office/drawing/2014/main" val="4170535043"/>
                    </a:ext>
                  </a:extLst>
                </a:gridCol>
                <a:gridCol w="419852">
                  <a:extLst>
                    <a:ext uri="{9D8B030D-6E8A-4147-A177-3AD203B41FA5}">
                      <a16:colId xmlns:a16="http://schemas.microsoft.com/office/drawing/2014/main" val="2079070694"/>
                    </a:ext>
                  </a:extLst>
                </a:gridCol>
                <a:gridCol w="419852">
                  <a:extLst>
                    <a:ext uri="{9D8B030D-6E8A-4147-A177-3AD203B41FA5}">
                      <a16:colId xmlns:a16="http://schemas.microsoft.com/office/drawing/2014/main" val="4213315911"/>
                    </a:ext>
                  </a:extLst>
                </a:gridCol>
                <a:gridCol w="419852">
                  <a:extLst>
                    <a:ext uri="{9D8B030D-6E8A-4147-A177-3AD203B41FA5}">
                      <a16:colId xmlns:a16="http://schemas.microsoft.com/office/drawing/2014/main" val="2769999950"/>
                    </a:ext>
                  </a:extLst>
                </a:gridCol>
                <a:gridCol w="419852">
                  <a:extLst>
                    <a:ext uri="{9D8B030D-6E8A-4147-A177-3AD203B41FA5}">
                      <a16:colId xmlns:a16="http://schemas.microsoft.com/office/drawing/2014/main" val="135637185"/>
                    </a:ext>
                  </a:extLst>
                </a:gridCol>
                <a:gridCol w="419852">
                  <a:extLst>
                    <a:ext uri="{9D8B030D-6E8A-4147-A177-3AD203B41FA5}">
                      <a16:colId xmlns:a16="http://schemas.microsoft.com/office/drawing/2014/main" val="3038050475"/>
                    </a:ext>
                  </a:extLst>
                </a:gridCol>
                <a:gridCol w="419852">
                  <a:extLst>
                    <a:ext uri="{9D8B030D-6E8A-4147-A177-3AD203B41FA5}">
                      <a16:colId xmlns:a16="http://schemas.microsoft.com/office/drawing/2014/main" val="1979433044"/>
                    </a:ext>
                  </a:extLst>
                </a:gridCol>
                <a:gridCol w="419852">
                  <a:extLst>
                    <a:ext uri="{9D8B030D-6E8A-4147-A177-3AD203B41FA5}">
                      <a16:colId xmlns:a16="http://schemas.microsoft.com/office/drawing/2014/main" val="4270661649"/>
                    </a:ext>
                  </a:extLst>
                </a:gridCol>
                <a:gridCol w="419852">
                  <a:extLst>
                    <a:ext uri="{9D8B030D-6E8A-4147-A177-3AD203B41FA5}">
                      <a16:colId xmlns:a16="http://schemas.microsoft.com/office/drawing/2014/main" val="3027041370"/>
                    </a:ext>
                  </a:extLst>
                </a:gridCol>
                <a:gridCol w="419852">
                  <a:extLst>
                    <a:ext uri="{9D8B030D-6E8A-4147-A177-3AD203B41FA5}">
                      <a16:colId xmlns:a16="http://schemas.microsoft.com/office/drawing/2014/main" val="2852526216"/>
                    </a:ext>
                  </a:extLst>
                </a:gridCol>
                <a:gridCol w="419852">
                  <a:extLst>
                    <a:ext uri="{9D8B030D-6E8A-4147-A177-3AD203B41FA5}">
                      <a16:colId xmlns:a16="http://schemas.microsoft.com/office/drawing/2014/main" val="103420222"/>
                    </a:ext>
                  </a:extLst>
                </a:gridCol>
                <a:gridCol w="419852">
                  <a:extLst>
                    <a:ext uri="{9D8B030D-6E8A-4147-A177-3AD203B41FA5}">
                      <a16:colId xmlns:a16="http://schemas.microsoft.com/office/drawing/2014/main" val="1470405609"/>
                    </a:ext>
                  </a:extLst>
                </a:gridCol>
                <a:gridCol w="41985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DELAY_CH8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6" name="표 35">
            <a:extLst>
              <a:ext uri="{FF2B5EF4-FFF2-40B4-BE49-F238E27FC236}">
                <a16:creationId xmlns:a16="http://schemas.microsoft.com/office/drawing/2014/main" id="{4E2DF619-18FE-7E1B-9F36-6FBB9EF52446}"/>
              </a:ext>
            </a:extLst>
          </p:cNvPr>
          <p:cNvGraphicFramePr>
            <a:graphicFrameLocks noGrp="1"/>
          </p:cNvGraphicFramePr>
          <p:nvPr>
            <p:extLst>
              <p:ext uri="{D42A27DB-BD31-4B8C-83A1-F6EECF244321}">
                <p14:modId xmlns:p14="http://schemas.microsoft.com/office/powerpoint/2010/main" val="1657860042"/>
              </p:ext>
            </p:extLst>
          </p:nvPr>
        </p:nvGraphicFramePr>
        <p:xfrm>
          <a:off x="408246" y="7533548"/>
          <a:ext cx="6062904" cy="372600"/>
        </p:xfrm>
        <a:graphic>
          <a:graphicData uri="http://schemas.openxmlformats.org/drawingml/2006/table">
            <a:tbl>
              <a:tblPr firstRow="1" bandRow="1">
                <a:tableStyleId>{5C22544A-7EE6-4342-B048-85BDC9FD1C3A}</a:tableStyleId>
              </a:tblPr>
              <a:tblGrid>
                <a:gridCol w="275907">
                  <a:extLst>
                    <a:ext uri="{9D8B030D-6E8A-4147-A177-3AD203B41FA5}">
                      <a16:colId xmlns:a16="http://schemas.microsoft.com/office/drawing/2014/main" val="657570846"/>
                    </a:ext>
                  </a:extLst>
                </a:gridCol>
                <a:gridCol w="324812">
                  <a:extLst>
                    <a:ext uri="{9D8B030D-6E8A-4147-A177-3AD203B41FA5}">
                      <a16:colId xmlns:a16="http://schemas.microsoft.com/office/drawing/2014/main" val="3259894497"/>
                    </a:ext>
                  </a:extLst>
                </a:gridCol>
                <a:gridCol w="428161">
                  <a:extLst>
                    <a:ext uri="{9D8B030D-6E8A-4147-A177-3AD203B41FA5}">
                      <a16:colId xmlns:a16="http://schemas.microsoft.com/office/drawing/2014/main" val="4170535043"/>
                    </a:ext>
                  </a:extLst>
                </a:gridCol>
                <a:gridCol w="419502">
                  <a:extLst>
                    <a:ext uri="{9D8B030D-6E8A-4147-A177-3AD203B41FA5}">
                      <a16:colId xmlns:a16="http://schemas.microsoft.com/office/drawing/2014/main" val="2079070694"/>
                    </a:ext>
                  </a:extLst>
                </a:gridCol>
                <a:gridCol w="419502">
                  <a:extLst>
                    <a:ext uri="{9D8B030D-6E8A-4147-A177-3AD203B41FA5}">
                      <a16:colId xmlns:a16="http://schemas.microsoft.com/office/drawing/2014/main" val="4213315911"/>
                    </a:ext>
                  </a:extLst>
                </a:gridCol>
                <a:gridCol w="419502">
                  <a:extLst>
                    <a:ext uri="{9D8B030D-6E8A-4147-A177-3AD203B41FA5}">
                      <a16:colId xmlns:a16="http://schemas.microsoft.com/office/drawing/2014/main" val="2769999950"/>
                    </a:ext>
                  </a:extLst>
                </a:gridCol>
                <a:gridCol w="419502">
                  <a:extLst>
                    <a:ext uri="{9D8B030D-6E8A-4147-A177-3AD203B41FA5}">
                      <a16:colId xmlns:a16="http://schemas.microsoft.com/office/drawing/2014/main" val="135637185"/>
                    </a:ext>
                  </a:extLst>
                </a:gridCol>
                <a:gridCol w="419502">
                  <a:extLst>
                    <a:ext uri="{9D8B030D-6E8A-4147-A177-3AD203B41FA5}">
                      <a16:colId xmlns:a16="http://schemas.microsoft.com/office/drawing/2014/main" val="3038050475"/>
                    </a:ext>
                  </a:extLst>
                </a:gridCol>
                <a:gridCol w="419502">
                  <a:extLst>
                    <a:ext uri="{9D8B030D-6E8A-4147-A177-3AD203B41FA5}">
                      <a16:colId xmlns:a16="http://schemas.microsoft.com/office/drawing/2014/main" val="1979433044"/>
                    </a:ext>
                  </a:extLst>
                </a:gridCol>
                <a:gridCol w="419502">
                  <a:extLst>
                    <a:ext uri="{9D8B030D-6E8A-4147-A177-3AD203B41FA5}">
                      <a16:colId xmlns:a16="http://schemas.microsoft.com/office/drawing/2014/main" val="4270661649"/>
                    </a:ext>
                  </a:extLst>
                </a:gridCol>
                <a:gridCol w="419502">
                  <a:extLst>
                    <a:ext uri="{9D8B030D-6E8A-4147-A177-3AD203B41FA5}">
                      <a16:colId xmlns:a16="http://schemas.microsoft.com/office/drawing/2014/main" val="3027041370"/>
                    </a:ext>
                  </a:extLst>
                </a:gridCol>
                <a:gridCol w="419502">
                  <a:extLst>
                    <a:ext uri="{9D8B030D-6E8A-4147-A177-3AD203B41FA5}">
                      <a16:colId xmlns:a16="http://schemas.microsoft.com/office/drawing/2014/main" val="2852526216"/>
                    </a:ext>
                  </a:extLst>
                </a:gridCol>
                <a:gridCol w="419502">
                  <a:extLst>
                    <a:ext uri="{9D8B030D-6E8A-4147-A177-3AD203B41FA5}">
                      <a16:colId xmlns:a16="http://schemas.microsoft.com/office/drawing/2014/main" val="103420222"/>
                    </a:ext>
                  </a:extLst>
                </a:gridCol>
                <a:gridCol w="419502">
                  <a:extLst>
                    <a:ext uri="{9D8B030D-6E8A-4147-A177-3AD203B41FA5}">
                      <a16:colId xmlns:a16="http://schemas.microsoft.com/office/drawing/2014/main" val="1470405609"/>
                    </a:ext>
                  </a:extLst>
                </a:gridCol>
                <a:gridCol w="41950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DELAY_CH9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7" name="표 36">
            <a:extLst>
              <a:ext uri="{FF2B5EF4-FFF2-40B4-BE49-F238E27FC236}">
                <a16:creationId xmlns:a16="http://schemas.microsoft.com/office/drawing/2014/main" id="{D9ADE477-6F0C-7D1B-219C-16AE1F3701F6}"/>
              </a:ext>
            </a:extLst>
          </p:cNvPr>
          <p:cNvGraphicFramePr>
            <a:graphicFrameLocks noGrp="1"/>
          </p:cNvGraphicFramePr>
          <p:nvPr>
            <p:extLst>
              <p:ext uri="{D42A27DB-BD31-4B8C-83A1-F6EECF244321}">
                <p14:modId xmlns:p14="http://schemas.microsoft.com/office/powerpoint/2010/main" val="174676848"/>
              </p:ext>
            </p:extLst>
          </p:nvPr>
        </p:nvGraphicFramePr>
        <p:xfrm>
          <a:off x="408212" y="8331760"/>
          <a:ext cx="6054386" cy="372600"/>
        </p:xfrm>
        <a:graphic>
          <a:graphicData uri="http://schemas.openxmlformats.org/drawingml/2006/table">
            <a:tbl>
              <a:tblPr firstRow="1" bandRow="1">
                <a:tableStyleId>{5C22544A-7EE6-4342-B048-85BDC9FD1C3A}</a:tableStyleId>
              </a:tblPr>
              <a:tblGrid>
                <a:gridCol w="278017">
                  <a:extLst>
                    <a:ext uri="{9D8B030D-6E8A-4147-A177-3AD203B41FA5}">
                      <a16:colId xmlns:a16="http://schemas.microsoft.com/office/drawing/2014/main" val="657570846"/>
                    </a:ext>
                  </a:extLst>
                </a:gridCol>
                <a:gridCol w="324811">
                  <a:extLst>
                    <a:ext uri="{9D8B030D-6E8A-4147-A177-3AD203B41FA5}">
                      <a16:colId xmlns:a16="http://schemas.microsoft.com/office/drawing/2014/main" val="3259894497"/>
                    </a:ext>
                  </a:extLst>
                </a:gridCol>
                <a:gridCol w="423942">
                  <a:extLst>
                    <a:ext uri="{9D8B030D-6E8A-4147-A177-3AD203B41FA5}">
                      <a16:colId xmlns:a16="http://schemas.microsoft.com/office/drawing/2014/main" val="4170535043"/>
                    </a:ext>
                  </a:extLst>
                </a:gridCol>
                <a:gridCol w="418968">
                  <a:extLst>
                    <a:ext uri="{9D8B030D-6E8A-4147-A177-3AD203B41FA5}">
                      <a16:colId xmlns:a16="http://schemas.microsoft.com/office/drawing/2014/main" val="2079070694"/>
                    </a:ext>
                  </a:extLst>
                </a:gridCol>
                <a:gridCol w="418968">
                  <a:extLst>
                    <a:ext uri="{9D8B030D-6E8A-4147-A177-3AD203B41FA5}">
                      <a16:colId xmlns:a16="http://schemas.microsoft.com/office/drawing/2014/main" val="4213315911"/>
                    </a:ext>
                  </a:extLst>
                </a:gridCol>
                <a:gridCol w="418968">
                  <a:extLst>
                    <a:ext uri="{9D8B030D-6E8A-4147-A177-3AD203B41FA5}">
                      <a16:colId xmlns:a16="http://schemas.microsoft.com/office/drawing/2014/main" val="2769999950"/>
                    </a:ext>
                  </a:extLst>
                </a:gridCol>
                <a:gridCol w="418968">
                  <a:extLst>
                    <a:ext uri="{9D8B030D-6E8A-4147-A177-3AD203B41FA5}">
                      <a16:colId xmlns:a16="http://schemas.microsoft.com/office/drawing/2014/main" val="135637185"/>
                    </a:ext>
                  </a:extLst>
                </a:gridCol>
                <a:gridCol w="418968">
                  <a:extLst>
                    <a:ext uri="{9D8B030D-6E8A-4147-A177-3AD203B41FA5}">
                      <a16:colId xmlns:a16="http://schemas.microsoft.com/office/drawing/2014/main" val="3038050475"/>
                    </a:ext>
                  </a:extLst>
                </a:gridCol>
                <a:gridCol w="418968">
                  <a:extLst>
                    <a:ext uri="{9D8B030D-6E8A-4147-A177-3AD203B41FA5}">
                      <a16:colId xmlns:a16="http://schemas.microsoft.com/office/drawing/2014/main" val="1979433044"/>
                    </a:ext>
                  </a:extLst>
                </a:gridCol>
                <a:gridCol w="418968">
                  <a:extLst>
                    <a:ext uri="{9D8B030D-6E8A-4147-A177-3AD203B41FA5}">
                      <a16:colId xmlns:a16="http://schemas.microsoft.com/office/drawing/2014/main" val="4270661649"/>
                    </a:ext>
                  </a:extLst>
                </a:gridCol>
                <a:gridCol w="418968">
                  <a:extLst>
                    <a:ext uri="{9D8B030D-6E8A-4147-A177-3AD203B41FA5}">
                      <a16:colId xmlns:a16="http://schemas.microsoft.com/office/drawing/2014/main" val="3027041370"/>
                    </a:ext>
                  </a:extLst>
                </a:gridCol>
                <a:gridCol w="418968">
                  <a:extLst>
                    <a:ext uri="{9D8B030D-6E8A-4147-A177-3AD203B41FA5}">
                      <a16:colId xmlns:a16="http://schemas.microsoft.com/office/drawing/2014/main" val="2852526216"/>
                    </a:ext>
                  </a:extLst>
                </a:gridCol>
                <a:gridCol w="418968">
                  <a:extLst>
                    <a:ext uri="{9D8B030D-6E8A-4147-A177-3AD203B41FA5}">
                      <a16:colId xmlns:a16="http://schemas.microsoft.com/office/drawing/2014/main" val="103420222"/>
                    </a:ext>
                  </a:extLst>
                </a:gridCol>
                <a:gridCol w="418968">
                  <a:extLst>
                    <a:ext uri="{9D8B030D-6E8A-4147-A177-3AD203B41FA5}">
                      <a16:colId xmlns:a16="http://schemas.microsoft.com/office/drawing/2014/main" val="1470405609"/>
                    </a:ext>
                  </a:extLst>
                </a:gridCol>
                <a:gridCol w="41896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DELAY_CH10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 name="TextBox 3">
            <a:extLst>
              <a:ext uri="{FF2B5EF4-FFF2-40B4-BE49-F238E27FC236}">
                <a16:creationId xmlns:a16="http://schemas.microsoft.com/office/drawing/2014/main" id="{547625FC-D0D1-2638-FC09-3BED6F6A5AFF}"/>
              </a:ext>
            </a:extLst>
          </p:cNvPr>
          <p:cNvSpPr txBox="1"/>
          <p:nvPr/>
        </p:nvSpPr>
        <p:spPr>
          <a:xfrm>
            <a:off x="399454" y="871566"/>
            <a:ext cx="60582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DELAY_CH1</a:t>
            </a:r>
          </a:p>
        </p:txBody>
      </p:sp>
    </p:spTree>
    <p:extLst>
      <p:ext uri="{BB962C8B-B14F-4D97-AF65-F5344CB8AC3E}">
        <p14:creationId xmlns:p14="http://schemas.microsoft.com/office/powerpoint/2010/main" val="5503883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09B56D3-A1E6-0BF0-F524-22950314FD50}"/>
              </a:ext>
            </a:extLst>
          </p:cNvPr>
          <p:cNvSpPr txBox="1"/>
          <p:nvPr/>
        </p:nvSpPr>
        <p:spPr>
          <a:xfrm>
            <a:off x="399454" y="871566"/>
            <a:ext cx="60582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DELAY_CH11</a:t>
            </a:r>
          </a:p>
        </p:txBody>
      </p:sp>
      <p:sp>
        <p:nvSpPr>
          <p:cNvPr id="2" name="TextBox 1">
            <a:extLst>
              <a:ext uri="{FF2B5EF4-FFF2-40B4-BE49-F238E27FC236}">
                <a16:creationId xmlns:a16="http://schemas.microsoft.com/office/drawing/2014/main" id="{6CA0F4EB-B7D5-FA81-AA07-5A8734351879}"/>
              </a:ext>
            </a:extLst>
          </p:cNvPr>
          <p:cNvSpPr txBox="1"/>
          <p:nvPr/>
        </p:nvSpPr>
        <p:spPr>
          <a:xfrm>
            <a:off x="388804" y="1616491"/>
            <a:ext cx="6048610"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DELAY_CH12</a:t>
            </a:r>
          </a:p>
        </p:txBody>
      </p:sp>
      <p:graphicFrame>
        <p:nvGraphicFramePr>
          <p:cNvPr id="7" name="표 6">
            <a:extLst>
              <a:ext uri="{FF2B5EF4-FFF2-40B4-BE49-F238E27FC236}">
                <a16:creationId xmlns:a16="http://schemas.microsoft.com/office/drawing/2014/main" id="{48A8FF4F-56C0-AD0F-DC5D-83EF91DACFA8}"/>
              </a:ext>
            </a:extLst>
          </p:cNvPr>
          <p:cNvGraphicFramePr>
            <a:graphicFrameLocks noGrp="1"/>
          </p:cNvGraphicFramePr>
          <p:nvPr>
            <p:extLst>
              <p:ext uri="{D42A27DB-BD31-4B8C-83A1-F6EECF244321}">
                <p14:modId xmlns:p14="http://schemas.microsoft.com/office/powerpoint/2010/main" val="56079215"/>
              </p:ext>
            </p:extLst>
          </p:nvPr>
        </p:nvGraphicFramePr>
        <p:xfrm>
          <a:off x="404812" y="2288116"/>
          <a:ext cx="6052899" cy="784345"/>
        </p:xfrm>
        <a:graphic>
          <a:graphicData uri="http://schemas.openxmlformats.org/drawingml/2006/table">
            <a:tbl>
              <a:tblPr firstRow="1" bandRow="1">
                <a:tableStyleId>{5C22544A-7EE6-4342-B048-85BDC9FD1C3A}</a:tableStyleId>
              </a:tblPr>
              <a:tblGrid>
                <a:gridCol w="439763">
                  <a:extLst>
                    <a:ext uri="{9D8B030D-6E8A-4147-A177-3AD203B41FA5}">
                      <a16:colId xmlns:a16="http://schemas.microsoft.com/office/drawing/2014/main" val="4170535043"/>
                    </a:ext>
                  </a:extLst>
                </a:gridCol>
                <a:gridCol w="1044977">
                  <a:extLst>
                    <a:ext uri="{9D8B030D-6E8A-4147-A177-3AD203B41FA5}">
                      <a16:colId xmlns:a16="http://schemas.microsoft.com/office/drawing/2014/main" val="2079070694"/>
                    </a:ext>
                  </a:extLst>
                </a:gridCol>
                <a:gridCol w="4568159">
                  <a:extLst>
                    <a:ext uri="{9D8B030D-6E8A-4147-A177-3AD203B41FA5}">
                      <a16:colId xmlns:a16="http://schemas.microsoft.com/office/drawing/2014/main" val="32595803"/>
                    </a:ext>
                  </a:extLst>
                </a:gridCol>
              </a:tblGrid>
              <a:tr h="300865">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9197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DELAY_CHx</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DELAY_CHx determines from which sub-frame to start dimming out. If this is set to n, then the dimming out starts at (n+1)</a:t>
                      </a:r>
                      <a:r>
                        <a:rPr lang="en-US" altLang="ko-KR" sz="900" b="0" baseline="30000" dirty="0">
                          <a:solidFill>
                            <a:schemeClr val="tx1"/>
                          </a:solidFill>
                          <a:latin typeface="Arial" panose="020B0604020202020204" pitchFamily="34" charset="0"/>
                          <a:ea typeface="+mn-ea"/>
                          <a:cs typeface="Arial" panose="020B0604020202020204" pitchFamily="34" charset="0"/>
                        </a:rPr>
                        <a:t>th</a:t>
                      </a:r>
                      <a:r>
                        <a:rPr lang="en-US" altLang="ko-KR" sz="900" b="0" dirty="0">
                          <a:solidFill>
                            <a:schemeClr val="tx1"/>
                          </a:solidFill>
                          <a:latin typeface="Arial" panose="020B0604020202020204" pitchFamily="34" charset="0"/>
                          <a:ea typeface="+mn-ea"/>
                          <a:cs typeface="Arial" panose="020B0604020202020204" pitchFamily="34" charset="0"/>
                        </a:rPr>
                        <a:t> sub-vsync. Normally, the value can not exceed the (SF_SIZE-1) value. For more details, refer to the Figure. 6,7,8,9.</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2FCD335A-0277-A41A-A7F2-5CBC9C44750A}"/>
              </a:ext>
            </a:extLst>
          </p:cNvPr>
          <p:cNvSpPr txBox="1"/>
          <p:nvPr/>
        </p:nvSpPr>
        <p:spPr>
          <a:xfrm>
            <a:off x="399454" y="3669699"/>
            <a:ext cx="6058257"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WR PROTECT</a:t>
            </a:r>
          </a:p>
        </p:txBody>
      </p:sp>
      <p:graphicFrame>
        <p:nvGraphicFramePr>
          <p:cNvPr id="6" name="표 5">
            <a:extLst>
              <a:ext uri="{FF2B5EF4-FFF2-40B4-BE49-F238E27FC236}">
                <a16:creationId xmlns:a16="http://schemas.microsoft.com/office/drawing/2014/main" id="{B74AEC9C-7E5E-C643-C092-A9386D372D49}"/>
              </a:ext>
            </a:extLst>
          </p:cNvPr>
          <p:cNvGraphicFramePr>
            <a:graphicFrameLocks noGrp="1"/>
          </p:cNvGraphicFramePr>
          <p:nvPr>
            <p:extLst>
              <p:ext uri="{D42A27DB-BD31-4B8C-83A1-F6EECF244321}">
                <p14:modId xmlns:p14="http://schemas.microsoft.com/office/powerpoint/2010/main" val="4282345067"/>
              </p:ext>
            </p:extLst>
          </p:nvPr>
        </p:nvGraphicFramePr>
        <p:xfrm>
          <a:off x="399454" y="1136141"/>
          <a:ext cx="6048606" cy="372600"/>
        </p:xfrm>
        <a:graphic>
          <a:graphicData uri="http://schemas.openxmlformats.org/drawingml/2006/table">
            <a:tbl>
              <a:tblPr firstRow="1" bandRow="1">
                <a:tableStyleId>{5C22544A-7EE6-4342-B048-85BDC9FD1C3A}</a:tableStyleId>
              </a:tblPr>
              <a:tblGrid>
                <a:gridCol w="279877">
                  <a:extLst>
                    <a:ext uri="{9D8B030D-6E8A-4147-A177-3AD203B41FA5}">
                      <a16:colId xmlns:a16="http://schemas.microsoft.com/office/drawing/2014/main" val="657570846"/>
                    </a:ext>
                  </a:extLst>
                </a:gridCol>
                <a:gridCol w="322417">
                  <a:extLst>
                    <a:ext uri="{9D8B030D-6E8A-4147-A177-3AD203B41FA5}">
                      <a16:colId xmlns:a16="http://schemas.microsoft.com/office/drawing/2014/main" val="3259894497"/>
                    </a:ext>
                  </a:extLst>
                </a:gridCol>
                <a:gridCol w="423568">
                  <a:extLst>
                    <a:ext uri="{9D8B030D-6E8A-4147-A177-3AD203B41FA5}">
                      <a16:colId xmlns:a16="http://schemas.microsoft.com/office/drawing/2014/main" val="4170535043"/>
                    </a:ext>
                  </a:extLst>
                </a:gridCol>
                <a:gridCol w="418562">
                  <a:extLst>
                    <a:ext uri="{9D8B030D-6E8A-4147-A177-3AD203B41FA5}">
                      <a16:colId xmlns:a16="http://schemas.microsoft.com/office/drawing/2014/main" val="2079070694"/>
                    </a:ext>
                  </a:extLst>
                </a:gridCol>
                <a:gridCol w="418562">
                  <a:extLst>
                    <a:ext uri="{9D8B030D-6E8A-4147-A177-3AD203B41FA5}">
                      <a16:colId xmlns:a16="http://schemas.microsoft.com/office/drawing/2014/main" val="4213315911"/>
                    </a:ext>
                  </a:extLst>
                </a:gridCol>
                <a:gridCol w="418562">
                  <a:extLst>
                    <a:ext uri="{9D8B030D-6E8A-4147-A177-3AD203B41FA5}">
                      <a16:colId xmlns:a16="http://schemas.microsoft.com/office/drawing/2014/main" val="2769999950"/>
                    </a:ext>
                  </a:extLst>
                </a:gridCol>
                <a:gridCol w="418562">
                  <a:extLst>
                    <a:ext uri="{9D8B030D-6E8A-4147-A177-3AD203B41FA5}">
                      <a16:colId xmlns:a16="http://schemas.microsoft.com/office/drawing/2014/main" val="135637185"/>
                    </a:ext>
                  </a:extLst>
                </a:gridCol>
                <a:gridCol w="418562">
                  <a:extLst>
                    <a:ext uri="{9D8B030D-6E8A-4147-A177-3AD203B41FA5}">
                      <a16:colId xmlns:a16="http://schemas.microsoft.com/office/drawing/2014/main" val="3038050475"/>
                    </a:ext>
                  </a:extLst>
                </a:gridCol>
                <a:gridCol w="418562">
                  <a:extLst>
                    <a:ext uri="{9D8B030D-6E8A-4147-A177-3AD203B41FA5}">
                      <a16:colId xmlns:a16="http://schemas.microsoft.com/office/drawing/2014/main" val="1979433044"/>
                    </a:ext>
                  </a:extLst>
                </a:gridCol>
                <a:gridCol w="418562">
                  <a:extLst>
                    <a:ext uri="{9D8B030D-6E8A-4147-A177-3AD203B41FA5}">
                      <a16:colId xmlns:a16="http://schemas.microsoft.com/office/drawing/2014/main" val="4270661649"/>
                    </a:ext>
                  </a:extLst>
                </a:gridCol>
                <a:gridCol w="418562">
                  <a:extLst>
                    <a:ext uri="{9D8B030D-6E8A-4147-A177-3AD203B41FA5}">
                      <a16:colId xmlns:a16="http://schemas.microsoft.com/office/drawing/2014/main" val="3027041370"/>
                    </a:ext>
                  </a:extLst>
                </a:gridCol>
                <a:gridCol w="418562">
                  <a:extLst>
                    <a:ext uri="{9D8B030D-6E8A-4147-A177-3AD203B41FA5}">
                      <a16:colId xmlns:a16="http://schemas.microsoft.com/office/drawing/2014/main" val="2852526216"/>
                    </a:ext>
                  </a:extLst>
                </a:gridCol>
                <a:gridCol w="418562">
                  <a:extLst>
                    <a:ext uri="{9D8B030D-6E8A-4147-A177-3AD203B41FA5}">
                      <a16:colId xmlns:a16="http://schemas.microsoft.com/office/drawing/2014/main" val="103420222"/>
                    </a:ext>
                  </a:extLst>
                </a:gridCol>
                <a:gridCol w="418562">
                  <a:extLst>
                    <a:ext uri="{9D8B030D-6E8A-4147-A177-3AD203B41FA5}">
                      <a16:colId xmlns:a16="http://schemas.microsoft.com/office/drawing/2014/main" val="1470405609"/>
                    </a:ext>
                  </a:extLst>
                </a:gridCol>
                <a:gridCol w="41856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DELAY_CH11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8" name="표 17">
            <a:extLst>
              <a:ext uri="{FF2B5EF4-FFF2-40B4-BE49-F238E27FC236}">
                <a16:creationId xmlns:a16="http://schemas.microsoft.com/office/drawing/2014/main" id="{89F61CF7-913D-64E2-E618-008E8B401C3C}"/>
              </a:ext>
            </a:extLst>
          </p:cNvPr>
          <p:cNvGraphicFramePr>
            <a:graphicFrameLocks noGrp="1"/>
          </p:cNvGraphicFramePr>
          <p:nvPr>
            <p:extLst>
              <p:ext uri="{D42A27DB-BD31-4B8C-83A1-F6EECF244321}">
                <p14:modId xmlns:p14="http://schemas.microsoft.com/office/powerpoint/2010/main" val="809898449"/>
              </p:ext>
            </p:extLst>
          </p:nvPr>
        </p:nvGraphicFramePr>
        <p:xfrm>
          <a:off x="399454" y="1880451"/>
          <a:ext cx="6048609" cy="372600"/>
        </p:xfrm>
        <a:graphic>
          <a:graphicData uri="http://schemas.openxmlformats.org/drawingml/2006/table">
            <a:tbl>
              <a:tblPr firstRow="1" bandRow="1">
                <a:tableStyleId>{5C22544A-7EE6-4342-B048-85BDC9FD1C3A}</a:tableStyleId>
              </a:tblPr>
              <a:tblGrid>
                <a:gridCol w="273952">
                  <a:extLst>
                    <a:ext uri="{9D8B030D-6E8A-4147-A177-3AD203B41FA5}">
                      <a16:colId xmlns:a16="http://schemas.microsoft.com/office/drawing/2014/main" val="657570846"/>
                    </a:ext>
                  </a:extLst>
                </a:gridCol>
                <a:gridCol w="329216">
                  <a:extLst>
                    <a:ext uri="{9D8B030D-6E8A-4147-A177-3AD203B41FA5}">
                      <a16:colId xmlns:a16="http://schemas.microsoft.com/office/drawing/2014/main" val="3259894497"/>
                    </a:ext>
                  </a:extLst>
                </a:gridCol>
                <a:gridCol w="421017">
                  <a:extLst>
                    <a:ext uri="{9D8B030D-6E8A-4147-A177-3AD203B41FA5}">
                      <a16:colId xmlns:a16="http://schemas.microsoft.com/office/drawing/2014/main" val="4170535043"/>
                    </a:ext>
                  </a:extLst>
                </a:gridCol>
                <a:gridCol w="418702">
                  <a:extLst>
                    <a:ext uri="{9D8B030D-6E8A-4147-A177-3AD203B41FA5}">
                      <a16:colId xmlns:a16="http://schemas.microsoft.com/office/drawing/2014/main" val="2079070694"/>
                    </a:ext>
                  </a:extLst>
                </a:gridCol>
                <a:gridCol w="418702">
                  <a:extLst>
                    <a:ext uri="{9D8B030D-6E8A-4147-A177-3AD203B41FA5}">
                      <a16:colId xmlns:a16="http://schemas.microsoft.com/office/drawing/2014/main" val="4213315911"/>
                    </a:ext>
                  </a:extLst>
                </a:gridCol>
                <a:gridCol w="418702">
                  <a:extLst>
                    <a:ext uri="{9D8B030D-6E8A-4147-A177-3AD203B41FA5}">
                      <a16:colId xmlns:a16="http://schemas.microsoft.com/office/drawing/2014/main" val="2769999950"/>
                    </a:ext>
                  </a:extLst>
                </a:gridCol>
                <a:gridCol w="418702">
                  <a:extLst>
                    <a:ext uri="{9D8B030D-6E8A-4147-A177-3AD203B41FA5}">
                      <a16:colId xmlns:a16="http://schemas.microsoft.com/office/drawing/2014/main" val="135637185"/>
                    </a:ext>
                  </a:extLst>
                </a:gridCol>
                <a:gridCol w="418702">
                  <a:extLst>
                    <a:ext uri="{9D8B030D-6E8A-4147-A177-3AD203B41FA5}">
                      <a16:colId xmlns:a16="http://schemas.microsoft.com/office/drawing/2014/main" val="3038050475"/>
                    </a:ext>
                  </a:extLst>
                </a:gridCol>
                <a:gridCol w="418702">
                  <a:extLst>
                    <a:ext uri="{9D8B030D-6E8A-4147-A177-3AD203B41FA5}">
                      <a16:colId xmlns:a16="http://schemas.microsoft.com/office/drawing/2014/main" val="1979433044"/>
                    </a:ext>
                  </a:extLst>
                </a:gridCol>
                <a:gridCol w="418702">
                  <a:extLst>
                    <a:ext uri="{9D8B030D-6E8A-4147-A177-3AD203B41FA5}">
                      <a16:colId xmlns:a16="http://schemas.microsoft.com/office/drawing/2014/main" val="4270661649"/>
                    </a:ext>
                  </a:extLst>
                </a:gridCol>
                <a:gridCol w="418702">
                  <a:extLst>
                    <a:ext uri="{9D8B030D-6E8A-4147-A177-3AD203B41FA5}">
                      <a16:colId xmlns:a16="http://schemas.microsoft.com/office/drawing/2014/main" val="3027041370"/>
                    </a:ext>
                  </a:extLst>
                </a:gridCol>
                <a:gridCol w="418702">
                  <a:extLst>
                    <a:ext uri="{9D8B030D-6E8A-4147-A177-3AD203B41FA5}">
                      <a16:colId xmlns:a16="http://schemas.microsoft.com/office/drawing/2014/main" val="2852526216"/>
                    </a:ext>
                  </a:extLst>
                </a:gridCol>
                <a:gridCol w="418702">
                  <a:extLst>
                    <a:ext uri="{9D8B030D-6E8A-4147-A177-3AD203B41FA5}">
                      <a16:colId xmlns:a16="http://schemas.microsoft.com/office/drawing/2014/main" val="103420222"/>
                    </a:ext>
                  </a:extLst>
                </a:gridCol>
                <a:gridCol w="418702">
                  <a:extLst>
                    <a:ext uri="{9D8B030D-6E8A-4147-A177-3AD203B41FA5}">
                      <a16:colId xmlns:a16="http://schemas.microsoft.com/office/drawing/2014/main" val="1470405609"/>
                    </a:ext>
                  </a:extLst>
                </a:gridCol>
                <a:gridCol w="41870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DELAY_CH12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 name="표 2">
            <a:extLst>
              <a:ext uri="{FF2B5EF4-FFF2-40B4-BE49-F238E27FC236}">
                <a16:creationId xmlns:a16="http://schemas.microsoft.com/office/drawing/2014/main" id="{E7E09FB3-F930-E46A-41AE-403FAA395C22}"/>
              </a:ext>
            </a:extLst>
          </p:cNvPr>
          <p:cNvGraphicFramePr>
            <a:graphicFrameLocks noGrp="1"/>
          </p:cNvGraphicFramePr>
          <p:nvPr>
            <p:extLst>
              <p:ext uri="{D42A27DB-BD31-4B8C-83A1-F6EECF244321}">
                <p14:modId xmlns:p14="http://schemas.microsoft.com/office/powerpoint/2010/main" val="4112104324"/>
              </p:ext>
            </p:extLst>
          </p:nvPr>
        </p:nvGraphicFramePr>
        <p:xfrm>
          <a:off x="400267" y="3931964"/>
          <a:ext cx="6048614" cy="372600"/>
        </p:xfrm>
        <a:graphic>
          <a:graphicData uri="http://schemas.openxmlformats.org/drawingml/2006/table">
            <a:tbl>
              <a:tblPr firstRow="1" bandRow="1">
                <a:tableStyleId>{5C22544A-7EE6-4342-B048-85BDC9FD1C3A}</a:tableStyleId>
              </a:tblPr>
              <a:tblGrid>
                <a:gridCol w="337675">
                  <a:extLst>
                    <a:ext uri="{9D8B030D-6E8A-4147-A177-3AD203B41FA5}">
                      <a16:colId xmlns:a16="http://schemas.microsoft.com/office/drawing/2014/main" val="657570846"/>
                    </a:ext>
                  </a:extLst>
                </a:gridCol>
                <a:gridCol w="371286">
                  <a:extLst>
                    <a:ext uri="{9D8B030D-6E8A-4147-A177-3AD203B41FA5}">
                      <a16:colId xmlns:a16="http://schemas.microsoft.com/office/drawing/2014/main" val="3259894497"/>
                    </a:ext>
                  </a:extLst>
                </a:gridCol>
                <a:gridCol w="436357">
                  <a:extLst>
                    <a:ext uri="{9D8B030D-6E8A-4147-A177-3AD203B41FA5}">
                      <a16:colId xmlns:a16="http://schemas.microsoft.com/office/drawing/2014/main" val="4170535043"/>
                    </a:ext>
                  </a:extLst>
                </a:gridCol>
                <a:gridCol w="575172">
                  <a:extLst>
                    <a:ext uri="{9D8B030D-6E8A-4147-A177-3AD203B41FA5}">
                      <a16:colId xmlns:a16="http://schemas.microsoft.com/office/drawing/2014/main" val="2079070694"/>
                    </a:ext>
                  </a:extLst>
                </a:gridCol>
                <a:gridCol w="388939">
                  <a:extLst>
                    <a:ext uri="{9D8B030D-6E8A-4147-A177-3AD203B41FA5}">
                      <a16:colId xmlns:a16="http://schemas.microsoft.com/office/drawing/2014/main" val="4213315911"/>
                    </a:ext>
                  </a:extLst>
                </a:gridCol>
                <a:gridCol w="388939">
                  <a:extLst>
                    <a:ext uri="{9D8B030D-6E8A-4147-A177-3AD203B41FA5}">
                      <a16:colId xmlns:a16="http://schemas.microsoft.com/office/drawing/2014/main" val="2769999950"/>
                    </a:ext>
                  </a:extLst>
                </a:gridCol>
                <a:gridCol w="388939">
                  <a:extLst>
                    <a:ext uri="{9D8B030D-6E8A-4147-A177-3AD203B41FA5}">
                      <a16:colId xmlns:a16="http://schemas.microsoft.com/office/drawing/2014/main" val="135637185"/>
                    </a:ext>
                  </a:extLst>
                </a:gridCol>
                <a:gridCol w="388939">
                  <a:extLst>
                    <a:ext uri="{9D8B030D-6E8A-4147-A177-3AD203B41FA5}">
                      <a16:colId xmlns:a16="http://schemas.microsoft.com/office/drawing/2014/main" val="3038050475"/>
                    </a:ext>
                  </a:extLst>
                </a:gridCol>
                <a:gridCol w="438734">
                  <a:extLst>
                    <a:ext uri="{9D8B030D-6E8A-4147-A177-3AD203B41FA5}">
                      <a16:colId xmlns:a16="http://schemas.microsoft.com/office/drawing/2014/main" val="1979433044"/>
                    </a:ext>
                  </a:extLst>
                </a:gridCol>
                <a:gridCol w="388939">
                  <a:extLst>
                    <a:ext uri="{9D8B030D-6E8A-4147-A177-3AD203B41FA5}">
                      <a16:colId xmlns:a16="http://schemas.microsoft.com/office/drawing/2014/main" val="4270661649"/>
                    </a:ext>
                  </a:extLst>
                </a:gridCol>
                <a:gridCol w="388939">
                  <a:extLst>
                    <a:ext uri="{9D8B030D-6E8A-4147-A177-3AD203B41FA5}">
                      <a16:colId xmlns:a16="http://schemas.microsoft.com/office/drawing/2014/main" val="3027041370"/>
                    </a:ext>
                  </a:extLst>
                </a:gridCol>
                <a:gridCol w="388939">
                  <a:extLst>
                    <a:ext uri="{9D8B030D-6E8A-4147-A177-3AD203B41FA5}">
                      <a16:colId xmlns:a16="http://schemas.microsoft.com/office/drawing/2014/main" val="2852526216"/>
                    </a:ext>
                  </a:extLst>
                </a:gridCol>
                <a:gridCol w="388939">
                  <a:extLst>
                    <a:ext uri="{9D8B030D-6E8A-4147-A177-3AD203B41FA5}">
                      <a16:colId xmlns:a16="http://schemas.microsoft.com/office/drawing/2014/main" val="103420222"/>
                    </a:ext>
                  </a:extLst>
                </a:gridCol>
                <a:gridCol w="388939">
                  <a:extLst>
                    <a:ext uri="{9D8B030D-6E8A-4147-A177-3AD203B41FA5}">
                      <a16:colId xmlns:a16="http://schemas.microsoft.com/office/drawing/2014/main" val="1470405609"/>
                    </a:ext>
                  </a:extLst>
                </a:gridCol>
                <a:gridCol w="38893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RO</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0x155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0">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REG_WR_PROTECT [9:0]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4" name="표 3">
            <a:extLst>
              <a:ext uri="{FF2B5EF4-FFF2-40B4-BE49-F238E27FC236}">
                <a16:creationId xmlns:a16="http://schemas.microsoft.com/office/drawing/2014/main" id="{A4883D5F-E29F-D2E5-B277-7E2DB8B9545D}"/>
              </a:ext>
            </a:extLst>
          </p:cNvPr>
          <p:cNvGraphicFramePr>
            <a:graphicFrameLocks noGrp="1"/>
          </p:cNvGraphicFramePr>
          <p:nvPr>
            <p:extLst>
              <p:ext uri="{D42A27DB-BD31-4B8C-83A1-F6EECF244321}">
                <p14:modId xmlns:p14="http://schemas.microsoft.com/office/powerpoint/2010/main" val="1967118173"/>
              </p:ext>
            </p:extLst>
          </p:nvPr>
        </p:nvGraphicFramePr>
        <p:xfrm>
          <a:off x="399999" y="4362754"/>
          <a:ext cx="6048614" cy="1064274"/>
        </p:xfrm>
        <a:graphic>
          <a:graphicData uri="http://schemas.openxmlformats.org/drawingml/2006/table">
            <a:tbl>
              <a:tblPr firstRow="1" bandRow="1">
                <a:tableStyleId>{5C22544A-7EE6-4342-B048-85BDC9FD1C3A}</a:tableStyleId>
              </a:tblPr>
              <a:tblGrid>
                <a:gridCol w="422321">
                  <a:extLst>
                    <a:ext uri="{9D8B030D-6E8A-4147-A177-3AD203B41FA5}">
                      <a16:colId xmlns:a16="http://schemas.microsoft.com/office/drawing/2014/main" val="4170535043"/>
                    </a:ext>
                  </a:extLst>
                </a:gridCol>
                <a:gridCol w="1235500">
                  <a:extLst>
                    <a:ext uri="{9D8B030D-6E8A-4147-A177-3AD203B41FA5}">
                      <a16:colId xmlns:a16="http://schemas.microsoft.com/office/drawing/2014/main" val="2079070694"/>
                    </a:ext>
                  </a:extLst>
                </a:gridCol>
                <a:gridCol w="4390793">
                  <a:extLst>
                    <a:ext uri="{9D8B030D-6E8A-4147-A177-3AD203B41FA5}">
                      <a16:colId xmlns:a16="http://schemas.microsoft.com/office/drawing/2014/main" val="32595803"/>
                    </a:ext>
                  </a:extLst>
                </a:gridCol>
              </a:tblGrid>
              <a:tr h="306474">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REG_WR_PROTECT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This feature is used to protect write access to all internal registers except the MAX_ CURR_REF register.</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The set value, 0x155, means that the write access to all internal registers is allowable.</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The set value, 0x2AA, means that the write access to all internal registers except the MAX_CURR_REF register is not allowable.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1743245"/>
                  </a:ext>
                </a:extLst>
              </a:tr>
            </a:tbl>
          </a:graphicData>
        </a:graphic>
      </p:graphicFrame>
    </p:spTree>
    <p:extLst>
      <p:ext uri="{BB962C8B-B14F-4D97-AF65-F5344CB8AC3E}">
        <p14:creationId xmlns:p14="http://schemas.microsoft.com/office/powerpoint/2010/main" val="17493792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BAB9F-03AA-6FA4-5A66-5BD927C38E3F}"/>
            </a:ext>
          </a:extLst>
        </p:cNvPr>
        <p:cNvGrpSpPr/>
        <p:nvPr/>
      </p:nvGrpSpPr>
      <p:grpSpPr>
        <a:xfrm>
          <a:off x="0" y="0"/>
          <a:ext cx="0" cy="0"/>
          <a:chOff x="0" y="0"/>
          <a:chExt cx="0" cy="0"/>
        </a:xfrm>
      </p:grpSpPr>
      <p:graphicFrame>
        <p:nvGraphicFramePr>
          <p:cNvPr id="12" name="표 11">
            <a:extLst>
              <a:ext uri="{FF2B5EF4-FFF2-40B4-BE49-F238E27FC236}">
                <a16:creationId xmlns:a16="http://schemas.microsoft.com/office/drawing/2014/main" id="{3BD8CDEE-2854-6C79-6198-9DE9BE9877F8}"/>
              </a:ext>
            </a:extLst>
          </p:cNvPr>
          <p:cNvGraphicFramePr>
            <a:graphicFrameLocks noGrp="1"/>
          </p:cNvGraphicFramePr>
          <p:nvPr>
            <p:extLst>
              <p:ext uri="{D42A27DB-BD31-4B8C-83A1-F6EECF244321}">
                <p14:modId xmlns:p14="http://schemas.microsoft.com/office/powerpoint/2010/main" val="3444810549"/>
              </p:ext>
            </p:extLst>
          </p:nvPr>
        </p:nvGraphicFramePr>
        <p:xfrm>
          <a:off x="399657" y="3636714"/>
          <a:ext cx="6042310" cy="372600"/>
        </p:xfrm>
        <a:graphic>
          <a:graphicData uri="http://schemas.openxmlformats.org/drawingml/2006/table">
            <a:tbl>
              <a:tblPr firstRow="1" bandRow="1">
                <a:tableStyleId>{5C22544A-7EE6-4342-B048-85BDC9FD1C3A}</a:tableStyleId>
              </a:tblPr>
              <a:tblGrid>
                <a:gridCol w="278758">
                  <a:extLst>
                    <a:ext uri="{9D8B030D-6E8A-4147-A177-3AD203B41FA5}">
                      <a16:colId xmlns:a16="http://schemas.microsoft.com/office/drawing/2014/main" val="657570846"/>
                    </a:ext>
                  </a:extLst>
                </a:gridCol>
                <a:gridCol w="319976">
                  <a:extLst>
                    <a:ext uri="{9D8B030D-6E8A-4147-A177-3AD203B41FA5}">
                      <a16:colId xmlns:a16="http://schemas.microsoft.com/office/drawing/2014/main" val="3259894497"/>
                    </a:ext>
                  </a:extLst>
                </a:gridCol>
                <a:gridCol w="427336">
                  <a:extLst>
                    <a:ext uri="{9D8B030D-6E8A-4147-A177-3AD203B41FA5}">
                      <a16:colId xmlns:a16="http://schemas.microsoft.com/office/drawing/2014/main" val="4170535043"/>
                    </a:ext>
                  </a:extLst>
                </a:gridCol>
                <a:gridCol w="418020">
                  <a:extLst>
                    <a:ext uri="{9D8B030D-6E8A-4147-A177-3AD203B41FA5}">
                      <a16:colId xmlns:a16="http://schemas.microsoft.com/office/drawing/2014/main" val="2079070694"/>
                    </a:ext>
                  </a:extLst>
                </a:gridCol>
                <a:gridCol w="418020">
                  <a:extLst>
                    <a:ext uri="{9D8B030D-6E8A-4147-A177-3AD203B41FA5}">
                      <a16:colId xmlns:a16="http://schemas.microsoft.com/office/drawing/2014/main" val="4213315911"/>
                    </a:ext>
                  </a:extLst>
                </a:gridCol>
                <a:gridCol w="418020">
                  <a:extLst>
                    <a:ext uri="{9D8B030D-6E8A-4147-A177-3AD203B41FA5}">
                      <a16:colId xmlns:a16="http://schemas.microsoft.com/office/drawing/2014/main" val="2769999950"/>
                    </a:ext>
                  </a:extLst>
                </a:gridCol>
                <a:gridCol w="418020">
                  <a:extLst>
                    <a:ext uri="{9D8B030D-6E8A-4147-A177-3AD203B41FA5}">
                      <a16:colId xmlns:a16="http://schemas.microsoft.com/office/drawing/2014/main" val="135637185"/>
                    </a:ext>
                  </a:extLst>
                </a:gridCol>
                <a:gridCol w="418020">
                  <a:extLst>
                    <a:ext uri="{9D8B030D-6E8A-4147-A177-3AD203B41FA5}">
                      <a16:colId xmlns:a16="http://schemas.microsoft.com/office/drawing/2014/main" val="3038050475"/>
                    </a:ext>
                  </a:extLst>
                </a:gridCol>
                <a:gridCol w="418020">
                  <a:extLst>
                    <a:ext uri="{9D8B030D-6E8A-4147-A177-3AD203B41FA5}">
                      <a16:colId xmlns:a16="http://schemas.microsoft.com/office/drawing/2014/main" val="1979433044"/>
                    </a:ext>
                  </a:extLst>
                </a:gridCol>
                <a:gridCol w="418020">
                  <a:extLst>
                    <a:ext uri="{9D8B030D-6E8A-4147-A177-3AD203B41FA5}">
                      <a16:colId xmlns:a16="http://schemas.microsoft.com/office/drawing/2014/main" val="4270661649"/>
                    </a:ext>
                  </a:extLst>
                </a:gridCol>
                <a:gridCol w="418020">
                  <a:extLst>
                    <a:ext uri="{9D8B030D-6E8A-4147-A177-3AD203B41FA5}">
                      <a16:colId xmlns:a16="http://schemas.microsoft.com/office/drawing/2014/main" val="3027041370"/>
                    </a:ext>
                  </a:extLst>
                </a:gridCol>
                <a:gridCol w="418020">
                  <a:extLst>
                    <a:ext uri="{9D8B030D-6E8A-4147-A177-3AD203B41FA5}">
                      <a16:colId xmlns:a16="http://schemas.microsoft.com/office/drawing/2014/main" val="2852526216"/>
                    </a:ext>
                  </a:extLst>
                </a:gridCol>
                <a:gridCol w="418020">
                  <a:extLst>
                    <a:ext uri="{9D8B030D-6E8A-4147-A177-3AD203B41FA5}">
                      <a16:colId xmlns:a16="http://schemas.microsoft.com/office/drawing/2014/main" val="103420222"/>
                    </a:ext>
                  </a:extLst>
                </a:gridCol>
                <a:gridCol w="418020">
                  <a:extLst>
                    <a:ext uri="{9D8B030D-6E8A-4147-A177-3AD203B41FA5}">
                      <a16:colId xmlns:a16="http://schemas.microsoft.com/office/drawing/2014/main" val="1470405609"/>
                    </a:ext>
                  </a:extLst>
                </a:gridCol>
                <a:gridCol w="41802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0x050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SERIAL_LATENCY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2419449"/>
                  </a:ext>
                </a:extLst>
              </a:tr>
            </a:tbl>
          </a:graphicData>
        </a:graphic>
      </p:graphicFrame>
      <p:cxnSp>
        <p:nvCxnSpPr>
          <p:cNvPr id="84" name="직선 연결선 83">
            <a:extLst>
              <a:ext uri="{FF2B5EF4-FFF2-40B4-BE49-F238E27FC236}">
                <a16:creationId xmlns:a16="http://schemas.microsoft.com/office/drawing/2014/main" id="{DBDDF14A-92C6-7BE8-0137-C8B489000D49}"/>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4591788A-6804-3782-BC52-90EC9931459A}"/>
              </a:ext>
            </a:extLst>
          </p:cNvPr>
          <p:cNvSpPr txBox="1"/>
          <p:nvPr/>
        </p:nvSpPr>
        <p:spPr>
          <a:xfrm>
            <a:off x="399454" y="871566"/>
            <a:ext cx="60582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SERIALIZER OUTPUT BAUDRATE</a:t>
            </a:r>
          </a:p>
        </p:txBody>
      </p:sp>
      <p:sp>
        <p:nvSpPr>
          <p:cNvPr id="13" name="TextBox 12">
            <a:extLst>
              <a:ext uri="{FF2B5EF4-FFF2-40B4-BE49-F238E27FC236}">
                <a16:creationId xmlns:a16="http://schemas.microsoft.com/office/drawing/2014/main" id="{42A07EEE-93AF-53E5-CA7F-830277C3CD67}"/>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45C242DD-F348-EB88-9501-01312E94DCD6}"/>
              </a:ext>
            </a:extLst>
          </p:cNvPr>
          <p:cNvSpPr txBox="1"/>
          <p:nvPr/>
        </p:nvSpPr>
        <p:spPr>
          <a:xfrm>
            <a:off x="399657" y="3374347"/>
            <a:ext cx="605289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SERIAL_LATENCY</a:t>
            </a:r>
          </a:p>
        </p:txBody>
      </p:sp>
      <p:graphicFrame>
        <p:nvGraphicFramePr>
          <p:cNvPr id="15" name="표 14">
            <a:extLst>
              <a:ext uri="{FF2B5EF4-FFF2-40B4-BE49-F238E27FC236}">
                <a16:creationId xmlns:a16="http://schemas.microsoft.com/office/drawing/2014/main" id="{8429356A-D7BA-B34E-00D6-D63708AC2C6A}"/>
              </a:ext>
            </a:extLst>
          </p:cNvPr>
          <p:cNvGraphicFramePr>
            <a:graphicFrameLocks noGrp="1"/>
          </p:cNvGraphicFramePr>
          <p:nvPr>
            <p:extLst>
              <p:ext uri="{D42A27DB-BD31-4B8C-83A1-F6EECF244321}">
                <p14:modId xmlns:p14="http://schemas.microsoft.com/office/powerpoint/2010/main" val="3149846754"/>
              </p:ext>
            </p:extLst>
          </p:nvPr>
        </p:nvGraphicFramePr>
        <p:xfrm>
          <a:off x="399657" y="1538621"/>
          <a:ext cx="6052899" cy="1279866"/>
        </p:xfrm>
        <a:graphic>
          <a:graphicData uri="http://schemas.openxmlformats.org/drawingml/2006/table">
            <a:tbl>
              <a:tblPr firstRow="1" bandRow="1">
                <a:tableStyleId>{5C22544A-7EE6-4342-B048-85BDC9FD1C3A}</a:tableStyleId>
              </a:tblPr>
              <a:tblGrid>
                <a:gridCol w="436168">
                  <a:extLst>
                    <a:ext uri="{9D8B030D-6E8A-4147-A177-3AD203B41FA5}">
                      <a16:colId xmlns:a16="http://schemas.microsoft.com/office/drawing/2014/main" val="4170535043"/>
                    </a:ext>
                  </a:extLst>
                </a:gridCol>
                <a:gridCol w="1142891">
                  <a:extLst>
                    <a:ext uri="{9D8B030D-6E8A-4147-A177-3AD203B41FA5}">
                      <a16:colId xmlns:a16="http://schemas.microsoft.com/office/drawing/2014/main" val="2079070694"/>
                    </a:ext>
                  </a:extLst>
                </a:gridCol>
                <a:gridCol w="4473840">
                  <a:extLst>
                    <a:ext uri="{9D8B030D-6E8A-4147-A177-3AD203B41FA5}">
                      <a16:colId xmlns:a16="http://schemas.microsoft.com/office/drawing/2014/main" val="32595803"/>
                    </a:ext>
                  </a:extLst>
                </a:gridCol>
              </a:tblGrid>
              <a:tr h="312906">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7596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SERIAL_CLK_LOW</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determine the number of MCLK of V</a:t>
                      </a:r>
                      <a:r>
                        <a:rPr lang="en-US" altLang="ko-KR" sz="900" b="0" baseline="-25000" dirty="0">
                          <a:solidFill>
                            <a:schemeClr val="tx1"/>
                          </a:solidFill>
                          <a:latin typeface="Arial" panose="020B0604020202020204" pitchFamily="34" charset="0"/>
                          <a:ea typeface="+mn-ea"/>
                          <a:cs typeface="Arial" panose="020B0604020202020204" pitchFamily="34" charset="0"/>
                        </a:rPr>
                        <a:t>DD</a:t>
                      </a:r>
                      <a:r>
                        <a:rPr lang="en-US" altLang="ko-KR" sz="900" b="0" dirty="0">
                          <a:solidFill>
                            <a:schemeClr val="tx1"/>
                          </a:solidFill>
                          <a:latin typeface="Arial" panose="020B0604020202020204" pitchFamily="34" charset="0"/>
                          <a:ea typeface="+mn-ea"/>
                          <a:cs typeface="Arial" panose="020B0604020202020204" pitchFamily="34" charset="0"/>
                        </a:rPr>
                        <a:t> level in logic low value ‘0’ or the number of MCLK of 0 level in logic high value ‘1’ when the XD12 is driving the D</a:t>
                      </a:r>
                      <a:r>
                        <a:rPr lang="en-US" altLang="ko-KR" sz="900" b="0" baseline="-25000" dirty="0">
                          <a:solidFill>
                            <a:schemeClr val="tx1"/>
                          </a:solidFill>
                          <a:latin typeface="Arial" panose="020B0604020202020204" pitchFamily="34" charset="0"/>
                          <a:ea typeface="+mn-ea"/>
                          <a:cs typeface="Arial" panose="020B0604020202020204" pitchFamily="34" charset="0"/>
                        </a:rPr>
                        <a:t>IO</a:t>
                      </a:r>
                      <a:r>
                        <a:rPr lang="en-US" altLang="ko-KR" sz="900" b="0" dirty="0">
                          <a:solidFill>
                            <a:schemeClr val="tx1"/>
                          </a:solidFill>
                          <a:latin typeface="Arial" panose="020B0604020202020204" pitchFamily="34" charset="0"/>
                          <a:ea typeface="+mn-ea"/>
                          <a:cs typeface="Arial" panose="020B0604020202020204" pitchFamily="34" charset="0"/>
                        </a:rPr>
                        <a:t> pin on read-back. For more details, refer to Table. 4, Logic low time.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341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SERIAL_CLK_HIGH</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determine the number of MCLK of V</a:t>
                      </a:r>
                      <a:r>
                        <a:rPr lang="en-US" altLang="ko-KR" sz="900" b="0" baseline="-25000" dirty="0">
                          <a:solidFill>
                            <a:schemeClr val="tx1"/>
                          </a:solidFill>
                          <a:latin typeface="Arial" panose="020B0604020202020204" pitchFamily="34" charset="0"/>
                          <a:ea typeface="+mn-ea"/>
                          <a:cs typeface="Arial" panose="020B0604020202020204" pitchFamily="34" charset="0"/>
                        </a:rPr>
                        <a:t>DD</a:t>
                      </a:r>
                      <a:r>
                        <a:rPr lang="en-US" altLang="ko-KR" sz="900" b="0" dirty="0">
                          <a:solidFill>
                            <a:schemeClr val="tx1"/>
                          </a:solidFill>
                          <a:latin typeface="Arial" panose="020B0604020202020204" pitchFamily="34" charset="0"/>
                          <a:ea typeface="+mn-ea"/>
                          <a:cs typeface="Arial" panose="020B0604020202020204" pitchFamily="34" charset="0"/>
                        </a:rPr>
                        <a:t> level in logic high value ‘1’ or the number of MCLK of 0 level in logic low value ‘0’ when the XD12 is driving the D</a:t>
                      </a:r>
                      <a:r>
                        <a:rPr lang="en-US" altLang="ko-KR" sz="900" b="0" baseline="-25000" dirty="0">
                          <a:solidFill>
                            <a:schemeClr val="tx1"/>
                          </a:solidFill>
                          <a:latin typeface="Arial" panose="020B0604020202020204" pitchFamily="34" charset="0"/>
                          <a:ea typeface="+mn-ea"/>
                          <a:cs typeface="Arial" panose="020B0604020202020204" pitchFamily="34" charset="0"/>
                        </a:rPr>
                        <a:t>IO</a:t>
                      </a:r>
                      <a:r>
                        <a:rPr lang="en-US" altLang="ko-KR" sz="900" b="0" dirty="0">
                          <a:solidFill>
                            <a:schemeClr val="tx1"/>
                          </a:solidFill>
                          <a:latin typeface="Arial" panose="020B0604020202020204" pitchFamily="34" charset="0"/>
                          <a:ea typeface="+mn-ea"/>
                          <a:cs typeface="Arial" panose="020B0604020202020204" pitchFamily="34" charset="0"/>
                        </a:rPr>
                        <a:t> pin on read-back.  For more details, refer to Table. 4, Logic high time.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bl>
          </a:graphicData>
        </a:graphic>
      </p:graphicFrame>
      <p:graphicFrame>
        <p:nvGraphicFramePr>
          <p:cNvPr id="5" name="표 4">
            <a:extLst>
              <a:ext uri="{FF2B5EF4-FFF2-40B4-BE49-F238E27FC236}">
                <a16:creationId xmlns:a16="http://schemas.microsoft.com/office/drawing/2014/main" id="{98AB6873-C281-B683-0E97-A01B702037EB}"/>
              </a:ext>
            </a:extLst>
          </p:cNvPr>
          <p:cNvGraphicFramePr>
            <a:graphicFrameLocks noGrp="1"/>
          </p:cNvGraphicFramePr>
          <p:nvPr>
            <p:extLst>
              <p:ext uri="{D42A27DB-BD31-4B8C-83A1-F6EECF244321}">
                <p14:modId xmlns:p14="http://schemas.microsoft.com/office/powerpoint/2010/main" val="1456906259"/>
              </p:ext>
            </p:extLst>
          </p:nvPr>
        </p:nvGraphicFramePr>
        <p:xfrm>
          <a:off x="404002" y="1130955"/>
          <a:ext cx="6048613" cy="372600"/>
        </p:xfrm>
        <a:graphic>
          <a:graphicData uri="http://schemas.openxmlformats.org/drawingml/2006/table">
            <a:tbl>
              <a:tblPr firstRow="1" bandRow="1">
                <a:tableStyleId>{5C22544A-7EE6-4342-B048-85BDC9FD1C3A}</a:tableStyleId>
              </a:tblPr>
              <a:tblGrid>
                <a:gridCol w="279048">
                  <a:extLst>
                    <a:ext uri="{9D8B030D-6E8A-4147-A177-3AD203B41FA5}">
                      <a16:colId xmlns:a16="http://schemas.microsoft.com/office/drawing/2014/main" val="657570846"/>
                    </a:ext>
                  </a:extLst>
                </a:gridCol>
                <a:gridCol w="322418">
                  <a:extLst>
                    <a:ext uri="{9D8B030D-6E8A-4147-A177-3AD203B41FA5}">
                      <a16:colId xmlns:a16="http://schemas.microsoft.com/office/drawing/2014/main" val="3259894497"/>
                    </a:ext>
                  </a:extLst>
                </a:gridCol>
                <a:gridCol w="425675">
                  <a:extLst>
                    <a:ext uri="{9D8B030D-6E8A-4147-A177-3AD203B41FA5}">
                      <a16:colId xmlns:a16="http://schemas.microsoft.com/office/drawing/2014/main" val="4170535043"/>
                    </a:ext>
                  </a:extLst>
                </a:gridCol>
                <a:gridCol w="418456">
                  <a:extLst>
                    <a:ext uri="{9D8B030D-6E8A-4147-A177-3AD203B41FA5}">
                      <a16:colId xmlns:a16="http://schemas.microsoft.com/office/drawing/2014/main" val="2079070694"/>
                    </a:ext>
                  </a:extLst>
                </a:gridCol>
                <a:gridCol w="418456">
                  <a:extLst>
                    <a:ext uri="{9D8B030D-6E8A-4147-A177-3AD203B41FA5}">
                      <a16:colId xmlns:a16="http://schemas.microsoft.com/office/drawing/2014/main" val="4213315911"/>
                    </a:ext>
                  </a:extLst>
                </a:gridCol>
                <a:gridCol w="418456">
                  <a:extLst>
                    <a:ext uri="{9D8B030D-6E8A-4147-A177-3AD203B41FA5}">
                      <a16:colId xmlns:a16="http://schemas.microsoft.com/office/drawing/2014/main" val="2769999950"/>
                    </a:ext>
                  </a:extLst>
                </a:gridCol>
                <a:gridCol w="418456">
                  <a:extLst>
                    <a:ext uri="{9D8B030D-6E8A-4147-A177-3AD203B41FA5}">
                      <a16:colId xmlns:a16="http://schemas.microsoft.com/office/drawing/2014/main" val="135637185"/>
                    </a:ext>
                  </a:extLst>
                </a:gridCol>
                <a:gridCol w="418456">
                  <a:extLst>
                    <a:ext uri="{9D8B030D-6E8A-4147-A177-3AD203B41FA5}">
                      <a16:colId xmlns:a16="http://schemas.microsoft.com/office/drawing/2014/main" val="3038050475"/>
                    </a:ext>
                  </a:extLst>
                </a:gridCol>
                <a:gridCol w="418456">
                  <a:extLst>
                    <a:ext uri="{9D8B030D-6E8A-4147-A177-3AD203B41FA5}">
                      <a16:colId xmlns:a16="http://schemas.microsoft.com/office/drawing/2014/main" val="1979433044"/>
                    </a:ext>
                  </a:extLst>
                </a:gridCol>
                <a:gridCol w="418456">
                  <a:extLst>
                    <a:ext uri="{9D8B030D-6E8A-4147-A177-3AD203B41FA5}">
                      <a16:colId xmlns:a16="http://schemas.microsoft.com/office/drawing/2014/main" val="4270661649"/>
                    </a:ext>
                  </a:extLst>
                </a:gridCol>
                <a:gridCol w="418456">
                  <a:extLst>
                    <a:ext uri="{9D8B030D-6E8A-4147-A177-3AD203B41FA5}">
                      <a16:colId xmlns:a16="http://schemas.microsoft.com/office/drawing/2014/main" val="3027041370"/>
                    </a:ext>
                  </a:extLst>
                </a:gridCol>
                <a:gridCol w="418456">
                  <a:extLst>
                    <a:ext uri="{9D8B030D-6E8A-4147-A177-3AD203B41FA5}">
                      <a16:colId xmlns:a16="http://schemas.microsoft.com/office/drawing/2014/main" val="2852526216"/>
                    </a:ext>
                  </a:extLst>
                </a:gridCol>
                <a:gridCol w="418456">
                  <a:extLst>
                    <a:ext uri="{9D8B030D-6E8A-4147-A177-3AD203B41FA5}">
                      <a16:colId xmlns:a16="http://schemas.microsoft.com/office/drawing/2014/main" val="103420222"/>
                    </a:ext>
                  </a:extLst>
                </a:gridCol>
                <a:gridCol w="418456">
                  <a:extLst>
                    <a:ext uri="{9D8B030D-6E8A-4147-A177-3AD203B41FA5}">
                      <a16:colId xmlns:a16="http://schemas.microsoft.com/office/drawing/2014/main" val="1470405609"/>
                    </a:ext>
                  </a:extLst>
                </a:gridCol>
                <a:gridCol w="41845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0x1CE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SERIAL_CLK_LOW [5:0]</a:t>
                      </a:r>
                      <a:endParaRPr lang="ko-KR" altLang="en-US" sz="700" b="0" dirty="0">
                        <a:solidFill>
                          <a:schemeClr val="tx1"/>
                        </a:solidFill>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SERIAL_CLK_HIGH [5:0]</a:t>
                      </a:r>
                      <a:endParaRPr lang="ko-KR" altLang="en-US" sz="700" b="0" dirty="0">
                        <a:solidFill>
                          <a:schemeClr val="tx1"/>
                        </a:solidFill>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4" name="표 13">
            <a:extLst>
              <a:ext uri="{FF2B5EF4-FFF2-40B4-BE49-F238E27FC236}">
                <a16:creationId xmlns:a16="http://schemas.microsoft.com/office/drawing/2014/main" id="{8AD3EA15-58E1-41FF-5A78-985BC04FB5BF}"/>
              </a:ext>
            </a:extLst>
          </p:cNvPr>
          <p:cNvGraphicFramePr>
            <a:graphicFrameLocks noGrp="1"/>
          </p:cNvGraphicFramePr>
          <p:nvPr>
            <p:extLst>
              <p:ext uri="{D42A27DB-BD31-4B8C-83A1-F6EECF244321}">
                <p14:modId xmlns:p14="http://schemas.microsoft.com/office/powerpoint/2010/main" val="844147753"/>
              </p:ext>
            </p:extLst>
          </p:nvPr>
        </p:nvGraphicFramePr>
        <p:xfrm>
          <a:off x="382321" y="4056857"/>
          <a:ext cx="6084395" cy="1330273"/>
        </p:xfrm>
        <a:graphic>
          <a:graphicData uri="http://schemas.openxmlformats.org/drawingml/2006/table">
            <a:tbl>
              <a:tblPr firstRow="1" bandRow="1">
                <a:tableStyleId>{5C22544A-7EE6-4342-B048-85BDC9FD1C3A}</a:tableStyleId>
              </a:tblPr>
              <a:tblGrid>
                <a:gridCol w="439749">
                  <a:extLst>
                    <a:ext uri="{9D8B030D-6E8A-4147-A177-3AD203B41FA5}">
                      <a16:colId xmlns:a16="http://schemas.microsoft.com/office/drawing/2014/main" val="4170535043"/>
                    </a:ext>
                  </a:extLst>
                </a:gridCol>
                <a:gridCol w="1152272">
                  <a:extLst>
                    <a:ext uri="{9D8B030D-6E8A-4147-A177-3AD203B41FA5}">
                      <a16:colId xmlns:a16="http://schemas.microsoft.com/office/drawing/2014/main" val="2079070694"/>
                    </a:ext>
                  </a:extLst>
                </a:gridCol>
                <a:gridCol w="4492374">
                  <a:extLst>
                    <a:ext uri="{9D8B030D-6E8A-4147-A177-3AD203B41FA5}">
                      <a16:colId xmlns:a16="http://schemas.microsoft.com/office/drawing/2014/main" val="32595803"/>
                    </a:ext>
                  </a:extLst>
                </a:gridCol>
              </a:tblGrid>
              <a:tr h="298153">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7819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SERIAL_LATENCY</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interval time between the successive data packets incoming from the XC. That means the interval time between the last bit of n</a:t>
                      </a:r>
                      <a:r>
                        <a:rPr lang="en-US" altLang="ko-KR" sz="900" b="0" baseline="30000" dirty="0">
                          <a:solidFill>
                            <a:schemeClr val="tx1"/>
                          </a:solidFill>
                          <a:latin typeface="Arial" panose="020B0604020202020204" pitchFamily="34" charset="0"/>
                          <a:ea typeface="+mn-ea"/>
                          <a:cs typeface="Arial" panose="020B0604020202020204" pitchFamily="34" charset="0"/>
                        </a:rPr>
                        <a:t>th</a:t>
                      </a:r>
                      <a:r>
                        <a:rPr lang="en-US" altLang="ko-KR" sz="900" b="0" dirty="0">
                          <a:solidFill>
                            <a:schemeClr val="tx1"/>
                          </a:solidFill>
                          <a:latin typeface="Arial" panose="020B0604020202020204" pitchFamily="34" charset="0"/>
                          <a:ea typeface="+mn-ea"/>
                          <a:cs typeface="Arial" panose="020B0604020202020204" pitchFamily="34" charset="0"/>
                        </a:rPr>
                        <a:t> XD device’s data packet and the first bit of (n+1)</a:t>
                      </a:r>
                      <a:r>
                        <a:rPr lang="en-US" altLang="ko-KR" sz="900" b="0" baseline="30000" dirty="0">
                          <a:solidFill>
                            <a:schemeClr val="tx1"/>
                          </a:solidFill>
                          <a:latin typeface="Arial" panose="020B0604020202020204" pitchFamily="34" charset="0"/>
                          <a:ea typeface="+mn-ea"/>
                          <a:cs typeface="Arial" panose="020B0604020202020204" pitchFamily="34" charset="0"/>
                        </a:rPr>
                        <a:t>th</a:t>
                      </a:r>
                      <a:r>
                        <a:rPr lang="en-US" altLang="ko-KR" sz="900" b="0" dirty="0">
                          <a:solidFill>
                            <a:schemeClr val="tx1"/>
                          </a:solidFill>
                          <a:latin typeface="Arial" panose="020B0604020202020204" pitchFamily="34" charset="0"/>
                          <a:ea typeface="+mn-ea"/>
                          <a:cs typeface="Arial" panose="020B0604020202020204" pitchFamily="34" charset="0"/>
                        </a:rPr>
                        <a:t> XD device’s data packet incoming from the XC. The setting value should be larger than the 1-bit serial data length time at which the XC is sending to the daisied XDs. So, the proper value depends on the serial baudrate of the XC and can be set between (1-bit time + 3 MCLKs) and (1-bit time + 5 MCLKs). If the proper value will be set, then the serial data value will be broken.</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1665195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09B56D3-A1E6-0BF0-F524-22950314FD50}"/>
              </a:ext>
            </a:extLst>
          </p:cNvPr>
          <p:cNvSpPr txBox="1"/>
          <p:nvPr/>
        </p:nvSpPr>
        <p:spPr>
          <a:xfrm>
            <a:off x="404562" y="3198616"/>
            <a:ext cx="6048612" cy="261610"/>
          </a:xfrm>
          <a:prstGeom prst="rect">
            <a:avLst/>
          </a:prstGeom>
          <a:noFill/>
        </p:spPr>
        <p:txBody>
          <a:bodyPr wrap="square" lIns="0" rtlCol="0">
            <a:spAutoFit/>
          </a:bodyPr>
          <a:lstStyle/>
          <a:p>
            <a:r>
              <a:rPr lang="en-US" altLang="ko-KR" sz="1100" b="1" dirty="0">
                <a:solidFill>
                  <a:schemeClr val="bg1">
                    <a:lumMod val="75000"/>
                  </a:schemeClr>
                </a:solidFill>
                <a:latin typeface="Arial" panose="020B0604020202020204" pitchFamily="34" charset="0"/>
                <a:cs typeface="Arial" panose="020B0604020202020204" pitchFamily="34" charset="0"/>
              </a:rPr>
              <a:t>MCLK LOCK</a:t>
            </a:r>
          </a:p>
        </p:txBody>
      </p:sp>
      <p:graphicFrame>
        <p:nvGraphicFramePr>
          <p:cNvPr id="7" name="표 6">
            <a:extLst>
              <a:ext uri="{FF2B5EF4-FFF2-40B4-BE49-F238E27FC236}">
                <a16:creationId xmlns:a16="http://schemas.microsoft.com/office/drawing/2014/main" id="{48A8FF4F-56C0-AD0F-DC5D-83EF91DACFA8}"/>
              </a:ext>
            </a:extLst>
          </p:cNvPr>
          <p:cNvGraphicFramePr>
            <a:graphicFrameLocks noGrp="1"/>
          </p:cNvGraphicFramePr>
          <p:nvPr>
            <p:extLst>
              <p:ext uri="{D42A27DB-BD31-4B8C-83A1-F6EECF244321}">
                <p14:modId xmlns:p14="http://schemas.microsoft.com/office/powerpoint/2010/main" val="3863707790"/>
              </p:ext>
            </p:extLst>
          </p:nvPr>
        </p:nvGraphicFramePr>
        <p:xfrm>
          <a:off x="399453" y="4329356"/>
          <a:ext cx="6059464" cy="1804548"/>
        </p:xfrm>
        <a:graphic>
          <a:graphicData uri="http://schemas.openxmlformats.org/drawingml/2006/table">
            <a:tbl>
              <a:tblPr firstRow="1" bandRow="1">
                <a:tableStyleId>{5C22544A-7EE6-4342-B048-85BDC9FD1C3A}</a:tableStyleId>
              </a:tblPr>
              <a:tblGrid>
                <a:gridCol w="442184">
                  <a:extLst>
                    <a:ext uri="{9D8B030D-6E8A-4147-A177-3AD203B41FA5}">
                      <a16:colId xmlns:a16="http://schemas.microsoft.com/office/drawing/2014/main" val="4170535043"/>
                    </a:ext>
                  </a:extLst>
                </a:gridCol>
                <a:gridCol w="963198">
                  <a:extLst>
                    <a:ext uri="{9D8B030D-6E8A-4147-A177-3AD203B41FA5}">
                      <a16:colId xmlns:a16="http://schemas.microsoft.com/office/drawing/2014/main" val="2079070694"/>
                    </a:ext>
                  </a:extLst>
                </a:gridCol>
                <a:gridCol w="4654082">
                  <a:extLst>
                    <a:ext uri="{9D8B030D-6E8A-4147-A177-3AD203B41FA5}">
                      <a16:colId xmlns:a16="http://schemas.microsoft.com/office/drawing/2014/main" val="32595803"/>
                    </a:ext>
                  </a:extLst>
                </a:gridCol>
              </a:tblGrid>
              <a:tr h="243298">
                <a:tc>
                  <a:txBody>
                    <a:bodyPr/>
                    <a:lstStyle/>
                    <a:p>
                      <a:pPr algn="l" latinLnBrk="1"/>
                      <a:r>
                        <a:rPr lang="en-US" altLang="ko-KR" sz="900" b="1" dirty="0">
                          <a:solidFill>
                            <a:schemeClr val="bg1">
                              <a:lumMod val="75000"/>
                            </a:schemeClr>
                          </a:solidFill>
                          <a:latin typeface="Arial" panose="020B0604020202020204" pitchFamily="34" charset="0"/>
                          <a:ea typeface="+mn-ea"/>
                          <a:cs typeface="Arial" panose="020B0604020202020204" pitchFamily="34" charset="0"/>
                        </a:rPr>
                        <a:t>Bits</a:t>
                      </a:r>
                      <a:endParaRPr lang="ko-KR" altLang="en-US" sz="900" b="1"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bg1">
                              <a:lumMod val="75000"/>
                            </a:schemeClr>
                          </a:solidFill>
                          <a:latin typeface="Arial" panose="020B0604020202020204" pitchFamily="34" charset="0"/>
                          <a:ea typeface="+mn-ea"/>
                          <a:cs typeface="Arial" panose="020B0604020202020204" pitchFamily="34" charset="0"/>
                        </a:rPr>
                        <a:t>Fields</a:t>
                      </a:r>
                      <a:endParaRPr lang="ko-KR" altLang="en-US" sz="900" b="1"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bg1">
                              <a:lumMod val="75000"/>
                            </a:schemeClr>
                          </a:solidFill>
                          <a:latin typeface="Arial" panose="020B0604020202020204" pitchFamily="34" charset="0"/>
                          <a:ea typeface="+mn-ea"/>
                          <a:cs typeface="Arial" panose="020B0604020202020204" pitchFamily="34" charset="0"/>
                        </a:rPr>
                        <a:t>Descriptions</a:t>
                      </a:r>
                      <a:endParaRPr lang="ko-KR" altLang="en-US" sz="900" b="1"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7615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bg1">
                              <a:lumMod val="75000"/>
                            </a:schemeClr>
                          </a:solidFill>
                          <a:latin typeface="Arial" panose="020B0604020202020204" pitchFamily="34" charset="0"/>
                          <a:ea typeface="+mn-ea"/>
                          <a:cs typeface="Arial" panose="020B0604020202020204" pitchFamily="34" charset="0"/>
                        </a:rPr>
                        <a:t>11</a:t>
                      </a:r>
                      <a:endParaRPr lang="ko-KR" altLang="en-US" sz="9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bg1">
                              <a:lumMod val="75000"/>
                            </a:schemeClr>
                          </a:solidFill>
                          <a:latin typeface="Arial" panose="020B0604020202020204" pitchFamily="34" charset="0"/>
                          <a:ea typeface="+mn-ea"/>
                          <a:cs typeface="Arial" panose="020B0604020202020204" pitchFamily="34" charset="0"/>
                        </a:rPr>
                        <a:t>MCLK_LOCK_E</a:t>
                      </a:r>
                      <a:endParaRPr lang="ko-KR" altLang="en-US" sz="9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bg1">
                              <a:lumMod val="75000"/>
                            </a:schemeClr>
                          </a:solidFill>
                          <a:latin typeface="Arial" panose="020B0604020202020204" pitchFamily="34" charset="0"/>
                          <a:ea typeface="+mn-ea"/>
                          <a:cs typeface="Arial" panose="020B0604020202020204" pitchFamily="34" charset="0"/>
                        </a:rPr>
                        <a:t>The MCLK LOCK function is used to calibrate the internal oscillator (=MCLK) to a target frequency owing to the temperature variation in a real-time, but for use, the exact period of </a:t>
                      </a:r>
                      <a:r>
                        <a:rPr lang="en-US" altLang="ko-KR" sz="900" b="0" i="0" dirty="0">
                          <a:solidFill>
                            <a:schemeClr val="bg1">
                              <a:lumMod val="75000"/>
                            </a:schemeClr>
                          </a:solidFill>
                          <a:latin typeface="Arial" panose="020B0604020202020204" pitchFamily="34" charset="0"/>
                          <a:ea typeface="+mn-ea"/>
                          <a:cs typeface="Arial" panose="020B0604020202020204" pitchFamily="34" charset="0"/>
                        </a:rPr>
                        <a:t>SYNC commands must be continuously supplied to a XD. It should be careful that this bit must be cleared to 0 when changing the frame period, 100↔120hz, or free-sync mode especially</a:t>
                      </a:r>
                      <a:r>
                        <a:rPr lang="en-US" altLang="ko-KR" sz="900" b="0" dirty="0">
                          <a:solidFill>
                            <a:schemeClr val="bg1">
                              <a:lumMod val="75000"/>
                            </a:schemeClr>
                          </a:solidFill>
                          <a:latin typeface="Arial" panose="020B0604020202020204" pitchFamily="34" charset="0"/>
                          <a:ea typeface="+mn-ea"/>
                          <a:cs typeface="Arial" panose="020B0604020202020204" pitchFamily="34" charset="0"/>
                        </a:rPr>
                        <a:t>. </a:t>
                      </a:r>
                      <a:r>
                        <a:rPr lang="en-US" altLang="ko-KR" sz="900" b="0" i="1" kern="1200" dirty="0">
                          <a:solidFill>
                            <a:schemeClr val="bg1">
                              <a:lumMod val="75000"/>
                            </a:schemeClr>
                          </a:solidFill>
                          <a:effectLst/>
                          <a:latin typeface="Arial" panose="020B0604020202020204" pitchFamily="34" charset="0"/>
                          <a:ea typeface="+mn-ea"/>
                          <a:cs typeface="Arial" panose="020B0604020202020204" pitchFamily="34" charset="0"/>
                        </a:rPr>
                        <a:t>This bit should only be used when the SYNC command intervals are regular. </a:t>
                      </a:r>
                      <a:r>
                        <a:rPr lang="en-US" altLang="ko-KR" sz="900" b="0" i="0" kern="1200" dirty="0">
                          <a:solidFill>
                            <a:schemeClr val="bg1">
                              <a:lumMod val="75000"/>
                            </a:schemeClr>
                          </a:solidFill>
                          <a:effectLst/>
                          <a:latin typeface="Arial" panose="020B0604020202020204" pitchFamily="34" charset="0"/>
                          <a:ea typeface="+mn-ea"/>
                          <a:cs typeface="Arial" panose="020B0604020202020204" pitchFamily="34" charset="0"/>
                        </a:rPr>
                        <a:t>This bit value will be refreshed with a written value at every internal vsync signal.</a:t>
                      </a:r>
                      <a:endParaRPr lang="en-US" altLang="ko-KR" sz="900" b="0" i="1" kern="1200" dirty="0">
                        <a:solidFill>
                          <a:schemeClr val="bg1">
                            <a:lumMod val="75000"/>
                          </a:schemeClr>
                        </a:solidFill>
                        <a:effectLst/>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bg1">
                              <a:lumMod val="75000"/>
                            </a:schemeClr>
                          </a:solidFill>
                          <a:latin typeface="Arial" panose="020B0604020202020204" pitchFamily="34" charset="0"/>
                          <a:ea typeface="+mn-ea"/>
                          <a:cs typeface="Arial" panose="020B0604020202020204" pitchFamily="34" charset="0"/>
                        </a:rPr>
                        <a:t>0   MCLK_LOCK function disabled</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bg1">
                              <a:lumMod val="75000"/>
                            </a:schemeClr>
                          </a:solidFill>
                          <a:latin typeface="Arial" panose="020B0604020202020204" pitchFamily="34" charset="0"/>
                          <a:ea typeface="+mn-ea"/>
                          <a:cs typeface="Arial" panose="020B0604020202020204" pitchFamily="34" charset="0"/>
                        </a:rPr>
                        <a:t>1   MCLK_LOCK function enabled</a:t>
                      </a:r>
                      <a:endParaRPr lang="ko-KR" altLang="en-US" sz="9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9197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bg1">
                              <a:lumMod val="75000"/>
                            </a:schemeClr>
                          </a:solidFill>
                          <a:latin typeface="Arial" panose="020B0604020202020204" pitchFamily="34" charset="0"/>
                          <a:ea typeface="+mn-ea"/>
                          <a:cs typeface="Arial" panose="020B0604020202020204" pitchFamily="34" charset="0"/>
                        </a:rPr>
                        <a:t>19:0</a:t>
                      </a:r>
                      <a:endParaRPr lang="ko-KR" altLang="en-US" sz="9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bg1">
                              <a:lumMod val="75000"/>
                            </a:schemeClr>
                          </a:solidFill>
                          <a:latin typeface="Arial" panose="020B0604020202020204" pitchFamily="34" charset="0"/>
                          <a:ea typeface="+mn-ea"/>
                          <a:cs typeface="Arial" panose="020B0604020202020204" pitchFamily="34" charset="0"/>
                        </a:rPr>
                        <a:t>MCLK_LOCK</a:t>
                      </a:r>
                      <a:endParaRPr lang="ko-KR" altLang="en-US" sz="9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bg1">
                              <a:lumMod val="75000"/>
                            </a:schemeClr>
                          </a:solidFill>
                          <a:latin typeface="Arial" panose="020B0604020202020204" pitchFamily="34" charset="0"/>
                          <a:ea typeface="+mn-ea"/>
                          <a:cs typeface="Arial" panose="020B0604020202020204" pitchFamily="34" charset="0"/>
                        </a:rPr>
                        <a:t>The value determines the number of MCLKs between the SYNC commands.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bg1">
                              <a:lumMod val="75000"/>
                            </a:schemeClr>
                          </a:solidFill>
                          <a:latin typeface="Arial" panose="020B0604020202020204" pitchFamily="34" charset="0"/>
                          <a:ea typeface="+mn-ea"/>
                          <a:cs typeface="Arial" panose="020B0604020202020204" pitchFamily="34" charset="0"/>
                        </a:rPr>
                        <a:t>    = SYNC command period (=frame period) / MCLK</a:t>
                      </a:r>
                      <a:endParaRPr lang="ko-KR" altLang="en-US" sz="9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1420319"/>
                  </a:ext>
                </a:extLst>
              </a:tr>
            </a:tbl>
          </a:graphicData>
        </a:graphic>
      </p:graphicFrame>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2FCD335A-0277-A41A-A7F2-5CBC9C44750A}"/>
              </a:ext>
            </a:extLst>
          </p:cNvPr>
          <p:cNvSpPr txBox="1"/>
          <p:nvPr/>
        </p:nvSpPr>
        <p:spPr>
          <a:xfrm>
            <a:off x="410308" y="6440604"/>
            <a:ext cx="6042258" cy="261610"/>
          </a:xfrm>
          <a:prstGeom prst="rect">
            <a:avLst/>
          </a:prstGeom>
          <a:noFill/>
        </p:spPr>
        <p:txBody>
          <a:bodyPr wrap="square" lIns="0" rtlCol="0">
            <a:spAutoFit/>
          </a:bodyPr>
          <a:lstStyle/>
          <a:p>
            <a:r>
              <a:rPr lang="en-US" altLang="ko-KR" sz="1100" b="1" dirty="0">
                <a:solidFill>
                  <a:schemeClr val="bg1">
                    <a:lumMod val="75000"/>
                  </a:schemeClr>
                </a:solidFill>
                <a:latin typeface="Arial" panose="020B0604020202020204" pitchFamily="34" charset="0"/>
                <a:cs typeface="Arial" panose="020B0604020202020204" pitchFamily="34" charset="0"/>
              </a:rPr>
              <a:t>OSC COMPENSATION</a:t>
            </a:r>
          </a:p>
        </p:txBody>
      </p:sp>
      <p:graphicFrame>
        <p:nvGraphicFramePr>
          <p:cNvPr id="15" name="표 14">
            <a:extLst>
              <a:ext uri="{FF2B5EF4-FFF2-40B4-BE49-F238E27FC236}">
                <a16:creationId xmlns:a16="http://schemas.microsoft.com/office/drawing/2014/main" id="{2E2D76C7-6056-18D7-2156-FEFD22AD04AD}"/>
              </a:ext>
            </a:extLst>
          </p:cNvPr>
          <p:cNvGraphicFramePr>
            <a:graphicFrameLocks noGrp="1"/>
          </p:cNvGraphicFramePr>
          <p:nvPr>
            <p:extLst>
              <p:ext uri="{D42A27DB-BD31-4B8C-83A1-F6EECF244321}">
                <p14:modId xmlns:p14="http://schemas.microsoft.com/office/powerpoint/2010/main" val="891734467"/>
              </p:ext>
            </p:extLst>
          </p:nvPr>
        </p:nvGraphicFramePr>
        <p:xfrm>
          <a:off x="403956" y="7131594"/>
          <a:ext cx="6054962" cy="1351837"/>
        </p:xfrm>
        <a:graphic>
          <a:graphicData uri="http://schemas.openxmlformats.org/drawingml/2006/table">
            <a:tbl>
              <a:tblPr firstRow="1" bandRow="1">
                <a:tableStyleId>{5C22544A-7EE6-4342-B048-85BDC9FD1C3A}</a:tableStyleId>
              </a:tblPr>
              <a:tblGrid>
                <a:gridCol w="435601">
                  <a:extLst>
                    <a:ext uri="{9D8B030D-6E8A-4147-A177-3AD203B41FA5}">
                      <a16:colId xmlns:a16="http://schemas.microsoft.com/office/drawing/2014/main" val="4170535043"/>
                    </a:ext>
                  </a:extLst>
                </a:gridCol>
                <a:gridCol w="1030713">
                  <a:extLst>
                    <a:ext uri="{9D8B030D-6E8A-4147-A177-3AD203B41FA5}">
                      <a16:colId xmlns:a16="http://schemas.microsoft.com/office/drawing/2014/main" val="2079070694"/>
                    </a:ext>
                  </a:extLst>
                </a:gridCol>
                <a:gridCol w="4588648">
                  <a:extLst>
                    <a:ext uri="{9D8B030D-6E8A-4147-A177-3AD203B41FA5}">
                      <a16:colId xmlns:a16="http://schemas.microsoft.com/office/drawing/2014/main" val="32595803"/>
                    </a:ext>
                  </a:extLst>
                </a:gridCol>
              </a:tblGrid>
              <a:tr h="247717">
                <a:tc>
                  <a:txBody>
                    <a:bodyPr/>
                    <a:lstStyle/>
                    <a:p>
                      <a:pPr algn="l" latinLnBrk="1"/>
                      <a:r>
                        <a:rPr lang="en-US" altLang="ko-KR" sz="900" b="1" dirty="0">
                          <a:solidFill>
                            <a:schemeClr val="bg1">
                              <a:lumMod val="75000"/>
                            </a:schemeClr>
                          </a:solidFill>
                          <a:latin typeface="Arial" panose="020B0604020202020204" pitchFamily="34" charset="0"/>
                          <a:ea typeface="+mn-ea"/>
                          <a:cs typeface="Arial" panose="020B0604020202020204" pitchFamily="34" charset="0"/>
                        </a:rPr>
                        <a:t>Bits</a:t>
                      </a:r>
                      <a:endParaRPr lang="ko-KR" altLang="en-US" sz="900" b="1"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bg1">
                              <a:lumMod val="75000"/>
                            </a:schemeClr>
                          </a:solidFill>
                          <a:latin typeface="Arial" panose="020B0604020202020204" pitchFamily="34" charset="0"/>
                          <a:ea typeface="+mn-ea"/>
                          <a:cs typeface="Arial" panose="020B0604020202020204" pitchFamily="34" charset="0"/>
                        </a:rPr>
                        <a:t>Fields</a:t>
                      </a:r>
                      <a:endParaRPr lang="ko-KR" altLang="en-US" sz="900" b="1"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bg1">
                              <a:lumMod val="75000"/>
                            </a:schemeClr>
                          </a:solidFill>
                          <a:latin typeface="Arial" panose="020B0604020202020204" pitchFamily="34" charset="0"/>
                          <a:ea typeface="+mn-ea"/>
                          <a:cs typeface="Arial" panose="020B0604020202020204" pitchFamily="34" charset="0"/>
                        </a:rPr>
                        <a:t>Descriptions</a:t>
                      </a:r>
                      <a:endParaRPr lang="ko-KR" altLang="en-US" sz="900" b="1"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5340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bg1">
                              <a:lumMod val="75000"/>
                            </a:schemeClr>
                          </a:solidFill>
                          <a:latin typeface="Arial" panose="020B0604020202020204" pitchFamily="34" charset="0"/>
                          <a:ea typeface="+mn-ea"/>
                          <a:cs typeface="Arial" panose="020B0604020202020204" pitchFamily="34" charset="0"/>
                        </a:rPr>
                        <a:t>11</a:t>
                      </a:r>
                      <a:endParaRPr lang="ko-KR" altLang="en-US" sz="9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bg1">
                              <a:lumMod val="75000"/>
                            </a:schemeClr>
                          </a:solidFill>
                          <a:latin typeface="Arial" panose="020B0604020202020204" pitchFamily="34" charset="0"/>
                          <a:ea typeface="+mn-ea"/>
                          <a:cs typeface="Arial" panose="020B0604020202020204" pitchFamily="34" charset="0"/>
                        </a:rPr>
                        <a:t>OSC_POL</a:t>
                      </a:r>
                      <a:endParaRPr lang="ko-KR" altLang="en-US" sz="9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bg1">
                              <a:lumMod val="75000"/>
                            </a:schemeClr>
                          </a:solidFill>
                          <a:latin typeface="Arial" panose="020B0604020202020204" pitchFamily="34" charset="0"/>
                          <a:ea typeface="+mn-ea"/>
                          <a:cs typeface="Arial" panose="020B0604020202020204" pitchFamily="34" charset="0"/>
                        </a:rPr>
                        <a:t>The compensation polarity</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bg1">
                              <a:lumMod val="75000"/>
                            </a:schemeClr>
                          </a:solidFill>
                          <a:latin typeface="Arial" panose="020B0604020202020204" pitchFamily="34" charset="0"/>
                          <a:ea typeface="+mn-ea"/>
                          <a:cs typeface="Arial" panose="020B0604020202020204" pitchFamily="34" charset="0"/>
                        </a:rPr>
                        <a:t>0   Positive characteristics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bg1">
                              <a:lumMod val="75000"/>
                            </a:schemeClr>
                          </a:solidFill>
                          <a:latin typeface="Arial" panose="020B0604020202020204" pitchFamily="34" charset="0"/>
                          <a:ea typeface="+mn-ea"/>
                          <a:cs typeface="Arial" panose="020B0604020202020204" pitchFamily="34" charset="0"/>
                        </a:rPr>
                        <a:t>1   Negative characteristics</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5920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bg1">
                              <a:lumMod val="75000"/>
                            </a:schemeClr>
                          </a:solidFill>
                          <a:latin typeface="Arial" panose="020B0604020202020204" pitchFamily="34" charset="0"/>
                          <a:ea typeface="+mn-ea"/>
                          <a:cs typeface="Arial" panose="020B0604020202020204" pitchFamily="34" charset="0"/>
                        </a:rPr>
                        <a:t>4:0</a:t>
                      </a:r>
                      <a:endParaRPr lang="ko-KR" altLang="en-US" sz="9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bg1">
                              <a:lumMod val="75000"/>
                            </a:schemeClr>
                          </a:solidFill>
                          <a:latin typeface="Arial" panose="020B0604020202020204" pitchFamily="34" charset="0"/>
                          <a:ea typeface="+mn-ea"/>
                          <a:cs typeface="Arial" panose="020B0604020202020204" pitchFamily="34" charset="0"/>
                        </a:rPr>
                        <a:t>OSC_COMP</a:t>
                      </a:r>
                      <a:endParaRPr lang="ko-KR" altLang="en-US" sz="9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bg1">
                              <a:lumMod val="75000"/>
                            </a:schemeClr>
                          </a:solidFill>
                          <a:latin typeface="Arial" panose="020B0604020202020204" pitchFamily="34" charset="0"/>
                          <a:ea typeface="+mn-ea"/>
                          <a:cs typeface="Arial" panose="020B0604020202020204" pitchFamily="34" charset="0"/>
                        </a:rPr>
                        <a:t>This register is containing the current compensated value during MCLK_LOCK_E=1, and the value will be kept even if the MCLK_LOCK_E becomes disabled. If this register will be written to some value in the middle of working, the compensating start newly from the written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bl>
          </a:graphicData>
        </a:graphic>
      </p:graphicFrame>
      <p:graphicFrame>
        <p:nvGraphicFramePr>
          <p:cNvPr id="6" name="표 5">
            <a:extLst>
              <a:ext uri="{FF2B5EF4-FFF2-40B4-BE49-F238E27FC236}">
                <a16:creationId xmlns:a16="http://schemas.microsoft.com/office/drawing/2014/main" id="{B74AEC9C-7E5E-C643-C092-A9386D372D49}"/>
              </a:ext>
            </a:extLst>
          </p:cNvPr>
          <p:cNvGraphicFramePr>
            <a:graphicFrameLocks noGrp="1"/>
          </p:cNvGraphicFramePr>
          <p:nvPr>
            <p:extLst>
              <p:ext uri="{D42A27DB-BD31-4B8C-83A1-F6EECF244321}">
                <p14:modId xmlns:p14="http://schemas.microsoft.com/office/powerpoint/2010/main" val="4247852345"/>
              </p:ext>
            </p:extLst>
          </p:nvPr>
        </p:nvGraphicFramePr>
        <p:xfrm>
          <a:off x="403956" y="3466349"/>
          <a:ext cx="6048610" cy="372600"/>
        </p:xfrm>
        <a:graphic>
          <a:graphicData uri="http://schemas.openxmlformats.org/drawingml/2006/table">
            <a:tbl>
              <a:tblPr firstRow="1" bandRow="1">
                <a:tableStyleId>{5C22544A-7EE6-4342-B048-85BDC9FD1C3A}</a:tableStyleId>
              </a:tblPr>
              <a:tblGrid>
                <a:gridCol w="276716">
                  <a:extLst>
                    <a:ext uri="{9D8B030D-6E8A-4147-A177-3AD203B41FA5}">
                      <a16:colId xmlns:a16="http://schemas.microsoft.com/office/drawing/2014/main" val="657570846"/>
                    </a:ext>
                  </a:extLst>
                </a:gridCol>
                <a:gridCol w="326632">
                  <a:extLst>
                    <a:ext uri="{9D8B030D-6E8A-4147-A177-3AD203B41FA5}">
                      <a16:colId xmlns:a16="http://schemas.microsoft.com/office/drawing/2014/main" val="3259894497"/>
                    </a:ext>
                  </a:extLst>
                </a:gridCol>
                <a:gridCol w="421462">
                  <a:extLst>
                    <a:ext uri="{9D8B030D-6E8A-4147-A177-3AD203B41FA5}">
                      <a16:colId xmlns:a16="http://schemas.microsoft.com/office/drawing/2014/main" val="4170535043"/>
                    </a:ext>
                  </a:extLst>
                </a:gridCol>
                <a:gridCol w="418650">
                  <a:extLst>
                    <a:ext uri="{9D8B030D-6E8A-4147-A177-3AD203B41FA5}">
                      <a16:colId xmlns:a16="http://schemas.microsoft.com/office/drawing/2014/main" val="2079070694"/>
                    </a:ext>
                  </a:extLst>
                </a:gridCol>
                <a:gridCol w="418650">
                  <a:extLst>
                    <a:ext uri="{9D8B030D-6E8A-4147-A177-3AD203B41FA5}">
                      <a16:colId xmlns:a16="http://schemas.microsoft.com/office/drawing/2014/main" val="4213315911"/>
                    </a:ext>
                  </a:extLst>
                </a:gridCol>
                <a:gridCol w="418650">
                  <a:extLst>
                    <a:ext uri="{9D8B030D-6E8A-4147-A177-3AD203B41FA5}">
                      <a16:colId xmlns:a16="http://schemas.microsoft.com/office/drawing/2014/main" val="2769999950"/>
                    </a:ext>
                  </a:extLst>
                </a:gridCol>
                <a:gridCol w="418650">
                  <a:extLst>
                    <a:ext uri="{9D8B030D-6E8A-4147-A177-3AD203B41FA5}">
                      <a16:colId xmlns:a16="http://schemas.microsoft.com/office/drawing/2014/main" val="135637185"/>
                    </a:ext>
                  </a:extLst>
                </a:gridCol>
                <a:gridCol w="418650">
                  <a:extLst>
                    <a:ext uri="{9D8B030D-6E8A-4147-A177-3AD203B41FA5}">
                      <a16:colId xmlns:a16="http://schemas.microsoft.com/office/drawing/2014/main" val="3038050475"/>
                    </a:ext>
                  </a:extLst>
                </a:gridCol>
                <a:gridCol w="418650">
                  <a:extLst>
                    <a:ext uri="{9D8B030D-6E8A-4147-A177-3AD203B41FA5}">
                      <a16:colId xmlns:a16="http://schemas.microsoft.com/office/drawing/2014/main" val="1979433044"/>
                    </a:ext>
                  </a:extLst>
                </a:gridCol>
                <a:gridCol w="418650">
                  <a:extLst>
                    <a:ext uri="{9D8B030D-6E8A-4147-A177-3AD203B41FA5}">
                      <a16:colId xmlns:a16="http://schemas.microsoft.com/office/drawing/2014/main" val="4270661649"/>
                    </a:ext>
                  </a:extLst>
                </a:gridCol>
                <a:gridCol w="418650">
                  <a:extLst>
                    <a:ext uri="{9D8B030D-6E8A-4147-A177-3AD203B41FA5}">
                      <a16:colId xmlns:a16="http://schemas.microsoft.com/office/drawing/2014/main" val="3027041370"/>
                    </a:ext>
                  </a:extLst>
                </a:gridCol>
                <a:gridCol w="418650">
                  <a:extLst>
                    <a:ext uri="{9D8B030D-6E8A-4147-A177-3AD203B41FA5}">
                      <a16:colId xmlns:a16="http://schemas.microsoft.com/office/drawing/2014/main" val="2852526216"/>
                    </a:ext>
                  </a:extLst>
                </a:gridCol>
                <a:gridCol w="418650">
                  <a:extLst>
                    <a:ext uri="{9D8B030D-6E8A-4147-A177-3AD203B41FA5}">
                      <a16:colId xmlns:a16="http://schemas.microsoft.com/office/drawing/2014/main" val="103420222"/>
                    </a:ext>
                  </a:extLst>
                </a:gridCol>
                <a:gridCol w="418650">
                  <a:extLst>
                    <a:ext uri="{9D8B030D-6E8A-4147-A177-3AD203B41FA5}">
                      <a16:colId xmlns:a16="http://schemas.microsoft.com/office/drawing/2014/main" val="1470405609"/>
                    </a:ext>
                  </a:extLst>
                </a:gridCol>
                <a:gridCol w="41865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bg1">
                              <a:lumMod val="75000"/>
                            </a:schemeClr>
                          </a:solidFill>
                          <a:latin typeface="Arial" panose="020B0604020202020204" pitchFamily="34" charset="0"/>
                          <a:ea typeface="+mn-ea"/>
                          <a:cs typeface="Arial" panose="020B0604020202020204" pitchFamily="34" charset="0"/>
                        </a:rPr>
                        <a:t>Acc</a:t>
                      </a:r>
                      <a:endParaRPr lang="ko-KR" altLang="en-US" sz="8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bg1">
                              <a:lumMod val="75000"/>
                            </a:schemeClr>
                          </a:solidFill>
                          <a:latin typeface="Arial" panose="020B0604020202020204" pitchFamily="34" charset="0"/>
                          <a:ea typeface="+mn-ea"/>
                          <a:cs typeface="Arial" panose="020B0604020202020204" pitchFamily="34" charset="0"/>
                        </a:rPr>
                        <a:t>Addr</a:t>
                      </a:r>
                      <a:endParaRPr lang="ko-KR" altLang="en-US" sz="8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bg1">
                              <a:lumMod val="75000"/>
                            </a:schemeClr>
                          </a:solidFill>
                          <a:latin typeface="Arial" panose="020B0604020202020204" pitchFamily="34" charset="0"/>
                          <a:ea typeface="+mn-ea"/>
                          <a:cs typeface="Arial" panose="020B0604020202020204" pitchFamily="34" charset="0"/>
                        </a:rPr>
                        <a:t>Default</a:t>
                      </a:r>
                      <a:endParaRPr lang="ko-KR" altLang="en-US" sz="8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bg1">
                              <a:lumMod val="75000"/>
                            </a:schemeClr>
                          </a:solidFill>
                          <a:latin typeface="Arial" panose="020B0604020202020204" pitchFamily="34" charset="0"/>
                          <a:ea typeface="+mn-ea"/>
                          <a:cs typeface="Arial" panose="020B0604020202020204" pitchFamily="34" charset="0"/>
                        </a:rPr>
                        <a:t>B11</a:t>
                      </a:r>
                      <a:endParaRPr lang="ko-KR" altLang="en-US" sz="8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bg1">
                              <a:lumMod val="75000"/>
                            </a:schemeClr>
                          </a:solidFill>
                          <a:latin typeface="Arial" panose="020B0604020202020204" pitchFamily="34" charset="0"/>
                          <a:ea typeface="+mn-ea"/>
                          <a:cs typeface="Arial" panose="020B0604020202020204" pitchFamily="34" charset="0"/>
                        </a:rPr>
                        <a:t>B10</a:t>
                      </a:r>
                      <a:endParaRPr lang="ko-KR" altLang="en-US" sz="8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bg1">
                              <a:lumMod val="75000"/>
                            </a:schemeClr>
                          </a:solidFill>
                          <a:latin typeface="Arial" panose="020B0604020202020204" pitchFamily="34" charset="0"/>
                          <a:ea typeface="+mn-ea"/>
                          <a:cs typeface="Arial" panose="020B0604020202020204" pitchFamily="34" charset="0"/>
                        </a:rPr>
                        <a:t>B9</a:t>
                      </a:r>
                      <a:endParaRPr lang="ko-KR" altLang="en-US" sz="8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bg1">
                              <a:lumMod val="75000"/>
                            </a:schemeClr>
                          </a:solidFill>
                          <a:latin typeface="Arial" panose="020B0604020202020204" pitchFamily="34" charset="0"/>
                          <a:ea typeface="+mn-ea"/>
                          <a:cs typeface="Arial" panose="020B0604020202020204" pitchFamily="34" charset="0"/>
                        </a:rPr>
                        <a:t>R/W</a:t>
                      </a:r>
                      <a:endParaRPr lang="ko-KR" altLang="en-US" sz="7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bg1">
                              <a:lumMod val="75000"/>
                            </a:schemeClr>
                          </a:solidFill>
                          <a:latin typeface="Arial" panose="020B0604020202020204" pitchFamily="34" charset="0"/>
                          <a:ea typeface="+mn-ea"/>
                          <a:cs typeface="Arial" panose="020B0604020202020204" pitchFamily="34" charset="0"/>
                        </a:rPr>
                        <a:t>0x29</a:t>
                      </a:r>
                      <a:endParaRPr lang="ko-KR" altLang="en-US" sz="7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bg1">
                              <a:lumMod val="75000"/>
                            </a:schemeClr>
                          </a:solidFill>
                          <a:latin typeface="Arial" panose="020B0604020202020204" pitchFamily="34" charset="0"/>
                          <a:ea typeface="+mn-ea"/>
                          <a:cs typeface="Arial" panose="020B0604020202020204" pitchFamily="34" charset="0"/>
                        </a:rPr>
                        <a:t>0x000</a:t>
                      </a:r>
                      <a:endParaRPr lang="ko-KR" altLang="en-US" sz="7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algn="ctr" latinLnBrk="1"/>
                      <a:r>
                        <a:rPr lang="en-US" altLang="ko-KR" sz="700" b="0" dirty="0">
                          <a:solidFill>
                            <a:schemeClr val="bg1">
                              <a:lumMod val="75000"/>
                            </a:schemeClr>
                          </a:solidFill>
                          <a:latin typeface="Arial" panose="020B0604020202020204" pitchFamily="34" charset="0"/>
                          <a:ea typeface="+mn-ea"/>
                          <a:cs typeface="Arial" panose="020B0604020202020204" pitchFamily="34" charset="0"/>
                        </a:rPr>
                        <a:t>MCLK_LOCK [11:0]</a:t>
                      </a:r>
                      <a:endParaRPr lang="ko-KR" altLang="en-US" sz="7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906492"/>
                  </a:ext>
                </a:extLst>
              </a:tr>
            </a:tbl>
          </a:graphicData>
        </a:graphic>
      </p:graphicFrame>
      <p:graphicFrame>
        <p:nvGraphicFramePr>
          <p:cNvPr id="18" name="표 17">
            <a:extLst>
              <a:ext uri="{FF2B5EF4-FFF2-40B4-BE49-F238E27FC236}">
                <a16:creationId xmlns:a16="http://schemas.microsoft.com/office/drawing/2014/main" id="{89F61CF7-913D-64E2-E618-008E8B401C3C}"/>
              </a:ext>
            </a:extLst>
          </p:cNvPr>
          <p:cNvGraphicFramePr>
            <a:graphicFrameLocks noGrp="1"/>
          </p:cNvGraphicFramePr>
          <p:nvPr>
            <p:extLst>
              <p:ext uri="{D42A27DB-BD31-4B8C-83A1-F6EECF244321}">
                <p14:modId xmlns:p14="http://schemas.microsoft.com/office/powerpoint/2010/main" val="1039277451"/>
              </p:ext>
            </p:extLst>
          </p:nvPr>
        </p:nvGraphicFramePr>
        <p:xfrm>
          <a:off x="410307" y="3907189"/>
          <a:ext cx="6048610" cy="372600"/>
        </p:xfrm>
        <a:graphic>
          <a:graphicData uri="http://schemas.openxmlformats.org/drawingml/2006/table">
            <a:tbl>
              <a:tblPr firstRow="1" bandRow="1">
                <a:tableStyleId>{5C22544A-7EE6-4342-B048-85BDC9FD1C3A}</a:tableStyleId>
              </a:tblPr>
              <a:tblGrid>
                <a:gridCol w="268287">
                  <a:extLst>
                    <a:ext uri="{9D8B030D-6E8A-4147-A177-3AD203B41FA5}">
                      <a16:colId xmlns:a16="http://schemas.microsoft.com/office/drawing/2014/main" val="657570846"/>
                    </a:ext>
                  </a:extLst>
                </a:gridCol>
                <a:gridCol w="326633">
                  <a:extLst>
                    <a:ext uri="{9D8B030D-6E8A-4147-A177-3AD203B41FA5}">
                      <a16:colId xmlns:a16="http://schemas.microsoft.com/office/drawing/2014/main" val="3259894497"/>
                    </a:ext>
                  </a:extLst>
                </a:gridCol>
                <a:gridCol w="423568">
                  <a:extLst>
                    <a:ext uri="{9D8B030D-6E8A-4147-A177-3AD203B41FA5}">
                      <a16:colId xmlns:a16="http://schemas.microsoft.com/office/drawing/2014/main" val="4170535043"/>
                    </a:ext>
                  </a:extLst>
                </a:gridCol>
                <a:gridCol w="769360">
                  <a:extLst>
                    <a:ext uri="{9D8B030D-6E8A-4147-A177-3AD203B41FA5}">
                      <a16:colId xmlns:a16="http://schemas.microsoft.com/office/drawing/2014/main" val="2079070694"/>
                    </a:ext>
                  </a:extLst>
                </a:gridCol>
                <a:gridCol w="387342">
                  <a:extLst>
                    <a:ext uri="{9D8B030D-6E8A-4147-A177-3AD203B41FA5}">
                      <a16:colId xmlns:a16="http://schemas.microsoft.com/office/drawing/2014/main" val="4213315911"/>
                    </a:ext>
                  </a:extLst>
                </a:gridCol>
                <a:gridCol w="387342">
                  <a:extLst>
                    <a:ext uri="{9D8B030D-6E8A-4147-A177-3AD203B41FA5}">
                      <a16:colId xmlns:a16="http://schemas.microsoft.com/office/drawing/2014/main" val="2769999950"/>
                    </a:ext>
                  </a:extLst>
                </a:gridCol>
                <a:gridCol w="387342">
                  <a:extLst>
                    <a:ext uri="{9D8B030D-6E8A-4147-A177-3AD203B41FA5}">
                      <a16:colId xmlns:a16="http://schemas.microsoft.com/office/drawing/2014/main" val="135637185"/>
                    </a:ext>
                  </a:extLst>
                </a:gridCol>
                <a:gridCol w="387342">
                  <a:extLst>
                    <a:ext uri="{9D8B030D-6E8A-4147-A177-3AD203B41FA5}">
                      <a16:colId xmlns:a16="http://schemas.microsoft.com/office/drawing/2014/main" val="3038050475"/>
                    </a:ext>
                  </a:extLst>
                </a:gridCol>
                <a:gridCol w="387342">
                  <a:extLst>
                    <a:ext uri="{9D8B030D-6E8A-4147-A177-3AD203B41FA5}">
                      <a16:colId xmlns:a16="http://schemas.microsoft.com/office/drawing/2014/main" val="1979433044"/>
                    </a:ext>
                  </a:extLst>
                </a:gridCol>
                <a:gridCol w="387342">
                  <a:extLst>
                    <a:ext uri="{9D8B030D-6E8A-4147-A177-3AD203B41FA5}">
                      <a16:colId xmlns:a16="http://schemas.microsoft.com/office/drawing/2014/main" val="4270661649"/>
                    </a:ext>
                  </a:extLst>
                </a:gridCol>
                <a:gridCol w="387342">
                  <a:extLst>
                    <a:ext uri="{9D8B030D-6E8A-4147-A177-3AD203B41FA5}">
                      <a16:colId xmlns:a16="http://schemas.microsoft.com/office/drawing/2014/main" val="3027041370"/>
                    </a:ext>
                  </a:extLst>
                </a:gridCol>
                <a:gridCol w="387342">
                  <a:extLst>
                    <a:ext uri="{9D8B030D-6E8A-4147-A177-3AD203B41FA5}">
                      <a16:colId xmlns:a16="http://schemas.microsoft.com/office/drawing/2014/main" val="2852526216"/>
                    </a:ext>
                  </a:extLst>
                </a:gridCol>
                <a:gridCol w="387342">
                  <a:extLst>
                    <a:ext uri="{9D8B030D-6E8A-4147-A177-3AD203B41FA5}">
                      <a16:colId xmlns:a16="http://schemas.microsoft.com/office/drawing/2014/main" val="103420222"/>
                    </a:ext>
                  </a:extLst>
                </a:gridCol>
                <a:gridCol w="387342">
                  <a:extLst>
                    <a:ext uri="{9D8B030D-6E8A-4147-A177-3AD203B41FA5}">
                      <a16:colId xmlns:a16="http://schemas.microsoft.com/office/drawing/2014/main" val="1470405609"/>
                    </a:ext>
                  </a:extLst>
                </a:gridCol>
                <a:gridCol w="3873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bg1">
                              <a:lumMod val="75000"/>
                            </a:schemeClr>
                          </a:solidFill>
                          <a:latin typeface="Arial" panose="020B0604020202020204" pitchFamily="34" charset="0"/>
                          <a:ea typeface="+mn-ea"/>
                          <a:cs typeface="Arial" panose="020B0604020202020204" pitchFamily="34" charset="0"/>
                        </a:rPr>
                        <a:t>Acc</a:t>
                      </a:r>
                      <a:endParaRPr lang="ko-KR" altLang="en-US" sz="8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bg1">
                              <a:lumMod val="75000"/>
                            </a:schemeClr>
                          </a:solidFill>
                          <a:latin typeface="Arial" panose="020B0604020202020204" pitchFamily="34" charset="0"/>
                          <a:ea typeface="+mn-ea"/>
                          <a:cs typeface="Arial" panose="020B0604020202020204" pitchFamily="34" charset="0"/>
                        </a:rPr>
                        <a:t>Addr</a:t>
                      </a:r>
                      <a:endParaRPr lang="ko-KR" altLang="en-US" sz="8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bg1">
                              <a:lumMod val="75000"/>
                            </a:schemeClr>
                          </a:solidFill>
                          <a:latin typeface="Arial" panose="020B0604020202020204" pitchFamily="34" charset="0"/>
                          <a:ea typeface="+mn-ea"/>
                          <a:cs typeface="Arial" panose="020B0604020202020204" pitchFamily="34" charset="0"/>
                        </a:rPr>
                        <a:t>Default</a:t>
                      </a:r>
                      <a:endParaRPr lang="ko-KR" altLang="en-US" sz="8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bg1">
                              <a:lumMod val="75000"/>
                            </a:schemeClr>
                          </a:solidFill>
                          <a:latin typeface="Arial" panose="020B0604020202020204" pitchFamily="34" charset="0"/>
                          <a:ea typeface="+mn-ea"/>
                          <a:cs typeface="Arial" panose="020B0604020202020204" pitchFamily="34" charset="0"/>
                        </a:rPr>
                        <a:t>B11</a:t>
                      </a:r>
                      <a:endParaRPr lang="ko-KR" altLang="en-US" sz="8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bg1">
                              <a:lumMod val="75000"/>
                            </a:schemeClr>
                          </a:solidFill>
                          <a:latin typeface="Arial" panose="020B0604020202020204" pitchFamily="34" charset="0"/>
                          <a:ea typeface="+mn-ea"/>
                          <a:cs typeface="Arial" panose="020B0604020202020204" pitchFamily="34" charset="0"/>
                        </a:rPr>
                        <a:t>B10</a:t>
                      </a:r>
                      <a:endParaRPr lang="ko-KR" altLang="en-US" sz="8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bg1">
                              <a:lumMod val="75000"/>
                            </a:schemeClr>
                          </a:solidFill>
                          <a:latin typeface="Arial" panose="020B0604020202020204" pitchFamily="34" charset="0"/>
                          <a:ea typeface="+mn-ea"/>
                          <a:cs typeface="Arial" panose="020B0604020202020204" pitchFamily="34" charset="0"/>
                        </a:rPr>
                        <a:t>B9</a:t>
                      </a:r>
                      <a:endParaRPr lang="ko-KR" altLang="en-US" sz="8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bg1">
                              <a:lumMod val="75000"/>
                            </a:schemeClr>
                          </a:solidFill>
                          <a:latin typeface="Arial" panose="020B0604020202020204" pitchFamily="34" charset="0"/>
                          <a:ea typeface="+mn-ea"/>
                          <a:cs typeface="Arial" panose="020B0604020202020204" pitchFamily="34" charset="0"/>
                        </a:rPr>
                        <a:t>R/W</a:t>
                      </a:r>
                      <a:endParaRPr lang="ko-KR" altLang="en-US" sz="7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bg1">
                              <a:lumMod val="75000"/>
                            </a:schemeClr>
                          </a:solidFill>
                          <a:latin typeface="Arial" panose="020B0604020202020204" pitchFamily="34" charset="0"/>
                          <a:ea typeface="+mn-ea"/>
                          <a:cs typeface="Arial" panose="020B0604020202020204" pitchFamily="34" charset="0"/>
                        </a:rPr>
                        <a:t>0x2A</a:t>
                      </a:r>
                      <a:endParaRPr lang="ko-KR" altLang="en-US" sz="7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bg1">
                              <a:lumMod val="75000"/>
                            </a:schemeClr>
                          </a:solidFill>
                          <a:latin typeface="Arial" panose="020B0604020202020204" pitchFamily="34" charset="0"/>
                          <a:ea typeface="+mn-ea"/>
                          <a:cs typeface="Arial" panose="020B0604020202020204" pitchFamily="34" charset="0"/>
                        </a:rPr>
                        <a:t>0x01E</a:t>
                      </a:r>
                      <a:endParaRPr lang="ko-KR" altLang="en-US" sz="7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맑은 고딕" panose="020B0503020000020004" pitchFamily="50" charset="-127"/>
                          <a:cs typeface="Arial" panose="020B0604020202020204" pitchFamily="34" charset="0"/>
                        </a:rPr>
                        <a:t>MCLK_LOCK_E</a:t>
                      </a:r>
                      <a:endParaRPr kumimoji="0" lang="ko-KR" altLang="en-US" sz="7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algn="ctr" latinLnBrk="1"/>
                      <a:r>
                        <a:rPr lang="en-US" altLang="ko-KR" sz="700" b="0" dirty="0">
                          <a:solidFill>
                            <a:schemeClr val="bg1">
                              <a:lumMod val="75000"/>
                            </a:schemeClr>
                          </a:solidFill>
                          <a:latin typeface="Arial" panose="020B0604020202020204" pitchFamily="34" charset="0"/>
                          <a:ea typeface="+mn-ea"/>
                          <a:cs typeface="Arial" panose="020B0604020202020204" pitchFamily="34" charset="0"/>
                        </a:rPr>
                        <a:t>MCLK_LOCK [19:12]</a:t>
                      </a:r>
                      <a:endParaRPr lang="ko-KR" altLang="en-US" sz="7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6986462"/>
                  </a:ext>
                </a:extLst>
              </a:tr>
            </a:tbl>
          </a:graphicData>
        </a:graphic>
      </p:graphicFrame>
      <p:graphicFrame>
        <p:nvGraphicFramePr>
          <p:cNvPr id="5" name="표 4">
            <a:extLst>
              <a:ext uri="{FF2B5EF4-FFF2-40B4-BE49-F238E27FC236}">
                <a16:creationId xmlns:a16="http://schemas.microsoft.com/office/drawing/2014/main" id="{B13AB831-E474-2674-9CE6-6FE19C852BFF}"/>
              </a:ext>
            </a:extLst>
          </p:cNvPr>
          <p:cNvGraphicFramePr>
            <a:graphicFrameLocks noGrp="1"/>
          </p:cNvGraphicFramePr>
          <p:nvPr>
            <p:extLst>
              <p:ext uri="{D42A27DB-BD31-4B8C-83A1-F6EECF244321}">
                <p14:modId xmlns:p14="http://schemas.microsoft.com/office/powerpoint/2010/main" val="1167754877"/>
              </p:ext>
            </p:extLst>
          </p:nvPr>
        </p:nvGraphicFramePr>
        <p:xfrm>
          <a:off x="410307" y="6704218"/>
          <a:ext cx="6042262" cy="372600"/>
        </p:xfrm>
        <a:graphic>
          <a:graphicData uri="http://schemas.openxmlformats.org/drawingml/2006/table">
            <a:tbl>
              <a:tblPr firstRow="1" bandRow="1">
                <a:tableStyleId>{5C22544A-7EE6-4342-B048-85BDC9FD1C3A}</a:tableStyleId>
              </a:tblPr>
              <a:tblGrid>
                <a:gridCol w="274600">
                  <a:extLst>
                    <a:ext uri="{9D8B030D-6E8A-4147-A177-3AD203B41FA5}">
                      <a16:colId xmlns:a16="http://schemas.microsoft.com/office/drawing/2014/main" val="657570846"/>
                    </a:ext>
                  </a:extLst>
                </a:gridCol>
                <a:gridCol w="324998">
                  <a:extLst>
                    <a:ext uri="{9D8B030D-6E8A-4147-A177-3AD203B41FA5}">
                      <a16:colId xmlns:a16="http://schemas.microsoft.com/office/drawing/2014/main" val="3259894497"/>
                    </a:ext>
                  </a:extLst>
                </a:gridCol>
                <a:gridCol w="422813">
                  <a:extLst>
                    <a:ext uri="{9D8B030D-6E8A-4147-A177-3AD203B41FA5}">
                      <a16:colId xmlns:a16="http://schemas.microsoft.com/office/drawing/2014/main" val="4170535043"/>
                    </a:ext>
                  </a:extLst>
                </a:gridCol>
                <a:gridCol w="593836">
                  <a:extLst>
                    <a:ext uri="{9D8B030D-6E8A-4147-A177-3AD203B41FA5}">
                      <a16:colId xmlns:a16="http://schemas.microsoft.com/office/drawing/2014/main" val="2079070694"/>
                    </a:ext>
                  </a:extLst>
                </a:gridCol>
                <a:gridCol w="402365">
                  <a:extLst>
                    <a:ext uri="{9D8B030D-6E8A-4147-A177-3AD203B41FA5}">
                      <a16:colId xmlns:a16="http://schemas.microsoft.com/office/drawing/2014/main" val="4213315911"/>
                    </a:ext>
                  </a:extLst>
                </a:gridCol>
                <a:gridCol w="402365">
                  <a:extLst>
                    <a:ext uri="{9D8B030D-6E8A-4147-A177-3AD203B41FA5}">
                      <a16:colId xmlns:a16="http://schemas.microsoft.com/office/drawing/2014/main" val="2769999950"/>
                    </a:ext>
                  </a:extLst>
                </a:gridCol>
                <a:gridCol w="402365">
                  <a:extLst>
                    <a:ext uri="{9D8B030D-6E8A-4147-A177-3AD203B41FA5}">
                      <a16:colId xmlns:a16="http://schemas.microsoft.com/office/drawing/2014/main" val="135637185"/>
                    </a:ext>
                  </a:extLst>
                </a:gridCol>
                <a:gridCol w="402365">
                  <a:extLst>
                    <a:ext uri="{9D8B030D-6E8A-4147-A177-3AD203B41FA5}">
                      <a16:colId xmlns:a16="http://schemas.microsoft.com/office/drawing/2014/main" val="3038050475"/>
                    </a:ext>
                  </a:extLst>
                </a:gridCol>
                <a:gridCol w="402365">
                  <a:extLst>
                    <a:ext uri="{9D8B030D-6E8A-4147-A177-3AD203B41FA5}">
                      <a16:colId xmlns:a16="http://schemas.microsoft.com/office/drawing/2014/main" val="1979433044"/>
                    </a:ext>
                  </a:extLst>
                </a:gridCol>
                <a:gridCol w="402365">
                  <a:extLst>
                    <a:ext uri="{9D8B030D-6E8A-4147-A177-3AD203B41FA5}">
                      <a16:colId xmlns:a16="http://schemas.microsoft.com/office/drawing/2014/main" val="4270661649"/>
                    </a:ext>
                  </a:extLst>
                </a:gridCol>
                <a:gridCol w="402365">
                  <a:extLst>
                    <a:ext uri="{9D8B030D-6E8A-4147-A177-3AD203B41FA5}">
                      <a16:colId xmlns:a16="http://schemas.microsoft.com/office/drawing/2014/main" val="3027041370"/>
                    </a:ext>
                  </a:extLst>
                </a:gridCol>
                <a:gridCol w="402365">
                  <a:extLst>
                    <a:ext uri="{9D8B030D-6E8A-4147-A177-3AD203B41FA5}">
                      <a16:colId xmlns:a16="http://schemas.microsoft.com/office/drawing/2014/main" val="2852526216"/>
                    </a:ext>
                  </a:extLst>
                </a:gridCol>
                <a:gridCol w="402365">
                  <a:extLst>
                    <a:ext uri="{9D8B030D-6E8A-4147-A177-3AD203B41FA5}">
                      <a16:colId xmlns:a16="http://schemas.microsoft.com/office/drawing/2014/main" val="103420222"/>
                    </a:ext>
                  </a:extLst>
                </a:gridCol>
                <a:gridCol w="402365">
                  <a:extLst>
                    <a:ext uri="{9D8B030D-6E8A-4147-A177-3AD203B41FA5}">
                      <a16:colId xmlns:a16="http://schemas.microsoft.com/office/drawing/2014/main" val="1470405609"/>
                    </a:ext>
                  </a:extLst>
                </a:gridCol>
                <a:gridCol w="40236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bg1">
                              <a:lumMod val="75000"/>
                            </a:schemeClr>
                          </a:solidFill>
                          <a:latin typeface="Arial" panose="020B0604020202020204" pitchFamily="34" charset="0"/>
                          <a:ea typeface="+mn-ea"/>
                          <a:cs typeface="Arial" panose="020B0604020202020204" pitchFamily="34" charset="0"/>
                        </a:rPr>
                        <a:t>Acc</a:t>
                      </a:r>
                      <a:endParaRPr lang="ko-KR" altLang="en-US" sz="8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bg1">
                              <a:lumMod val="75000"/>
                            </a:schemeClr>
                          </a:solidFill>
                          <a:latin typeface="Arial" panose="020B0604020202020204" pitchFamily="34" charset="0"/>
                          <a:ea typeface="+mn-ea"/>
                          <a:cs typeface="Arial" panose="020B0604020202020204" pitchFamily="34" charset="0"/>
                        </a:rPr>
                        <a:t>Addr</a:t>
                      </a:r>
                      <a:endParaRPr lang="ko-KR" altLang="en-US" sz="8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bg1">
                              <a:lumMod val="75000"/>
                            </a:schemeClr>
                          </a:solidFill>
                          <a:latin typeface="Arial" panose="020B0604020202020204" pitchFamily="34" charset="0"/>
                          <a:ea typeface="+mn-ea"/>
                          <a:cs typeface="Arial" panose="020B0604020202020204" pitchFamily="34" charset="0"/>
                        </a:rPr>
                        <a:t>Default</a:t>
                      </a:r>
                      <a:endParaRPr lang="ko-KR" altLang="en-US" sz="8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bg1">
                              <a:lumMod val="75000"/>
                            </a:schemeClr>
                          </a:solidFill>
                          <a:latin typeface="Arial" panose="020B0604020202020204" pitchFamily="34" charset="0"/>
                          <a:ea typeface="+mn-ea"/>
                          <a:cs typeface="Arial" panose="020B0604020202020204" pitchFamily="34" charset="0"/>
                        </a:rPr>
                        <a:t>B11</a:t>
                      </a:r>
                      <a:endParaRPr lang="ko-KR" altLang="en-US" sz="8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bg1">
                              <a:lumMod val="75000"/>
                            </a:schemeClr>
                          </a:solidFill>
                          <a:latin typeface="Arial" panose="020B0604020202020204" pitchFamily="34" charset="0"/>
                          <a:ea typeface="+mn-ea"/>
                          <a:cs typeface="Arial" panose="020B0604020202020204" pitchFamily="34" charset="0"/>
                        </a:rPr>
                        <a:t>B10</a:t>
                      </a:r>
                      <a:endParaRPr lang="ko-KR" altLang="en-US" sz="8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bg1">
                              <a:lumMod val="75000"/>
                            </a:schemeClr>
                          </a:solidFill>
                          <a:latin typeface="Arial" panose="020B0604020202020204" pitchFamily="34" charset="0"/>
                          <a:ea typeface="+mn-ea"/>
                          <a:cs typeface="Arial" panose="020B0604020202020204" pitchFamily="34" charset="0"/>
                        </a:rPr>
                        <a:t>B9</a:t>
                      </a:r>
                      <a:endParaRPr lang="ko-KR" altLang="en-US" sz="8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bg1">
                              <a:lumMod val="75000"/>
                            </a:schemeClr>
                          </a:solidFill>
                          <a:latin typeface="Arial" panose="020B0604020202020204" pitchFamily="34" charset="0"/>
                          <a:ea typeface="+mn-ea"/>
                          <a:cs typeface="Arial" panose="020B0604020202020204" pitchFamily="34" charset="0"/>
                        </a:rPr>
                        <a:t>R/W</a:t>
                      </a:r>
                      <a:endParaRPr lang="ko-KR" altLang="en-US" sz="7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bg1">
                              <a:lumMod val="75000"/>
                            </a:schemeClr>
                          </a:solidFill>
                          <a:latin typeface="Arial" panose="020B0604020202020204" pitchFamily="34" charset="0"/>
                          <a:ea typeface="+mn-ea"/>
                          <a:cs typeface="Arial" panose="020B0604020202020204" pitchFamily="34" charset="0"/>
                        </a:rPr>
                        <a:t>0x2B</a:t>
                      </a:r>
                      <a:endParaRPr lang="ko-KR" altLang="en-US" sz="7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bg1">
                              <a:lumMod val="75000"/>
                            </a:schemeClr>
                          </a:solidFill>
                          <a:latin typeface="Arial" panose="020B0604020202020204" pitchFamily="34" charset="0"/>
                          <a:ea typeface="+mn-ea"/>
                          <a:cs typeface="Arial" panose="020B0604020202020204" pitchFamily="34" charset="0"/>
                        </a:rPr>
                        <a:t>0x00F</a:t>
                      </a:r>
                      <a:endParaRPr lang="ko-KR" altLang="en-US" sz="7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bg1">
                              <a:lumMod val="75000"/>
                            </a:schemeClr>
                          </a:solidFill>
                          <a:latin typeface="Arial" panose="020B0604020202020204" pitchFamily="34" charset="0"/>
                          <a:ea typeface="+mn-ea"/>
                          <a:cs typeface="Arial" panose="020B0604020202020204" pitchFamily="34" charset="0"/>
                        </a:rPr>
                        <a:t>OSC_POL</a:t>
                      </a:r>
                      <a:endParaRPr lang="ko-KR" altLang="en-US" sz="7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OSC_COMP [4:0]</a:t>
                      </a:r>
                      <a:endParaRPr kumimoji="0" lang="ko-KR" altLang="en-US" sz="7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75165699"/>
                  </a:ext>
                </a:extLst>
              </a:tr>
            </a:tbl>
          </a:graphicData>
        </a:graphic>
      </p:graphicFrame>
      <p:graphicFrame>
        <p:nvGraphicFramePr>
          <p:cNvPr id="24" name="표 23">
            <a:extLst>
              <a:ext uri="{FF2B5EF4-FFF2-40B4-BE49-F238E27FC236}">
                <a16:creationId xmlns:a16="http://schemas.microsoft.com/office/drawing/2014/main" id="{7E765DDB-2D6C-889C-799F-1747514EB4E4}"/>
              </a:ext>
            </a:extLst>
          </p:cNvPr>
          <p:cNvGraphicFramePr>
            <a:graphicFrameLocks noGrp="1"/>
          </p:cNvGraphicFramePr>
          <p:nvPr>
            <p:extLst>
              <p:ext uri="{D42A27DB-BD31-4B8C-83A1-F6EECF244321}">
                <p14:modId xmlns:p14="http://schemas.microsoft.com/office/powerpoint/2010/main" val="1918752526"/>
              </p:ext>
            </p:extLst>
          </p:nvPr>
        </p:nvGraphicFramePr>
        <p:xfrm>
          <a:off x="404563" y="1128679"/>
          <a:ext cx="6048620" cy="372600"/>
        </p:xfrm>
        <a:graphic>
          <a:graphicData uri="http://schemas.openxmlformats.org/drawingml/2006/table">
            <a:tbl>
              <a:tblPr firstRow="1" bandRow="1">
                <a:tableStyleId>{5C22544A-7EE6-4342-B048-85BDC9FD1C3A}</a:tableStyleId>
              </a:tblPr>
              <a:tblGrid>
                <a:gridCol w="268288">
                  <a:extLst>
                    <a:ext uri="{9D8B030D-6E8A-4147-A177-3AD203B41FA5}">
                      <a16:colId xmlns:a16="http://schemas.microsoft.com/office/drawing/2014/main" val="657570846"/>
                    </a:ext>
                  </a:extLst>
                </a:gridCol>
                <a:gridCol w="330846">
                  <a:extLst>
                    <a:ext uri="{9D8B030D-6E8A-4147-A177-3AD203B41FA5}">
                      <a16:colId xmlns:a16="http://schemas.microsoft.com/office/drawing/2014/main" val="3259894497"/>
                    </a:ext>
                  </a:extLst>
                </a:gridCol>
                <a:gridCol w="419355">
                  <a:extLst>
                    <a:ext uri="{9D8B030D-6E8A-4147-A177-3AD203B41FA5}">
                      <a16:colId xmlns:a16="http://schemas.microsoft.com/office/drawing/2014/main" val="4170535043"/>
                    </a:ext>
                  </a:extLst>
                </a:gridCol>
                <a:gridCol w="605469">
                  <a:extLst>
                    <a:ext uri="{9D8B030D-6E8A-4147-A177-3AD203B41FA5}">
                      <a16:colId xmlns:a16="http://schemas.microsoft.com/office/drawing/2014/main" val="2079070694"/>
                    </a:ext>
                  </a:extLst>
                </a:gridCol>
                <a:gridCol w="402242">
                  <a:extLst>
                    <a:ext uri="{9D8B030D-6E8A-4147-A177-3AD203B41FA5}">
                      <a16:colId xmlns:a16="http://schemas.microsoft.com/office/drawing/2014/main" val="4213315911"/>
                    </a:ext>
                  </a:extLst>
                </a:gridCol>
                <a:gridCol w="402242">
                  <a:extLst>
                    <a:ext uri="{9D8B030D-6E8A-4147-A177-3AD203B41FA5}">
                      <a16:colId xmlns:a16="http://schemas.microsoft.com/office/drawing/2014/main" val="2769999950"/>
                    </a:ext>
                  </a:extLst>
                </a:gridCol>
                <a:gridCol w="402242">
                  <a:extLst>
                    <a:ext uri="{9D8B030D-6E8A-4147-A177-3AD203B41FA5}">
                      <a16:colId xmlns:a16="http://schemas.microsoft.com/office/drawing/2014/main" val="135637185"/>
                    </a:ext>
                  </a:extLst>
                </a:gridCol>
                <a:gridCol w="402242">
                  <a:extLst>
                    <a:ext uri="{9D8B030D-6E8A-4147-A177-3AD203B41FA5}">
                      <a16:colId xmlns:a16="http://schemas.microsoft.com/office/drawing/2014/main" val="3038050475"/>
                    </a:ext>
                  </a:extLst>
                </a:gridCol>
                <a:gridCol w="402242">
                  <a:extLst>
                    <a:ext uri="{9D8B030D-6E8A-4147-A177-3AD203B41FA5}">
                      <a16:colId xmlns:a16="http://schemas.microsoft.com/office/drawing/2014/main" val="1979433044"/>
                    </a:ext>
                  </a:extLst>
                </a:gridCol>
                <a:gridCol w="402242">
                  <a:extLst>
                    <a:ext uri="{9D8B030D-6E8A-4147-A177-3AD203B41FA5}">
                      <a16:colId xmlns:a16="http://schemas.microsoft.com/office/drawing/2014/main" val="4270661649"/>
                    </a:ext>
                  </a:extLst>
                </a:gridCol>
                <a:gridCol w="402242">
                  <a:extLst>
                    <a:ext uri="{9D8B030D-6E8A-4147-A177-3AD203B41FA5}">
                      <a16:colId xmlns:a16="http://schemas.microsoft.com/office/drawing/2014/main" val="3027041370"/>
                    </a:ext>
                  </a:extLst>
                </a:gridCol>
                <a:gridCol w="402242">
                  <a:extLst>
                    <a:ext uri="{9D8B030D-6E8A-4147-A177-3AD203B41FA5}">
                      <a16:colId xmlns:a16="http://schemas.microsoft.com/office/drawing/2014/main" val="2852526216"/>
                    </a:ext>
                  </a:extLst>
                </a:gridCol>
                <a:gridCol w="402242">
                  <a:extLst>
                    <a:ext uri="{9D8B030D-6E8A-4147-A177-3AD203B41FA5}">
                      <a16:colId xmlns:a16="http://schemas.microsoft.com/office/drawing/2014/main" val="103420222"/>
                    </a:ext>
                  </a:extLst>
                </a:gridCol>
                <a:gridCol w="402242">
                  <a:extLst>
                    <a:ext uri="{9D8B030D-6E8A-4147-A177-3AD203B41FA5}">
                      <a16:colId xmlns:a16="http://schemas.microsoft.com/office/drawing/2014/main" val="1470405609"/>
                    </a:ext>
                  </a:extLst>
                </a:gridCol>
                <a:gridCol w="40224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DCLK_RST_E</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0">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DCLK_PERIOD [9:0]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6" name="표 15">
            <a:extLst>
              <a:ext uri="{FF2B5EF4-FFF2-40B4-BE49-F238E27FC236}">
                <a16:creationId xmlns:a16="http://schemas.microsoft.com/office/drawing/2014/main" id="{0BA219F7-A8C1-3620-64F8-0F0774600D69}"/>
              </a:ext>
            </a:extLst>
          </p:cNvPr>
          <p:cNvGraphicFramePr>
            <a:graphicFrameLocks noGrp="1"/>
          </p:cNvGraphicFramePr>
          <p:nvPr>
            <p:extLst>
              <p:ext uri="{D42A27DB-BD31-4B8C-83A1-F6EECF244321}">
                <p14:modId xmlns:p14="http://schemas.microsoft.com/office/powerpoint/2010/main" val="2522327169"/>
              </p:ext>
            </p:extLst>
          </p:nvPr>
        </p:nvGraphicFramePr>
        <p:xfrm>
          <a:off x="404563" y="1548500"/>
          <a:ext cx="6048611" cy="1244319"/>
        </p:xfrm>
        <a:graphic>
          <a:graphicData uri="http://schemas.openxmlformats.org/drawingml/2006/table">
            <a:tbl>
              <a:tblPr firstRow="1" bandRow="1">
                <a:tableStyleId>{5C22544A-7EE6-4342-B048-85BDC9FD1C3A}</a:tableStyleId>
              </a:tblPr>
              <a:tblGrid>
                <a:gridCol w="437163">
                  <a:extLst>
                    <a:ext uri="{9D8B030D-6E8A-4147-A177-3AD203B41FA5}">
                      <a16:colId xmlns:a16="http://schemas.microsoft.com/office/drawing/2014/main" val="4170535043"/>
                    </a:ext>
                  </a:extLst>
                </a:gridCol>
                <a:gridCol w="1145496">
                  <a:extLst>
                    <a:ext uri="{9D8B030D-6E8A-4147-A177-3AD203B41FA5}">
                      <a16:colId xmlns:a16="http://schemas.microsoft.com/office/drawing/2014/main" val="2079070694"/>
                    </a:ext>
                  </a:extLst>
                </a:gridCol>
                <a:gridCol w="4465952">
                  <a:extLst>
                    <a:ext uri="{9D8B030D-6E8A-4147-A177-3AD203B41FA5}">
                      <a16:colId xmlns:a16="http://schemas.microsoft.com/office/drawing/2014/main" val="32595803"/>
                    </a:ext>
                  </a:extLst>
                </a:gridCol>
              </a:tblGrid>
              <a:tr h="27735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618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DCLK_RST_E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If this bit is set, the DCLK_PERIOD counter will be reset at every internal vsync. It is recommended to be set for expressing precise gradation at every frame sync.</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7871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DCLK_PERIOD</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1" kern="1200" dirty="0">
                          <a:solidFill>
                            <a:schemeClr val="dk1"/>
                          </a:solidFill>
                          <a:effectLst/>
                          <a:latin typeface="Arial" panose="020B0604020202020204" pitchFamily="34" charset="0"/>
                          <a:ea typeface="+mn-ea"/>
                          <a:cs typeface="Arial" panose="020B0604020202020204" pitchFamily="34" charset="0"/>
                        </a:rPr>
                        <a:t>An integer multiple </a:t>
                      </a:r>
                      <a:r>
                        <a:rPr lang="en-US" altLang="ko-KR" sz="900" b="0" i="0" kern="1200" dirty="0">
                          <a:solidFill>
                            <a:schemeClr val="dk1"/>
                          </a:solidFill>
                          <a:effectLst/>
                          <a:latin typeface="Arial" panose="020B0604020202020204" pitchFamily="34" charset="0"/>
                          <a:ea typeface="+mn-ea"/>
                          <a:cs typeface="Arial" panose="020B0604020202020204" pitchFamily="34" charset="0"/>
                        </a:rPr>
                        <a:t>of the DCLK_PERIOD must be equal to the SF_PERIOD. It is recommended to be set from 64 to 128 but depends on the system performance. Even if the SF_PERIOD value becomes different according to the frame period, it is better to select a value among 64 ~ 128 that can meet an integer multiple of the SF_PERIOD.</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7209862"/>
                  </a:ext>
                </a:extLst>
              </a:tr>
            </a:tbl>
          </a:graphicData>
        </a:graphic>
      </p:graphicFrame>
      <p:sp>
        <p:nvSpPr>
          <p:cNvPr id="2" name="TextBox 1">
            <a:extLst>
              <a:ext uri="{FF2B5EF4-FFF2-40B4-BE49-F238E27FC236}">
                <a16:creationId xmlns:a16="http://schemas.microsoft.com/office/drawing/2014/main" id="{834E82BD-1A0F-EDAD-F731-849B1DB3F4DD}"/>
              </a:ext>
            </a:extLst>
          </p:cNvPr>
          <p:cNvSpPr txBox="1"/>
          <p:nvPr/>
        </p:nvSpPr>
        <p:spPr>
          <a:xfrm>
            <a:off x="404813" y="871802"/>
            <a:ext cx="604862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DCLK PERIOD</a:t>
            </a:r>
          </a:p>
        </p:txBody>
      </p:sp>
    </p:spTree>
    <p:extLst>
      <p:ext uri="{BB962C8B-B14F-4D97-AF65-F5344CB8AC3E}">
        <p14:creationId xmlns:p14="http://schemas.microsoft.com/office/powerpoint/2010/main" val="420139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DC689-C337-58F3-B735-92DF5BCD3EA1}"/>
            </a:ext>
          </a:extLst>
        </p:cNvPr>
        <p:cNvGrpSpPr/>
        <p:nvPr/>
      </p:nvGrpSpPr>
      <p:grpSpPr>
        <a:xfrm>
          <a:off x="0" y="0"/>
          <a:ext cx="0" cy="0"/>
          <a:chOff x="0" y="0"/>
          <a:chExt cx="0" cy="0"/>
        </a:xfrm>
      </p:grpSpPr>
      <p:graphicFrame>
        <p:nvGraphicFramePr>
          <p:cNvPr id="12" name="표 11">
            <a:extLst>
              <a:ext uri="{FF2B5EF4-FFF2-40B4-BE49-F238E27FC236}">
                <a16:creationId xmlns:a16="http://schemas.microsoft.com/office/drawing/2014/main" id="{03B05DA6-AE02-DF17-9394-61C70D4D0604}"/>
              </a:ext>
            </a:extLst>
          </p:cNvPr>
          <p:cNvGraphicFramePr>
            <a:graphicFrameLocks noGrp="1"/>
          </p:cNvGraphicFramePr>
          <p:nvPr>
            <p:extLst>
              <p:ext uri="{D42A27DB-BD31-4B8C-83A1-F6EECF244321}">
                <p14:modId xmlns:p14="http://schemas.microsoft.com/office/powerpoint/2010/main" val="1199347765"/>
              </p:ext>
            </p:extLst>
          </p:nvPr>
        </p:nvGraphicFramePr>
        <p:xfrm>
          <a:off x="404813" y="1134755"/>
          <a:ext cx="6048604" cy="372600"/>
        </p:xfrm>
        <a:graphic>
          <a:graphicData uri="http://schemas.openxmlformats.org/drawingml/2006/table">
            <a:tbl>
              <a:tblPr firstRow="1" bandRow="1">
                <a:tableStyleId>{5C22544A-7EE6-4342-B048-85BDC9FD1C3A}</a:tableStyleId>
              </a:tblPr>
              <a:tblGrid>
                <a:gridCol w="273780">
                  <a:extLst>
                    <a:ext uri="{9D8B030D-6E8A-4147-A177-3AD203B41FA5}">
                      <a16:colId xmlns:a16="http://schemas.microsoft.com/office/drawing/2014/main" val="657570846"/>
                    </a:ext>
                  </a:extLst>
                </a:gridCol>
                <a:gridCol w="327159">
                  <a:extLst>
                    <a:ext uri="{9D8B030D-6E8A-4147-A177-3AD203B41FA5}">
                      <a16:colId xmlns:a16="http://schemas.microsoft.com/office/drawing/2014/main" val="3259894497"/>
                    </a:ext>
                  </a:extLst>
                </a:gridCol>
                <a:gridCol w="425149">
                  <a:extLst>
                    <a:ext uri="{9D8B030D-6E8A-4147-A177-3AD203B41FA5}">
                      <a16:colId xmlns:a16="http://schemas.microsoft.com/office/drawing/2014/main" val="4170535043"/>
                    </a:ext>
                  </a:extLst>
                </a:gridCol>
                <a:gridCol w="418543">
                  <a:extLst>
                    <a:ext uri="{9D8B030D-6E8A-4147-A177-3AD203B41FA5}">
                      <a16:colId xmlns:a16="http://schemas.microsoft.com/office/drawing/2014/main" val="2079070694"/>
                    </a:ext>
                  </a:extLst>
                </a:gridCol>
                <a:gridCol w="418543">
                  <a:extLst>
                    <a:ext uri="{9D8B030D-6E8A-4147-A177-3AD203B41FA5}">
                      <a16:colId xmlns:a16="http://schemas.microsoft.com/office/drawing/2014/main" val="4213315911"/>
                    </a:ext>
                  </a:extLst>
                </a:gridCol>
                <a:gridCol w="418543">
                  <a:extLst>
                    <a:ext uri="{9D8B030D-6E8A-4147-A177-3AD203B41FA5}">
                      <a16:colId xmlns:a16="http://schemas.microsoft.com/office/drawing/2014/main" val="2769999950"/>
                    </a:ext>
                  </a:extLst>
                </a:gridCol>
                <a:gridCol w="418543">
                  <a:extLst>
                    <a:ext uri="{9D8B030D-6E8A-4147-A177-3AD203B41FA5}">
                      <a16:colId xmlns:a16="http://schemas.microsoft.com/office/drawing/2014/main" val="135637185"/>
                    </a:ext>
                  </a:extLst>
                </a:gridCol>
                <a:gridCol w="418543">
                  <a:extLst>
                    <a:ext uri="{9D8B030D-6E8A-4147-A177-3AD203B41FA5}">
                      <a16:colId xmlns:a16="http://schemas.microsoft.com/office/drawing/2014/main" val="3038050475"/>
                    </a:ext>
                  </a:extLst>
                </a:gridCol>
                <a:gridCol w="418543">
                  <a:extLst>
                    <a:ext uri="{9D8B030D-6E8A-4147-A177-3AD203B41FA5}">
                      <a16:colId xmlns:a16="http://schemas.microsoft.com/office/drawing/2014/main" val="1979433044"/>
                    </a:ext>
                  </a:extLst>
                </a:gridCol>
                <a:gridCol w="418543">
                  <a:extLst>
                    <a:ext uri="{9D8B030D-6E8A-4147-A177-3AD203B41FA5}">
                      <a16:colId xmlns:a16="http://schemas.microsoft.com/office/drawing/2014/main" val="4270661649"/>
                    </a:ext>
                  </a:extLst>
                </a:gridCol>
                <a:gridCol w="418543">
                  <a:extLst>
                    <a:ext uri="{9D8B030D-6E8A-4147-A177-3AD203B41FA5}">
                      <a16:colId xmlns:a16="http://schemas.microsoft.com/office/drawing/2014/main" val="3027041370"/>
                    </a:ext>
                  </a:extLst>
                </a:gridCol>
                <a:gridCol w="418543">
                  <a:extLst>
                    <a:ext uri="{9D8B030D-6E8A-4147-A177-3AD203B41FA5}">
                      <a16:colId xmlns:a16="http://schemas.microsoft.com/office/drawing/2014/main" val="2852526216"/>
                    </a:ext>
                  </a:extLst>
                </a:gridCol>
                <a:gridCol w="418543">
                  <a:extLst>
                    <a:ext uri="{9D8B030D-6E8A-4147-A177-3AD203B41FA5}">
                      <a16:colId xmlns:a16="http://schemas.microsoft.com/office/drawing/2014/main" val="103420222"/>
                    </a:ext>
                  </a:extLst>
                </a:gridCol>
                <a:gridCol w="418543">
                  <a:extLst>
                    <a:ext uri="{9D8B030D-6E8A-4147-A177-3AD203B41FA5}">
                      <a16:colId xmlns:a16="http://schemas.microsoft.com/office/drawing/2014/main" val="1470405609"/>
                    </a:ext>
                  </a:extLst>
                </a:gridCol>
                <a:gridCol w="41854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bg1">
                              <a:lumMod val="75000"/>
                            </a:schemeClr>
                          </a:solidFill>
                          <a:latin typeface="Arial" panose="020B0604020202020204" pitchFamily="34" charset="0"/>
                          <a:ea typeface="+mn-ea"/>
                          <a:cs typeface="Arial" panose="020B0604020202020204" pitchFamily="34" charset="0"/>
                        </a:rPr>
                        <a:t>Acc</a:t>
                      </a:r>
                      <a:endParaRPr lang="ko-KR" altLang="en-US" sz="8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bg1">
                              <a:lumMod val="75000"/>
                            </a:schemeClr>
                          </a:solidFill>
                          <a:latin typeface="Arial" panose="020B0604020202020204" pitchFamily="34" charset="0"/>
                          <a:ea typeface="+mn-ea"/>
                          <a:cs typeface="Arial" panose="020B0604020202020204" pitchFamily="34" charset="0"/>
                        </a:rPr>
                        <a:t>Addr</a:t>
                      </a:r>
                      <a:endParaRPr lang="ko-KR" altLang="en-US" sz="8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bg1">
                              <a:lumMod val="75000"/>
                            </a:schemeClr>
                          </a:solidFill>
                          <a:latin typeface="Arial" panose="020B0604020202020204" pitchFamily="34" charset="0"/>
                          <a:ea typeface="+mn-ea"/>
                          <a:cs typeface="Arial" panose="020B0604020202020204" pitchFamily="34" charset="0"/>
                        </a:rPr>
                        <a:t>Default</a:t>
                      </a:r>
                      <a:endParaRPr lang="ko-KR" altLang="en-US" sz="8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bg1">
                              <a:lumMod val="75000"/>
                            </a:schemeClr>
                          </a:solidFill>
                          <a:latin typeface="Arial" panose="020B0604020202020204" pitchFamily="34" charset="0"/>
                          <a:ea typeface="+mn-ea"/>
                          <a:cs typeface="Arial" panose="020B0604020202020204" pitchFamily="34" charset="0"/>
                        </a:rPr>
                        <a:t>B11</a:t>
                      </a:r>
                      <a:endParaRPr lang="ko-KR" altLang="en-US" sz="8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bg1">
                              <a:lumMod val="75000"/>
                            </a:schemeClr>
                          </a:solidFill>
                          <a:latin typeface="Arial" panose="020B0604020202020204" pitchFamily="34" charset="0"/>
                          <a:ea typeface="+mn-ea"/>
                          <a:cs typeface="Arial" panose="020B0604020202020204" pitchFamily="34" charset="0"/>
                        </a:rPr>
                        <a:t>B10</a:t>
                      </a:r>
                      <a:endParaRPr lang="ko-KR" altLang="en-US" sz="8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bg1">
                              <a:lumMod val="75000"/>
                            </a:schemeClr>
                          </a:solidFill>
                          <a:latin typeface="Arial" panose="020B0604020202020204" pitchFamily="34" charset="0"/>
                          <a:ea typeface="+mn-ea"/>
                          <a:cs typeface="Arial" panose="020B0604020202020204" pitchFamily="34" charset="0"/>
                        </a:rPr>
                        <a:t>B9</a:t>
                      </a:r>
                      <a:endParaRPr lang="ko-KR" altLang="en-US" sz="8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bg1">
                              <a:lumMod val="75000"/>
                            </a:schemeClr>
                          </a:solidFill>
                          <a:latin typeface="Arial" panose="020B0604020202020204" pitchFamily="34" charset="0"/>
                          <a:ea typeface="+mn-ea"/>
                          <a:cs typeface="Arial" panose="020B0604020202020204" pitchFamily="34" charset="0"/>
                        </a:rPr>
                        <a:t>R/W</a:t>
                      </a:r>
                      <a:endParaRPr lang="ko-KR" altLang="en-US" sz="7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bg1">
                              <a:lumMod val="75000"/>
                            </a:schemeClr>
                          </a:solidFill>
                          <a:latin typeface="Arial" panose="020B0604020202020204" pitchFamily="34" charset="0"/>
                          <a:ea typeface="+mn-ea"/>
                          <a:cs typeface="Arial" panose="020B0604020202020204" pitchFamily="34" charset="0"/>
                        </a:rPr>
                        <a:t>0x2C</a:t>
                      </a:r>
                      <a:endParaRPr lang="ko-KR" altLang="en-US" sz="7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bg1">
                              <a:lumMod val="75000"/>
                            </a:schemeClr>
                          </a:solidFill>
                          <a:latin typeface="Arial" panose="020B0604020202020204" pitchFamily="34" charset="0"/>
                          <a:ea typeface="+mn-ea"/>
                          <a:cs typeface="Arial" panose="020B0604020202020204" pitchFamily="34" charset="0"/>
                        </a:rPr>
                        <a:t>0x080</a:t>
                      </a:r>
                      <a:endParaRPr lang="ko-KR" altLang="en-US" sz="7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bg1">
                              <a:lumMod val="75000"/>
                            </a:schemeClr>
                          </a:solidFill>
                          <a:latin typeface="Arial" panose="020B0604020202020204" pitchFamily="34" charset="0"/>
                          <a:ea typeface="+mn-ea"/>
                          <a:cs typeface="Arial" panose="020B0604020202020204" pitchFamily="34" charset="0"/>
                        </a:rPr>
                        <a:t>OSC_COMP_TH_P [10:0]</a:t>
                      </a:r>
                      <a:endParaRPr lang="ko-KR" altLang="en-US" sz="7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84901721"/>
                  </a:ext>
                </a:extLst>
              </a:tr>
            </a:tbl>
          </a:graphicData>
        </a:graphic>
      </p:graphicFrame>
      <p:cxnSp>
        <p:nvCxnSpPr>
          <p:cNvPr id="84" name="직선 연결선 83">
            <a:extLst>
              <a:ext uri="{FF2B5EF4-FFF2-40B4-BE49-F238E27FC236}">
                <a16:creationId xmlns:a16="http://schemas.microsoft.com/office/drawing/2014/main" id="{49627EA3-ABE5-2BF8-C01F-E59210A0F0E1}"/>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089CC7CF-A049-50D0-E5F3-7BBAD8170D98}"/>
              </a:ext>
            </a:extLst>
          </p:cNvPr>
          <p:cNvSpPr txBox="1"/>
          <p:nvPr/>
        </p:nvSpPr>
        <p:spPr>
          <a:xfrm>
            <a:off x="388804" y="875627"/>
            <a:ext cx="6048610" cy="261610"/>
          </a:xfrm>
          <a:prstGeom prst="rect">
            <a:avLst/>
          </a:prstGeom>
          <a:noFill/>
        </p:spPr>
        <p:txBody>
          <a:bodyPr wrap="square" lIns="0" rtlCol="0">
            <a:spAutoFit/>
          </a:bodyPr>
          <a:lstStyle/>
          <a:p>
            <a:r>
              <a:rPr lang="en-US" altLang="ko-KR" sz="1100" b="1" dirty="0">
                <a:solidFill>
                  <a:schemeClr val="bg1">
                    <a:lumMod val="75000"/>
                  </a:schemeClr>
                </a:solidFill>
                <a:latin typeface="Arial" panose="020B0604020202020204" pitchFamily="34" charset="0"/>
                <a:cs typeface="Arial" panose="020B0604020202020204" pitchFamily="34" charset="0"/>
              </a:rPr>
              <a:t>OSC COMPENSATION THRESHOLD POSITIVE / NEGATIVE</a:t>
            </a:r>
          </a:p>
        </p:txBody>
      </p:sp>
      <p:sp>
        <p:nvSpPr>
          <p:cNvPr id="13" name="TextBox 12">
            <a:extLst>
              <a:ext uri="{FF2B5EF4-FFF2-40B4-BE49-F238E27FC236}">
                <a16:creationId xmlns:a16="http://schemas.microsoft.com/office/drawing/2014/main" id="{14B4A590-A1D6-77F7-5A53-A6B9E0674C8A}"/>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14" name="표 13">
            <a:extLst>
              <a:ext uri="{FF2B5EF4-FFF2-40B4-BE49-F238E27FC236}">
                <a16:creationId xmlns:a16="http://schemas.microsoft.com/office/drawing/2014/main" id="{DC63824F-3C10-0A2E-C688-5DF3F90203AB}"/>
              </a:ext>
            </a:extLst>
          </p:cNvPr>
          <p:cNvGraphicFramePr>
            <a:graphicFrameLocks noGrp="1"/>
          </p:cNvGraphicFramePr>
          <p:nvPr>
            <p:extLst>
              <p:ext uri="{D42A27DB-BD31-4B8C-83A1-F6EECF244321}">
                <p14:modId xmlns:p14="http://schemas.microsoft.com/office/powerpoint/2010/main" val="1716916694"/>
              </p:ext>
            </p:extLst>
          </p:nvPr>
        </p:nvGraphicFramePr>
        <p:xfrm>
          <a:off x="398763" y="1977607"/>
          <a:ext cx="6046209" cy="1858431"/>
        </p:xfrm>
        <a:graphic>
          <a:graphicData uri="http://schemas.openxmlformats.org/drawingml/2006/table">
            <a:tbl>
              <a:tblPr firstRow="1" bandRow="1">
                <a:tableStyleId>{5C22544A-7EE6-4342-B048-85BDC9FD1C3A}</a:tableStyleId>
              </a:tblPr>
              <a:tblGrid>
                <a:gridCol w="324558">
                  <a:extLst>
                    <a:ext uri="{9D8B030D-6E8A-4147-A177-3AD203B41FA5}">
                      <a16:colId xmlns:a16="http://schemas.microsoft.com/office/drawing/2014/main" val="4170535043"/>
                    </a:ext>
                  </a:extLst>
                </a:gridCol>
                <a:gridCol w="1204737">
                  <a:extLst>
                    <a:ext uri="{9D8B030D-6E8A-4147-A177-3AD203B41FA5}">
                      <a16:colId xmlns:a16="http://schemas.microsoft.com/office/drawing/2014/main" val="2079070694"/>
                    </a:ext>
                  </a:extLst>
                </a:gridCol>
                <a:gridCol w="4516914">
                  <a:extLst>
                    <a:ext uri="{9D8B030D-6E8A-4147-A177-3AD203B41FA5}">
                      <a16:colId xmlns:a16="http://schemas.microsoft.com/office/drawing/2014/main" val="32595803"/>
                    </a:ext>
                  </a:extLst>
                </a:gridCol>
              </a:tblGrid>
              <a:tr h="262431">
                <a:tc>
                  <a:txBody>
                    <a:bodyPr/>
                    <a:lstStyle/>
                    <a:p>
                      <a:pPr algn="l" latinLnBrk="1"/>
                      <a:r>
                        <a:rPr lang="en-US" altLang="ko-KR" sz="900" b="1" dirty="0">
                          <a:solidFill>
                            <a:schemeClr val="bg1">
                              <a:lumMod val="75000"/>
                            </a:schemeClr>
                          </a:solidFill>
                          <a:latin typeface="Arial" panose="020B0604020202020204" pitchFamily="34" charset="0"/>
                          <a:ea typeface="+mn-ea"/>
                          <a:cs typeface="Arial" panose="020B0604020202020204" pitchFamily="34" charset="0"/>
                        </a:rPr>
                        <a:t>Bits</a:t>
                      </a:r>
                      <a:endParaRPr lang="ko-KR" altLang="en-US" sz="900" b="1"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bg1">
                              <a:lumMod val="75000"/>
                            </a:schemeClr>
                          </a:solidFill>
                          <a:latin typeface="Arial" panose="020B0604020202020204" pitchFamily="34" charset="0"/>
                          <a:ea typeface="+mn-ea"/>
                          <a:cs typeface="Arial" panose="020B0604020202020204" pitchFamily="34" charset="0"/>
                        </a:rPr>
                        <a:t>Fields</a:t>
                      </a:r>
                      <a:endParaRPr lang="ko-KR" altLang="en-US" sz="900" b="1"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bg1">
                              <a:lumMod val="75000"/>
                            </a:schemeClr>
                          </a:solidFill>
                          <a:latin typeface="Arial" panose="020B0604020202020204" pitchFamily="34" charset="0"/>
                          <a:ea typeface="+mn-ea"/>
                          <a:cs typeface="Arial" panose="020B0604020202020204" pitchFamily="34" charset="0"/>
                        </a:rPr>
                        <a:t>Descriptions</a:t>
                      </a:r>
                      <a:endParaRPr lang="ko-KR" altLang="en-US" sz="900" b="1"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6782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bg1">
                              <a:lumMod val="75000"/>
                            </a:schemeClr>
                          </a:solidFill>
                          <a:latin typeface="Arial" panose="020B0604020202020204" pitchFamily="34" charset="0"/>
                          <a:ea typeface="+mn-ea"/>
                          <a:cs typeface="Arial" panose="020B0604020202020204" pitchFamily="34" charset="0"/>
                        </a:rPr>
                        <a:t>10:0</a:t>
                      </a:r>
                      <a:endParaRPr lang="ko-KR" altLang="en-US" sz="9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bg1">
                              <a:lumMod val="75000"/>
                            </a:schemeClr>
                          </a:solidFill>
                          <a:latin typeface="Arial" panose="020B0604020202020204" pitchFamily="34" charset="0"/>
                          <a:ea typeface="+mn-ea"/>
                          <a:cs typeface="Arial" panose="020B0604020202020204" pitchFamily="34" charset="0"/>
                        </a:rPr>
                        <a:t>OSC_COMP_TH_P</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bg1">
                              <a:lumMod val="75000"/>
                            </a:schemeClr>
                          </a:solidFill>
                          <a:latin typeface="Arial" panose="020B0604020202020204" pitchFamily="34" charset="0"/>
                          <a:ea typeface="+mn-ea"/>
                          <a:cs typeface="Arial" panose="020B0604020202020204" pitchFamily="34" charset="0"/>
                        </a:rPr>
                        <a:t>OSC_COMP_TH_N</a:t>
                      </a:r>
                      <a:endParaRPr lang="ko-KR" altLang="en-US" sz="9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bg1">
                              <a:lumMod val="75000"/>
                            </a:schemeClr>
                          </a:solidFill>
                          <a:effectLst/>
                          <a:latin typeface="Arial" panose="020B0604020202020204" pitchFamily="34" charset="0"/>
                          <a:ea typeface="+mn-ea"/>
                          <a:cs typeface="Arial" panose="020B0604020202020204" pitchFamily="34" charset="0"/>
                        </a:rPr>
                        <a:t>This value means the threshold that determines what to do with the compensation. The MCLK will be faster or slower 80khz per 184. Normally, it is recommended to use the default value.</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i="0" kern="1200" dirty="0">
                        <a:solidFill>
                          <a:schemeClr val="bg1">
                            <a:lumMod val="75000"/>
                          </a:schemeClr>
                        </a:solidFill>
                        <a:effectLst/>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i="0" kern="1200" dirty="0">
                          <a:solidFill>
                            <a:schemeClr val="bg1">
                              <a:lumMod val="75000"/>
                            </a:schemeClr>
                          </a:solidFill>
                          <a:effectLst/>
                          <a:latin typeface="Arial" panose="020B0604020202020204" pitchFamily="34" charset="0"/>
                          <a:ea typeface="+mn-ea"/>
                          <a:cs typeface="Arial" panose="020B0604020202020204" pitchFamily="34" charset="0"/>
                        </a:rPr>
                        <a:t>  1. In case of MCLK_LOCK &gt; internal mclk counting value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i="0" kern="1200" dirty="0">
                          <a:solidFill>
                            <a:schemeClr val="bg1">
                              <a:lumMod val="75000"/>
                            </a:schemeClr>
                          </a:solidFill>
                          <a:effectLst/>
                          <a:latin typeface="Arial" panose="020B0604020202020204" pitchFamily="34" charset="0"/>
                          <a:ea typeface="+mn-ea"/>
                          <a:cs typeface="Arial" panose="020B0604020202020204" pitchFamily="34" charset="0"/>
                        </a:rPr>
                        <a:t>       if the difference &gt; OSC_COMP_TH_P, then increase OSC_COMP by 1 and result in MCLK</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i="0" kern="1200" dirty="0">
                          <a:solidFill>
                            <a:schemeClr val="bg1">
                              <a:lumMod val="75000"/>
                            </a:schemeClr>
                          </a:solidFill>
                          <a:effectLst/>
                          <a:latin typeface="Arial" panose="020B0604020202020204" pitchFamily="34" charset="0"/>
                          <a:ea typeface="+mn-ea"/>
                          <a:cs typeface="Arial" panose="020B0604020202020204" pitchFamily="34" charset="0"/>
                        </a:rPr>
                        <a:t>       faster</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i="0" kern="1200" dirty="0">
                          <a:solidFill>
                            <a:schemeClr val="bg1">
                              <a:lumMod val="75000"/>
                            </a:schemeClr>
                          </a:solidFill>
                          <a:effectLst/>
                          <a:latin typeface="Arial" panose="020B0604020202020204" pitchFamily="34" charset="0"/>
                          <a:ea typeface="+mn-ea"/>
                          <a:cs typeface="Arial" panose="020B0604020202020204" pitchFamily="34" charset="0"/>
                        </a:rPr>
                        <a:t>  2. In case of MCLK_LOCK &lt; internal mclk counting value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i="0" kern="1200" dirty="0">
                          <a:solidFill>
                            <a:schemeClr val="bg1">
                              <a:lumMod val="75000"/>
                            </a:schemeClr>
                          </a:solidFill>
                          <a:effectLst/>
                          <a:latin typeface="Arial" panose="020B0604020202020204" pitchFamily="34" charset="0"/>
                          <a:ea typeface="+mn-ea"/>
                          <a:cs typeface="Arial" panose="020B0604020202020204" pitchFamily="34" charset="0"/>
                        </a:rPr>
                        <a:t>       if the difference &gt; OSC_COMP_TH_N, then decrease OSC_COMP by 1 and result in MCLK</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i="0" kern="1200" dirty="0">
                          <a:solidFill>
                            <a:schemeClr val="bg1">
                              <a:lumMod val="75000"/>
                            </a:schemeClr>
                          </a:solidFill>
                          <a:effectLst/>
                          <a:latin typeface="Arial" panose="020B0604020202020204" pitchFamily="34" charset="0"/>
                          <a:ea typeface="+mn-ea"/>
                          <a:cs typeface="Arial" panose="020B0604020202020204" pitchFamily="34" charset="0"/>
                        </a:rPr>
                        <a:t>       slower</a:t>
                      </a:r>
                      <a:endParaRPr lang="en-US" altLang="ko-KR" sz="800" b="0" dirty="0">
                        <a:solidFill>
                          <a:schemeClr val="bg1">
                            <a:lumMod val="75000"/>
                          </a:schemeClr>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i="0" kern="1200" dirty="0">
                          <a:solidFill>
                            <a:schemeClr val="bg1">
                              <a:lumMod val="75000"/>
                            </a:schemeClr>
                          </a:solidFill>
                          <a:effectLst/>
                          <a:latin typeface="Arial" panose="020B0604020202020204" pitchFamily="34" charset="0"/>
                          <a:ea typeface="+mn-ea"/>
                          <a:cs typeface="Arial" panose="020B0604020202020204" pitchFamily="34" charset="0"/>
                        </a:rPr>
                        <a:t>  3. Else : keep the current state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i="0" kern="1200" dirty="0">
                          <a:solidFill>
                            <a:schemeClr val="bg1">
                              <a:lumMod val="75000"/>
                            </a:schemeClr>
                          </a:solidFill>
                          <a:effectLst/>
                          <a:latin typeface="Arial" panose="020B0604020202020204" pitchFamily="34" charset="0"/>
                          <a:ea typeface="+mn-ea"/>
                          <a:cs typeface="Arial" panose="020B0604020202020204" pitchFamily="34" charset="0"/>
                        </a:rPr>
                        <a:t>  4. The signs in the above equation, + and -, is exchanged each other if the OSC_POL is set.</a:t>
                      </a:r>
                      <a:endParaRPr lang="en-US" altLang="ko-KR" sz="8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4" name="표 3">
            <a:extLst>
              <a:ext uri="{FF2B5EF4-FFF2-40B4-BE49-F238E27FC236}">
                <a16:creationId xmlns:a16="http://schemas.microsoft.com/office/drawing/2014/main" id="{A2C1C94D-B7BF-4E60-9ADA-964E1709FA91}"/>
              </a:ext>
            </a:extLst>
          </p:cNvPr>
          <p:cNvGraphicFramePr>
            <a:graphicFrameLocks noGrp="1"/>
          </p:cNvGraphicFramePr>
          <p:nvPr>
            <p:extLst>
              <p:ext uri="{D42A27DB-BD31-4B8C-83A1-F6EECF244321}">
                <p14:modId xmlns:p14="http://schemas.microsoft.com/office/powerpoint/2010/main" val="3641028433"/>
              </p:ext>
            </p:extLst>
          </p:nvPr>
        </p:nvGraphicFramePr>
        <p:xfrm>
          <a:off x="404813" y="1554787"/>
          <a:ext cx="6048603" cy="372600"/>
        </p:xfrm>
        <a:graphic>
          <a:graphicData uri="http://schemas.openxmlformats.org/drawingml/2006/table">
            <a:tbl>
              <a:tblPr firstRow="1" bandRow="1">
                <a:tableStyleId>{5C22544A-7EE6-4342-B048-85BDC9FD1C3A}</a:tableStyleId>
              </a:tblPr>
              <a:tblGrid>
                <a:gridCol w="272199">
                  <a:extLst>
                    <a:ext uri="{9D8B030D-6E8A-4147-A177-3AD203B41FA5}">
                      <a16:colId xmlns:a16="http://schemas.microsoft.com/office/drawing/2014/main" val="657570846"/>
                    </a:ext>
                  </a:extLst>
                </a:gridCol>
                <a:gridCol w="328739">
                  <a:extLst>
                    <a:ext uri="{9D8B030D-6E8A-4147-A177-3AD203B41FA5}">
                      <a16:colId xmlns:a16="http://schemas.microsoft.com/office/drawing/2014/main" val="3259894497"/>
                    </a:ext>
                  </a:extLst>
                </a:gridCol>
                <a:gridCol w="425149">
                  <a:extLst>
                    <a:ext uri="{9D8B030D-6E8A-4147-A177-3AD203B41FA5}">
                      <a16:colId xmlns:a16="http://schemas.microsoft.com/office/drawing/2014/main" val="4170535043"/>
                    </a:ext>
                  </a:extLst>
                </a:gridCol>
                <a:gridCol w="418543">
                  <a:extLst>
                    <a:ext uri="{9D8B030D-6E8A-4147-A177-3AD203B41FA5}">
                      <a16:colId xmlns:a16="http://schemas.microsoft.com/office/drawing/2014/main" val="2079070694"/>
                    </a:ext>
                  </a:extLst>
                </a:gridCol>
                <a:gridCol w="418543">
                  <a:extLst>
                    <a:ext uri="{9D8B030D-6E8A-4147-A177-3AD203B41FA5}">
                      <a16:colId xmlns:a16="http://schemas.microsoft.com/office/drawing/2014/main" val="4213315911"/>
                    </a:ext>
                  </a:extLst>
                </a:gridCol>
                <a:gridCol w="418543">
                  <a:extLst>
                    <a:ext uri="{9D8B030D-6E8A-4147-A177-3AD203B41FA5}">
                      <a16:colId xmlns:a16="http://schemas.microsoft.com/office/drawing/2014/main" val="2769999950"/>
                    </a:ext>
                  </a:extLst>
                </a:gridCol>
                <a:gridCol w="418543">
                  <a:extLst>
                    <a:ext uri="{9D8B030D-6E8A-4147-A177-3AD203B41FA5}">
                      <a16:colId xmlns:a16="http://schemas.microsoft.com/office/drawing/2014/main" val="135637185"/>
                    </a:ext>
                  </a:extLst>
                </a:gridCol>
                <a:gridCol w="418543">
                  <a:extLst>
                    <a:ext uri="{9D8B030D-6E8A-4147-A177-3AD203B41FA5}">
                      <a16:colId xmlns:a16="http://schemas.microsoft.com/office/drawing/2014/main" val="3038050475"/>
                    </a:ext>
                  </a:extLst>
                </a:gridCol>
                <a:gridCol w="418543">
                  <a:extLst>
                    <a:ext uri="{9D8B030D-6E8A-4147-A177-3AD203B41FA5}">
                      <a16:colId xmlns:a16="http://schemas.microsoft.com/office/drawing/2014/main" val="1979433044"/>
                    </a:ext>
                  </a:extLst>
                </a:gridCol>
                <a:gridCol w="418543">
                  <a:extLst>
                    <a:ext uri="{9D8B030D-6E8A-4147-A177-3AD203B41FA5}">
                      <a16:colId xmlns:a16="http://schemas.microsoft.com/office/drawing/2014/main" val="4270661649"/>
                    </a:ext>
                  </a:extLst>
                </a:gridCol>
                <a:gridCol w="418543">
                  <a:extLst>
                    <a:ext uri="{9D8B030D-6E8A-4147-A177-3AD203B41FA5}">
                      <a16:colId xmlns:a16="http://schemas.microsoft.com/office/drawing/2014/main" val="3027041370"/>
                    </a:ext>
                  </a:extLst>
                </a:gridCol>
                <a:gridCol w="418543">
                  <a:extLst>
                    <a:ext uri="{9D8B030D-6E8A-4147-A177-3AD203B41FA5}">
                      <a16:colId xmlns:a16="http://schemas.microsoft.com/office/drawing/2014/main" val="2852526216"/>
                    </a:ext>
                  </a:extLst>
                </a:gridCol>
                <a:gridCol w="418543">
                  <a:extLst>
                    <a:ext uri="{9D8B030D-6E8A-4147-A177-3AD203B41FA5}">
                      <a16:colId xmlns:a16="http://schemas.microsoft.com/office/drawing/2014/main" val="103420222"/>
                    </a:ext>
                  </a:extLst>
                </a:gridCol>
                <a:gridCol w="418543">
                  <a:extLst>
                    <a:ext uri="{9D8B030D-6E8A-4147-A177-3AD203B41FA5}">
                      <a16:colId xmlns:a16="http://schemas.microsoft.com/office/drawing/2014/main" val="1470405609"/>
                    </a:ext>
                  </a:extLst>
                </a:gridCol>
                <a:gridCol w="41854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bg1">
                              <a:lumMod val="75000"/>
                            </a:schemeClr>
                          </a:solidFill>
                          <a:latin typeface="Arial" panose="020B0604020202020204" pitchFamily="34" charset="0"/>
                          <a:ea typeface="+mn-ea"/>
                          <a:cs typeface="Arial" panose="020B0604020202020204" pitchFamily="34" charset="0"/>
                        </a:rPr>
                        <a:t>Acc</a:t>
                      </a:r>
                      <a:endParaRPr lang="ko-KR" altLang="en-US" sz="8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bg1">
                              <a:lumMod val="75000"/>
                            </a:schemeClr>
                          </a:solidFill>
                          <a:latin typeface="Arial" panose="020B0604020202020204" pitchFamily="34" charset="0"/>
                          <a:ea typeface="+mn-ea"/>
                          <a:cs typeface="Arial" panose="020B0604020202020204" pitchFamily="34" charset="0"/>
                        </a:rPr>
                        <a:t>Addr</a:t>
                      </a:r>
                      <a:endParaRPr lang="ko-KR" altLang="en-US" sz="8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bg1">
                              <a:lumMod val="75000"/>
                            </a:schemeClr>
                          </a:solidFill>
                          <a:latin typeface="Arial" panose="020B0604020202020204" pitchFamily="34" charset="0"/>
                          <a:ea typeface="+mn-ea"/>
                          <a:cs typeface="Arial" panose="020B0604020202020204" pitchFamily="34" charset="0"/>
                        </a:rPr>
                        <a:t>Default</a:t>
                      </a:r>
                      <a:endParaRPr lang="ko-KR" altLang="en-US" sz="8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bg1">
                              <a:lumMod val="75000"/>
                            </a:schemeClr>
                          </a:solidFill>
                          <a:latin typeface="Arial" panose="020B0604020202020204" pitchFamily="34" charset="0"/>
                          <a:ea typeface="+mn-ea"/>
                          <a:cs typeface="Arial" panose="020B0604020202020204" pitchFamily="34" charset="0"/>
                        </a:rPr>
                        <a:t>B11</a:t>
                      </a:r>
                      <a:endParaRPr lang="ko-KR" altLang="en-US" sz="8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bg1">
                              <a:lumMod val="75000"/>
                            </a:schemeClr>
                          </a:solidFill>
                          <a:latin typeface="Arial" panose="020B0604020202020204" pitchFamily="34" charset="0"/>
                          <a:ea typeface="+mn-ea"/>
                          <a:cs typeface="Arial" panose="020B0604020202020204" pitchFamily="34" charset="0"/>
                        </a:rPr>
                        <a:t>B10</a:t>
                      </a:r>
                      <a:endParaRPr lang="ko-KR" altLang="en-US" sz="8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bg1">
                              <a:lumMod val="75000"/>
                            </a:schemeClr>
                          </a:solidFill>
                          <a:latin typeface="Arial" panose="020B0604020202020204" pitchFamily="34" charset="0"/>
                          <a:ea typeface="+mn-ea"/>
                          <a:cs typeface="Arial" panose="020B0604020202020204" pitchFamily="34" charset="0"/>
                        </a:rPr>
                        <a:t>B9</a:t>
                      </a:r>
                      <a:endParaRPr lang="ko-KR" altLang="en-US" sz="8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bg1">
                              <a:lumMod val="75000"/>
                            </a:schemeClr>
                          </a:solidFill>
                          <a:latin typeface="Arial" panose="020B0604020202020204" pitchFamily="34" charset="0"/>
                          <a:ea typeface="+mn-ea"/>
                          <a:cs typeface="Arial" panose="020B0604020202020204" pitchFamily="34" charset="0"/>
                        </a:rPr>
                        <a:t>R/W</a:t>
                      </a:r>
                      <a:endParaRPr lang="ko-KR" altLang="en-US" sz="7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bg1">
                              <a:lumMod val="75000"/>
                            </a:schemeClr>
                          </a:solidFill>
                          <a:latin typeface="Arial" panose="020B0604020202020204" pitchFamily="34" charset="0"/>
                          <a:ea typeface="+mn-ea"/>
                          <a:cs typeface="Arial" panose="020B0604020202020204" pitchFamily="34" charset="0"/>
                        </a:rPr>
                        <a:t>0x2D</a:t>
                      </a:r>
                      <a:endParaRPr lang="ko-KR" altLang="en-US" sz="7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bg1">
                              <a:lumMod val="75000"/>
                            </a:schemeClr>
                          </a:solidFill>
                          <a:latin typeface="Arial" panose="020B0604020202020204" pitchFamily="34" charset="0"/>
                          <a:ea typeface="+mn-ea"/>
                          <a:cs typeface="Arial" panose="020B0604020202020204" pitchFamily="34" charset="0"/>
                        </a:rPr>
                        <a:t>0x200</a:t>
                      </a:r>
                      <a:endParaRPr lang="ko-KR" altLang="en-US" sz="7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bg1">
                            <a:lumMod val="75000"/>
                          </a:schemeClr>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bg1">
                              <a:lumMod val="75000"/>
                            </a:schemeClr>
                          </a:solidFill>
                          <a:latin typeface="Arial" panose="020B0604020202020204" pitchFamily="34" charset="0"/>
                          <a:ea typeface="+mn-ea"/>
                          <a:cs typeface="Arial" panose="020B0604020202020204" pitchFamily="34" charset="0"/>
                        </a:rPr>
                        <a:t>OSC_COMP_TH_N [10:0]</a:t>
                      </a:r>
                      <a:endParaRPr lang="ko-KR" altLang="en-US" sz="700" b="0" dirty="0">
                        <a:solidFill>
                          <a:schemeClr val="bg1">
                            <a:lumMod val="75000"/>
                          </a:schemeClr>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84901721"/>
                  </a:ext>
                </a:extLst>
              </a:tr>
            </a:tbl>
          </a:graphicData>
        </a:graphic>
      </p:graphicFrame>
      <p:pic>
        <p:nvPicPr>
          <p:cNvPr id="17" name="그림 16">
            <a:extLst>
              <a:ext uri="{FF2B5EF4-FFF2-40B4-BE49-F238E27FC236}">
                <a16:creationId xmlns:a16="http://schemas.microsoft.com/office/drawing/2014/main" id="{BECC7993-AB74-2041-1141-D644AB9CC392}"/>
              </a:ext>
            </a:extLst>
          </p:cNvPr>
          <p:cNvPicPr>
            <a:picLocks noChangeAspect="1"/>
          </p:cNvPicPr>
          <p:nvPr/>
        </p:nvPicPr>
        <p:blipFill>
          <a:blip r:embed="rId2"/>
          <a:stretch>
            <a:fillRect/>
          </a:stretch>
        </p:blipFill>
        <p:spPr>
          <a:xfrm>
            <a:off x="2016219" y="3970299"/>
            <a:ext cx="4456133" cy="350539"/>
          </a:xfrm>
          <a:prstGeom prst="rect">
            <a:avLst/>
          </a:prstGeom>
        </p:spPr>
      </p:pic>
      <p:sp>
        <p:nvSpPr>
          <p:cNvPr id="3" name="TextBox 2">
            <a:extLst>
              <a:ext uri="{FF2B5EF4-FFF2-40B4-BE49-F238E27FC236}">
                <a16:creationId xmlns:a16="http://schemas.microsoft.com/office/drawing/2014/main" id="{550824E3-157C-5A45-1910-B7E1A86B066B}"/>
              </a:ext>
            </a:extLst>
          </p:cNvPr>
          <p:cNvSpPr txBox="1"/>
          <p:nvPr/>
        </p:nvSpPr>
        <p:spPr>
          <a:xfrm>
            <a:off x="398485" y="4881608"/>
            <a:ext cx="605493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LD CONTROL</a:t>
            </a:r>
          </a:p>
        </p:txBody>
      </p:sp>
      <p:graphicFrame>
        <p:nvGraphicFramePr>
          <p:cNvPr id="9" name="표 8">
            <a:extLst>
              <a:ext uri="{FF2B5EF4-FFF2-40B4-BE49-F238E27FC236}">
                <a16:creationId xmlns:a16="http://schemas.microsoft.com/office/drawing/2014/main" id="{11CD0F43-83AF-A207-D37E-B0A5CC48B783}"/>
              </a:ext>
            </a:extLst>
          </p:cNvPr>
          <p:cNvGraphicFramePr>
            <a:graphicFrameLocks noGrp="1"/>
          </p:cNvGraphicFramePr>
          <p:nvPr>
            <p:extLst>
              <p:ext uri="{D42A27DB-BD31-4B8C-83A1-F6EECF244321}">
                <p14:modId xmlns:p14="http://schemas.microsoft.com/office/powerpoint/2010/main" val="2195897146"/>
              </p:ext>
            </p:extLst>
          </p:nvPr>
        </p:nvGraphicFramePr>
        <p:xfrm>
          <a:off x="398485" y="5570893"/>
          <a:ext cx="6054928" cy="471031"/>
        </p:xfrm>
        <a:graphic>
          <a:graphicData uri="http://schemas.openxmlformats.org/drawingml/2006/table">
            <a:tbl>
              <a:tblPr firstRow="1" bandRow="1">
                <a:tableStyleId>{5C22544A-7EE6-4342-B048-85BDC9FD1C3A}</a:tableStyleId>
              </a:tblPr>
              <a:tblGrid>
                <a:gridCol w="437619">
                  <a:extLst>
                    <a:ext uri="{9D8B030D-6E8A-4147-A177-3AD203B41FA5}">
                      <a16:colId xmlns:a16="http://schemas.microsoft.com/office/drawing/2014/main" val="4170535043"/>
                    </a:ext>
                  </a:extLst>
                </a:gridCol>
                <a:gridCol w="1146691">
                  <a:extLst>
                    <a:ext uri="{9D8B030D-6E8A-4147-A177-3AD203B41FA5}">
                      <a16:colId xmlns:a16="http://schemas.microsoft.com/office/drawing/2014/main" val="2079070694"/>
                    </a:ext>
                  </a:extLst>
                </a:gridCol>
                <a:gridCol w="4470618">
                  <a:extLst>
                    <a:ext uri="{9D8B030D-6E8A-4147-A177-3AD203B41FA5}">
                      <a16:colId xmlns:a16="http://schemas.microsoft.com/office/drawing/2014/main" val="32595803"/>
                    </a:ext>
                  </a:extLst>
                </a:gridCol>
              </a:tblGrid>
              <a:tr h="261871">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7819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22" name="표 21">
            <a:extLst>
              <a:ext uri="{FF2B5EF4-FFF2-40B4-BE49-F238E27FC236}">
                <a16:creationId xmlns:a16="http://schemas.microsoft.com/office/drawing/2014/main" id="{737ED136-E55D-9248-CDD0-079C647F0895}"/>
              </a:ext>
            </a:extLst>
          </p:cNvPr>
          <p:cNvGraphicFramePr>
            <a:graphicFrameLocks noGrp="1"/>
          </p:cNvGraphicFramePr>
          <p:nvPr>
            <p:extLst>
              <p:ext uri="{D42A27DB-BD31-4B8C-83A1-F6EECF244321}">
                <p14:modId xmlns:p14="http://schemas.microsoft.com/office/powerpoint/2010/main" val="390054368"/>
              </p:ext>
            </p:extLst>
          </p:nvPr>
        </p:nvGraphicFramePr>
        <p:xfrm>
          <a:off x="398485" y="5158489"/>
          <a:ext cx="6054929" cy="372600"/>
        </p:xfrm>
        <a:graphic>
          <a:graphicData uri="http://schemas.openxmlformats.org/drawingml/2006/table">
            <a:tbl>
              <a:tblPr firstRow="1" bandRow="1">
                <a:tableStyleId>{5C22544A-7EE6-4342-B048-85BDC9FD1C3A}</a:tableStyleId>
              </a:tblPr>
              <a:tblGrid>
                <a:gridCol w="274897">
                  <a:extLst>
                    <a:ext uri="{9D8B030D-6E8A-4147-A177-3AD203B41FA5}">
                      <a16:colId xmlns:a16="http://schemas.microsoft.com/office/drawing/2014/main" val="657570846"/>
                    </a:ext>
                  </a:extLst>
                </a:gridCol>
                <a:gridCol w="324864">
                  <a:extLst>
                    <a:ext uri="{9D8B030D-6E8A-4147-A177-3AD203B41FA5}">
                      <a16:colId xmlns:a16="http://schemas.microsoft.com/office/drawing/2014/main" val="3259894497"/>
                    </a:ext>
                  </a:extLst>
                </a:gridCol>
                <a:gridCol w="424012">
                  <a:extLst>
                    <a:ext uri="{9D8B030D-6E8A-4147-A177-3AD203B41FA5}">
                      <a16:colId xmlns:a16="http://schemas.microsoft.com/office/drawing/2014/main" val="4170535043"/>
                    </a:ext>
                  </a:extLst>
                </a:gridCol>
                <a:gridCol w="419263">
                  <a:extLst>
                    <a:ext uri="{9D8B030D-6E8A-4147-A177-3AD203B41FA5}">
                      <a16:colId xmlns:a16="http://schemas.microsoft.com/office/drawing/2014/main" val="2079070694"/>
                    </a:ext>
                  </a:extLst>
                </a:gridCol>
                <a:gridCol w="419263">
                  <a:extLst>
                    <a:ext uri="{9D8B030D-6E8A-4147-A177-3AD203B41FA5}">
                      <a16:colId xmlns:a16="http://schemas.microsoft.com/office/drawing/2014/main" val="4213315911"/>
                    </a:ext>
                  </a:extLst>
                </a:gridCol>
                <a:gridCol w="419263">
                  <a:extLst>
                    <a:ext uri="{9D8B030D-6E8A-4147-A177-3AD203B41FA5}">
                      <a16:colId xmlns:a16="http://schemas.microsoft.com/office/drawing/2014/main" val="2769999950"/>
                    </a:ext>
                  </a:extLst>
                </a:gridCol>
                <a:gridCol w="419263">
                  <a:extLst>
                    <a:ext uri="{9D8B030D-6E8A-4147-A177-3AD203B41FA5}">
                      <a16:colId xmlns:a16="http://schemas.microsoft.com/office/drawing/2014/main" val="135637185"/>
                    </a:ext>
                  </a:extLst>
                </a:gridCol>
                <a:gridCol w="419263">
                  <a:extLst>
                    <a:ext uri="{9D8B030D-6E8A-4147-A177-3AD203B41FA5}">
                      <a16:colId xmlns:a16="http://schemas.microsoft.com/office/drawing/2014/main" val="3038050475"/>
                    </a:ext>
                  </a:extLst>
                </a:gridCol>
                <a:gridCol w="419263">
                  <a:extLst>
                    <a:ext uri="{9D8B030D-6E8A-4147-A177-3AD203B41FA5}">
                      <a16:colId xmlns:a16="http://schemas.microsoft.com/office/drawing/2014/main" val="1979433044"/>
                    </a:ext>
                  </a:extLst>
                </a:gridCol>
                <a:gridCol w="419263">
                  <a:extLst>
                    <a:ext uri="{9D8B030D-6E8A-4147-A177-3AD203B41FA5}">
                      <a16:colId xmlns:a16="http://schemas.microsoft.com/office/drawing/2014/main" val="4270661649"/>
                    </a:ext>
                  </a:extLst>
                </a:gridCol>
                <a:gridCol w="419263">
                  <a:extLst>
                    <a:ext uri="{9D8B030D-6E8A-4147-A177-3AD203B41FA5}">
                      <a16:colId xmlns:a16="http://schemas.microsoft.com/office/drawing/2014/main" val="3027041370"/>
                    </a:ext>
                  </a:extLst>
                </a:gridCol>
                <a:gridCol w="419263">
                  <a:extLst>
                    <a:ext uri="{9D8B030D-6E8A-4147-A177-3AD203B41FA5}">
                      <a16:colId xmlns:a16="http://schemas.microsoft.com/office/drawing/2014/main" val="2852526216"/>
                    </a:ext>
                  </a:extLst>
                </a:gridCol>
                <a:gridCol w="419263">
                  <a:extLst>
                    <a:ext uri="{9D8B030D-6E8A-4147-A177-3AD203B41FA5}">
                      <a16:colId xmlns:a16="http://schemas.microsoft.com/office/drawing/2014/main" val="103420222"/>
                    </a:ext>
                  </a:extLst>
                </a:gridCol>
                <a:gridCol w="419263">
                  <a:extLst>
                    <a:ext uri="{9D8B030D-6E8A-4147-A177-3AD203B41FA5}">
                      <a16:colId xmlns:a16="http://schemas.microsoft.com/office/drawing/2014/main" val="1470405609"/>
                    </a:ext>
                  </a:extLst>
                </a:gridCol>
                <a:gridCol w="41926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OFS_TEMP[3:0]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ICTL_GLB[2:0]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1749121"/>
                  </a:ext>
                </a:extLst>
              </a:tr>
            </a:tbl>
          </a:graphicData>
        </a:graphic>
      </p:graphicFrame>
      <p:sp>
        <p:nvSpPr>
          <p:cNvPr id="2" name="TextBox 1">
            <a:extLst>
              <a:ext uri="{FF2B5EF4-FFF2-40B4-BE49-F238E27FC236}">
                <a16:creationId xmlns:a16="http://schemas.microsoft.com/office/drawing/2014/main" id="{929E6FD2-3585-C7CD-7B20-658AB21D5BA2}"/>
              </a:ext>
            </a:extLst>
          </p:cNvPr>
          <p:cNvSpPr txBox="1"/>
          <p:nvPr/>
        </p:nvSpPr>
        <p:spPr>
          <a:xfrm>
            <a:off x="401536" y="6620654"/>
            <a:ext cx="605493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VREF FIX</a:t>
            </a:r>
          </a:p>
        </p:txBody>
      </p:sp>
      <p:graphicFrame>
        <p:nvGraphicFramePr>
          <p:cNvPr id="5" name="표 4">
            <a:extLst>
              <a:ext uri="{FF2B5EF4-FFF2-40B4-BE49-F238E27FC236}">
                <a16:creationId xmlns:a16="http://schemas.microsoft.com/office/drawing/2014/main" id="{5BF479A7-548E-90C9-7388-B9879E2A657F}"/>
              </a:ext>
            </a:extLst>
          </p:cNvPr>
          <p:cNvGraphicFramePr>
            <a:graphicFrameLocks noGrp="1"/>
          </p:cNvGraphicFramePr>
          <p:nvPr>
            <p:extLst>
              <p:ext uri="{D42A27DB-BD31-4B8C-83A1-F6EECF244321}">
                <p14:modId xmlns:p14="http://schemas.microsoft.com/office/powerpoint/2010/main" val="3815794363"/>
              </p:ext>
            </p:extLst>
          </p:nvPr>
        </p:nvGraphicFramePr>
        <p:xfrm>
          <a:off x="401536" y="7309939"/>
          <a:ext cx="6054928" cy="745351"/>
        </p:xfrm>
        <a:graphic>
          <a:graphicData uri="http://schemas.openxmlformats.org/drawingml/2006/table">
            <a:tbl>
              <a:tblPr firstRow="1" bandRow="1">
                <a:tableStyleId>{5C22544A-7EE6-4342-B048-85BDC9FD1C3A}</a:tableStyleId>
              </a:tblPr>
              <a:tblGrid>
                <a:gridCol w="437619">
                  <a:extLst>
                    <a:ext uri="{9D8B030D-6E8A-4147-A177-3AD203B41FA5}">
                      <a16:colId xmlns:a16="http://schemas.microsoft.com/office/drawing/2014/main" val="4170535043"/>
                    </a:ext>
                  </a:extLst>
                </a:gridCol>
                <a:gridCol w="1146691">
                  <a:extLst>
                    <a:ext uri="{9D8B030D-6E8A-4147-A177-3AD203B41FA5}">
                      <a16:colId xmlns:a16="http://schemas.microsoft.com/office/drawing/2014/main" val="2079070694"/>
                    </a:ext>
                  </a:extLst>
                </a:gridCol>
                <a:gridCol w="4470618">
                  <a:extLst>
                    <a:ext uri="{9D8B030D-6E8A-4147-A177-3AD203B41FA5}">
                      <a16:colId xmlns:a16="http://schemas.microsoft.com/office/drawing/2014/main" val="32595803"/>
                    </a:ext>
                  </a:extLst>
                </a:gridCol>
              </a:tblGrid>
              <a:tr h="261871">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7819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VREF_FIX</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It determines the fixed VREF out value instead of the MAX_CURR_VREF when the vsync miss is detected under the MISS_VS_DIMM=1 and the MISS_VS_DET_E=1.  At the same time, the LD data is out with the LD FIX registers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6" name="표 5">
            <a:extLst>
              <a:ext uri="{FF2B5EF4-FFF2-40B4-BE49-F238E27FC236}">
                <a16:creationId xmlns:a16="http://schemas.microsoft.com/office/drawing/2014/main" id="{46A4F3BC-FF77-86B2-BEFB-C8D944452CA9}"/>
              </a:ext>
            </a:extLst>
          </p:cNvPr>
          <p:cNvGraphicFramePr>
            <a:graphicFrameLocks noGrp="1"/>
          </p:cNvGraphicFramePr>
          <p:nvPr>
            <p:extLst>
              <p:ext uri="{D42A27DB-BD31-4B8C-83A1-F6EECF244321}">
                <p14:modId xmlns:p14="http://schemas.microsoft.com/office/powerpoint/2010/main" val="3217901780"/>
              </p:ext>
            </p:extLst>
          </p:nvPr>
        </p:nvGraphicFramePr>
        <p:xfrm>
          <a:off x="401536" y="6897535"/>
          <a:ext cx="6054929" cy="372600"/>
        </p:xfrm>
        <a:graphic>
          <a:graphicData uri="http://schemas.openxmlformats.org/drawingml/2006/table">
            <a:tbl>
              <a:tblPr firstRow="1" bandRow="1">
                <a:tableStyleId>{5C22544A-7EE6-4342-B048-85BDC9FD1C3A}</a:tableStyleId>
              </a:tblPr>
              <a:tblGrid>
                <a:gridCol w="274897">
                  <a:extLst>
                    <a:ext uri="{9D8B030D-6E8A-4147-A177-3AD203B41FA5}">
                      <a16:colId xmlns:a16="http://schemas.microsoft.com/office/drawing/2014/main" val="657570846"/>
                    </a:ext>
                  </a:extLst>
                </a:gridCol>
                <a:gridCol w="324864">
                  <a:extLst>
                    <a:ext uri="{9D8B030D-6E8A-4147-A177-3AD203B41FA5}">
                      <a16:colId xmlns:a16="http://schemas.microsoft.com/office/drawing/2014/main" val="3259894497"/>
                    </a:ext>
                  </a:extLst>
                </a:gridCol>
                <a:gridCol w="424012">
                  <a:extLst>
                    <a:ext uri="{9D8B030D-6E8A-4147-A177-3AD203B41FA5}">
                      <a16:colId xmlns:a16="http://schemas.microsoft.com/office/drawing/2014/main" val="4170535043"/>
                    </a:ext>
                  </a:extLst>
                </a:gridCol>
                <a:gridCol w="419263">
                  <a:extLst>
                    <a:ext uri="{9D8B030D-6E8A-4147-A177-3AD203B41FA5}">
                      <a16:colId xmlns:a16="http://schemas.microsoft.com/office/drawing/2014/main" val="2079070694"/>
                    </a:ext>
                  </a:extLst>
                </a:gridCol>
                <a:gridCol w="419263">
                  <a:extLst>
                    <a:ext uri="{9D8B030D-6E8A-4147-A177-3AD203B41FA5}">
                      <a16:colId xmlns:a16="http://schemas.microsoft.com/office/drawing/2014/main" val="4213315911"/>
                    </a:ext>
                  </a:extLst>
                </a:gridCol>
                <a:gridCol w="419263">
                  <a:extLst>
                    <a:ext uri="{9D8B030D-6E8A-4147-A177-3AD203B41FA5}">
                      <a16:colId xmlns:a16="http://schemas.microsoft.com/office/drawing/2014/main" val="2769999950"/>
                    </a:ext>
                  </a:extLst>
                </a:gridCol>
                <a:gridCol w="419263">
                  <a:extLst>
                    <a:ext uri="{9D8B030D-6E8A-4147-A177-3AD203B41FA5}">
                      <a16:colId xmlns:a16="http://schemas.microsoft.com/office/drawing/2014/main" val="135637185"/>
                    </a:ext>
                  </a:extLst>
                </a:gridCol>
                <a:gridCol w="419263">
                  <a:extLst>
                    <a:ext uri="{9D8B030D-6E8A-4147-A177-3AD203B41FA5}">
                      <a16:colId xmlns:a16="http://schemas.microsoft.com/office/drawing/2014/main" val="3038050475"/>
                    </a:ext>
                  </a:extLst>
                </a:gridCol>
                <a:gridCol w="419263">
                  <a:extLst>
                    <a:ext uri="{9D8B030D-6E8A-4147-A177-3AD203B41FA5}">
                      <a16:colId xmlns:a16="http://schemas.microsoft.com/office/drawing/2014/main" val="1979433044"/>
                    </a:ext>
                  </a:extLst>
                </a:gridCol>
                <a:gridCol w="419263">
                  <a:extLst>
                    <a:ext uri="{9D8B030D-6E8A-4147-A177-3AD203B41FA5}">
                      <a16:colId xmlns:a16="http://schemas.microsoft.com/office/drawing/2014/main" val="4270661649"/>
                    </a:ext>
                  </a:extLst>
                </a:gridCol>
                <a:gridCol w="419263">
                  <a:extLst>
                    <a:ext uri="{9D8B030D-6E8A-4147-A177-3AD203B41FA5}">
                      <a16:colId xmlns:a16="http://schemas.microsoft.com/office/drawing/2014/main" val="3027041370"/>
                    </a:ext>
                  </a:extLst>
                </a:gridCol>
                <a:gridCol w="419263">
                  <a:extLst>
                    <a:ext uri="{9D8B030D-6E8A-4147-A177-3AD203B41FA5}">
                      <a16:colId xmlns:a16="http://schemas.microsoft.com/office/drawing/2014/main" val="2852526216"/>
                    </a:ext>
                  </a:extLst>
                </a:gridCol>
                <a:gridCol w="419263">
                  <a:extLst>
                    <a:ext uri="{9D8B030D-6E8A-4147-A177-3AD203B41FA5}">
                      <a16:colId xmlns:a16="http://schemas.microsoft.com/office/drawing/2014/main" val="103420222"/>
                    </a:ext>
                  </a:extLst>
                </a:gridCol>
                <a:gridCol w="419263">
                  <a:extLst>
                    <a:ext uri="{9D8B030D-6E8A-4147-A177-3AD203B41FA5}">
                      <a16:colId xmlns:a16="http://schemas.microsoft.com/office/drawing/2014/main" val="1470405609"/>
                    </a:ext>
                  </a:extLst>
                </a:gridCol>
                <a:gridCol w="41926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VREF_FIX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1749121"/>
                  </a:ext>
                </a:extLst>
              </a:tr>
            </a:tbl>
          </a:graphicData>
        </a:graphic>
      </p:graphicFrame>
    </p:spTree>
    <p:extLst>
      <p:ext uri="{BB962C8B-B14F-4D97-AF65-F5344CB8AC3E}">
        <p14:creationId xmlns:p14="http://schemas.microsoft.com/office/powerpoint/2010/main" val="34121371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A386A8-6F43-E140-1F38-6A78361D88DE}"/>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5752394-4D57-1D0B-64E6-714B9D8733B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2ECDB63E-A382-99C2-23F4-52743B5A8C02}"/>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7" name="표 26">
            <a:extLst>
              <a:ext uri="{FF2B5EF4-FFF2-40B4-BE49-F238E27FC236}">
                <a16:creationId xmlns:a16="http://schemas.microsoft.com/office/drawing/2014/main" id="{BC3D1657-C128-DB34-6926-6974737D2566}"/>
              </a:ext>
            </a:extLst>
          </p:cNvPr>
          <p:cNvGraphicFramePr>
            <a:graphicFrameLocks noGrp="1"/>
          </p:cNvGraphicFramePr>
          <p:nvPr>
            <p:extLst>
              <p:ext uri="{D42A27DB-BD31-4B8C-83A1-F6EECF244321}">
                <p14:modId xmlns:p14="http://schemas.microsoft.com/office/powerpoint/2010/main" val="255958246"/>
              </p:ext>
            </p:extLst>
          </p:nvPr>
        </p:nvGraphicFramePr>
        <p:xfrm>
          <a:off x="407047" y="1556544"/>
          <a:ext cx="6030368" cy="4162818"/>
        </p:xfrm>
        <a:graphic>
          <a:graphicData uri="http://schemas.openxmlformats.org/drawingml/2006/table">
            <a:tbl>
              <a:tblPr firstRow="1" bandRow="1">
                <a:tableStyleId>{5C22544A-7EE6-4342-B048-85BDC9FD1C3A}</a:tableStyleId>
              </a:tblPr>
              <a:tblGrid>
                <a:gridCol w="361423">
                  <a:extLst>
                    <a:ext uri="{9D8B030D-6E8A-4147-A177-3AD203B41FA5}">
                      <a16:colId xmlns:a16="http://schemas.microsoft.com/office/drawing/2014/main" val="4170535043"/>
                    </a:ext>
                  </a:extLst>
                </a:gridCol>
                <a:gridCol w="915524">
                  <a:extLst>
                    <a:ext uri="{9D8B030D-6E8A-4147-A177-3AD203B41FA5}">
                      <a16:colId xmlns:a16="http://schemas.microsoft.com/office/drawing/2014/main" val="2079070694"/>
                    </a:ext>
                  </a:extLst>
                </a:gridCol>
                <a:gridCol w="167063">
                  <a:extLst>
                    <a:ext uri="{9D8B030D-6E8A-4147-A177-3AD203B41FA5}">
                      <a16:colId xmlns:a16="http://schemas.microsoft.com/office/drawing/2014/main" val="2393941440"/>
                    </a:ext>
                  </a:extLst>
                </a:gridCol>
                <a:gridCol w="4586358">
                  <a:extLst>
                    <a:ext uri="{9D8B030D-6E8A-4147-A177-3AD203B41FA5}">
                      <a16:colId xmlns:a16="http://schemas.microsoft.com/office/drawing/2014/main" val="32595803"/>
                    </a:ext>
                  </a:extLst>
                </a:gridCol>
              </a:tblGrid>
              <a:tr h="308398">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5340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TEST_EN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For testing, there are two purposes for use as follows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a. The MCLK divided by 16 is output to the D</a:t>
                      </a:r>
                      <a:r>
                        <a:rPr lang="en-US" altLang="ko-KR" sz="900" b="0" baseline="-25000" dirty="0">
                          <a:solidFill>
                            <a:schemeClr val="tx1"/>
                          </a:solidFill>
                          <a:latin typeface="Arial" panose="020B0604020202020204" pitchFamily="34" charset="0"/>
                          <a:ea typeface="+mn-ea"/>
                          <a:cs typeface="Arial" panose="020B0604020202020204" pitchFamily="34" charset="0"/>
                        </a:rPr>
                        <a:t>DIO</a:t>
                      </a:r>
                      <a:r>
                        <a:rPr lang="en-US" altLang="ko-KR" sz="900" b="0" dirty="0">
                          <a:solidFill>
                            <a:schemeClr val="tx1"/>
                          </a:solidFill>
                          <a:latin typeface="Arial" panose="020B0604020202020204" pitchFamily="34" charset="0"/>
                          <a:ea typeface="+mn-ea"/>
                          <a:cs typeface="Arial" panose="020B0604020202020204" pitchFamily="34" charset="0"/>
                        </a:rPr>
                        <a:t> pin for trimming the internal OSC.</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b. Specially used with the LD_FIX_EN bit.</a:t>
                      </a:r>
                      <a:endParaRPr lang="ko-KR" altLang="en-US" sz="900" b="0" dirty="0">
                        <a:solidFill>
                          <a:srgbClr val="FF0000"/>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75340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DDIO_DIS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Under TEST_EN=1, the D</a:t>
                      </a:r>
                      <a:r>
                        <a:rPr kumimoji="0" lang="en-US" altLang="ko-KR" sz="900" b="0" i="0" u="none" strike="noStrike" kern="1200" cap="none" spc="0" normalizeH="0" baseline="-25000" noProof="0" dirty="0">
                          <a:ln>
                            <a:noFill/>
                          </a:ln>
                          <a:solidFill>
                            <a:prstClr val="black"/>
                          </a:solidFill>
                          <a:effectLst/>
                          <a:uLnTx/>
                          <a:uFillTx/>
                          <a:latin typeface="Arial" panose="020B0604020202020204" pitchFamily="34" charset="0"/>
                          <a:ea typeface="+mn-ea"/>
                          <a:cs typeface="Arial" panose="020B0604020202020204" pitchFamily="34" charset="0"/>
                        </a:rPr>
                        <a:t>DIO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pin’s output will be disabled so that the read access of registers is possible without any mulfunction even though the MCLK16 clock is driven on the D</a:t>
                      </a:r>
                      <a:r>
                        <a:rPr kumimoji="0" lang="en-US" altLang="ko-KR" sz="900" b="0" i="0" u="none" strike="noStrike" kern="1200" cap="none" spc="0" normalizeH="0" baseline="-25000" noProof="0" dirty="0">
                          <a:ln>
                            <a:noFill/>
                          </a:ln>
                          <a:solidFill>
                            <a:prstClr val="black"/>
                          </a:solidFill>
                          <a:effectLst/>
                          <a:uLnTx/>
                          <a:uFillTx/>
                          <a:latin typeface="Arial" panose="020B0604020202020204" pitchFamily="34" charset="0"/>
                          <a:ea typeface="+mn-ea"/>
                          <a:cs typeface="Arial" panose="020B0604020202020204" pitchFamily="34" charset="0"/>
                        </a:rPr>
                        <a:t>DIO</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pin.</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0678902"/>
                  </a:ext>
                </a:extLst>
              </a:tr>
              <a:tr h="25390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TEST_ANA_EN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rgbClr val="FF0000"/>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6131521"/>
                  </a:ext>
                </a:extLst>
              </a:tr>
              <a:tr h="75340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LD_FIX_EN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For testing, there are two purposes for use with the TEST_EN bit=1 as follows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a. The MAX_CURR_VREF reg value is continuously out to a current control logics.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b. The LD_FIX value is continuously out to a current control logics without sync signals.</a:t>
                      </a:r>
                      <a:r>
                        <a:rPr lang="en-US" altLang="ko-KR" sz="900" b="0" dirty="0">
                          <a:solidFill>
                            <a:srgbClr val="FF0000"/>
                          </a:solidFill>
                          <a:latin typeface="Arial" panose="020B0604020202020204" pitchFamily="34" charset="0"/>
                          <a:ea typeface="+mn-ea"/>
                          <a:cs typeface="Arial" panose="020B0604020202020204" pitchFamily="34" charset="0"/>
                        </a:rPr>
                        <a:t> </a:t>
                      </a:r>
                      <a:endParaRPr lang="ko-KR" altLang="en-US" sz="900" b="0" dirty="0">
                        <a:solidFill>
                          <a:srgbClr val="FF0000"/>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1456802"/>
                  </a:ext>
                </a:extLst>
              </a:tr>
              <a:tr h="42040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MCLK16_O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TEST_EN =1, the clock </a:t>
                      </a:r>
                      <a:r>
                        <a:rPr lang="en-US" altLang="ko-KR" sz="900" b="0" i="0" kern="1200" dirty="0">
                          <a:solidFill>
                            <a:schemeClr val="dk1"/>
                          </a:solidFill>
                          <a:effectLst/>
                          <a:latin typeface="Arial" panose="020B0604020202020204" pitchFamily="34" charset="0"/>
                          <a:ea typeface="+mn-ea"/>
                          <a:cs typeface="Arial" panose="020B0604020202020204" pitchFamily="34" charset="0"/>
                        </a:rPr>
                        <a:t>obtained by dividing MCLK by 16 is output to DDIO pin.</a:t>
                      </a:r>
                      <a:endParaRPr lang="en-US" altLang="ko-KR" sz="900" b="0" dirty="0">
                        <a:solidFill>
                          <a:srgbClr val="FF0000"/>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03738756"/>
                  </a:ext>
                </a:extLst>
              </a:tr>
              <a:tr h="91990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ADDR_EXT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used to select which register group, the general registers or the OTP mirror registers, will be accessed. The OTP control registers address, 0x3A ~ 0x3F, can be commonly accessed regardless of this bit.</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general registers can be accessed except for the OTP mirror registers.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OTP mirror registers can be accessed except for the general registers.</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5958323"/>
                  </a:ext>
                </a:extLst>
              </a:tr>
            </a:tbl>
          </a:graphicData>
        </a:graphic>
      </p:graphicFrame>
      <p:graphicFrame>
        <p:nvGraphicFramePr>
          <p:cNvPr id="28" name="표 27">
            <a:extLst>
              <a:ext uri="{FF2B5EF4-FFF2-40B4-BE49-F238E27FC236}">
                <a16:creationId xmlns:a16="http://schemas.microsoft.com/office/drawing/2014/main" id="{08C543E8-A7AE-E774-8AC0-1079FF2C1FBC}"/>
              </a:ext>
            </a:extLst>
          </p:cNvPr>
          <p:cNvGraphicFramePr>
            <a:graphicFrameLocks noGrp="1"/>
          </p:cNvGraphicFramePr>
          <p:nvPr>
            <p:extLst>
              <p:ext uri="{D42A27DB-BD31-4B8C-83A1-F6EECF244321}">
                <p14:modId xmlns:p14="http://schemas.microsoft.com/office/powerpoint/2010/main" val="598025115"/>
              </p:ext>
            </p:extLst>
          </p:nvPr>
        </p:nvGraphicFramePr>
        <p:xfrm>
          <a:off x="407046" y="1139107"/>
          <a:ext cx="6044000" cy="372600"/>
        </p:xfrm>
        <a:graphic>
          <a:graphicData uri="http://schemas.openxmlformats.org/drawingml/2006/table">
            <a:tbl>
              <a:tblPr firstRow="1" bandRow="1">
                <a:tableStyleId>{5C22544A-7EE6-4342-B048-85BDC9FD1C3A}</a:tableStyleId>
              </a:tblPr>
              <a:tblGrid>
                <a:gridCol w="273822">
                  <a:extLst>
                    <a:ext uri="{9D8B030D-6E8A-4147-A177-3AD203B41FA5}">
                      <a16:colId xmlns:a16="http://schemas.microsoft.com/office/drawing/2014/main" val="657570846"/>
                    </a:ext>
                  </a:extLst>
                </a:gridCol>
                <a:gridCol w="310742">
                  <a:extLst>
                    <a:ext uri="{9D8B030D-6E8A-4147-A177-3AD203B41FA5}">
                      <a16:colId xmlns:a16="http://schemas.microsoft.com/office/drawing/2014/main" val="3259894497"/>
                    </a:ext>
                  </a:extLst>
                </a:gridCol>
                <a:gridCol w="416738">
                  <a:extLst>
                    <a:ext uri="{9D8B030D-6E8A-4147-A177-3AD203B41FA5}">
                      <a16:colId xmlns:a16="http://schemas.microsoft.com/office/drawing/2014/main" val="4170535043"/>
                    </a:ext>
                  </a:extLst>
                </a:gridCol>
                <a:gridCol w="414626">
                  <a:extLst>
                    <a:ext uri="{9D8B030D-6E8A-4147-A177-3AD203B41FA5}">
                      <a16:colId xmlns:a16="http://schemas.microsoft.com/office/drawing/2014/main" val="2079070694"/>
                    </a:ext>
                  </a:extLst>
                </a:gridCol>
                <a:gridCol w="436448">
                  <a:extLst>
                    <a:ext uri="{9D8B030D-6E8A-4147-A177-3AD203B41FA5}">
                      <a16:colId xmlns:a16="http://schemas.microsoft.com/office/drawing/2014/main" val="4213315911"/>
                    </a:ext>
                  </a:extLst>
                </a:gridCol>
                <a:gridCol w="350519">
                  <a:extLst>
                    <a:ext uri="{9D8B030D-6E8A-4147-A177-3AD203B41FA5}">
                      <a16:colId xmlns:a16="http://schemas.microsoft.com/office/drawing/2014/main" val="2769999950"/>
                    </a:ext>
                  </a:extLst>
                </a:gridCol>
                <a:gridCol w="486526">
                  <a:extLst>
                    <a:ext uri="{9D8B030D-6E8A-4147-A177-3AD203B41FA5}">
                      <a16:colId xmlns:a16="http://schemas.microsoft.com/office/drawing/2014/main" val="135637185"/>
                    </a:ext>
                  </a:extLst>
                </a:gridCol>
                <a:gridCol w="490883">
                  <a:extLst>
                    <a:ext uri="{9D8B030D-6E8A-4147-A177-3AD203B41FA5}">
                      <a16:colId xmlns:a16="http://schemas.microsoft.com/office/drawing/2014/main" val="3038050475"/>
                    </a:ext>
                  </a:extLst>
                </a:gridCol>
                <a:gridCol w="330377">
                  <a:extLst>
                    <a:ext uri="{9D8B030D-6E8A-4147-A177-3AD203B41FA5}">
                      <a16:colId xmlns:a16="http://schemas.microsoft.com/office/drawing/2014/main" val="1979433044"/>
                    </a:ext>
                  </a:extLst>
                </a:gridCol>
                <a:gridCol w="481054">
                  <a:extLst>
                    <a:ext uri="{9D8B030D-6E8A-4147-A177-3AD203B41FA5}">
                      <a16:colId xmlns:a16="http://schemas.microsoft.com/office/drawing/2014/main" val="4270661649"/>
                    </a:ext>
                  </a:extLst>
                </a:gridCol>
                <a:gridCol w="391484">
                  <a:extLst>
                    <a:ext uri="{9D8B030D-6E8A-4147-A177-3AD203B41FA5}">
                      <a16:colId xmlns:a16="http://schemas.microsoft.com/office/drawing/2014/main" val="3027041370"/>
                    </a:ext>
                  </a:extLst>
                </a:gridCol>
                <a:gridCol w="391484">
                  <a:extLst>
                    <a:ext uri="{9D8B030D-6E8A-4147-A177-3AD203B41FA5}">
                      <a16:colId xmlns:a16="http://schemas.microsoft.com/office/drawing/2014/main" val="2852526216"/>
                    </a:ext>
                  </a:extLst>
                </a:gridCol>
                <a:gridCol w="391484">
                  <a:extLst>
                    <a:ext uri="{9D8B030D-6E8A-4147-A177-3AD203B41FA5}">
                      <a16:colId xmlns:a16="http://schemas.microsoft.com/office/drawing/2014/main" val="103420222"/>
                    </a:ext>
                  </a:extLst>
                </a:gridCol>
                <a:gridCol w="391484">
                  <a:extLst>
                    <a:ext uri="{9D8B030D-6E8A-4147-A177-3AD203B41FA5}">
                      <a16:colId xmlns:a16="http://schemas.microsoft.com/office/drawing/2014/main" val="1470405609"/>
                    </a:ext>
                  </a:extLst>
                </a:gridCol>
                <a:gridCol w="48632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TEST_EN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DDIO_DIS</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TEST_ANA_EN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LD_FIX_EN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MCLK16_O</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ADDR_EXT</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 name="TextBox 1">
            <a:extLst>
              <a:ext uri="{FF2B5EF4-FFF2-40B4-BE49-F238E27FC236}">
                <a16:creationId xmlns:a16="http://schemas.microsoft.com/office/drawing/2014/main" id="{4EB322DC-2D5A-BDC9-EA36-14A3655C1F65}"/>
              </a:ext>
            </a:extLst>
          </p:cNvPr>
          <p:cNvSpPr txBox="1"/>
          <p:nvPr/>
        </p:nvSpPr>
        <p:spPr>
          <a:xfrm>
            <a:off x="388804" y="877092"/>
            <a:ext cx="6048610"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OP MODE</a:t>
            </a:r>
          </a:p>
        </p:txBody>
      </p:sp>
      <p:sp>
        <p:nvSpPr>
          <p:cNvPr id="4" name="TextBox 3">
            <a:extLst>
              <a:ext uri="{FF2B5EF4-FFF2-40B4-BE49-F238E27FC236}">
                <a16:creationId xmlns:a16="http://schemas.microsoft.com/office/drawing/2014/main" id="{5241801B-369F-C441-54AA-191ED367C7B4}"/>
              </a:ext>
            </a:extLst>
          </p:cNvPr>
          <p:cNvSpPr txBox="1"/>
          <p:nvPr/>
        </p:nvSpPr>
        <p:spPr>
          <a:xfrm>
            <a:off x="399058" y="65519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Tree>
    <p:extLst>
      <p:ext uri="{BB962C8B-B14F-4D97-AF65-F5344CB8AC3E}">
        <p14:creationId xmlns:p14="http://schemas.microsoft.com/office/powerpoint/2010/main" val="36372023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4" name="표 33">
            <a:extLst>
              <a:ext uri="{FF2B5EF4-FFF2-40B4-BE49-F238E27FC236}">
                <a16:creationId xmlns:a16="http://schemas.microsoft.com/office/drawing/2014/main" id="{A737F4D4-AC2F-DBD8-BB4C-07CEEBF6C658}"/>
              </a:ext>
            </a:extLst>
          </p:cNvPr>
          <p:cNvGraphicFramePr>
            <a:graphicFrameLocks noGrp="1"/>
          </p:cNvGraphicFramePr>
          <p:nvPr>
            <p:extLst>
              <p:ext uri="{D42A27DB-BD31-4B8C-83A1-F6EECF244321}">
                <p14:modId xmlns:p14="http://schemas.microsoft.com/office/powerpoint/2010/main" val="175716253"/>
              </p:ext>
            </p:extLst>
          </p:nvPr>
        </p:nvGraphicFramePr>
        <p:xfrm>
          <a:off x="404813" y="1137629"/>
          <a:ext cx="6036018" cy="372600"/>
        </p:xfrm>
        <a:graphic>
          <a:graphicData uri="http://schemas.openxmlformats.org/drawingml/2006/table">
            <a:tbl>
              <a:tblPr firstRow="1" bandRow="1">
                <a:tableStyleId>{5C22544A-7EE6-4342-B048-85BDC9FD1C3A}</a:tableStyleId>
              </a:tblPr>
              <a:tblGrid>
                <a:gridCol w="276270">
                  <a:extLst>
                    <a:ext uri="{9D8B030D-6E8A-4147-A177-3AD203B41FA5}">
                      <a16:colId xmlns:a16="http://schemas.microsoft.com/office/drawing/2014/main" val="657570846"/>
                    </a:ext>
                  </a:extLst>
                </a:gridCol>
                <a:gridCol w="323281">
                  <a:extLst>
                    <a:ext uri="{9D8B030D-6E8A-4147-A177-3AD203B41FA5}">
                      <a16:colId xmlns:a16="http://schemas.microsoft.com/office/drawing/2014/main" val="3259894497"/>
                    </a:ext>
                  </a:extLst>
                </a:gridCol>
                <a:gridCol w="426815">
                  <a:extLst>
                    <a:ext uri="{9D8B030D-6E8A-4147-A177-3AD203B41FA5}">
                      <a16:colId xmlns:a16="http://schemas.microsoft.com/office/drawing/2014/main" val="4170535043"/>
                    </a:ext>
                  </a:extLst>
                </a:gridCol>
                <a:gridCol w="417471">
                  <a:extLst>
                    <a:ext uri="{9D8B030D-6E8A-4147-A177-3AD203B41FA5}">
                      <a16:colId xmlns:a16="http://schemas.microsoft.com/office/drawing/2014/main" val="2079070694"/>
                    </a:ext>
                  </a:extLst>
                </a:gridCol>
                <a:gridCol w="417471">
                  <a:extLst>
                    <a:ext uri="{9D8B030D-6E8A-4147-A177-3AD203B41FA5}">
                      <a16:colId xmlns:a16="http://schemas.microsoft.com/office/drawing/2014/main" val="4213315911"/>
                    </a:ext>
                  </a:extLst>
                </a:gridCol>
                <a:gridCol w="417471">
                  <a:extLst>
                    <a:ext uri="{9D8B030D-6E8A-4147-A177-3AD203B41FA5}">
                      <a16:colId xmlns:a16="http://schemas.microsoft.com/office/drawing/2014/main" val="2769999950"/>
                    </a:ext>
                  </a:extLst>
                </a:gridCol>
                <a:gridCol w="417471">
                  <a:extLst>
                    <a:ext uri="{9D8B030D-6E8A-4147-A177-3AD203B41FA5}">
                      <a16:colId xmlns:a16="http://schemas.microsoft.com/office/drawing/2014/main" val="135637185"/>
                    </a:ext>
                  </a:extLst>
                </a:gridCol>
                <a:gridCol w="417471">
                  <a:extLst>
                    <a:ext uri="{9D8B030D-6E8A-4147-A177-3AD203B41FA5}">
                      <a16:colId xmlns:a16="http://schemas.microsoft.com/office/drawing/2014/main" val="3038050475"/>
                    </a:ext>
                  </a:extLst>
                </a:gridCol>
                <a:gridCol w="417471">
                  <a:extLst>
                    <a:ext uri="{9D8B030D-6E8A-4147-A177-3AD203B41FA5}">
                      <a16:colId xmlns:a16="http://schemas.microsoft.com/office/drawing/2014/main" val="1979433044"/>
                    </a:ext>
                  </a:extLst>
                </a:gridCol>
                <a:gridCol w="417471">
                  <a:extLst>
                    <a:ext uri="{9D8B030D-6E8A-4147-A177-3AD203B41FA5}">
                      <a16:colId xmlns:a16="http://schemas.microsoft.com/office/drawing/2014/main" val="4270661649"/>
                    </a:ext>
                  </a:extLst>
                </a:gridCol>
                <a:gridCol w="417471">
                  <a:extLst>
                    <a:ext uri="{9D8B030D-6E8A-4147-A177-3AD203B41FA5}">
                      <a16:colId xmlns:a16="http://schemas.microsoft.com/office/drawing/2014/main" val="3027041370"/>
                    </a:ext>
                  </a:extLst>
                </a:gridCol>
                <a:gridCol w="417471">
                  <a:extLst>
                    <a:ext uri="{9D8B030D-6E8A-4147-A177-3AD203B41FA5}">
                      <a16:colId xmlns:a16="http://schemas.microsoft.com/office/drawing/2014/main" val="2852526216"/>
                    </a:ext>
                  </a:extLst>
                </a:gridCol>
                <a:gridCol w="417471">
                  <a:extLst>
                    <a:ext uri="{9D8B030D-6E8A-4147-A177-3AD203B41FA5}">
                      <a16:colId xmlns:a16="http://schemas.microsoft.com/office/drawing/2014/main" val="103420222"/>
                    </a:ext>
                  </a:extLst>
                </a:gridCol>
                <a:gridCol w="417471">
                  <a:extLst>
                    <a:ext uri="{9D8B030D-6E8A-4147-A177-3AD203B41FA5}">
                      <a16:colId xmlns:a16="http://schemas.microsoft.com/office/drawing/2014/main" val="1470405609"/>
                    </a:ext>
                  </a:extLst>
                </a:gridCol>
                <a:gridCol w="41747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OTP_PG_ACCESS_CYCLE [15:12]</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4" name="표 23">
            <a:extLst>
              <a:ext uri="{FF2B5EF4-FFF2-40B4-BE49-F238E27FC236}">
                <a16:creationId xmlns:a16="http://schemas.microsoft.com/office/drawing/2014/main" id="{999EB05F-AAFA-8169-C521-02BFC8EA63C8}"/>
              </a:ext>
            </a:extLst>
          </p:cNvPr>
          <p:cNvGraphicFramePr>
            <a:graphicFrameLocks noGrp="1"/>
          </p:cNvGraphicFramePr>
          <p:nvPr>
            <p:extLst>
              <p:ext uri="{D42A27DB-BD31-4B8C-83A1-F6EECF244321}">
                <p14:modId xmlns:p14="http://schemas.microsoft.com/office/powerpoint/2010/main" val="1727772273"/>
              </p:ext>
            </p:extLst>
          </p:nvPr>
        </p:nvGraphicFramePr>
        <p:xfrm>
          <a:off x="404813" y="2392780"/>
          <a:ext cx="6036007" cy="372600"/>
        </p:xfrm>
        <a:graphic>
          <a:graphicData uri="http://schemas.openxmlformats.org/drawingml/2006/table">
            <a:tbl>
              <a:tblPr firstRow="1" bandRow="1">
                <a:tableStyleId>{5C22544A-7EE6-4342-B048-85BDC9FD1C3A}</a:tableStyleId>
              </a:tblPr>
              <a:tblGrid>
                <a:gridCol w="276270">
                  <a:extLst>
                    <a:ext uri="{9D8B030D-6E8A-4147-A177-3AD203B41FA5}">
                      <a16:colId xmlns:a16="http://schemas.microsoft.com/office/drawing/2014/main" val="657570846"/>
                    </a:ext>
                  </a:extLst>
                </a:gridCol>
                <a:gridCol w="323281">
                  <a:extLst>
                    <a:ext uri="{9D8B030D-6E8A-4147-A177-3AD203B41FA5}">
                      <a16:colId xmlns:a16="http://schemas.microsoft.com/office/drawing/2014/main" val="3259894497"/>
                    </a:ext>
                  </a:extLst>
                </a:gridCol>
                <a:gridCol w="428928">
                  <a:extLst>
                    <a:ext uri="{9D8B030D-6E8A-4147-A177-3AD203B41FA5}">
                      <a16:colId xmlns:a16="http://schemas.microsoft.com/office/drawing/2014/main" val="4170535043"/>
                    </a:ext>
                  </a:extLst>
                </a:gridCol>
                <a:gridCol w="417294">
                  <a:extLst>
                    <a:ext uri="{9D8B030D-6E8A-4147-A177-3AD203B41FA5}">
                      <a16:colId xmlns:a16="http://schemas.microsoft.com/office/drawing/2014/main" val="2079070694"/>
                    </a:ext>
                  </a:extLst>
                </a:gridCol>
                <a:gridCol w="417294">
                  <a:extLst>
                    <a:ext uri="{9D8B030D-6E8A-4147-A177-3AD203B41FA5}">
                      <a16:colId xmlns:a16="http://schemas.microsoft.com/office/drawing/2014/main" val="4213315911"/>
                    </a:ext>
                  </a:extLst>
                </a:gridCol>
                <a:gridCol w="417294">
                  <a:extLst>
                    <a:ext uri="{9D8B030D-6E8A-4147-A177-3AD203B41FA5}">
                      <a16:colId xmlns:a16="http://schemas.microsoft.com/office/drawing/2014/main" val="2769999950"/>
                    </a:ext>
                  </a:extLst>
                </a:gridCol>
                <a:gridCol w="417294">
                  <a:extLst>
                    <a:ext uri="{9D8B030D-6E8A-4147-A177-3AD203B41FA5}">
                      <a16:colId xmlns:a16="http://schemas.microsoft.com/office/drawing/2014/main" val="135637185"/>
                    </a:ext>
                  </a:extLst>
                </a:gridCol>
                <a:gridCol w="417294">
                  <a:extLst>
                    <a:ext uri="{9D8B030D-6E8A-4147-A177-3AD203B41FA5}">
                      <a16:colId xmlns:a16="http://schemas.microsoft.com/office/drawing/2014/main" val="3038050475"/>
                    </a:ext>
                  </a:extLst>
                </a:gridCol>
                <a:gridCol w="417294">
                  <a:extLst>
                    <a:ext uri="{9D8B030D-6E8A-4147-A177-3AD203B41FA5}">
                      <a16:colId xmlns:a16="http://schemas.microsoft.com/office/drawing/2014/main" val="1979433044"/>
                    </a:ext>
                  </a:extLst>
                </a:gridCol>
                <a:gridCol w="417294">
                  <a:extLst>
                    <a:ext uri="{9D8B030D-6E8A-4147-A177-3AD203B41FA5}">
                      <a16:colId xmlns:a16="http://schemas.microsoft.com/office/drawing/2014/main" val="4270661649"/>
                    </a:ext>
                  </a:extLst>
                </a:gridCol>
                <a:gridCol w="417294">
                  <a:extLst>
                    <a:ext uri="{9D8B030D-6E8A-4147-A177-3AD203B41FA5}">
                      <a16:colId xmlns:a16="http://schemas.microsoft.com/office/drawing/2014/main" val="3027041370"/>
                    </a:ext>
                  </a:extLst>
                </a:gridCol>
                <a:gridCol w="417294">
                  <a:extLst>
                    <a:ext uri="{9D8B030D-6E8A-4147-A177-3AD203B41FA5}">
                      <a16:colId xmlns:a16="http://schemas.microsoft.com/office/drawing/2014/main" val="2852526216"/>
                    </a:ext>
                  </a:extLst>
                </a:gridCol>
                <a:gridCol w="417294">
                  <a:extLst>
                    <a:ext uri="{9D8B030D-6E8A-4147-A177-3AD203B41FA5}">
                      <a16:colId xmlns:a16="http://schemas.microsoft.com/office/drawing/2014/main" val="103420222"/>
                    </a:ext>
                  </a:extLst>
                </a:gridCol>
                <a:gridCol w="417294">
                  <a:extLst>
                    <a:ext uri="{9D8B030D-6E8A-4147-A177-3AD203B41FA5}">
                      <a16:colId xmlns:a16="http://schemas.microsoft.com/office/drawing/2014/main" val="1470405609"/>
                    </a:ext>
                  </a:extLst>
                </a:gridCol>
                <a:gridCol w="4172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OTP_WSEL [3:0]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SHORT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OPEN</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FB</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6" name="TextBox 25">
            <a:extLst>
              <a:ext uri="{FF2B5EF4-FFF2-40B4-BE49-F238E27FC236}">
                <a16:creationId xmlns:a16="http://schemas.microsoft.com/office/drawing/2014/main" id="{B006BA10-BC89-16DF-4D10-C3D035F30E44}"/>
              </a:ext>
            </a:extLst>
          </p:cNvPr>
          <p:cNvSpPr txBox="1"/>
          <p:nvPr/>
        </p:nvSpPr>
        <p:spPr>
          <a:xfrm>
            <a:off x="406584" y="2129694"/>
            <a:ext cx="603158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WRITE</a:t>
            </a:r>
          </a:p>
        </p:txBody>
      </p:sp>
      <p:sp>
        <p:nvSpPr>
          <p:cNvPr id="28" name="TextBox 27">
            <a:extLst>
              <a:ext uri="{FF2B5EF4-FFF2-40B4-BE49-F238E27FC236}">
                <a16:creationId xmlns:a16="http://schemas.microsoft.com/office/drawing/2014/main" id="{C6986916-2C64-B629-A96B-8AF117FEE8DA}"/>
              </a:ext>
            </a:extLst>
          </p:cNvPr>
          <p:cNvSpPr txBox="1"/>
          <p:nvPr/>
        </p:nvSpPr>
        <p:spPr>
          <a:xfrm>
            <a:off x="406580" y="2959213"/>
            <a:ext cx="603693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RD/PROG</a:t>
            </a:r>
          </a:p>
        </p:txBody>
      </p:sp>
      <p:sp>
        <p:nvSpPr>
          <p:cNvPr id="29" name="TextBox 28">
            <a:extLst>
              <a:ext uri="{FF2B5EF4-FFF2-40B4-BE49-F238E27FC236}">
                <a16:creationId xmlns:a16="http://schemas.microsoft.com/office/drawing/2014/main" id="{FC244CE5-E3CF-6B88-F093-0FD103304D76}"/>
              </a:ext>
            </a:extLst>
          </p:cNvPr>
          <p:cNvSpPr txBox="1"/>
          <p:nvPr/>
        </p:nvSpPr>
        <p:spPr>
          <a:xfrm>
            <a:off x="406586" y="3773915"/>
            <a:ext cx="602796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PROTECT</a:t>
            </a:r>
          </a:p>
        </p:txBody>
      </p:sp>
      <p:graphicFrame>
        <p:nvGraphicFramePr>
          <p:cNvPr id="30" name="표 29">
            <a:extLst>
              <a:ext uri="{FF2B5EF4-FFF2-40B4-BE49-F238E27FC236}">
                <a16:creationId xmlns:a16="http://schemas.microsoft.com/office/drawing/2014/main" id="{344C8E5D-6544-504B-AA6C-A6CF302A4DFE}"/>
              </a:ext>
            </a:extLst>
          </p:cNvPr>
          <p:cNvGraphicFramePr>
            <a:graphicFrameLocks noGrp="1"/>
          </p:cNvGraphicFramePr>
          <p:nvPr>
            <p:extLst>
              <p:ext uri="{D42A27DB-BD31-4B8C-83A1-F6EECF244321}">
                <p14:modId xmlns:p14="http://schemas.microsoft.com/office/powerpoint/2010/main" val="2780008396"/>
              </p:ext>
            </p:extLst>
          </p:nvPr>
        </p:nvGraphicFramePr>
        <p:xfrm>
          <a:off x="406948" y="4051234"/>
          <a:ext cx="6041286" cy="372600"/>
        </p:xfrm>
        <a:graphic>
          <a:graphicData uri="http://schemas.openxmlformats.org/drawingml/2006/table">
            <a:tbl>
              <a:tblPr firstRow="1" bandRow="1">
                <a:tableStyleId>{5C22544A-7EE6-4342-B048-85BDC9FD1C3A}</a:tableStyleId>
              </a:tblPr>
              <a:tblGrid>
                <a:gridCol w="272044">
                  <a:extLst>
                    <a:ext uri="{9D8B030D-6E8A-4147-A177-3AD203B41FA5}">
                      <a16:colId xmlns:a16="http://schemas.microsoft.com/office/drawing/2014/main" val="657570846"/>
                    </a:ext>
                  </a:extLst>
                </a:gridCol>
                <a:gridCol w="329620">
                  <a:extLst>
                    <a:ext uri="{9D8B030D-6E8A-4147-A177-3AD203B41FA5}">
                      <a16:colId xmlns:a16="http://schemas.microsoft.com/office/drawing/2014/main" val="3259894497"/>
                    </a:ext>
                  </a:extLst>
                </a:gridCol>
                <a:gridCol w="422590">
                  <a:extLst>
                    <a:ext uri="{9D8B030D-6E8A-4147-A177-3AD203B41FA5}">
                      <a16:colId xmlns:a16="http://schemas.microsoft.com/office/drawing/2014/main" val="4170535043"/>
                    </a:ext>
                  </a:extLst>
                </a:gridCol>
                <a:gridCol w="418086">
                  <a:extLst>
                    <a:ext uri="{9D8B030D-6E8A-4147-A177-3AD203B41FA5}">
                      <a16:colId xmlns:a16="http://schemas.microsoft.com/office/drawing/2014/main" val="2079070694"/>
                    </a:ext>
                  </a:extLst>
                </a:gridCol>
                <a:gridCol w="418086">
                  <a:extLst>
                    <a:ext uri="{9D8B030D-6E8A-4147-A177-3AD203B41FA5}">
                      <a16:colId xmlns:a16="http://schemas.microsoft.com/office/drawing/2014/main" val="4213315911"/>
                    </a:ext>
                  </a:extLst>
                </a:gridCol>
                <a:gridCol w="418086">
                  <a:extLst>
                    <a:ext uri="{9D8B030D-6E8A-4147-A177-3AD203B41FA5}">
                      <a16:colId xmlns:a16="http://schemas.microsoft.com/office/drawing/2014/main" val="2769999950"/>
                    </a:ext>
                  </a:extLst>
                </a:gridCol>
                <a:gridCol w="418086">
                  <a:extLst>
                    <a:ext uri="{9D8B030D-6E8A-4147-A177-3AD203B41FA5}">
                      <a16:colId xmlns:a16="http://schemas.microsoft.com/office/drawing/2014/main" val="135637185"/>
                    </a:ext>
                  </a:extLst>
                </a:gridCol>
                <a:gridCol w="418086">
                  <a:extLst>
                    <a:ext uri="{9D8B030D-6E8A-4147-A177-3AD203B41FA5}">
                      <a16:colId xmlns:a16="http://schemas.microsoft.com/office/drawing/2014/main" val="3038050475"/>
                    </a:ext>
                  </a:extLst>
                </a:gridCol>
                <a:gridCol w="418086">
                  <a:extLst>
                    <a:ext uri="{9D8B030D-6E8A-4147-A177-3AD203B41FA5}">
                      <a16:colId xmlns:a16="http://schemas.microsoft.com/office/drawing/2014/main" val="1979433044"/>
                    </a:ext>
                  </a:extLst>
                </a:gridCol>
                <a:gridCol w="418086">
                  <a:extLst>
                    <a:ext uri="{9D8B030D-6E8A-4147-A177-3AD203B41FA5}">
                      <a16:colId xmlns:a16="http://schemas.microsoft.com/office/drawing/2014/main" val="4270661649"/>
                    </a:ext>
                  </a:extLst>
                </a:gridCol>
                <a:gridCol w="418086">
                  <a:extLst>
                    <a:ext uri="{9D8B030D-6E8A-4147-A177-3AD203B41FA5}">
                      <a16:colId xmlns:a16="http://schemas.microsoft.com/office/drawing/2014/main" val="3027041370"/>
                    </a:ext>
                  </a:extLst>
                </a:gridCol>
                <a:gridCol w="418086">
                  <a:extLst>
                    <a:ext uri="{9D8B030D-6E8A-4147-A177-3AD203B41FA5}">
                      <a16:colId xmlns:a16="http://schemas.microsoft.com/office/drawing/2014/main" val="2852526216"/>
                    </a:ext>
                  </a:extLst>
                </a:gridCol>
                <a:gridCol w="418086">
                  <a:extLst>
                    <a:ext uri="{9D8B030D-6E8A-4147-A177-3AD203B41FA5}">
                      <a16:colId xmlns:a16="http://schemas.microsoft.com/office/drawing/2014/main" val="103420222"/>
                    </a:ext>
                  </a:extLst>
                </a:gridCol>
                <a:gridCol w="418086">
                  <a:extLst>
                    <a:ext uri="{9D8B030D-6E8A-4147-A177-3AD203B41FA5}">
                      <a16:colId xmlns:a16="http://schemas.microsoft.com/office/drawing/2014/main" val="1470405609"/>
                    </a:ext>
                  </a:extLst>
                </a:gridCol>
                <a:gridCol w="41808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0x5A5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               PROTECT_EN/DIS [11:0]        </a:t>
                      </a:r>
                      <a:r>
                        <a:rPr lang="en-US" altLang="ko-KR" sz="700" b="0" kern="1200" dirty="0">
                          <a:solidFill>
                            <a:schemeClr val="tx1"/>
                          </a:solidFill>
                          <a:latin typeface="Microsoft GothicNeo" panose="020B0500000101010101" pitchFamily="50" charset="-127"/>
                          <a:ea typeface="Microsoft GothicNeo" panose="020B0500000101010101" pitchFamily="50" charset="-127"/>
                          <a:cs typeface="Microsoft GothicNeo" panose="020B0500000101010101" pitchFamily="50" charset="-127"/>
                        </a:rPr>
                        <a:t>※ </a:t>
                      </a:r>
                      <a:r>
                        <a:rPr lang="en-US" altLang="ko-KR" sz="700" b="0" kern="1200" dirty="0">
                          <a:solidFill>
                            <a:schemeClr val="tx1"/>
                          </a:solidFill>
                          <a:latin typeface="Arial" panose="020B0604020202020204" pitchFamily="34" charset="0"/>
                          <a:ea typeface="+mn-ea"/>
                          <a:cs typeface="Arial" panose="020B0604020202020204" pitchFamily="34" charset="0"/>
                        </a:rPr>
                        <a:t>enable (0x5A5), disable (0xA5A), need to disable for writing</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a:t>
                      </a:r>
                      <a:r>
                        <a:rPr lang="en-US" altLang="ko-KR" sz="700" b="0" baseline="-25000" dirty="0">
                          <a:solidFill>
                            <a:schemeClr val="tx1"/>
                          </a:solidFill>
                          <a:latin typeface="Arial" panose="020B0604020202020204" pitchFamily="34" charset="0"/>
                          <a:cs typeface="Arial" panose="020B0604020202020204" pitchFamily="34" charset="0"/>
                        </a:rPr>
                        <a:t>D </a:t>
                      </a:r>
                      <a:r>
                        <a:rPr lang="en-US" altLang="ko-KR" sz="700" b="0" baseline="0" dirty="0">
                          <a:solidFill>
                            <a:schemeClr val="tx1"/>
                          </a:solidFill>
                          <a:latin typeface="Arial" panose="020B0604020202020204" pitchFamily="34" charset="0"/>
                          <a:cs typeface="Arial" panose="020B0604020202020204" pitchFamily="34" charset="0"/>
                        </a:rPr>
                        <a:t>[4:0]</a:t>
                      </a:r>
                      <a:endParaRPr lang="ko-KR" altLang="en-US" sz="700" b="0" baseline="-2500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3" name="표 32">
            <a:extLst>
              <a:ext uri="{FF2B5EF4-FFF2-40B4-BE49-F238E27FC236}">
                <a16:creationId xmlns:a16="http://schemas.microsoft.com/office/drawing/2014/main" id="{B4B6ADFB-367B-6856-8CC1-29850FE989EC}"/>
              </a:ext>
            </a:extLst>
          </p:cNvPr>
          <p:cNvGraphicFramePr>
            <a:graphicFrameLocks noGrp="1"/>
          </p:cNvGraphicFramePr>
          <p:nvPr>
            <p:extLst>
              <p:ext uri="{D42A27DB-BD31-4B8C-83A1-F6EECF244321}">
                <p14:modId xmlns:p14="http://schemas.microsoft.com/office/powerpoint/2010/main" val="2489156186"/>
              </p:ext>
            </p:extLst>
          </p:nvPr>
        </p:nvGraphicFramePr>
        <p:xfrm>
          <a:off x="404813" y="1565483"/>
          <a:ext cx="6036007" cy="372600"/>
        </p:xfrm>
        <a:graphic>
          <a:graphicData uri="http://schemas.openxmlformats.org/drawingml/2006/table">
            <a:tbl>
              <a:tblPr firstRow="1" bandRow="1">
                <a:tableStyleId>{5C22544A-7EE6-4342-B048-85BDC9FD1C3A}</a:tableStyleId>
              </a:tblPr>
              <a:tblGrid>
                <a:gridCol w="276270">
                  <a:extLst>
                    <a:ext uri="{9D8B030D-6E8A-4147-A177-3AD203B41FA5}">
                      <a16:colId xmlns:a16="http://schemas.microsoft.com/office/drawing/2014/main" val="657570846"/>
                    </a:ext>
                  </a:extLst>
                </a:gridCol>
                <a:gridCol w="323281">
                  <a:extLst>
                    <a:ext uri="{9D8B030D-6E8A-4147-A177-3AD203B41FA5}">
                      <a16:colId xmlns:a16="http://schemas.microsoft.com/office/drawing/2014/main" val="3259894497"/>
                    </a:ext>
                  </a:extLst>
                </a:gridCol>
                <a:gridCol w="428928">
                  <a:extLst>
                    <a:ext uri="{9D8B030D-6E8A-4147-A177-3AD203B41FA5}">
                      <a16:colId xmlns:a16="http://schemas.microsoft.com/office/drawing/2014/main" val="4170535043"/>
                    </a:ext>
                  </a:extLst>
                </a:gridCol>
                <a:gridCol w="417294">
                  <a:extLst>
                    <a:ext uri="{9D8B030D-6E8A-4147-A177-3AD203B41FA5}">
                      <a16:colId xmlns:a16="http://schemas.microsoft.com/office/drawing/2014/main" val="2079070694"/>
                    </a:ext>
                  </a:extLst>
                </a:gridCol>
                <a:gridCol w="417294">
                  <a:extLst>
                    <a:ext uri="{9D8B030D-6E8A-4147-A177-3AD203B41FA5}">
                      <a16:colId xmlns:a16="http://schemas.microsoft.com/office/drawing/2014/main" val="4213315911"/>
                    </a:ext>
                  </a:extLst>
                </a:gridCol>
                <a:gridCol w="417294">
                  <a:extLst>
                    <a:ext uri="{9D8B030D-6E8A-4147-A177-3AD203B41FA5}">
                      <a16:colId xmlns:a16="http://schemas.microsoft.com/office/drawing/2014/main" val="2769999950"/>
                    </a:ext>
                  </a:extLst>
                </a:gridCol>
                <a:gridCol w="417294">
                  <a:extLst>
                    <a:ext uri="{9D8B030D-6E8A-4147-A177-3AD203B41FA5}">
                      <a16:colId xmlns:a16="http://schemas.microsoft.com/office/drawing/2014/main" val="135637185"/>
                    </a:ext>
                  </a:extLst>
                </a:gridCol>
                <a:gridCol w="417294">
                  <a:extLst>
                    <a:ext uri="{9D8B030D-6E8A-4147-A177-3AD203B41FA5}">
                      <a16:colId xmlns:a16="http://schemas.microsoft.com/office/drawing/2014/main" val="3038050475"/>
                    </a:ext>
                  </a:extLst>
                </a:gridCol>
                <a:gridCol w="417294">
                  <a:extLst>
                    <a:ext uri="{9D8B030D-6E8A-4147-A177-3AD203B41FA5}">
                      <a16:colId xmlns:a16="http://schemas.microsoft.com/office/drawing/2014/main" val="1979433044"/>
                    </a:ext>
                  </a:extLst>
                </a:gridCol>
                <a:gridCol w="417294">
                  <a:extLst>
                    <a:ext uri="{9D8B030D-6E8A-4147-A177-3AD203B41FA5}">
                      <a16:colId xmlns:a16="http://schemas.microsoft.com/office/drawing/2014/main" val="4270661649"/>
                    </a:ext>
                  </a:extLst>
                </a:gridCol>
                <a:gridCol w="417294">
                  <a:extLst>
                    <a:ext uri="{9D8B030D-6E8A-4147-A177-3AD203B41FA5}">
                      <a16:colId xmlns:a16="http://schemas.microsoft.com/office/drawing/2014/main" val="3027041370"/>
                    </a:ext>
                  </a:extLst>
                </a:gridCol>
                <a:gridCol w="417294">
                  <a:extLst>
                    <a:ext uri="{9D8B030D-6E8A-4147-A177-3AD203B41FA5}">
                      <a16:colId xmlns:a16="http://schemas.microsoft.com/office/drawing/2014/main" val="2852526216"/>
                    </a:ext>
                  </a:extLst>
                </a:gridCol>
                <a:gridCol w="417294">
                  <a:extLst>
                    <a:ext uri="{9D8B030D-6E8A-4147-A177-3AD203B41FA5}">
                      <a16:colId xmlns:a16="http://schemas.microsoft.com/office/drawing/2014/main" val="103420222"/>
                    </a:ext>
                  </a:extLst>
                </a:gridCol>
                <a:gridCol w="417294">
                  <a:extLst>
                    <a:ext uri="{9D8B030D-6E8A-4147-A177-3AD203B41FA5}">
                      <a16:colId xmlns:a16="http://schemas.microsoft.com/office/drawing/2014/main" val="1470405609"/>
                    </a:ext>
                  </a:extLst>
                </a:gridCol>
                <a:gridCol w="4172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OTP_PG_ACCESS_CYCLE [11:0]</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a:t>
                      </a:r>
                      <a:r>
                        <a:rPr lang="en-US" altLang="ko-KR" sz="700" b="0" baseline="-25000" dirty="0">
                          <a:solidFill>
                            <a:schemeClr val="tx1"/>
                          </a:solidFill>
                          <a:latin typeface="Arial" panose="020B0604020202020204" pitchFamily="34" charset="0"/>
                          <a:cs typeface="Arial" panose="020B0604020202020204" pitchFamily="34" charset="0"/>
                        </a:rPr>
                        <a:t>D </a:t>
                      </a:r>
                      <a:r>
                        <a:rPr lang="en-US" altLang="ko-KR" sz="700" b="0" baseline="0" dirty="0">
                          <a:solidFill>
                            <a:schemeClr val="tx1"/>
                          </a:solidFill>
                          <a:latin typeface="Arial" panose="020B0604020202020204" pitchFamily="34" charset="0"/>
                          <a:cs typeface="Arial" panose="020B0604020202020204" pitchFamily="34" charset="0"/>
                        </a:rPr>
                        <a:t>[4:0]</a:t>
                      </a:r>
                      <a:endParaRPr lang="ko-KR" altLang="en-US" sz="700" b="0" baseline="-2500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35" name="표 34">
            <a:extLst>
              <a:ext uri="{FF2B5EF4-FFF2-40B4-BE49-F238E27FC236}">
                <a16:creationId xmlns:a16="http://schemas.microsoft.com/office/drawing/2014/main" id="{95B9A0BF-47AE-C803-0327-F82DAD28E211}"/>
              </a:ext>
            </a:extLst>
          </p:cNvPr>
          <p:cNvGraphicFramePr>
            <a:graphicFrameLocks noGrp="1"/>
          </p:cNvGraphicFramePr>
          <p:nvPr>
            <p:extLst>
              <p:ext uri="{D42A27DB-BD31-4B8C-83A1-F6EECF244321}">
                <p14:modId xmlns:p14="http://schemas.microsoft.com/office/powerpoint/2010/main" val="254770111"/>
              </p:ext>
            </p:extLst>
          </p:nvPr>
        </p:nvGraphicFramePr>
        <p:xfrm>
          <a:off x="404831" y="3222007"/>
          <a:ext cx="6041287" cy="372600"/>
        </p:xfrm>
        <a:graphic>
          <a:graphicData uri="http://schemas.openxmlformats.org/drawingml/2006/table">
            <a:tbl>
              <a:tblPr firstRow="1" bandRow="1">
                <a:tableStyleId>{5C22544A-7EE6-4342-B048-85BDC9FD1C3A}</a:tableStyleId>
              </a:tblPr>
              <a:tblGrid>
                <a:gridCol w="276270">
                  <a:extLst>
                    <a:ext uri="{9D8B030D-6E8A-4147-A177-3AD203B41FA5}">
                      <a16:colId xmlns:a16="http://schemas.microsoft.com/office/drawing/2014/main" val="657570846"/>
                    </a:ext>
                  </a:extLst>
                </a:gridCol>
                <a:gridCol w="323280">
                  <a:extLst>
                    <a:ext uri="{9D8B030D-6E8A-4147-A177-3AD203B41FA5}">
                      <a16:colId xmlns:a16="http://schemas.microsoft.com/office/drawing/2014/main" val="3259894497"/>
                    </a:ext>
                  </a:extLst>
                </a:gridCol>
                <a:gridCol w="428928">
                  <a:extLst>
                    <a:ext uri="{9D8B030D-6E8A-4147-A177-3AD203B41FA5}">
                      <a16:colId xmlns:a16="http://schemas.microsoft.com/office/drawing/2014/main" val="4170535043"/>
                    </a:ext>
                  </a:extLst>
                </a:gridCol>
                <a:gridCol w="298169">
                  <a:extLst>
                    <a:ext uri="{9D8B030D-6E8A-4147-A177-3AD203B41FA5}">
                      <a16:colId xmlns:a16="http://schemas.microsoft.com/office/drawing/2014/main" val="2079070694"/>
                    </a:ext>
                  </a:extLst>
                </a:gridCol>
                <a:gridCol w="298169">
                  <a:extLst>
                    <a:ext uri="{9D8B030D-6E8A-4147-A177-3AD203B41FA5}">
                      <a16:colId xmlns:a16="http://schemas.microsoft.com/office/drawing/2014/main" val="4213315911"/>
                    </a:ext>
                  </a:extLst>
                </a:gridCol>
                <a:gridCol w="298169">
                  <a:extLst>
                    <a:ext uri="{9D8B030D-6E8A-4147-A177-3AD203B41FA5}">
                      <a16:colId xmlns:a16="http://schemas.microsoft.com/office/drawing/2014/main" val="2769999950"/>
                    </a:ext>
                  </a:extLst>
                </a:gridCol>
                <a:gridCol w="298169">
                  <a:extLst>
                    <a:ext uri="{9D8B030D-6E8A-4147-A177-3AD203B41FA5}">
                      <a16:colId xmlns:a16="http://schemas.microsoft.com/office/drawing/2014/main" val="135637185"/>
                    </a:ext>
                  </a:extLst>
                </a:gridCol>
                <a:gridCol w="298169">
                  <a:extLst>
                    <a:ext uri="{9D8B030D-6E8A-4147-A177-3AD203B41FA5}">
                      <a16:colId xmlns:a16="http://schemas.microsoft.com/office/drawing/2014/main" val="3038050475"/>
                    </a:ext>
                  </a:extLst>
                </a:gridCol>
                <a:gridCol w="298169">
                  <a:extLst>
                    <a:ext uri="{9D8B030D-6E8A-4147-A177-3AD203B41FA5}">
                      <a16:colId xmlns:a16="http://schemas.microsoft.com/office/drawing/2014/main" val="1979433044"/>
                    </a:ext>
                  </a:extLst>
                </a:gridCol>
                <a:gridCol w="298169">
                  <a:extLst>
                    <a:ext uri="{9D8B030D-6E8A-4147-A177-3AD203B41FA5}">
                      <a16:colId xmlns:a16="http://schemas.microsoft.com/office/drawing/2014/main" val="4270661649"/>
                    </a:ext>
                  </a:extLst>
                </a:gridCol>
                <a:gridCol w="298169">
                  <a:extLst>
                    <a:ext uri="{9D8B030D-6E8A-4147-A177-3AD203B41FA5}">
                      <a16:colId xmlns:a16="http://schemas.microsoft.com/office/drawing/2014/main" val="3027041370"/>
                    </a:ext>
                  </a:extLst>
                </a:gridCol>
                <a:gridCol w="298169">
                  <a:extLst>
                    <a:ext uri="{9D8B030D-6E8A-4147-A177-3AD203B41FA5}">
                      <a16:colId xmlns:a16="http://schemas.microsoft.com/office/drawing/2014/main" val="2852526216"/>
                    </a:ext>
                  </a:extLst>
                </a:gridCol>
                <a:gridCol w="298169">
                  <a:extLst>
                    <a:ext uri="{9D8B030D-6E8A-4147-A177-3AD203B41FA5}">
                      <a16:colId xmlns:a16="http://schemas.microsoft.com/office/drawing/2014/main" val="103420222"/>
                    </a:ext>
                  </a:extLst>
                </a:gridCol>
                <a:gridCol w="1014545">
                  <a:extLst>
                    <a:ext uri="{9D8B030D-6E8A-4147-A177-3AD203B41FA5}">
                      <a16:colId xmlns:a16="http://schemas.microsoft.com/office/drawing/2014/main" val="1470405609"/>
                    </a:ext>
                  </a:extLst>
                </a:gridCol>
                <a:gridCol w="101657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OTP_RD_START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OTP_PG_START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 name="TextBox 1">
            <a:extLst>
              <a:ext uri="{FF2B5EF4-FFF2-40B4-BE49-F238E27FC236}">
                <a16:creationId xmlns:a16="http://schemas.microsoft.com/office/drawing/2014/main" id="{3796B731-2885-C230-7204-FD277CF6F662}"/>
              </a:ext>
            </a:extLst>
          </p:cNvPr>
          <p:cNvSpPr txBox="1"/>
          <p:nvPr/>
        </p:nvSpPr>
        <p:spPr>
          <a:xfrm>
            <a:off x="399058" y="65519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
        <p:nvSpPr>
          <p:cNvPr id="23" name="TextBox 22">
            <a:extLst>
              <a:ext uri="{FF2B5EF4-FFF2-40B4-BE49-F238E27FC236}">
                <a16:creationId xmlns:a16="http://schemas.microsoft.com/office/drawing/2014/main" id="{8ADA6022-234C-2371-6CB3-F17AF955CAB0}"/>
              </a:ext>
            </a:extLst>
          </p:cNvPr>
          <p:cNvSpPr txBox="1"/>
          <p:nvPr/>
        </p:nvSpPr>
        <p:spPr>
          <a:xfrm>
            <a:off x="406580" y="6307339"/>
            <a:ext cx="6036937"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CRC</a:t>
            </a:r>
          </a:p>
        </p:txBody>
      </p:sp>
      <p:graphicFrame>
        <p:nvGraphicFramePr>
          <p:cNvPr id="3" name="표 2">
            <a:extLst>
              <a:ext uri="{FF2B5EF4-FFF2-40B4-BE49-F238E27FC236}">
                <a16:creationId xmlns:a16="http://schemas.microsoft.com/office/drawing/2014/main" id="{C4563957-6945-7A90-55E9-08278A7599C7}"/>
              </a:ext>
            </a:extLst>
          </p:cNvPr>
          <p:cNvGraphicFramePr>
            <a:graphicFrameLocks noGrp="1"/>
          </p:cNvGraphicFramePr>
          <p:nvPr>
            <p:extLst>
              <p:ext uri="{D42A27DB-BD31-4B8C-83A1-F6EECF244321}">
                <p14:modId xmlns:p14="http://schemas.microsoft.com/office/powerpoint/2010/main" val="93905579"/>
              </p:ext>
            </p:extLst>
          </p:nvPr>
        </p:nvGraphicFramePr>
        <p:xfrm>
          <a:off x="404802" y="6570641"/>
          <a:ext cx="6033368" cy="372600"/>
        </p:xfrm>
        <a:graphic>
          <a:graphicData uri="http://schemas.openxmlformats.org/drawingml/2006/table">
            <a:tbl>
              <a:tblPr firstRow="1" bandRow="1">
                <a:tableStyleId>{5C22544A-7EE6-4342-B048-85BDC9FD1C3A}</a:tableStyleId>
              </a:tblPr>
              <a:tblGrid>
                <a:gridCol w="278384">
                  <a:extLst>
                    <a:ext uri="{9D8B030D-6E8A-4147-A177-3AD203B41FA5}">
                      <a16:colId xmlns:a16="http://schemas.microsoft.com/office/drawing/2014/main" val="657570846"/>
                    </a:ext>
                  </a:extLst>
                </a:gridCol>
                <a:gridCol w="321168">
                  <a:extLst>
                    <a:ext uri="{9D8B030D-6E8A-4147-A177-3AD203B41FA5}">
                      <a16:colId xmlns:a16="http://schemas.microsoft.com/office/drawing/2014/main" val="3259894497"/>
                    </a:ext>
                  </a:extLst>
                </a:gridCol>
                <a:gridCol w="428928">
                  <a:extLst>
                    <a:ext uri="{9D8B030D-6E8A-4147-A177-3AD203B41FA5}">
                      <a16:colId xmlns:a16="http://schemas.microsoft.com/office/drawing/2014/main" val="4170535043"/>
                    </a:ext>
                  </a:extLst>
                </a:gridCol>
                <a:gridCol w="417074">
                  <a:extLst>
                    <a:ext uri="{9D8B030D-6E8A-4147-A177-3AD203B41FA5}">
                      <a16:colId xmlns:a16="http://schemas.microsoft.com/office/drawing/2014/main" val="2079070694"/>
                    </a:ext>
                  </a:extLst>
                </a:gridCol>
                <a:gridCol w="417074">
                  <a:extLst>
                    <a:ext uri="{9D8B030D-6E8A-4147-A177-3AD203B41FA5}">
                      <a16:colId xmlns:a16="http://schemas.microsoft.com/office/drawing/2014/main" val="4213315911"/>
                    </a:ext>
                  </a:extLst>
                </a:gridCol>
                <a:gridCol w="417074">
                  <a:extLst>
                    <a:ext uri="{9D8B030D-6E8A-4147-A177-3AD203B41FA5}">
                      <a16:colId xmlns:a16="http://schemas.microsoft.com/office/drawing/2014/main" val="2769999950"/>
                    </a:ext>
                  </a:extLst>
                </a:gridCol>
                <a:gridCol w="417074">
                  <a:extLst>
                    <a:ext uri="{9D8B030D-6E8A-4147-A177-3AD203B41FA5}">
                      <a16:colId xmlns:a16="http://schemas.microsoft.com/office/drawing/2014/main" val="135637185"/>
                    </a:ext>
                  </a:extLst>
                </a:gridCol>
                <a:gridCol w="417074">
                  <a:extLst>
                    <a:ext uri="{9D8B030D-6E8A-4147-A177-3AD203B41FA5}">
                      <a16:colId xmlns:a16="http://schemas.microsoft.com/office/drawing/2014/main" val="3038050475"/>
                    </a:ext>
                  </a:extLst>
                </a:gridCol>
                <a:gridCol w="417074">
                  <a:extLst>
                    <a:ext uri="{9D8B030D-6E8A-4147-A177-3AD203B41FA5}">
                      <a16:colId xmlns:a16="http://schemas.microsoft.com/office/drawing/2014/main" val="1979433044"/>
                    </a:ext>
                  </a:extLst>
                </a:gridCol>
                <a:gridCol w="417074">
                  <a:extLst>
                    <a:ext uri="{9D8B030D-6E8A-4147-A177-3AD203B41FA5}">
                      <a16:colId xmlns:a16="http://schemas.microsoft.com/office/drawing/2014/main" val="4270661649"/>
                    </a:ext>
                  </a:extLst>
                </a:gridCol>
                <a:gridCol w="417074">
                  <a:extLst>
                    <a:ext uri="{9D8B030D-6E8A-4147-A177-3AD203B41FA5}">
                      <a16:colId xmlns:a16="http://schemas.microsoft.com/office/drawing/2014/main" val="3027041370"/>
                    </a:ext>
                  </a:extLst>
                </a:gridCol>
                <a:gridCol w="417074">
                  <a:extLst>
                    <a:ext uri="{9D8B030D-6E8A-4147-A177-3AD203B41FA5}">
                      <a16:colId xmlns:a16="http://schemas.microsoft.com/office/drawing/2014/main" val="2852526216"/>
                    </a:ext>
                  </a:extLst>
                </a:gridCol>
                <a:gridCol w="417074">
                  <a:extLst>
                    <a:ext uri="{9D8B030D-6E8A-4147-A177-3AD203B41FA5}">
                      <a16:colId xmlns:a16="http://schemas.microsoft.com/office/drawing/2014/main" val="103420222"/>
                    </a:ext>
                  </a:extLst>
                </a:gridCol>
                <a:gridCol w="417074">
                  <a:extLst>
                    <a:ext uri="{9D8B030D-6E8A-4147-A177-3AD203B41FA5}">
                      <a16:colId xmlns:a16="http://schemas.microsoft.com/office/drawing/2014/main" val="1470405609"/>
                    </a:ext>
                  </a:extLst>
                </a:gridCol>
                <a:gridCol w="41707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OTP_CRC_CHECKSUM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 name="TextBox 3">
            <a:extLst>
              <a:ext uri="{FF2B5EF4-FFF2-40B4-BE49-F238E27FC236}">
                <a16:creationId xmlns:a16="http://schemas.microsoft.com/office/drawing/2014/main" id="{9D8814F6-4A8A-A485-A6A9-FE6AD8AF55C7}"/>
              </a:ext>
            </a:extLst>
          </p:cNvPr>
          <p:cNvSpPr txBox="1"/>
          <p:nvPr/>
        </p:nvSpPr>
        <p:spPr>
          <a:xfrm>
            <a:off x="406574" y="7963797"/>
            <a:ext cx="604357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VREF CTL</a:t>
            </a:r>
          </a:p>
        </p:txBody>
      </p:sp>
      <p:sp>
        <p:nvSpPr>
          <p:cNvPr id="5" name="TextBox 4">
            <a:extLst>
              <a:ext uri="{FF2B5EF4-FFF2-40B4-BE49-F238E27FC236}">
                <a16:creationId xmlns:a16="http://schemas.microsoft.com/office/drawing/2014/main" id="{AE5DEA8F-BA83-10ED-F812-72AE3AAD598C}"/>
              </a:ext>
            </a:extLst>
          </p:cNvPr>
          <p:cNvSpPr txBox="1"/>
          <p:nvPr/>
        </p:nvSpPr>
        <p:spPr>
          <a:xfrm>
            <a:off x="406578" y="7123608"/>
            <a:ext cx="603875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OSC</a:t>
            </a:r>
          </a:p>
        </p:txBody>
      </p:sp>
      <p:graphicFrame>
        <p:nvGraphicFramePr>
          <p:cNvPr id="6" name="표 5">
            <a:extLst>
              <a:ext uri="{FF2B5EF4-FFF2-40B4-BE49-F238E27FC236}">
                <a16:creationId xmlns:a16="http://schemas.microsoft.com/office/drawing/2014/main" id="{72CAC16C-E3DA-03BE-5057-DCE80725E35B}"/>
              </a:ext>
            </a:extLst>
          </p:cNvPr>
          <p:cNvGraphicFramePr>
            <a:graphicFrameLocks noGrp="1"/>
          </p:cNvGraphicFramePr>
          <p:nvPr>
            <p:extLst>
              <p:ext uri="{D42A27DB-BD31-4B8C-83A1-F6EECF244321}">
                <p14:modId xmlns:p14="http://schemas.microsoft.com/office/powerpoint/2010/main" val="3243655652"/>
              </p:ext>
            </p:extLst>
          </p:nvPr>
        </p:nvGraphicFramePr>
        <p:xfrm>
          <a:off x="404802" y="8229095"/>
          <a:ext cx="6033389" cy="372600"/>
        </p:xfrm>
        <a:graphic>
          <a:graphicData uri="http://schemas.openxmlformats.org/drawingml/2006/table">
            <a:tbl>
              <a:tblPr firstRow="1" bandRow="1">
                <a:tableStyleId>{5C22544A-7EE6-4342-B048-85BDC9FD1C3A}</a:tableStyleId>
              </a:tblPr>
              <a:tblGrid>
                <a:gridCol w="276270">
                  <a:extLst>
                    <a:ext uri="{9D8B030D-6E8A-4147-A177-3AD203B41FA5}">
                      <a16:colId xmlns:a16="http://schemas.microsoft.com/office/drawing/2014/main" val="657570846"/>
                    </a:ext>
                  </a:extLst>
                </a:gridCol>
                <a:gridCol w="323280">
                  <a:extLst>
                    <a:ext uri="{9D8B030D-6E8A-4147-A177-3AD203B41FA5}">
                      <a16:colId xmlns:a16="http://schemas.microsoft.com/office/drawing/2014/main" val="3259894497"/>
                    </a:ext>
                  </a:extLst>
                </a:gridCol>
                <a:gridCol w="426815">
                  <a:extLst>
                    <a:ext uri="{9D8B030D-6E8A-4147-A177-3AD203B41FA5}">
                      <a16:colId xmlns:a16="http://schemas.microsoft.com/office/drawing/2014/main" val="4170535043"/>
                    </a:ext>
                  </a:extLst>
                </a:gridCol>
                <a:gridCol w="417252">
                  <a:extLst>
                    <a:ext uri="{9D8B030D-6E8A-4147-A177-3AD203B41FA5}">
                      <a16:colId xmlns:a16="http://schemas.microsoft.com/office/drawing/2014/main" val="2079070694"/>
                    </a:ext>
                  </a:extLst>
                </a:gridCol>
                <a:gridCol w="417252">
                  <a:extLst>
                    <a:ext uri="{9D8B030D-6E8A-4147-A177-3AD203B41FA5}">
                      <a16:colId xmlns:a16="http://schemas.microsoft.com/office/drawing/2014/main" val="4213315911"/>
                    </a:ext>
                  </a:extLst>
                </a:gridCol>
                <a:gridCol w="417252">
                  <a:extLst>
                    <a:ext uri="{9D8B030D-6E8A-4147-A177-3AD203B41FA5}">
                      <a16:colId xmlns:a16="http://schemas.microsoft.com/office/drawing/2014/main" val="2769999950"/>
                    </a:ext>
                  </a:extLst>
                </a:gridCol>
                <a:gridCol w="417252">
                  <a:extLst>
                    <a:ext uri="{9D8B030D-6E8A-4147-A177-3AD203B41FA5}">
                      <a16:colId xmlns:a16="http://schemas.microsoft.com/office/drawing/2014/main" val="135637185"/>
                    </a:ext>
                  </a:extLst>
                </a:gridCol>
                <a:gridCol w="417252">
                  <a:extLst>
                    <a:ext uri="{9D8B030D-6E8A-4147-A177-3AD203B41FA5}">
                      <a16:colId xmlns:a16="http://schemas.microsoft.com/office/drawing/2014/main" val="3038050475"/>
                    </a:ext>
                  </a:extLst>
                </a:gridCol>
                <a:gridCol w="417252">
                  <a:extLst>
                    <a:ext uri="{9D8B030D-6E8A-4147-A177-3AD203B41FA5}">
                      <a16:colId xmlns:a16="http://schemas.microsoft.com/office/drawing/2014/main" val="1979433044"/>
                    </a:ext>
                  </a:extLst>
                </a:gridCol>
                <a:gridCol w="417252">
                  <a:extLst>
                    <a:ext uri="{9D8B030D-6E8A-4147-A177-3AD203B41FA5}">
                      <a16:colId xmlns:a16="http://schemas.microsoft.com/office/drawing/2014/main" val="4270661649"/>
                    </a:ext>
                  </a:extLst>
                </a:gridCol>
                <a:gridCol w="417252">
                  <a:extLst>
                    <a:ext uri="{9D8B030D-6E8A-4147-A177-3AD203B41FA5}">
                      <a16:colId xmlns:a16="http://schemas.microsoft.com/office/drawing/2014/main" val="3027041370"/>
                    </a:ext>
                  </a:extLst>
                </a:gridCol>
                <a:gridCol w="417252">
                  <a:extLst>
                    <a:ext uri="{9D8B030D-6E8A-4147-A177-3AD203B41FA5}">
                      <a16:colId xmlns:a16="http://schemas.microsoft.com/office/drawing/2014/main" val="2852526216"/>
                    </a:ext>
                  </a:extLst>
                </a:gridCol>
                <a:gridCol w="417252">
                  <a:extLst>
                    <a:ext uri="{9D8B030D-6E8A-4147-A177-3AD203B41FA5}">
                      <a16:colId xmlns:a16="http://schemas.microsoft.com/office/drawing/2014/main" val="103420222"/>
                    </a:ext>
                  </a:extLst>
                </a:gridCol>
                <a:gridCol w="417252">
                  <a:extLst>
                    <a:ext uri="{9D8B030D-6E8A-4147-A177-3AD203B41FA5}">
                      <a16:colId xmlns:a16="http://schemas.microsoft.com/office/drawing/2014/main" val="1470405609"/>
                    </a:ext>
                  </a:extLst>
                </a:gridCol>
                <a:gridCol w="41725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VREF_CTL [5:0]</a:t>
                      </a:r>
                      <a:endParaRPr lang="ko-KR" altLang="en-US" sz="700" b="0" dirty="0">
                        <a:solidFill>
                          <a:schemeClr val="tx1"/>
                        </a:solidFill>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8" name="표 7">
            <a:extLst>
              <a:ext uri="{FF2B5EF4-FFF2-40B4-BE49-F238E27FC236}">
                <a16:creationId xmlns:a16="http://schemas.microsoft.com/office/drawing/2014/main" id="{C7F9D325-1314-0C7C-D3E6-0CEFF4090EC8}"/>
              </a:ext>
            </a:extLst>
          </p:cNvPr>
          <p:cNvGraphicFramePr>
            <a:graphicFrameLocks noGrp="1"/>
          </p:cNvGraphicFramePr>
          <p:nvPr>
            <p:extLst>
              <p:ext uri="{D42A27DB-BD31-4B8C-83A1-F6EECF244321}">
                <p14:modId xmlns:p14="http://schemas.microsoft.com/office/powerpoint/2010/main" val="3742098370"/>
              </p:ext>
            </p:extLst>
          </p:nvPr>
        </p:nvGraphicFramePr>
        <p:xfrm>
          <a:off x="404806" y="7399868"/>
          <a:ext cx="6034374" cy="372600"/>
        </p:xfrm>
        <a:graphic>
          <a:graphicData uri="http://schemas.openxmlformats.org/drawingml/2006/table">
            <a:tbl>
              <a:tblPr firstRow="1" bandRow="1">
                <a:tableStyleId>{5C22544A-7EE6-4342-B048-85BDC9FD1C3A}</a:tableStyleId>
              </a:tblPr>
              <a:tblGrid>
                <a:gridCol w="276270">
                  <a:extLst>
                    <a:ext uri="{9D8B030D-6E8A-4147-A177-3AD203B41FA5}">
                      <a16:colId xmlns:a16="http://schemas.microsoft.com/office/drawing/2014/main" val="657570846"/>
                    </a:ext>
                  </a:extLst>
                </a:gridCol>
                <a:gridCol w="325394">
                  <a:extLst>
                    <a:ext uri="{9D8B030D-6E8A-4147-A177-3AD203B41FA5}">
                      <a16:colId xmlns:a16="http://schemas.microsoft.com/office/drawing/2014/main" val="3259894497"/>
                    </a:ext>
                  </a:extLst>
                </a:gridCol>
                <a:gridCol w="424702">
                  <a:extLst>
                    <a:ext uri="{9D8B030D-6E8A-4147-A177-3AD203B41FA5}">
                      <a16:colId xmlns:a16="http://schemas.microsoft.com/office/drawing/2014/main" val="4170535043"/>
                    </a:ext>
                  </a:extLst>
                </a:gridCol>
                <a:gridCol w="417334">
                  <a:extLst>
                    <a:ext uri="{9D8B030D-6E8A-4147-A177-3AD203B41FA5}">
                      <a16:colId xmlns:a16="http://schemas.microsoft.com/office/drawing/2014/main" val="2079070694"/>
                    </a:ext>
                  </a:extLst>
                </a:gridCol>
                <a:gridCol w="417334">
                  <a:extLst>
                    <a:ext uri="{9D8B030D-6E8A-4147-A177-3AD203B41FA5}">
                      <a16:colId xmlns:a16="http://schemas.microsoft.com/office/drawing/2014/main" val="4213315911"/>
                    </a:ext>
                  </a:extLst>
                </a:gridCol>
                <a:gridCol w="417334">
                  <a:extLst>
                    <a:ext uri="{9D8B030D-6E8A-4147-A177-3AD203B41FA5}">
                      <a16:colId xmlns:a16="http://schemas.microsoft.com/office/drawing/2014/main" val="2769999950"/>
                    </a:ext>
                  </a:extLst>
                </a:gridCol>
                <a:gridCol w="417334">
                  <a:extLst>
                    <a:ext uri="{9D8B030D-6E8A-4147-A177-3AD203B41FA5}">
                      <a16:colId xmlns:a16="http://schemas.microsoft.com/office/drawing/2014/main" val="135637185"/>
                    </a:ext>
                  </a:extLst>
                </a:gridCol>
                <a:gridCol w="417334">
                  <a:extLst>
                    <a:ext uri="{9D8B030D-6E8A-4147-A177-3AD203B41FA5}">
                      <a16:colId xmlns:a16="http://schemas.microsoft.com/office/drawing/2014/main" val="3038050475"/>
                    </a:ext>
                  </a:extLst>
                </a:gridCol>
                <a:gridCol w="417334">
                  <a:extLst>
                    <a:ext uri="{9D8B030D-6E8A-4147-A177-3AD203B41FA5}">
                      <a16:colId xmlns:a16="http://schemas.microsoft.com/office/drawing/2014/main" val="1979433044"/>
                    </a:ext>
                  </a:extLst>
                </a:gridCol>
                <a:gridCol w="417334">
                  <a:extLst>
                    <a:ext uri="{9D8B030D-6E8A-4147-A177-3AD203B41FA5}">
                      <a16:colId xmlns:a16="http://schemas.microsoft.com/office/drawing/2014/main" val="4270661649"/>
                    </a:ext>
                  </a:extLst>
                </a:gridCol>
                <a:gridCol w="417334">
                  <a:extLst>
                    <a:ext uri="{9D8B030D-6E8A-4147-A177-3AD203B41FA5}">
                      <a16:colId xmlns:a16="http://schemas.microsoft.com/office/drawing/2014/main" val="3027041370"/>
                    </a:ext>
                  </a:extLst>
                </a:gridCol>
                <a:gridCol w="417334">
                  <a:extLst>
                    <a:ext uri="{9D8B030D-6E8A-4147-A177-3AD203B41FA5}">
                      <a16:colId xmlns:a16="http://schemas.microsoft.com/office/drawing/2014/main" val="2852526216"/>
                    </a:ext>
                  </a:extLst>
                </a:gridCol>
                <a:gridCol w="417334">
                  <a:extLst>
                    <a:ext uri="{9D8B030D-6E8A-4147-A177-3AD203B41FA5}">
                      <a16:colId xmlns:a16="http://schemas.microsoft.com/office/drawing/2014/main" val="103420222"/>
                    </a:ext>
                  </a:extLst>
                </a:gridCol>
                <a:gridCol w="417334">
                  <a:extLst>
                    <a:ext uri="{9D8B030D-6E8A-4147-A177-3AD203B41FA5}">
                      <a16:colId xmlns:a16="http://schemas.microsoft.com/office/drawing/2014/main" val="1470405609"/>
                    </a:ext>
                  </a:extLst>
                </a:gridCol>
                <a:gridCol w="4173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OSC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7" name="TextBox 6">
            <a:extLst>
              <a:ext uri="{FF2B5EF4-FFF2-40B4-BE49-F238E27FC236}">
                <a16:creationId xmlns:a16="http://schemas.microsoft.com/office/drawing/2014/main" id="{C3C05013-D6C5-1254-B57C-7FD0E4F2A6A5}"/>
              </a:ext>
            </a:extLst>
          </p:cNvPr>
          <p:cNvSpPr txBox="1"/>
          <p:nvPr/>
        </p:nvSpPr>
        <p:spPr>
          <a:xfrm>
            <a:off x="389986" y="876213"/>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ACCESS</a:t>
            </a:r>
          </a:p>
        </p:txBody>
      </p:sp>
      <p:sp>
        <p:nvSpPr>
          <p:cNvPr id="11" name="TextBox 10">
            <a:extLst>
              <a:ext uri="{FF2B5EF4-FFF2-40B4-BE49-F238E27FC236}">
                <a16:creationId xmlns:a16="http://schemas.microsoft.com/office/drawing/2014/main" id="{ADBDAD27-997B-0061-81F0-A70DD963DB8B}"/>
              </a:ext>
            </a:extLst>
          </p:cNvPr>
          <p:cNvSpPr txBox="1"/>
          <p:nvPr/>
        </p:nvSpPr>
        <p:spPr>
          <a:xfrm>
            <a:off x="403310" y="5910831"/>
            <a:ext cx="604605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These registers are the OTP Mirror registers.</a:t>
            </a:r>
          </a:p>
        </p:txBody>
      </p:sp>
    </p:spTree>
    <p:extLst>
      <p:ext uri="{BB962C8B-B14F-4D97-AF65-F5344CB8AC3E}">
        <p14:creationId xmlns:p14="http://schemas.microsoft.com/office/powerpoint/2010/main" val="2078954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7" name="표 46">
            <a:extLst>
              <a:ext uri="{FF2B5EF4-FFF2-40B4-BE49-F238E27FC236}">
                <a16:creationId xmlns:a16="http://schemas.microsoft.com/office/drawing/2014/main" id="{AF109EAD-C0E0-2AC5-1980-1573B1096C44}"/>
              </a:ext>
            </a:extLst>
          </p:cNvPr>
          <p:cNvGraphicFramePr>
            <a:graphicFrameLocks noGrp="1"/>
          </p:cNvGraphicFramePr>
          <p:nvPr>
            <p:extLst>
              <p:ext uri="{D42A27DB-BD31-4B8C-83A1-F6EECF244321}">
                <p14:modId xmlns:p14="http://schemas.microsoft.com/office/powerpoint/2010/main" val="3166537928"/>
              </p:ext>
            </p:extLst>
          </p:nvPr>
        </p:nvGraphicFramePr>
        <p:xfrm>
          <a:off x="383634" y="7887730"/>
          <a:ext cx="6043986" cy="372600"/>
        </p:xfrm>
        <a:graphic>
          <a:graphicData uri="http://schemas.openxmlformats.org/drawingml/2006/table">
            <a:tbl>
              <a:tblPr firstRow="1" bandRow="1">
                <a:tableStyleId>{5C22544A-7EE6-4342-B048-85BDC9FD1C3A}</a:tableStyleId>
              </a:tblPr>
              <a:tblGrid>
                <a:gridCol w="275179">
                  <a:extLst>
                    <a:ext uri="{9D8B030D-6E8A-4147-A177-3AD203B41FA5}">
                      <a16:colId xmlns:a16="http://schemas.microsoft.com/office/drawing/2014/main" val="657570846"/>
                    </a:ext>
                  </a:extLst>
                </a:gridCol>
                <a:gridCol w="328612">
                  <a:extLst>
                    <a:ext uri="{9D8B030D-6E8A-4147-A177-3AD203B41FA5}">
                      <a16:colId xmlns:a16="http://schemas.microsoft.com/office/drawing/2014/main" val="3259894497"/>
                    </a:ext>
                  </a:extLst>
                </a:gridCol>
                <a:gridCol w="422275">
                  <a:extLst>
                    <a:ext uri="{9D8B030D-6E8A-4147-A177-3AD203B41FA5}">
                      <a16:colId xmlns:a16="http://schemas.microsoft.com/office/drawing/2014/main" val="4170535043"/>
                    </a:ext>
                  </a:extLst>
                </a:gridCol>
                <a:gridCol w="418160">
                  <a:extLst>
                    <a:ext uri="{9D8B030D-6E8A-4147-A177-3AD203B41FA5}">
                      <a16:colId xmlns:a16="http://schemas.microsoft.com/office/drawing/2014/main" val="2079070694"/>
                    </a:ext>
                  </a:extLst>
                </a:gridCol>
                <a:gridCol w="418160">
                  <a:extLst>
                    <a:ext uri="{9D8B030D-6E8A-4147-A177-3AD203B41FA5}">
                      <a16:colId xmlns:a16="http://schemas.microsoft.com/office/drawing/2014/main" val="4213315911"/>
                    </a:ext>
                  </a:extLst>
                </a:gridCol>
                <a:gridCol w="418160">
                  <a:extLst>
                    <a:ext uri="{9D8B030D-6E8A-4147-A177-3AD203B41FA5}">
                      <a16:colId xmlns:a16="http://schemas.microsoft.com/office/drawing/2014/main" val="2769999950"/>
                    </a:ext>
                  </a:extLst>
                </a:gridCol>
                <a:gridCol w="418160">
                  <a:extLst>
                    <a:ext uri="{9D8B030D-6E8A-4147-A177-3AD203B41FA5}">
                      <a16:colId xmlns:a16="http://schemas.microsoft.com/office/drawing/2014/main" val="135637185"/>
                    </a:ext>
                  </a:extLst>
                </a:gridCol>
                <a:gridCol w="418160">
                  <a:extLst>
                    <a:ext uri="{9D8B030D-6E8A-4147-A177-3AD203B41FA5}">
                      <a16:colId xmlns:a16="http://schemas.microsoft.com/office/drawing/2014/main" val="3038050475"/>
                    </a:ext>
                  </a:extLst>
                </a:gridCol>
                <a:gridCol w="418160">
                  <a:extLst>
                    <a:ext uri="{9D8B030D-6E8A-4147-A177-3AD203B41FA5}">
                      <a16:colId xmlns:a16="http://schemas.microsoft.com/office/drawing/2014/main" val="1979433044"/>
                    </a:ext>
                  </a:extLst>
                </a:gridCol>
                <a:gridCol w="418160">
                  <a:extLst>
                    <a:ext uri="{9D8B030D-6E8A-4147-A177-3AD203B41FA5}">
                      <a16:colId xmlns:a16="http://schemas.microsoft.com/office/drawing/2014/main" val="4270661649"/>
                    </a:ext>
                  </a:extLst>
                </a:gridCol>
                <a:gridCol w="418160">
                  <a:extLst>
                    <a:ext uri="{9D8B030D-6E8A-4147-A177-3AD203B41FA5}">
                      <a16:colId xmlns:a16="http://schemas.microsoft.com/office/drawing/2014/main" val="3027041370"/>
                    </a:ext>
                  </a:extLst>
                </a:gridCol>
                <a:gridCol w="418160">
                  <a:extLst>
                    <a:ext uri="{9D8B030D-6E8A-4147-A177-3AD203B41FA5}">
                      <a16:colId xmlns:a16="http://schemas.microsoft.com/office/drawing/2014/main" val="2852526216"/>
                    </a:ext>
                  </a:extLst>
                </a:gridCol>
                <a:gridCol w="418160">
                  <a:extLst>
                    <a:ext uri="{9D8B030D-6E8A-4147-A177-3AD203B41FA5}">
                      <a16:colId xmlns:a16="http://schemas.microsoft.com/office/drawing/2014/main" val="103420222"/>
                    </a:ext>
                  </a:extLst>
                </a:gridCol>
                <a:gridCol w="418160">
                  <a:extLst>
                    <a:ext uri="{9D8B030D-6E8A-4147-A177-3AD203B41FA5}">
                      <a16:colId xmlns:a16="http://schemas.microsoft.com/office/drawing/2014/main" val="1470405609"/>
                    </a:ext>
                  </a:extLst>
                </a:gridCol>
                <a:gridCol w="41816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OFS_CH11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5" name="표 4">
            <a:extLst>
              <a:ext uri="{FF2B5EF4-FFF2-40B4-BE49-F238E27FC236}">
                <a16:creationId xmlns:a16="http://schemas.microsoft.com/office/drawing/2014/main" id="{15D0392E-6F76-D51A-169C-C703D102B1D4}"/>
              </a:ext>
            </a:extLst>
          </p:cNvPr>
          <p:cNvGraphicFramePr>
            <a:graphicFrameLocks noGrp="1"/>
          </p:cNvGraphicFramePr>
          <p:nvPr>
            <p:extLst>
              <p:ext uri="{D42A27DB-BD31-4B8C-83A1-F6EECF244321}">
                <p14:modId xmlns:p14="http://schemas.microsoft.com/office/powerpoint/2010/main" val="3950667429"/>
              </p:ext>
            </p:extLst>
          </p:nvPr>
        </p:nvGraphicFramePr>
        <p:xfrm>
          <a:off x="385222" y="1102720"/>
          <a:ext cx="6043989" cy="372600"/>
        </p:xfrm>
        <a:graphic>
          <a:graphicData uri="http://schemas.openxmlformats.org/drawingml/2006/table">
            <a:tbl>
              <a:tblPr firstRow="1" bandRow="1">
                <a:tableStyleId>{5C22544A-7EE6-4342-B048-85BDC9FD1C3A}</a:tableStyleId>
              </a:tblPr>
              <a:tblGrid>
                <a:gridCol w="275178">
                  <a:extLst>
                    <a:ext uri="{9D8B030D-6E8A-4147-A177-3AD203B41FA5}">
                      <a16:colId xmlns:a16="http://schemas.microsoft.com/office/drawing/2014/main" val="657570846"/>
                    </a:ext>
                  </a:extLst>
                </a:gridCol>
                <a:gridCol w="325438">
                  <a:extLst>
                    <a:ext uri="{9D8B030D-6E8A-4147-A177-3AD203B41FA5}">
                      <a16:colId xmlns:a16="http://schemas.microsoft.com/office/drawing/2014/main" val="3259894497"/>
                    </a:ext>
                  </a:extLst>
                </a:gridCol>
                <a:gridCol w="427037">
                  <a:extLst>
                    <a:ext uri="{9D8B030D-6E8A-4147-A177-3AD203B41FA5}">
                      <a16:colId xmlns:a16="http://schemas.microsoft.com/office/drawing/2014/main" val="4170535043"/>
                    </a:ext>
                  </a:extLst>
                </a:gridCol>
                <a:gridCol w="418028">
                  <a:extLst>
                    <a:ext uri="{9D8B030D-6E8A-4147-A177-3AD203B41FA5}">
                      <a16:colId xmlns:a16="http://schemas.microsoft.com/office/drawing/2014/main" val="2079070694"/>
                    </a:ext>
                  </a:extLst>
                </a:gridCol>
                <a:gridCol w="418028">
                  <a:extLst>
                    <a:ext uri="{9D8B030D-6E8A-4147-A177-3AD203B41FA5}">
                      <a16:colId xmlns:a16="http://schemas.microsoft.com/office/drawing/2014/main" val="4213315911"/>
                    </a:ext>
                  </a:extLst>
                </a:gridCol>
                <a:gridCol w="418028">
                  <a:extLst>
                    <a:ext uri="{9D8B030D-6E8A-4147-A177-3AD203B41FA5}">
                      <a16:colId xmlns:a16="http://schemas.microsoft.com/office/drawing/2014/main" val="2769999950"/>
                    </a:ext>
                  </a:extLst>
                </a:gridCol>
                <a:gridCol w="418028">
                  <a:extLst>
                    <a:ext uri="{9D8B030D-6E8A-4147-A177-3AD203B41FA5}">
                      <a16:colId xmlns:a16="http://schemas.microsoft.com/office/drawing/2014/main" val="135637185"/>
                    </a:ext>
                  </a:extLst>
                </a:gridCol>
                <a:gridCol w="418028">
                  <a:extLst>
                    <a:ext uri="{9D8B030D-6E8A-4147-A177-3AD203B41FA5}">
                      <a16:colId xmlns:a16="http://schemas.microsoft.com/office/drawing/2014/main" val="3038050475"/>
                    </a:ext>
                  </a:extLst>
                </a:gridCol>
                <a:gridCol w="418028">
                  <a:extLst>
                    <a:ext uri="{9D8B030D-6E8A-4147-A177-3AD203B41FA5}">
                      <a16:colId xmlns:a16="http://schemas.microsoft.com/office/drawing/2014/main" val="1979433044"/>
                    </a:ext>
                  </a:extLst>
                </a:gridCol>
                <a:gridCol w="418028">
                  <a:extLst>
                    <a:ext uri="{9D8B030D-6E8A-4147-A177-3AD203B41FA5}">
                      <a16:colId xmlns:a16="http://schemas.microsoft.com/office/drawing/2014/main" val="4270661649"/>
                    </a:ext>
                  </a:extLst>
                </a:gridCol>
                <a:gridCol w="418028">
                  <a:extLst>
                    <a:ext uri="{9D8B030D-6E8A-4147-A177-3AD203B41FA5}">
                      <a16:colId xmlns:a16="http://schemas.microsoft.com/office/drawing/2014/main" val="3027041370"/>
                    </a:ext>
                  </a:extLst>
                </a:gridCol>
                <a:gridCol w="418028">
                  <a:extLst>
                    <a:ext uri="{9D8B030D-6E8A-4147-A177-3AD203B41FA5}">
                      <a16:colId xmlns:a16="http://schemas.microsoft.com/office/drawing/2014/main" val="2852526216"/>
                    </a:ext>
                  </a:extLst>
                </a:gridCol>
                <a:gridCol w="418028">
                  <a:extLst>
                    <a:ext uri="{9D8B030D-6E8A-4147-A177-3AD203B41FA5}">
                      <a16:colId xmlns:a16="http://schemas.microsoft.com/office/drawing/2014/main" val="103420222"/>
                    </a:ext>
                  </a:extLst>
                </a:gridCol>
                <a:gridCol w="418028">
                  <a:extLst>
                    <a:ext uri="{9D8B030D-6E8A-4147-A177-3AD203B41FA5}">
                      <a16:colId xmlns:a16="http://schemas.microsoft.com/office/drawing/2014/main" val="1470405609"/>
                    </a:ext>
                  </a:extLst>
                </a:gridCol>
                <a:gridCol w="41802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OFS_CH1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9" name="TextBox 18">
            <a:extLst>
              <a:ext uri="{FF2B5EF4-FFF2-40B4-BE49-F238E27FC236}">
                <a16:creationId xmlns:a16="http://schemas.microsoft.com/office/drawing/2014/main" id="{6A7FA619-4E35-FB0E-C207-1DA325083542}"/>
              </a:ext>
            </a:extLst>
          </p:cNvPr>
          <p:cNvSpPr txBox="1"/>
          <p:nvPr/>
        </p:nvSpPr>
        <p:spPr>
          <a:xfrm>
            <a:off x="389986" y="872863"/>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 1</a:t>
            </a:r>
          </a:p>
        </p:txBody>
      </p:sp>
      <p:graphicFrame>
        <p:nvGraphicFramePr>
          <p:cNvPr id="20" name="표 19">
            <a:extLst>
              <a:ext uri="{FF2B5EF4-FFF2-40B4-BE49-F238E27FC236}">
                <a16:creationId xmlns:a16="http://schemas.microsoft.com/office/drawing/2014/main" id="{AE12691E-C981-3606-36D9-5004E2726680}"/>
              </a:ext>
            </a:extLst>
          </p:cNvPr>
          <p:cNvGraphicFramePr>
            <a:graphicFrameLocks noGrp="1"/>
          </p:cNvGraphicFramePr>
          <p:nvPr>
            <p:extLst>
              <p:ext uri="{D42A27DB-BD31-4B8C-83A1-F6EECF244321}">
                <p14:modId xmlns:p14="http://schemas.microsoft.com/office/powerpoint/2010/main" val="1522117680"/>
              </p:ext>
            </p:extLst>
          </p:nvPr>
        </p:nvGraphicFramePr>
        <p:xfrm>
          <a:off x="383634" y="1790698"/>
          <a:ext cx="6043990" cy="372600"/>
        </p:xfrm>
        <a:graphic>
          <a:graphicData uri="http://schemas.openxmlformats.org/drawingml/2006/table">
            <a:tbl>
              <a:tblPr firstRow="1" bandRow="1">
                <a:tableStyleId>{5C22544A-7EE6-4342-B048-85BDC9FD1C3A}</a:tableStyleId>
              </a:tblPr>
              <a:tblGrid>
                <a:gridCol w="276766">
                  <a:extLst>
                    <a:ext uri="{9D8B030D-6E8A-4147-A177-3AD203B41FA5}">
                      <a16:colId xmlns:a16="http://schemas.microsoft.com/office/drawing/2014/main" val="657570846"/>
                    </a:ext>
                  </a:extLst>
                </a:gridCol>
                <a:gridCol w="325438">
                  <a:extLst>
                    <a:ext uri="{9D8B030D-6E8A-4147-A177-3AD203B41FA5}">
                      <a16:colId xmlns:a16="http://schemas.microsoft.com/office/drawing/2014/main" val="3259894497"/>
                    </a:ext>
                  </a:extLst>
                </a:gridCol>
                <a:gridCol w="425450">
                  <a:extLst>
                    <a:ext uri="{9D8B030D-6E8A-4147-A177-3AD203B41FA5}">
                      <a16:colId xmlns:a16="http://schemas.microsoft.com/office/drawing/2014/main" val="4170535043"/>
                    </a:ext>
                  </a:extLst>
                </a:gridCol>
                <a:gridCol w="418028">
                  <a:extLst>
                    <a:ext uri="{9D8B030D-6E8A-4147-A177-3AD203B41FA5}">
                      <a16:colId xmlns:a16="http://schemas.microsoft.com/office/drawing/2014/main" val="2079070694"/>
                    </a:ext>
                  </a:extLst>
                </a:gridCol>
                <a:gridCol w="418028">
                  <a:extLst>
                    <a:ext uri="{9D8B030D-6E8A-4147-A177-3AD203B41FA5}">
                      <a16:colId xmlns:a16="http://schemas.microsoft.com/office/drawing/2014/main" val="4213315911"/>
                    </a:ext>
                  </a:extLst>
                </a:gridCol>
                <a:gridCol w="418028">
                  <a:extLst>
                    <a:ext uri="{9D8B030D-6E8A-4147-A177-3AD203B41FA5}">
                      <a16:colId xmlns:a16="http://schemas.microsoft.com/office/drawing/2014/main" val="2769999950"/>
                    </a:ext>
                  </a:extLst>
                </a:gridCol>
                <a:gridCol w="418028">
                  <a:extLst>
                    <a:ext uri="{9D8B030D-6E8A-4147-A177-3AD203B41FA5}">
                      <a16:colId xmlns:a16="http://schemas.microsoft.com/office/drawing/2014/main" val="135637185"/>
                    </a:ext>
                  </a:extLst>
                </a:gridCol>
                <a:gridCol w="418028">
                  <a:extLst>
                    <a:ext uri="{9D8B030D-6E8A-4147-A177-3AD203B41FA5}">
                      <a16:colId xmlns:a16="http://schemas.microsoft.com/office/drawing/2014/main" val="3038050475"/>
                    </a:ext>
                  </a:extLst>
                </a:gridCol>
                <a:gridCol w="418028">
                  <a:extLst>
                    <a:ext uri="{9D8B030D-6E8A-4147-A177-3AD203B41FA5}">
                      <a16:colId xmlns:a16="http://schemas.microsoft.com/office/drawing/2014/main" val="1979433044"/>
                    </a:ext>
                  </a:extLst>
                </a:gridCol>
                <a:gridCol w="418028">
                  <a:extLst>
                    <a:ext uri="{9D8B030D-6E8A-4147-A177-3AD203B41FA5}">
                      <a16:colId xmlns:a16="http://schemas.microsoft.com/office/drawing/2014/main" val="4270661649"/>
                    </a:ext>
                  </a:extLst>
                </a:gridCol>
                <a:gridCol w="418028">
                  <a:extLst>
                    <a:ext uri="{9D8B030D-6E8A-4147-A177-3AD203B41FA5}">
                      <a16:colId xmlns:a16="http://schemas.microsoft.com/office/drawing/2014/main" val="3027041370"/>
                    </a:ext>
                  </a:extLst>
                </a:gridCol>
                <a:gridCol w="418028">
                  <a:extLst>
                    <a:ext uri="{9D8B030D-6E8A-4147-A177-3AD203B41FA5}">
                      <a16:colId xmlns:a16="http://schemas.microsoft.com/office/drawing/2014/main" val="2852526216"/>
                    </a:ext>
                  </a:extLst>
                </a:gridCol>
                <a:gridCol w="418028">
                  <a:extLst>
                    <a:ext uri="{9D8B030D-6E8A-4147-A177-3AD203B41FA5}">
                      <a16:colId xmlns:a16="http://schemas.microsoft.com/office/drawing/2014/main" val="103420222"/>
                    </a:ext>
                  </a:extLst>
                </a:gridCol>
                <a:gridCol w="418028">
                  <a:extLst>
                    <a:ext uri="{9D8B030D-6E8A-4147-A177-3AD203B41FA5}">
                      <a16:colId xmlns:a16="http://schemas.microsoft.com/office/drawing/2014/main" val="1470405609"/>
                    </a:ext>
                  </a:extLst>
                </a:gridCol>
                <a:gridCol w="41802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OFS_CH2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4" name="TextBox 23">
            <a:extLst>
              <a:ext uri="{FF2B5EF4-FFF2-40B4-BE49-F238E27FC236}">
                <a16:creationId xmlns:a16="http://schemas.microsoft.com/office/drawing/2014/main" id="{C1ED9103-A3B5-553E-C424-E74EB0043AD4}"/>
              </a:ext>
            </a:extLst>
          </p:cNvPr>
          <p:cNvSpPr txBox="1"/>
          <p:nvPr/>
        </p:nvSpPr>
        <p:spPr>
          <a:xfrm>
            <a:off x="389986" y="1568746"/>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 2</a:t>
            </a:r>
          </a:p>
        </p:txBody>
      </p:sp>
      <p:graphicFrame>
        <p:nvGraphicFramePr>
          <p:cNvPr id="26" name="표 25">
            <a:extLst>
              <a:ext uri="{FF2B5EF4-FFF2-40B4-BE49-F238E27FC236}">
                <a16:creationId xmlns:a16="http://schemas.microsoft.com/office/drawing/2014/main" id="{22B07154-E7B3-7FEF-4598-3C989132CB71}"/>
              </a:ext>
            </a:extLst>
          </p:cNvPr>
          <p:cNvGraphicFramePr>
            <a:graphicFrameLocks noGrp="1"/>
          </p:cNvGraphicFramePr>
          <p:nvPr>
            <p:extLst>
              <p:ext uri="{D42A27DB-BD31-4B8C-83A1-F6EECF244321}">
                <p14:modId xmlns:p14="http://schemas.microsoft.com/office/powerpoint/2010/main" val="245528459"/>
              </p:ext>
            </p:extLst>
          </p:nvPr>
        </p:nvGraphicFramePr>
        <p:xfrm>
          <a:off x="385222" y="2468146"/>
          <a:ext cx="6043998" cy="372600"/>
        </p:xfrm>
        <a:graphic>
          <a:graphicData uri="http://schemas.openxmlformats.org/drawingml/2006/table">
            <a:tbl>
              <a:tblPr firstRow="1" bandRow="1">
                <a:tableStyleId>{5C22544A-7EE6-4342-B048-85BDC9FD1C3A}</a:tableStyleId>
              </a:tblPr>
              <a:tblGrid>
                <a:gridCol w="273591">
                  <a:extLst>
                    <a:ext uri="{9D8B030D-6E8A-4147-A177-3AD203B41FA5}">
                      <a16:colId xmlns:a16="http://schemas.microsoft.com/office/drawing/2014/main" val="657570846"/>
                    </a:ext>
                  </a:extLst>
                </a:gridCol>
                <a:gridCol w="328612">
                  <a:extLst>
                    <a:ext uri="{9D8B030D-6E8A-4147-A177-3AD203B41FA5}">
                      <a16:colId xmlns:a16="http://schemas.microsoft.com/office/drawing/2014/main" val="3259894497"/>
                    </a:ext>
                  </a:extLst>
                </a:gridCol>
                <a:gridCol w="423863">
                  <a:extLst>
                    <a:ext uri="{9D8B030D-6E8A-4147-A177-3AD203B41FA5}">
                      <a16:colId xmlns:a16="http://schemas.microsoft.com/office/drawing/2014/main" val="4170535043"/>
                    </a:ext>
                  </a:extLst>
                </a:gridCol>
                <a:gridCol w="418161">
                  <a:extLst>
                    <a:ext uri="{9D8B030D-6E8A-4147-A177-3AD203B41FA5}">
                      <a16:colId xmlns:a16="http://schemas.microsoft.com/office/drawing/2014/main" val="2079070694"/>
                    </a:ext>
                  </a:extLst>
                </a:gridCol>
                <a:gridCol w="418161">
                  <a:extLst>
                    <a:ext uri="{9D8B030D-6E8A-4147-A177-3AD203B41FA5}">
                      <a16:colId xmlns:a16="http://schemas.microsoft.com/office/drawing/2014/main" val="4213315911"/>
                    </a:ext>
                  </a:extLst>
                </a:gridCol>
                <a:gridCol w="418161">
                  <a:extLst>
                    <a:ext uri="{9D8B030D-6E8A-4147-A177-3AD203B41FA5}">
                      <a16:colId xmlns:a16="http://schemas.microsoft.com/office/drawing/2014/main" val="2769999950"/>
                    </a:ext>
                  </a:extLst>
                </a:gridCol>
                <a:gridCol w="418161">
                  <a:extLst>
                    <a:ext uri="{9D8B030D-6E8A-4147-A177-3AD203B41FA5}">
                      <a16:colId xmlns:a16="http://schemas.microsoft.com/office/drawing/2014/main" val="135637185"/>
                    </a:ext>
                  </a:extLst>
                </a:gridCol>
                <a:gridCol w="418161">
                  <a:extLst>
                    <a:ext uri="{9D8B030D-6E8A-4147-A177-3AD203B41FA5}">
                      <a16:colId xmlns:a16="http://schemas.microsoft.com/office/drawing/2014/main" val="3038050475"/>
                    </a:ext>
                  </a:extLst>
                </a:gridCol>
                <a:gridCol w="418161">
                  <a:extLst>
                    <a:ext uri="{9D8B030D-6E8A-4147-A177-3AD203B41FA5}">
                      <a16:colId xmlns:a16="http://schemas.microsoft.com/office/drawing/2014/main" val="1979433044"/>
                    </a:ext>
                  </a:extLst>
                </a:gridCol>
                <a:gridCol w="418161">
                  <a:extLst>
                    <a:ext uri="{9D8B030D-6E8A-4147-A177-3AD203B41FA5}">
                      <a16:colId xmlns:a16="http://schemas.microsoft.com/office/drawing/2014/main" val="4270661649"/>
                    </a:ext>
                  </a:extLst>
                </a:gridCol>
                <a:gridCol w="418161">
                  <a:extLst>
                    <a:ext uri="{9D8B030D-6E8A-4147-A177-3AD203B41FA5}">
                      <a16:colId xmlns:a16="http://schemas.microsoft.com/office/drawing/2014/main" val="3027041370"/>
                    </a:ext>
                  </a:extLst>
                </a:gridCol>
                <a:gridCol w="418161">
                  <a:extLst>
                    <a:ext uri="{9D8B030D-6E8A-4147-A177-3AD203B41FA5}">
                      <a16:colId xmlns:a16="http://schemas.microsoft.com/office/drawing/2014/main" val="2852526216"/>
                    </a:ext>
                  </a:extLst>
                </a:gridCol>
                <a:gridCol w="418161">
                  <a:extLst>
                    <a:ext uri="{9D8B030D-6E8A-4147-A177-3AD203B41FA5}">
                      <a16:colId xmlns:a16="http://schemas.microsoft.com/office/drawing/2014/main" val="103420222"/>
                    </a:ext>
                  </a:extLst>
                </a:gridCol>
                <a:gridCol w="418161">
                  <a:extLst>
                    <a:ext uri="{9D8B030D-6E8A-4147-A177-3AD203B41FA5}">
                      <a16:colId xmlns:a16="http://schemas.microsoft.com/office/drawing/2014/main" val="1470405609"/>
                    </a:ext>
                  </a:extLst>
                </a:gridCol>
                <a:gridCol w="41816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OFS_CH3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9" name="TextBox 28">
            <a:extLst>
              <a:ext uri="{FF2B5EF4-FFF2-40B4-BE49-F238E27FC236}">
                <a16:creationId xmlns:a16="http://schemas.microsoft.com/office/drawing/2014/main" id="{8FC7759F-EBE4-5DE8-90E0-DE7D4C8E6081}"/>
              </a:ext>
            </a:extLst>
          </p:cNvPr>
          <p:cNvSpPr txBox="1"/>
          <p:nvPr/>
        </p:nvSpPr>
        <p:spPr>
          <a:xfrm>
            <a:off x="389986" y="2245579"/>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 3</a:t>
            </a:r>
          </a:p>
        </p:txBody>
      </p:sp>
      <p:graphicFrame>
        <p:nvGraphicFramePr>
          <p:cNvPr id="30" name="표 29">
            <a:extLst>
              <a:ext uri="{FF2B5EF4-FFF2-40B4-BE49-F238E27FC236}">
                <a16:creationId xmlns:a16="http://schemas.microsoft.com/office/drawing/2014/main" id="{E75B2089-F6D9-989C-7540-63292FD72D76}"/>
              </a:ext>
            </a:extLst>
          </p:cNvPr>
          <p:cNvGraphicFramePr>
            <a:graphicFrameLocks noGrp="1"/>
          </p:cNvGraphicFramePr>
          <p:nvPr>
            <p:extLst>
              <p:ext uri="{D42A27DB-BD31-4B8C-83A1-F6EECF244321}">
                <p14:modId xmlns:p14="http://schemas.microsoft.com/office/powerpoint/2010/main" val="736799354"/>
              </p:ext>
            </p:extLst>
          </p:nvPr>
        </p:nvGraphicFramePr>
        <p:xfrm>
          <a:off x="385222" y="3145594"/>
          <a:ext cx="6044001" cy="372600"/>
        </p:xfrm>
        <a:graphic>
          <a:graphicData uri="http://schemas.openxmlformats.org/drawingml/2006/table">
            <a:tbl>
              <a:tblPr firstRow="1" bandRow="1">
                <a:tableStyleId>{5C22544A-7EE6-4342-B048-85BDC9FD1C3A}</a:tableStyleId>
              </a:tblPr>
              <a:tblGrid>
                <a:gridCol w="273591">
                  <a:extLst>
                    <a:ext uri="{9D8B030D-6E8A-4147-A177-3AD203B41FA5}">
                      <a16:colId xmlns:a16="http://schemas.microsoft.com/office/drawing/2014/main" val="657570846"/>
                    </a:ext>
                  </a:extLst>
                </a:gridCol>
                <a:gridCol w="328612">
                  <a:extLst>
                    <a:ext uri="{9D8B030D-6E8A-4147-A177-3AD203B41FA5}">
                      <a16:colId xmlns:a16="http://schemas.microsoft.com/office/drawing/2014/main" val="3259894497"/>
                    </a:ext>
                  </a:extLst>
                </a:gridCol>
                <a:gridCol w="425450">
                  <a:extLst>
                    <a:ext uri="{9D8B030D-6E8A-4147-A177-3AD203B41FA5}">
                      <a16:colId xmlns:a16="http://schemas.microsoft.com/office/drawing/2014/main" val="4170535043"/>
                    </a:ext>
                  </a:extLst>
                </a:gridCol>
                <a:gridCol w="418029">
                  <a:extLst>
                    <a:ext uri="{9D8B030D-6E8A-4147-A177-3AD203B41FA5}">
                      <a16:colId xmlns:a16="http://schemas.microsoft.com/office/drawing/2014/main" val="2079070694"/>
                    </a:ext>
                  </a:extLst>
                </a:gridCol>
                <a:gridCol w="418029">
                  <a:extLst>
                    <a:ext uri="{9D8B030D-6E8A-4147-A177-3AD203B41FA5}">
                      <a16:colId xmlns:a16="http://schemas.microsoft.com/office/drawing/2014/main" val="4213315911"/>
                    </a:ext>
                  </a:extLst>
                </a:gridCol>
                <a:gridCol w="418029">
                  <a:extLst>
                    <a:ext uri="{9D8B030D-6E8A-4147-A177-3AD203B41FA5}">
                      <a16:colId xmlns:a16="http://schemas.microsoft.com/office/drawing/2014/main" val="2769999950"/>
                    </a:ext>
                  </a:extLst>
                </a:gridCol>
                <a:gridCol w="418029">
                  <a:extLst>
                    <a:ext uri="{9D8B030D-6E8A-4147-A177-3AD203B41FA5}">
                      <a16:colId xmlns:a16="http://schemas.microsoft.com/office/drawing/2014/main" val="135637185"/>
                    </a:ext>
                  </a:extLst>
                </a:gridCol>
                <a:gridCol w="418029">
                  <a:extLst>
                    <a:ext uri="{9D8B030D-6E8A-4147-A177-3AD203B41FA5}">
                      <a16:colId xmlns:a16="http://schemas.microsoft.com/office/drawing/2014/main" val="3038050475"/>
                    </a:ext>
                  </a:extLst>
                </a:gridCol>
                <a:gridCol w="418029">
                  <a:extLst>
                    <a:ext uri="{9D8B030D-6E8A-4147-A177-3AD203B41FA5}">
                      <a16:colId xmlns:a16="http://schemas.microsoft.com/office/drawing/2014/main" val="1979433044"/>
                    </a:ext>
                  </a:extLst>
                </a:gridCol>
                <a:gridCol w="418029">
                  <a:extLst>
                    <a:ext uri="{9D8B030D-6E8A-4147-A177-3AD203B41FA5}">
                      <a16:colId xmlns:a16="http://schemas.microsoft.com/office/drawing/2014/main" val="4270661649"/>
                    </a:ext>
                  </a:extLst>
                </a:gridCol>
                <a:gridCol w="418029">
                  <a:extLst>
                    <a:ext uri="{9D8B030D-6E8A-4147-A177-3AD203B41FA5}">
                      <a16:colId xmlns:a16="http://schemas.microsoft.com/office/drawing/2014/main" val="3027041370"/>
                    </a:ext>
                  </a:extLst>
                </a:gridCol>
                <a:gridCol w="418029">
                  <a:extLst>
                    <a:ext uri="{9D8B030D-6E8A-4147-A177-3AD203B41FA5}">
                      <a16:colId xmlns:a16="http://schemas.microsoft.com/office/drawing/2014/main" val="2852526216"/>
                    </a:ext>
                  </a:extLst>
                </a:gridCol>
                <a:gridCol w="418029">
                  <a:extLst>
                    <a:ext uri="{9D8B030D-6E8A-4147-A177-3AD203B41FA5}">
                      <a16:colId xmlns:a16="http://schemas.microsoft.com/office/drawing/2014/main" val="103420222"/>
                    </a:ext>
                  </a:extLst>
                </a:gridCol>
                <a:gridCol w="418029">
                  <a:extLst>
                    <a:ext uri="{9D8B030D-6E8A-4147-A177-3AD203B41FA5}">
                      <a16:colId xmlns:a16="http://schemas.microsoft.com/office/drawing/2014/main" val="1470405609"/>
                    </a:ext>
                  </a:extLst>
                </a:gridCol>
                <a:gridCol w="41802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OFS_CH4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1" name="TextBox 30">
            <a:extLst>
              <a:ext uri="{FF2B5EF4-FFF2-40B4-BE49-F238E27FC236}">
                <a16:creationId xmlns:a16="http://schemas.microsoft.com/office/drawing/2014/main" id="{0C4C225D-B915-FD28-C5ED-7822B2D27829}"/>
              </a:ext>
            </a:extLst>
          </p:cNvPr>
          <p:cNvSpPr txBox="1"/>
          <p:nvPr/>
        </p:nvSpPr>
        <p:spPr>
          <a:xfrm>
            <a:off x="389986" y="2922412"/>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 4</a:t>
            </a:r>
          </a:p>
        </p:txBody>
      </p:sp>
      <p:graphicFrame>
        <p:nvGraphicFramePr>
          <p:cNvPr id="32" name="표 31">
            <a:extLst>
              <a:ext uri="{FF2B5EF4-FFF2-40B4-BE49-F238E27FC236}">
                <a16:creationId xmlns:a16="http://schemas.microsoft.com/office/drawing/2014/main" id="{02EB7AF6-FB6D-9D98-1536-4E34479D6845}"/>
              </a:ext>
            </a:extLst>
          </p:cNvPr>
          <p:cNvGraphicFramePr>
            <a:graphicFrameLocks noGrp="1"/>
          </p:cNvGraphicFramePr>
          <p:nvPr>
            <p:extLst>
              <p:ext uri="{D42A27DB-BD31-4B8C-83A1-F6EECF244321}">
                <p14:modId xmlns:p14="http://schemas.microsoft.com/office/powerpoint/2010/main" val="2900113894"/>
              </p:ext>
            </p:extLst>
          </p:nvPr>
        </p:nvGraphicFramePr>
        <p:xfrm>
          <a:off x="385222" y="3823042"/>
          <a:ext cx="6043986" cy="372600"/>
        </p:xfrm>
        <a:graphic>
          <a:graphicData uri="http://schemas.openxmlformats.org/drawingml/2006/table">
            <a:tbl>
              <a:tblPr firstRow="1" bandRow="1">
                <a:tableStyleId>{5C22544A-7EE6-4342-B048-85BDC9FD1C3A}</a:tableStyleId>
              </a:tblPr>
              <a:tblGrid>
                <a:gridCol w="276766">
                  <a:extLst>
                    <a:ext uri="{9D8B030D-6E8A-4147-A177-3AD203B41FA5}">
                      <a16:colId xmlns:a16="http://schemas.microsoft.com/office/drawing/2014/main" val="657570846"/>
                    </a:ext>
                  </a:extLst>
                </a:gridCol>
                <a:gridCol w="323850">
                  <a:extLst>
                    <a:ext uri="{9D8B030D-6E8A-4147-A177-3AD203B41FA5}">
                      <a16:colId xmlns:a16="http://schemas.microsoft.com/office/drawing/2014/main" val="3259894497"/>
                    </a:ext>
                  </a:extLst>
                </a:gridCol>
                <a:gridCol w="425450">
                  <a:extLst>
                    <a:ext uri="{9D8B030D-6E8A-4147-A177-3AD203B41FA5}">
                      <a16:colId xmlns:a16="http://schemas.microsoft.com/office/drawing/2014/main" val="4170535043"/>
                    </a:ext>
                  </a:extLst>
                </a:gridCol>
                <a:gridCol w="418160">
                  <a:extLst>
                    <a:ext uri="{9D8B030D-6E8A-4147-A177-3AD203B41FA5}">
                      <a16:colId xmlns:a16="http://schemas.microsoft.com/office/drawing/2014/main" val="2079070694"/>
                    </a:ext>
                  </a:extLst>
                </a:gridCol>
                <a:gridCol w="418160">
                  <a:extLst>
                    <a:ext uri="{9D8B030D-6E8A-4147-A177-3AD203B41FA5}">
                      <a16:colId xmlns:a16="http://schemas.microsoft.com/office/drawing/2014/main" val="4213315911"/>
                    </a:ext>
                  </a:extLst>
                </a:gridCol>
                <a:gridCol w="418160">
                  <a:extLst>
                    <a:ext uri="{9D8B030D-6E8A-4147-A177-3AD203B41FA5}">
                      <a16:colId xmlns:a16="http://schemas.microsoft.com/office/drawing/2014/main" val="2769999950"/>
                    </a:ext>
                  </a:extLst>
                </a:gridCol>
                <a:gridCol w="418160">
                  <a:extLst>
                    <a:ext uri="{9D8B030D-6E8A-4147-A177-3AD203B41FA5}">
                      <a16:colId xmlns:a16="http://schemas.microsoft.com/office/drawing/2014/main" val="135637185"/>
                    </a:ext>
                  </a:extLst>
                </a:gridCol>
                <a:gridCol w="418160">
                  <a:extLst>
                    <a:ext uri="{9D8B030D-6E8A-4147-A177-3AD203B41FA5}">
                      <a16:colId xmlns:a16="http://schemas.microsoft.com/office/drawing/2014/main" val="3038050475"/>
                    </a:ext>
                  </a:extLst>
                </a:gridCol>
                <a:gridCol w="418160">
                  <a:extLst>
                    <a:ext uri="{9D8B030D-6E8A-4147-A177-3AD203B41FA5}">
                      <a16:colId xmlns:a16="http://schemas.microsoft.com/office/drawing/2014/main" val="1979433044"/>
                    </a:ext>
                  </a:extLst>
                </a:gridCol>
                <a:gridCol w="418160">
                  <a:extLst>
                    <a:ext uri="{9D8B030D-6E8A-4147-A177-3AD203B41FA5}">
                      <a16:colId xmlns:a16="http://schemas.microsoft.com/office/drawing/2014/main" val="4270661649"/>
                    </a:ext>
                  </a:extLst>
                </a:gridCol>
                <a:gridCol w="418160">
                  <a:extLst>
                    <a:ext uri="{9D8B030D-6E8A-4147-A177-3AD203B41FA5}">
                      <a16:colId xmlns:a16="http://schemas.microsoft.com/office/drawing/2014/main" val="3027041370"/>
                    </a:ext>
                  </a:extLst>
                </a:gridCol>
                <a:gridCol w="418160">
                  <a:extLst>
                    <a:ext uri="{9D8B030D-6E8A-4147-A177-3AD203B41FA5}">
                      <a16:colId xmlns:a16="http://schemas.microsoft.com/office/drawing/2014/main" val="2852526216"/>
                    </a:ext>
                  </a:extLst>
                </a:gridCol>
                <a:gridCol w="418160">
                  <a:extLst>
                    <a:ext uri="{9D8B030D-6E8A-4147-A177-3AD203B41FA5}">
                      <a16:colId xmlns:a16="http://schemas.microsoft.com/office/drawing/2014/main" val="103420222"/>
                    </a:ext>
                  </a:extLst>
                </a:gridCol>
                <a:gridCol w="418160">
                  <a:extLst>
                    <a:ext uri="{9D8B030D-6E8A-4147-A177-3AD203B41FA5}">
                      <a16:colId xmlns:a16="http://schemas.microsoft.com/office/drawing/2014/main" val="1470405609"/>
                    </a:ext>
                  </a:extLst>
                </a:gridCol>
                <a:gridCol w="41816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OFS_CH5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3" name="TextBox 32">
            <a:extLst>
              <a:ext uri="{FF2B5EF4-FFF2-40B4-BE49-F238E27FC236}">
                <a16:creationId xmlns:a16="http://schemas.microsoft.com/office/drawing/2014/main" id="{54B15480-C4E5-C4A4-DB65-B7DADAA6F574}"/>
              </a:ext>
            </a:extLst>
          </p:cNvPr>
          <p:cNvSpPr txBox="1"/>
          <p:nvPr/>
        </p:nvSpPr>
        <p:spPr>
          <a:xfrm>
            <a:off x="389986" y="3599245"/>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 5</a:t>
            </a:r>
          </a:p>
        </p:txBody>
      </p:sp>
      <p:graphicFrame>
        <p:nvGraphicFramePr>
          <p:cNvPr id="34" name="표 33">
            <a:extLst>
              <a:ext uri="{FF2B5EF4-FFF2-40B4-BE49-F238E27FC236}">
                <a16:creationId xmlns:a16="http://schemas.microsoft.com/office/drawing/2014/main" id="{859DFFCE-B74E-98EE-8E06-A3A14041C684}"/>
              </a:ext>
            </a:extLst>
          </p:cNvPr>
          <p:cNvGraphicFramePr>
            <a:graphicFrameLocks noGrp="1"/>
          </p:cNvGraphicFramePr>
          <p:nvPr>
            <p:extLst>
              <p:ext uri="{D42A27DB-BD31-4B8C-83A1-F6EECF244321}">
                <p14:modId xmlns:p14="http://schemas.microsoft.com/office/powerpoint/2010/main" val="3831571486"/>
              </p:ext>
            </p:extLst>
          </p:nvPr>
        </p:nvGraphicFramePr>
        <p:xfrm>
          <a:off x="383634" y="4500490"/>
          <a:ext cx="6043998" cy="372600"/>
        </p:xfrm>
        <a:graphic>
          <a:graphicData uri="http://schemas.openxmlformats.org/drawingml/2006/table">
            <a:tbl>
              <a:tblPr firstRow="1" bandRow="1">
                <a:tableStyleId>{5C22544A-7EE6-4342-B048-85BDC9FD1C3A}</a:tableStyleId>
              </a:tblPr>
              <a:tblGrid>
                <a:gridCol w="276766">
                  <a:extLst>
                    <a:ext uri="{9D8B030D-6E8A-4147-A177-3AD203B41FA5}">
                      <a16:colId xmlns:a16="http://schemas.microsoft.com/office/drawing/2014/main" val="657570846"/>
                    </a:ext>
                  </a:extLst>
                </a:gridCol>
                <a:gridCol w="323850">
                  <a:extLst>
                    <a:ext uri="{9D8B030D-6E8A-4147-A177-3AD203B41FA5}">
                      <a16:colId xmlns:a16="http://schemas.microsoft.com/office/drawing/2014/main" val="3259894497"/>
                    </a:ext>
                  </a:extLst>
                </a:gridCol>
                <a:gridCol w="425450">
                  <a:extLst>
                    <a:ext uri="{9D8B030D-6E8A-4147-A177-3AD203B41FA5}">
                      <a16:colId xmlns:a16="http://schemas.microsoft.com/office/drawing/2014/main" val="4170535043"/>
                    </a:ext>
                  </a:extLst>
                </a:gridCol>
                <a:gridCol w="418161">
                  <a:extLst>
                    <a:ext uri="{9D8B030D-6E8A-4147-A177-3AD203B41FA5}">
                      <a16:colId xmlns:a16="http://schemas.microsoft.com/office/drawing/2014/main" val="2079070694"/>
                    </a:ext>
                  </a:extLst>
                </a:gridCol>
                <a:gridCol w="418161">
                  <a:extLst>
                    <a:ext uri="{9D8B030D-6E8A-4147-A177-3AD203B41FA5}">
                      <a16:colId xmlns:a16="http://schemas.microsoft.com/office/drawing/2014/main" val="4213315911"/>
                    </a:ext>
                  </a:extLst>
                </a:gridCol>
                <a:gridCol w="418161">
                  <a:extLst>
                    <a:ext uri="{9D8B030D-6E8A-4147-A177-3AD203B41FA5}">
                      <a16:colId xmlns:a16="http://schemas.microsoft.com/office/drawing/2014/main" val="2769999950"/>
                    </a:ext>
                  </a:extLst>
                </a:gridCol>
                <a:gridCol w="418161">
                  <a:extLst>
                    <a:ext uri="{9D8B030D-6E8A-4147-A177-3AD203B41FA5}">
                      <a16:colId xmlns:a16="http://schemas.microsoft.com/office/drawing/2014/main" val="135637185"/>
                    </a:ext>
                  </a:extLst>
                </a:gridCol>
                <a:gridCol w="418161">
                  <a:extLst>
                    <a:ext uri="{9D8B030D-6E8A-4147-A177-3AD203B41FA5}">
                      <a16:colId xmlns:a16="http://schemas.microsoft.com/office/drawing/2014/main" val="3038050475"/>
                    </a:ext>
                  </a:extLst>
                </a:gridCol>
                <a:gridCol w="418161">
                  <a:extLst>
                    <a:ext uri="{9D8B030D-6E8A-4147-A177-3AD203B41FA5}">
                      <a16:colId xmlns:a16="http://schemas.microsoft.com/office/drawing/2014/main" val="1979433044"/>
                    </a:ext>
                  </a:extLst>
                </a:gridCol>
                <a:gridCol w="418161">
                  <a:extLst>
                    <a:ext uri="{9D8B030D-6E8A-4147-A177-3AD203B41FA5}">
                      <a16:colId xmlns:a16="http://schemas.microsoft.com/office/drawing/2014/main" val="4270661649"/>
                    </a:ext>
                  </a:extLst>
                </a:gridCol>
                <a:gridCol w="418161">
                  <a:extLst>
                    <a:ext uri="{9D8B030D-6E8A-4147-A177-3AD203B41FA5}">
                      <a16:colId xmlns:a16="http://schemas.microsoft.com/office/drawing/2014/main" val="3027041370"/>
                    </a:ext>
                  </a:extLst>
                </a:gridCol>
                <a:gridCol w="418161">
                  <a:extLst>
                    <a:ext uri="{9D8B030D-6E8A-4147-A177-3AD203B41FA5}">
                      <a16:colId xmlns:a16="http://schemas.microsoft.com/office/drawing/2014/main" val="2852526216"/>
                    </a:ext>
                  </a:extLst>
                </a:gridCol>
                <a:gridCol w="418161">
                  <a:extLst>
                    <a:ext uri="{9D8B030D-6E8A-4147-A177-3AD203B41FA5}">
                      <a16:colId xmlns:a16="http://schemas.microsoft.com/office/drawing/2014/main" val="103420222"/>
                    </a:ext>
                  </a:extLst>
                </a:gridCol>
                <a:gridCol w="418161">
                  <a:extLst>
                    <a:ext uri="{9D8B030D-6E8A-4147-A177-3AD203B41FA5}">
                      <a16:colId xmlns:a16="http://schemas.microsoft.com/office/drawing/2014/main" val="1470405609"/>
                    </a:ext>
                  </a:extLst>
                </a:gridCol>
                <a:gridCol w="41816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OFS_CH6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5" name="TextBox 34">
            <a:extLst>
              <a:ext uri="{FF2B5EF4-FFF2-40B4-BE49-F238E27FC236}">
                <a16:creationId xmlns:a16="http://schemas.microsoft.com/office/drawing/2014/main" id="{618718C2-741F-A6DA-C399-8573E65A97EF}"/>
              </a:ext>
            </a:extLst>
          </p:cNvPr>
          <p:cNvSpPr txBox="1"/>
          <p:nvPr/>
        </p:nvSpPr>
        <p:spPr>
          <a:xfrm>
            <a:off x="389986" y="4276078"/>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 6</a:t>
            </a:r>
          </a:p>
        </p:txBody>
      </p:sp>
      <p:graphicFrame>
        <p:nvGraphicFramePr>
          <p:cNvPr id="36" name="표 35">
            <a:extLst>
              <a:ext uri="{FF2B5EF4-FFF2-40B4-BE49-F238E27FC236}">
                <a16:creationId xmlns:a16="http://schemas.microsoft.com/office/drawing/2014/main" id="{C985D9D9-F7C3-6464-0BAF-A458BDB41114}"/>
              </a:ext>
            </a:extLst>
          </p:cNvPr>
          <p:cNvGraphicFramePr>
            <a:graphicFrameLocks noGrp="1"/>
          </p:cNvGraphicFramePr>
          <p:nvPr>
            <p:extLst>
              <p:ext uri="{D42A27DB-BD31-4B8C-83A1-F6EECF244321}">
                <p14:modId xmlns:p14="http://schemas.microsoft.com/office/powerpoint/2010/main" val="168426221"/>
              </p:ext>
            </p:extLst>
          </p:nvPr>
        </p:nvGraphicFramePr>
        <p:xfrm>
          <a:off x="385222" y="5177938"/>
          <a:ext cx="6044005" cy="372600"/>
        </p:xfrm>
        <a:graphic>
          <a:graphicData uri="http://schemas.openxmlformats.org/drawingml/2006/table">
            <a:tbl>
              <a:tblPr firstRow="1" bandRow="1">
                <a:tableStyleId>{5C22544A-7EE6-4342-B048-85BDC9FD1C3A}</a:tableStyleId>
              </a:tblPr>
              <a:tblGrid>
                <a:gridCol w="273591">
                  <a:extLst>
                    <a:ext uri="{9D8B030D-6E8A-4147-A177-3AD203B41FA5}">
                      <a16:colId xmlns:a16="http://schemas.microsoft.com/office/drawing/2014/main" val="657570846"/>
                    </a:ext>
                  </a:extLst>
                </a:gridCol>
                <a:gridCol w="328612">
                  <a:extLst>
                    <a:ext uri="{9D8B030D-6E8A-4147-A177-3AD203B41FA5}">
                      <a16:colId xmlns:a16="http://schemas.microsoft.com/office/drawing/2014/main" val="3259894497"/>
                    </a:ext>
                  </a:extLst>
                </a:gridCol>
                <a:gridCol w="427038">
                  <a:extLst>
                    <a:ext uri="{9D8B030D-6E8A-4147-A177-3AD203B41FA5}">
                      <a16:colId xmlns:a16="http://schemas.microsoft.com/office/drawing/2014/main" val="4170535043"/>
                    </a:ext>
                  </a:extLst>
                </a:gridCol>
                <a:gridCol w="417897">
                  <a:extLst>
                    <a:ext uri="{9D8B030D-6E8A-4147-A177-3AD203B41FA5}">
                      <a16:colId xmlns:a16="http://schemas.microsoft.com/office/drawing/2014/main" val="2079070694"/>
                    </a:ext>
                  </a:extLst>
                </a:gridCol>
                <a:gridCol w="417897">
                  <a:extLst>
                    <a:ext uri="{9D8B030D-6E8A-4147-A177-3AD203B41FA5}">
                      <a16:colId xmlns:a16="http://schemas.microsoft.com/office/drawing/2014/main" val="4213315911"/>
                    </a:ext>
                  </a:extLst>
                </a:gridCol>
                <a:gridCol w="417897">
                  <a:extLst>
                    <a:ext uri="{9D8B030D-6E8A-4147-A177-3AD203B41FA5}">
                      <a16:colId xmlns:a16="http://schemas.microsoft.com/office/drawing/2014/main" val="2769999950"/>
                    </a:ext>
                  </a:extLst>
                </a:gridCol>
                <a:gridCol w="417897">
                  <a:extLst>
                    <a:ext uri="{9D8B030D-6E8A-4147-A177-3AD203B41FA5}">
                      <a16:colId xmlns:a16="http://schemas.microsoft.com/office/drawing/2014/main" val="135637185"/>
                    </a:ext>
                  </a:extLst>
                </a:gridCol>
                <a:gridCol w="417897">
                  <a:extLst>
                    <a:ext uri="{9D8B030D-6E8A-4147-A177-3AD203B41FA5}">
                      <a16:colId xmlns:a16="http://schemas.microsoft.com/office/drawing/2014/main" val="3038050475"/>
                    </a:ext>
                  </a:extLst>
                </a:gridCol>
                <a:gridCol w="417897">
                  <a:extLst>
                    <a:ext uri="{9D8B030D-6E8A-4147-A177-3AD203B41FA5}">
                      <a16:colId xmlns:a16="http://schemas.microsoft.com/office/drawing/2014/main" val="1979433044"/>
                    </a:ext>
                  </a:extLst>
                </a:gridCol>
                <a:gridCol w="417897">
                  <a:extLst>
                    <a:ext uri="{9D8B030D-6E8A-4147-A177-3AD203B41FA5}">
                      <a16:colId xmlns:a16="http://schemas.microsoft.com/office/drawing/2014/main" val="4270661649"/>
                    </a:ext>
                  </a:extLst>
                </a:gridCol>
                <a:gridCol w="417897">
                  <a:extLst>
                    <a:ext uri="{9D8B030D-6E8A-4147-A177-3AD203B41FA5}">
                      <a16:colId xmlns:a16="http://schemas.microsoft.com/office/drawing/2014/main" val="3027041370"/>
                    </a:ext>
                  </a:extLst>
                </a:gridCol>
                <a:gridCol w="417897">
                  <a:extLst>
                    <a:ext uri="{9D8B030D-6E8A-4147-A177-3AD203B41FA5}">
                      <a16:colId xmlns:a16="http://schemas.microsoft.com/office/drawing/2014/main" val="2852526216"/>
                    </a:ext>
                  </a:extLst>
                </a:gridCol>
                <a:gridCol w="417897">
                  <a:extLst>
                    <a:ext uri="{9D8B030D-6E8A-4147-A177-3AD203B41FA5}">
                      <a16:colId xmlns:a16="http://schemas.microsoft.com/office/drawing/2014/main" val="103420222"/>
                    </a:ext>
                  </a:extLst>
                </a:gridCol>
                <a:gridCol w="417897">
                  <a:extLst>
                    <a:ext uri="{9D8B030D-6E8A-4147-A177-3AD203B41FA5}">
                      <a16:colId xmlns:a16="http://schemas.microsoft.com/office/drawing/2014/main" val="1470405609"/>
                    </a:ext>
                  </a:extLst>
                </a:gridCol>
                <a:gridCol w="41789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OFS_CH7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7" name="TextBox 36">
            <a:extLst>
              <a:ext uri="{FF2B5EF4-FFF2-40B4-BE49-F238E27FC236}">
                <a16:creationId xmlns:a16="http://schemas.microsoft.com/office/drawing/2014/main" id="{FC525441-C066-FDE0-D0A1-D79F2E88EF30}"/>
              </a:ext>
            </a:extLst>
          </p:cNvPr>
          <p:cNvSpPr txBox="1"/>
          <p:nvPr/>
        </p:nvSpPr>
        <p:spPr>
          <a:xfrm>
            <a:off x="389986" y="4952911"/>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 7</a:t>
            </a:r>
          </a:p>
        </p:txBody>
      </p:sp>
      <p:graphicFrame>
        <p:nvGraphicFramePr>
          <p:cNvPr id="38" name="표 37">
            <a:extLst>
              <a:ext uri="{FF2B5EF4-FFF2-40B4-BE49-F238E27FC236}">
                <a16:creationId xmlns:a16="http://schemas.microsoft.com/office/drawing/2014/main" id="{AA7B3CA4-1C9B-5752-7181-F7C5162E0487}"/>
              </a:ext>
            </a:extLst>
          </p:cNvPr>
          <p:cNvGraphicFramePr>
            <a:graphicFrameLocks noGrp="1"/>
          </p:cNvGraphicFramePr>
          <p:nvPr>
            <p:extLst>
              <p:ext uri="{D42A27DB-BD31-4B8C-83A1-F6EECF244321}">
                <p14:modId xmlns:p14="http://schemas.microsoft.com/office/powerpoint/2010/main" val="2572698497"/>
              </p:ext>
            </p:extLst>
          </p:nvPr>
        </p:nvGraphicFramePr>
        <p:xfrm>
          <a:off x="383634" y="5855386"/>
          <a:ext cx="6043990" cy="372600"/>
        </p:xfrm>
        <a:graphic>
          <a:graphicData uri="http://schemas.openxmlformats.org/drawingml/2006/table">
            <a:tbl>
              <a:tblPr firstRow="1" bandRow="1">
                <a:tableStyleId>{5C22544A-7EE6-4342-B048-85BDC9FD1C3A}</a:tableStyleId>
              </a:tblPr>
              <a:tblGrid>
                <a:gridCol w="276766">
                  <a:extLst>
                    <a:ext uri="{9D8B030D-6E8A-4147-A177-3AD203B41FA5}">
                      <a16:colId xmlns:a16="http://schemas.microsoft.com/office/drawing/2014/main" val="657570846"/>
                    </a:ext>
                  </a:extLst>
                </a:gridCol>
                <a:gridCol w="325438">
                  <a:extLst>
                    <a:ext uri="{9D8B030D-6E8A-4147-A177-3AD203B41FA5}">
                      <a16:colId xmlns:a16="http://schemas.microsoft.com/office/drawing/2014/main" val="3259894497"/>
                    </a:ext>
                  </a:extLst>
                </a:gridCol>
                <a:gridCol w="425450">
                  <a:extLst>
                    <a:ext uri="{9D8B030D-6E8A-4147-A177-3AD203B41FA5}">
                      <a16:colId xmlns:a16="http://schemas.microsoft.com/office/drawing/2014/main" val="4170535043"/>
                    </a:ext>
                  </a:extLst>
                </a:gridCol>
                <a:gridCol w="418028">
                  <a:extLst>
                    <a:ext uri="{9D8B030D-6E8A-4147-A177-3AD203B41FA5}">
                      <a16:colId xmlns:a16="http://schemas.microsoft.com/office/drawing/2014/main" val="2079070694"/>
                    </a:ext>
                  </a:extLst>
                </a:gridCol>
                <a:gridCol w="418028">
                  <a:extLst>
                    <a:ext uri="{9D8B030D-6E8A-4147-A177-3AD203B41FA5}">
                      <a16:colId xmlns:a16="http://schemas.microsoft.com/office/drawing/2014/main" val="4213315911"/>
                    </a:ext>
                  </a:extLst>
                </a:gridCol>
                <a:gridCol w="418028">
                  <a:extLst>
                    <a:ext uri="{9D8B030D-6E8A-4147-A177-3AD203B41FA5}">
                      <a16:colId xmlns:a16="http://schemas.microsoft.com/office/drawing/2014/main" val="2769999950"/>
                    </a:ext>
                  </a:extLst>
                </a:gridCol>
                <a:gridCol w="418028">
                  <a:extLst>
                    <a:ext uri="{9D8B030D-6E8A-4147-A177-3AD203B41FA5}">
                      <a16:colId xmlns:a16="http://schemas.microsoft.com/office/drawing/2014/main" val="135637185"/>
                    </a:ext>
                  </a:extLst>
                </a:gridCol>
                <a:gridCol w="418028">
                  <a:extLst>
                    <a:ext uri="{9D8B030D-6E8A-4147-A177-3AD203B41FA5}">
                      <a16:colId xmlns:a16="http://schemas.microsoft.com/office/drawing/2014/main" val="3038050475"/>
                    </a:ext>
                  </a:extLst>
                </a:gridCol>
                <a:gridCol w="418028">
                  <a:extLst>
                    <a:ext uri="{9D8B030D-6E8A-4147-A177-3AD203B41FA5}">
                      <a16:colId xmlns:a16="http://schemas.microsoft.com/office/drawing/2014/main" val="1979433044"/>
                    </a:ext>
                  </a:extLst>
                </a:gridCol>
                <a:gridCol w="418028">
                  <a:extLst>
                    <a:ext uri="{9D8B030D-6E8A-4147-A177-3AD203B41FA5}">
                      <a16:colId xmlns:a16="http://schemas.microsoft.com/office/drawing/2014/main" val="4270661649"/>
                    </a:ext>
                  </a:extLst>
                </a:gridCol>
                <a:gridCol w="418028">
                  <a:extLst>
                    <a:ext uri="{9D8B030D-6E8A-4147-A177-3AD203B41FA5}">
                      <a16:colId xmlns:a16="http://schemas.microsoft.com/office/drawing/2014/main" val="3027041370"/>
                    </a:ext>
                  </a:extLst>
                </a:gridCol>
                <a:gridCol w="418028">
                  <a:extLst>
                    <a:ext uri="{9D8B030D-6E8A-4147-A177-3AD203B41FA5}">
                      <a16:colId xmlns:a16="http://schemas.microsoft.com/office/drawing/2014/main" val="2852526216"/>
                    </a:ext>
                  </a:extLst>
                </a:gridCol>
                <a:gridCol w="418028">
                  <a:extLst>
                    <a:ext uri="{9D8B030D-6E8A-4147-A177-3AD203B41FA5}">
                      <a16:colId xmlns:a16="http://schemas.microsoft.com/office/drawing/2014/main" val="103420222"/>
                    </a:ext>
                  </a:extLst>
                </a:gridCol>
                <a:gridCol w="418028">
                  <a:extLst>
                    <a:ext uri="{9D8B030D-6E8A-4147-A177-3AD203B41FA5}">
                      <a16:colId xmlns:a16="http://schemas.microsoft.com/office/drawing/2014/main" val="1470405609"/>
                    </a:ext>
                  </a:extLst>
                </a:gridCol>
                <a:gridCol w="41802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OFS_CH8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9" name="TextBox 38">
            <a:extLst>
              <a:ext uri="{FF2B5EF4-FFF2-40B4-BE49-F238E27FC236}">
                <a16:creationId xmlns:a16="http://schemas.microsoft.com/office/drawing/2014/main" id="{26F5A40C-4C80-11B8-890B-481D22447744}"/>
              </a:ext>
            </a:extLst>
          </p:cNvPr>
          <p:cNvSpPr txBox="1"/>
          <p:nvPr/>
        </p:nvSpPr>
        <p:spPr>
          <a:xfrm>
            <a:off x="389986" y="5629744"/>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 8</a:t>
            </a:r>
          </a:p>
        </p:txBody>
      </p:sp>
      <p:graphicFrame>
        <p:nvGraphicFramePr>
          <p:cNvPr id="40" name="표 39">
            <a:extLst>
              <a:ext uri="{FF2B5EF4-FFF2-40B4-BE49-F238E27FC236}">
                <a16:creationId xmlns:a16="http://schemas.microsoft.com/office/drawing/2014/main" id="{0A3FCDFD-37BD-88E3-8B05-0B7D62151B45}"/>
              </a:ext>
            </a:extLst>
          </p:cNvPr>
          <p:cNvGraphicFramePr>
            <a:graphicFrameLocks noGrp="1"/>
          </p:cNvGraphicFramePr>
          <p:nvPr>
            <p:extLst>
              <p:ext uri="{D42A27DB-BD31-4B8C-83A1-F6EECF244321}">
                <p14:modId xmlns:p14="http://schemas.microsoft.com/office/powerpoint/2010/main" val="3625196933"/>
              </p:ext>
            </p:extLst>
          </p:nvPr>
        </p:nvGraphicFramePr>
        <p:xfrm>
          <a:off x="385222" y="6532834"/>
          <a:ext cx="6043998" cy="372600"/>
        </p:xfrm>
        <a:graphic>
          <a:graphicData uri="http://schemas.openxmlformats.org/drawingml/2006/table">
            <a:tbl>
              <a:tblPr firstRow="1" bandRow="1">
                <a:tableStyleId>{5C22544A-7EE6-4342-B048-85BDC9FD1C3A}</a:tableStyleId>
              </a:tblPr>
              <a:tblGrid>
                <a:gridCol w="273591">
                  <a:extLst>
                    <a:ext uri="{9D8B030D-6E8A-4147-A177-3AD203B41FA5}">
                      <a16:colId xmlns:a16="http://schemas.microsoft.com/office/drawing/2014/main" val="657570846"/>
                    </a:ext>
                  </a:extLst>
                </a:gridCol>
                <a:gridCol w="328612">
                  <a:extLst>
                    <a:ext uri="{9D8B030D-6E8A-4147-A177-3AD203B41FA5}">
                      <a16:colId xmlns:a16="http://schemas.microsoft.com/office/drawing/2014/main" val="3259894497"/>
                    </a:ext>
                  </a:extLst>
                </a:gridCol>
                <a:gridCol w="423863">
                  <a:extLst>
                    <a:ext uri="{9D8B030D-6E8A-4147-A177-3AD203B41FA5}">
                      <a16:colId xmlns:a16="http://schemas.microsoft.com/office/drawing/2014/main" val="4170535043"/>
                    </a:ext>
                  </a:extLst>
                </a:gridCol>
                <a:gridCol w="418161">
                  <a:extLst>
                    <a:ext uri="{9D8B030D-6E8A-4147-A177-3AD203B41FA5}">
                      <a16:colId xmlns:a16="http://schemas.microsoft.com/office/drawing/2014/main" val="2079070694"/>
                    </a:ext>
                  </a:extLst>
                </a:gridCol>
                <a:gridCol w="418161">
                  <a:extLst>
                    <a:ext uri="{9D8B030D-6E8A-4147-A177-3AD203B41FA5}">
                      <a16:colId xmlns:a16="http://schemas.microsoft.com/office/drawing/2014/main" val="4213315911"/>
                    </a:ext>
                  </a:extLst>
                </a:gridCol>
                <a:gridCol w="418161">
                  <a:extLst>
                    <a:ext uri="{9D8B030D-6E8A-4147-A177-3AD203B41FA5}">
                      <a16:colId xmlns:a16="http://schemas.microsoft.com/office/drawing/2014/main" val="2769999950"/>
                    </a:ext>
                  </a:extLst>
                </a:gridCol>
                <a:gridCol w="418161">
                  <a:extLst>
                    <a:ext uri="{9D8B030D-6E8A-4147-A177-3AD203B41FA5}">
                      <a16:colId xmlns:a16="http://schemas.microsoft.com/office/drawing/2014/main" val="135637185"/>
                    </a:ext>
                  </a:extLst>
                </a:gridCol>
                <a:gridCol w="418161">
                  <a:extLst>
                    <a:ext uri="{9D8B030D-6E8A-4147-A177-3AD203B41FA5}">
                      <a16:colId xmlns:a16="http://schemas.microsoft.com/office/drawing/2014/main" val="3038050475"/>
                    </a:ext>
                  </a:extLst>
                </a:gridCol>
                <a:gridCol w="418161">
                  <a:extLst>
                    <a:ext uri="{9D8B030D-6E8A-4147-A177-3AD203B41FA5}">
                      <a16:colId xmlns:a16="http://schemas.microsoft.com/office/drawing/2014/main" val="1979433044"/>
                    </a:ext>
                  </a:extLst>
                </a:gridCol>
                <a:gridCol w="418161">
                  <a:extLst>
                    <a:ext uri="{9D8B030D-6E8A-4147-A177-3AD203B41FA5}">
                      <a16:colId xmlns:a16="http://schemas.microsoft.com/office/drawing/2014/main" val="4270661649"/>
                    </a:ext>
                  </a:extLst>
                </a:gridCol>
                <a:gridCol w="418161">
                  <a:extLst>
                    <a:ext uri="{9D8B030D-6E8A-4147-A177-3AD203B41FA5}">
                      <a16:colId xmlns:a16="http://schemas.microsoft.com/office/drawing/2014/main" val="3027041370"/>
                    </a:ext>
                  </a:extLst>
                </a:gridCol>
                <a:gridCol w="418161">
                  <a:extLst>
                    <a:ext uri="{9D8B030D-6E8A-4147-A177-3AD203B41FA5}">
                      <a16:colId xmlns:a16="http://schemas.microsoft.com/office/drawing/2014/main" val="2852526216"/>
                    </a:ext>
                  </a:extLst>
                </a:gridCol>
                <a:gridCol w="418161">
                  <a:extLst>
                    <a:ext uri="{9D8B030D-6E8A-4147-A177-3AD203B41FA5}">
                      <a16:colId xmlns:a16="http://schemas.microsoft.com/office/drawing/2014/main" val="103420222"/>
                    </a:ext>
                  </a:extLst>
                </a:gridCol>
                <a:gridCol w="418161">
                  <a:extLst>
                    <a:ext uri="{9D8B030D-6E8A-4147-A177-3AD203B41FA5}">
                      <a16:colId xmlns:a16="http://schemas.microsoft.com/office/drawing/2014/main" val="1470405609"/>
                    </a:ext>
                  </a:extLst>
                </a:gridCol>
                <a:gridCol w="41816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OFS_CH9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1" name="TextBox 40">
            <a:extLst>
              <a:ext uri="{FF2B5EF4-FFF2-40B4-BE49-F238E27FC236}">
                <a16:creationId xmlns:a16="http://schemas.microsoft.com/office/drawing/2014/main" id="{365706EB-F63F-F4B5-BDD3-1A86C902281D}"/>
              </a:ext>
            </a:extLst>
          </p:cNvPr>
          <p:cNvSpPr txBox="1"/>
          <p:nvPr/>
        </p:nvSpPr>
        <p:spPr>
          <a:xfrm>
            <a:off x="389986" y="6306577"/>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 9</a:t>
            </a:r>
          </a:p>
        </p:txBody>
      </p:sp>
      <p:graphicFrame>
        <p:nvGraphicFramePr>
          <p:cNvPr id="42" name="표 41">
            <a:extLst>
              <a:ext uri="{FF2B5EF4-FFF2-40B4-BE49-F238E27FC236}">
                <a16:creationId xmlns:a16="http://schemas.microsoft.com/office/drawing/2014/main" id="{CEC4A77F-58FB-B266-D60A-10EDA7AA163B}"/>
              </a:ext>
            </a:extLst>
          </p:cNvPr>
          <p:cNvGraphicFramePr>
            <a:graphicFrameLocks noGrp="1"/>
          </p:cNvGraphicFramePr>
          <p:nvPr>
            <p:extLst>
              <p:ext uri="{D42A27DB-BD31-4B8C-83A1-F6EECF244321}">
                <p14:modId xmlns:p14="http://schemas.microsoft.com/office/powerpoint/2010/main" val="623806243"/>
              </p:ext>
            </p:extLst>
          </p:nvPr>
        </p:nvGraphicFramePr>
        <p:xfrm>
          <a:off x="385222" y="7210282"/>
          <a:ext cx="6043986" cy="372600"/>
        </p:xfrm>
        <a:graphic>
          <a:graphicData uri="http://schemas.openxmlformats.org/drawingml/2006/table">
            <a:tbl>
              <a:tblPr firstRow="1" bandRow="1">
                <a:tableStyleId>{5C22544A-7EE6-4342-B048-85BDC9FD1C3A}</a:tableStyleId>
              </a:tblPr>
              <a:tblGrid>
                <a:gridCol w="273591">
                  <a:extLst>
                    <a:ext uri="{9D8B030D-6E8A-4147-A177-3AD203B41FA5}">
                      <a16:colId xmlns:a16="http://schemas.microsoft.com/office/drawing/2014/main" val="657570846"/>
                    </a:ext>
                  </a:extLst>
                </a:gridCol>
                <a:gridCol w="327025">
                  <a:extLst>
                    <a:ext uri="{9D8B030D-6E8A-4147-A177-3AD203B41FA5}">
                      <a16:colId xmlns:a16="http://schemas.microsoft.com/office/drawing/2014/main" val="3259894497"/>
                    </a:ext>
                  </a:extLst>
                </a:gridCol>
                <a:gridCol w="425450">
                  <a:extLst>
                    <a:ext uri="{9D8B030D-6E8A-4147-A177-3AD203B41FA5}">
                      <a16:colId xmlns:a16="http://schemas.microsoft.com/office/drawing/2014/main" val="4170535043"/>
                    </a:ext>
                  </a:extLst>
                </a:gridCol>
                <a:gridCol w="418160">
                  <a:extLst>
                    <a:ext uri="{9D8B030D-6E8A-4147-A177-3AD203B41FA5}">
                      <a16:colId xmlns:a16="http://schemas.microsoft.com/office/drawing/2014/main" val="2079070694"/>
                    </a:ext>
                  </a:extLst>
                </a:gridCol>
                <a:gridCol w="418160">
                  <a:extLst>
                    <a:ext uri="{9D8B030D-6E8A-4147-A177-3AD203B41FA5}">
                      <a16:colId xmlns:a16="http://schemas.microsoft.com/office/drawing/2014/main" val="4213315911"/>
                    </a:ext>
                  </a:extLst>
                </a:gridCol>
                <a:gridCol w="418160">
                  <a:extLst>
                    <a:ext uri="{9D8B030D-6E8A-4147-A177-3AD203B41FA5}">
                      <a16:colId xmlns:a16="http://schemas.microsoft.com/office/drawing/2014/main" val="2769999950"/>
                    </a:ext>
                  </a:extLst>
                </a:gridCol>
                <a:gridCol w="418160">
                  <a:extLst>
                    <a:ext uri="{9D8B030D-6E8A-4147-A177-3AD203B41FA5}">
                      <a16:colId xmlns:a16="http://schemas.microsoft.com/office/drawing/2014/main" val="135637185"/>
                    </a:ext>
                  </a:extLst>
                </a:gridCol>
                <a:gridCol w="418160">
                  <a:extLst>
                    <a:ext uri="{9D8B030D-6E8A-4147-A177-3AD203B41FA5}">
                      <a16:colId xmlns:a16="http://schemas.microsoft.com/office/drawing/2014/main" val="3038050475"/>
                    </a:ext>
                  </a:extLst>
                </a:gridCol>
                <a:gridCol w="418160">
                  <a:extLst>
                    <a:ext uri="{9D8B030D-6E8A-4147-A177-3AD203B41FA5}">
                      <a16:colId xmlns:a16="http://schemas.microsoft.com/office/drawing/2014/main" val="1979433044"/>
                    </a:ext>
                  </a:extLst>
                </a:gridCol>
                <a:gridCol w="418160">
                  <a:extLst>
                    <a:ext uri="{9D8B030D-6E8A-4147-A177-3AD203B41FA5}">
                      <a16:colId xmlns:a16="http://schemas.microsoft.com/office/drawing/2014/main" val="4270661649"/>
                    </a:ext>
                  </a:extLst>
                </a:gridCol>
                <a:gridCol w="418160">
                  <a:extLst>
                    <a:ext uri="{9D8B030D-6E8A-4147-A177-3AD203B41FA5}">
                      <a16:colId xmlns:a16="http://schemas.microsoft.com/office/drawing/2014/main" val="3027041370"/>
                    </a:ext>
                  </a:extLst>
                </a:gridCol>
                <a:gridCol w="418160">
                  <a:extLst>
                    <a:ext uri="{9D8B030D-6E8A-4147-A177-3AD203B41FA5}">
                      <a16:colId xmlns:a16="http://schemas.microsoft.com/office/drawing/2014/main" val="2852526216"/>
                    </a:ext>
                  </a:extLst>
                </a:gridCol>
                <a:gridCol w="418160">
                  <a:extLst>
                    <a:ext uri="{9D8B030D-6E8A-4147-A177-3AD203B41FA5}">
                      <a16:colId xmlns:a16="http://schemas.microsoft.com/office/drawing/2014/main" val="103420222"/>
                    </a:ext>
                  </a:extLst>
                </a:gridCol>
                <a:gridCol w="418160">
                  <a:extLst>
                    <a:ext uri="{9D8B030D-6E8A-4147-A177-3AD203B41FA5}">
                      <a16:colId xmlns:a16="http://schemas.microsoft.com/office/drawing/2014/main" val="1470405609"/>
                    </a:ext>
                  </a:extLst>
                </a:gridCol>
                <a:gridCol w="41816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OFS_CH10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3" name="TextBox 42">
            <a:extLst>
              <a:ext uri="{FF2B5EF4-FFF2-40B4-BE49-F238E27FC236}">
                <a16:creationId xmlns:a16="http://schemas.microsoft.com/office/drawing/2014/main" id="{2A1335A5-CAB7-BBF1-831A-6479A2C19275}"/>
              </a:ext>
            </a:extLst>
          </p:cNvPr>
          <p:cNvSpPr txBox="1"/>
          <p:nvPr/>
        </p:nvSpPr>
        <p:spPr>
          <a:xfrm>
            <a:off x="389986" y="6983410"/>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 10</a:t>
            </a:r>
          </a:p>
        </p:txBody>
      </p:sp>
      <p:sp>
        <p:nvSpPr>
          <p:cNvPr id="44" name="TextBox 43">
            <a:extLst>
              <a:ext uri="{FF2B5EF4-FFF2-40B4-BE49-F238E27FC236}">
                <a16:creationId xmlns:a16="http://schemas.microsoft.com/office/drawing/2014/main" id="{AAAFFE48-B134-698C-5B30-978ED7CABDAD}"/>
              </a:ext>
            </a:extLst>
          </p:cNvPr>
          <p:cNvSpPr txBox="1"/>
          <p:nvPr/>
        </p:nvSpPr>
        <p:spPr>
          <a:xfrm>
            <a:off x="389986" y="7660243"/>
            <a:ext cx="604500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 11</a:t>
            </a:r>
          </a:p>
        </p:txBody>
      </p:sp>
      <p:sp>
        <p:nvSpPr>
          <p:cNvPr id="4" name="TextBox 3">
            <a:extLst>
              <a:ext uri="{FF2B5EF4-FFF2-40B4-BE49-F238E27FC236}">
                <a16:creationId xmlns:a16="http://schemas.microsoft.com/office/drawing/2014/main" id="{E884409E-FF89-F97A-86AC-BDAB97F70A10}"/>
              </a:ext>
            </a:extLst>
          </p:cNvPr>
          <p:cNvSpPr txBox="1"/>
          <p:nvPr/>
        </p:nvSpPr>
        <p:spPr>
          <a:xfrm>
            <a:off x="399058" y="65519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graphicFrame>
        <p:nvGraphicFramePr>
          <p:cNvPr id="8" name="표 7">
            <a:extLst>
              <a:ext uri="{FF2B5EF4-FFF2-40B4-BE49-F238E27FC236}">
                <a16:creationId xmlns:a16="http://schemas.microsoft.com/office/drawing/2014/main" id="{0C80AA71-FE8A-20CE-CC79-89FDB984AB39}"/>
              </a:ext>
            </a:extLst>
          </p:cNvPr>
          <p:cNvGraphicFramePr>
            <a:graphicFrameLocks noGrp="1"/>
          </p:cNvGraphicFramePr>
          <p:nvPr>
            <p:extLst>
              <p:ext uri="{D42A27DB-BD31-4B8C-83A1-F6EECF244321}">
                <p14:modId xmlns:p14="http://schemas.microsoft.com/office/powerpoint/2010/main" val="3118401615"/>
              </p:ext>
            </p:extLst>
          </p:nvPr>
        </p:nvGraphicFramePr>
        <p:xfrm>
          <a:off x="383517" y="8565175"/>
          <a:ext cx="6043999" cy="372600"/>
        </p:xfrm>
        <a:graphic>
          <a:graphicData uri="http://schemas.openxmlformats.org/drawingml/2006/table">
            <a:tbl>
              <a:tblPr firstRow="1" bandRow="1">
                <a:tableStyleId>{5C22544A-7EE6-4342-B048-85BDC9FD1C3A}</a:tableStyleId>
              </a:tblPr>
              <a:tblGrid>
                <a:gridCol w="278471">
                  <a:extLst>
                    <a:ext uri="{9D8B030D-6E8A-4147-A177-3AD203B41FA5}">
                      <a16:colId xmlns:a16="http://schemas.microsoft.com/office/drawing/2014/main" val="657570846"/>
                    </a:ext>
                  </a:extLst>
                </a:gridCol>
                <a:gridCol w="322262">
                  <a:extLst>
                    <a:ext uri="{9D8B030D-6E8A-4147-A177-3AD203B41FA5}">
                      <a16:colId xmlns:a16="http://schemas.microsoft.com/office/drawing/2014/main" val="3259894497"/>
                    </a:ext>
                  </a:extLst>
                </a:gridCol>
                <a:gridCol w="427038">
                  <a:extLst>
                    <a:ext uri="{9D8B030D-6E8A-4147-A177-3AD203B41FA5}">
                      <a16:colId xmlns:a16="http://schemas.microsoft.com/office/drawing/2014/main" val="4170535043"/>
                    </a:ext>
                  </a:extLst>
                </a:gridCol>
                <a:gridCol w="418019">
                  <a:extLst>
                    <a:ext uri="{9D8B030D-6E8A-4147-A177-3AD203B41FA5}">
                      <a16:colId xmlns:a16="http://schemas.microsoft.com/office/drawing/2014/main" val="2079070694"/>
                    </a:ext>
                  </a:extLst>
                </a:gridCol>
                <a:gridCol w="418019">
                  <a:extLst>
                    <a:ext uri="{9D8B030D-6E8A-4147-A177-3AD203B41FA5}">
                      <a16:colId xmlns:a16="http://schemas.microsoft.com/office/drawing/2014/main" val="4213315911"/>
                    </a:ext>
                  </a:extLst>
                </a:gridCol>
                <a:gridCol w="418019">
                  <a:extLst>
                    <a:ext uri="{9D8B030D-6E8A-4147-A177-3AD203B41FA5}">
                      <a16:colId xmlns:a16="http://schemas.microsoft.com/office/drawing/2014/main" val="2769999950"/>
                    </a:ext>
                  </a:extLst>
                </a:gridCol>
                <a:gridCol w="418019">
                  <a:extLst>
                    <a:ext uri="{9D8B030D-6E8A-4147-A177-3AD203B41FA5}">
                      <a16:colId xmlns:a16="http://schemas.microsoft.com/office/drawing/2014/main" val="135637185"/>
                    </a:ext>
                  </a:extLst>
                </a:gridCol>
                <a:gridCol w="418019">
                  <a:extLst>
                    <a:ext uri="{9D8B030D-6E8A-4147-A177-3AD203B41FA5}">
                      <a16:colId xmlns:a16="http://schemas.microsoft.com/office/drawing/2014/main" val="3038050475"/>
                    </a:ext>
                  </a:extLst>
                </a:gridCol>
                <a:gridCol w="418019">
                  <a:extLst>
                    <a:ext uri="{9D8B030D-6E8A-4147-A177-3AD203B41FA5}">
                      <a16:colId xmlns:a16="http://schemas.microsoft.com/office/drawing/2014/main" val="1979433044"/>
                    </a:ext>
                  </a:extLst>
                </a:gridCol>
                <a:gridCol w="418019">
                  <a:extLst>
                    <a:ext uri="{9D8B030D-6E8A-4147-A177-3AD203B41FA5}">
                      <a16:colId xmlns:a16="http://schemas.microsoft.com/office/drawing/2014/main" val="4270661649"/>
                    </a:ext>
                  </a:extLst>
                </a:gridCol>
                <a:gridCol w="418019">
                  <a:extLst>
                    <a:ext uri="{9D8B030D-6E8A-4147-A177-3AD203B41FA5}">
                      <a16:colId xmlns:a16="http://schemas.microsoft.com/office/drawing/2014/main" val="3027041370"/>
                    </a:ext>
                  </a:extLst>
                </a:gridCol>
                <a:gridCol w="418019">
                  <a:extLst>
                    <a:ext uri="{9D8B030D-6E8A-4147-A177-3AD203B41FA5}">
                      <a16:colId xmlns:a16="http://schemas.microsoft.com/office/drawing/2014/main" val="2852526216"/>
                    </a:ext>
                  </a:extLst>
                </a:gridCol>
                <a:gridCol w="418019">
                  <a:extLst>
                    <a:ext uri="{9D8B030D-6E8A-4147-A177-3AD203B41FA5}">
                      <a16:colId xmlns:a16="http://schemas.microsoft.com/office/drawing/2014/main" val="103420222"/>
                    </a:ext>
                  </a:extLst>
                </a:gridCol>
                <a:gridCol w="418019">
                  <a:extLst>
                    <a:ext uri="{9D8B030D-6E8A-4147-A177-3AD203B41FA5}">
                      <a16:colId xmlns:a16="http://schemas.microsoft.com/office/drawing/2014/main" val="1470405609"/>
                    </a:ext>
                  </a:extLst>
                </a:gridCol>
                <a:gridCol w="41801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OFS_CH12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9" name="TextBox 8">
            <a:extLst>
              <a:ext uri="{FF2B5EF4-FFF2-40B4-BE49-F238E27FC236}">
                <a16:creationId xmlns:a16="http://schemas.microsoft.com/office/drawing/2014/main" id="{D6624278-60FC-2DC7-4C20-F8F90A94BCBE}"/>
              </a:ext>
            </a:extLst>
          </p:cNvPr>
          <p:cNvSpPr txBox="1"/>
          <p:nvPr/>
        </p:nvSpPr>
        <p:spPr>
          <a:xfrm>
            <a:off x="389986" y="8337072"/>
            <a:ext cx="604500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OFS 12</a:t>
            </a:r>
          </a:p>
        </p:txBody>
      </p:sp>
    </p:spTree>
    <p:extLst>
      <p:ext uri="{BB962C8B-B14F-4D97-AF65-F5344CB8AC3E}">
        <p14:creationId xmlns:p14="http://schemas.microsoft.com/office/powerpoint/2010/main" val="22597739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2E2E4FC-D86E-E7F1-4FEA-4BD7CBA2B075}"/>
              </a:ext>
            </a:extLst>
          </p:cNvPr>
          <p:cNvSpPr txBox="1"/>
          <p:nvPr/>
        </p:nvSpPr>
        <p:spPr>
          <a:xfrm>
            <a:off x="390986" y="875080"/>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 1</a:t>
            </a:r>
          </a:p>
        </p:txBody>
      </p:sp>
      <p:sp>
        <p:nvSpPr>
          <p:cNvPr id="24" name="TextBox 23">
            <a:extLst>
              <a:ext uri="{FF2B5EF4-FFF2-40B4-BE49-F238E27FC236}">
                <a16:creationId xmlns:a16="http://schemas.microsoft.com/office/drawing/2014/main" id="{C1ED9103-A3B5-553E-C424-E74EB0043AD4}"/>
              </a:ext>
            </a:extLst>
          </p:cNvPr>
          <p:cNvSpPr txBox="1"/>
          <p:nvPr/>
        </p:nvSpPr>
        <p:spPr>
          <a:xfrm>
            <a:off x="401571" y="1552102"/>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 2</a:t>
            </a:r>
          </a:p>
        </p:txBody>
      </p:sp>
      <p:sp>
        <p:nvSpPr>
          <p:cNvPr id="29" name="TextBox 28">
            <a:extLst>
              <a:ext uri="{FF2B5EF4-FFF2-40B4-BE49-F238E27FC236}">
                <a16:creationId xmlns:a16="http://schemas.microsoft.com/office/drawing/2014/main" id="{8FC7759F-EBE4-5DE8-90E0-DE7D4C8E6081}"/>
              </a:ext>
            </a:extLst>
          </p:cNvPr>
          <p:cNvSpPr txBox="1"/>
          <p:nvPr/>
        </p:nvSpPr>
        <p:spPr>
          <a:xfrm>
            <a:off x="401571" y="2229124"/>
            <a:ext cx="600769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 3</a:t>
            </a:r>
          </a:p>
        </p:txBody>
      </p:sp>
      <p:sp>
        <p:nvSpPr>
          <p:cNvPr id="31" name="TextBox 30">
            <a:extLst>
              <a:ext uri="{FF2B5EF4-FFF2-40B4-BE49-F238E27FC236}">
                <a16:creationId xmlns:a16="http://schemas.microsoft.com/office/drawing/2014/main" id="{0C4C225D-B915-FD28-C5ED-7822B2D27829}"/>
              </a:ext>
            </a:extLst>
          </p:cNvPr>
          <p:cNvSpPr txBox="1"/>
          <p:nvPr/>
        </p:nvSpPr>
        <p:spPr>
          <a:xfrm>
            <a:off x="401571" y="2906146"/>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 4</a:t>
            </a:r>
          </a:p>
        </p:txBody>
      </p:sp>
      <p:sp>
        <p:nvSpPr>
          <p:cNvPr id="33" name="TextBox 32">
            <a:extLst>
              <a:ext uri="{FF2B5EF4-FFF2-40B4-BE49-F238E27FC236}">
                <a16:creationId xmlns:a16="http://schemas.microsoft.com/office/drawing/2014/main" id="{54B15480-C4E5-C4A4-DB65-B7DADAA6F574}"/>
              </a:ext>
            </a:extLst>
          </p:cNvPr>
          <p:cNvSpPr txBox="1"/>
          <p:nvPr/>
        </p:nvSpPr>
        <p:spPr>
          <a:xfrm>
            <a:off x="401571" y="3583168"/>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 5</a:t>
            </a:r>
          </a:p>
        </p:txBody>
      </p:sp>
      <p:sp>
        <p:nvSpPr>
          <p:cNvPr id="35" name="TextBox 34">
            <a:extLst>
              <a:ext uri="{FF2B5EF4-FFF2-40B4-BE49-F238E27FC236}">
                <a16:creationId xmlns:a16="http://schemas.microsoft.com/office/drawing/2014/main" id="{618718C2-741F-A6DA-C399-8573E65A97EF}"/>
              </a:ext>
            </a:extLst>
          </p:cNvPr>
          <p:cNvSpPr txBox="1"/>
          <p:nvPr/>
        </p:nvSpPr>
        <p:spPr>
          <a:xfrm>
            <a:off x="401571" y="4260190"/>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 6</a:t>
            </a:r>
          </a:p>
        </p:txBody>
      </p:sp>
      <p:sp>
        <p:nvSpPr>
          <p:cNvPr id="37" name="TextBox 36">
            <a:extLst>
              <a:ext uri="{FF2B5EF4-FFF2-40B4-BE49-F238E27FC236}">
                <a16:creationId xmlns:a16="http://schemas.microsoft.com/office/drawing/2014/main" id="{FC525441-C066-FDE0-D0A1-D79F2E88EF30}"/>
              </a:ext>
            </a:extLst>
          </p:cNvPr>
          <p:cNvSpPr txBox="1"/>
          <p:nvPr/>
        </p:nvSpPr>
        <p:spPr>
          <a:xfrm>
            <a:off x="401571" y="4937212"/>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 7</a:t>
            </a:r>
          </a:p>
        </p:txBody>
      </p:sp>
      <p:sp>
        <p:nvSpPr>
          <p:cNvPr id="39" name="TextBox 38">
            <a:extLst>
              <a:ext uri="{FF2B5EF4-FFF2-40B4-BE49-F238E27FC236}">
                <a16:creationId xmlns:a16="http://schemas.microsoft.com/office/drawing/2014/main" id="{26F5A40C-4C80-11B8-890B-481D22447744}"/>
              </a:ext>
            </a:extLst>
          </p:cNvPr>
          <p:cNvSpPr txBox="1"/>
          <p:nvPr/>
        </p:nvSpPr>
        <p:spPr>
          <a:xfrm>
            <a:off x="401571" y="5614234"/>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 8</a:t>
            </a:r>
          </a:p>
        </p:txBody>
      </p:sp>
      <p:sp>
        <p:nvSpPr>
          <p:cNvPr id="41" name="TextBox 40">
            <a:extLst>
              <a:ext uri="{FF2B5EF4-FFF2-40B4-BE49-F238E27FC236}">
                <a16:creationId xmlns:a16="http://schemas.microsoft.com/office/drawing/2014/main" id="{365706EB-F63F-F4B5-BDD3-1A86C902281D}"/>
              </a:ext>
            </a:extLst>
          </p:cNvPr>
          <p:cNvSpPr txBox="1"/>
          <p:nvPr/>
        </p:nvSpPr>
        <p:spPr>
          <a:xfrm>
            <a:off x="401571" y="6291256"/>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 9</a:t>
            </a:r>
          </a:p>
        </p:txBody>
      </p:sp>
      <p:sp>
        <p:nvSpPr>
          <p:cNvPr id="43" name="TextBox 42">
            <a:extLst>
              <a:ext uri="{FF2B5EF4-FFF2-40B4-BE49-F238E27FC236}">
                <a16:creationId xmlns:a16="http://schemas.microsoft.com/office/drawing/2014/main" id="{2A1335A5-CAB7-BBF1-831A-6479A2C19275}"/>
              </a:ext>
            </a:extLst>
          </p:cNvPr>
          <p:cNvSpPr txBox="1"/>
          <p:nvPr/>
        </p:nvSpPr>
        <p:spPr>
          <a:xfrm>
            <a:off x="401571" y="6968278"/>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 10</a:t>
            </a:r>
          </a:p>
        </p:txBody>
      </p:sp>
      <p:graphicFrame>
        <p:nvGraphicFramePr>
          <p:cNvPr id="6" name="표 5">
            <a:extLst>
              <a:ext uri="{FF2B5EF4-FFF2-40B4-BE49-F238E27FC236}">
                <a16:creationId xmlns:a16="http://schemas.microsoft.com/office/drawing/2014/main" id="{FCF1F636-FE6C-B712-4D78-ACB7EBC010F0}"/>
              </a:ext>
            </a:extLst>
          </p:cNvPr>
          <p:cNvGraphicFramePr>
            <a:graphicFrameLocks noGrp="1"/>
          </p:cNvGraphicFramePr>
          <p:nvPr>
            <p:extLst>
              <p:ext uri="{D42A27DB-BD31-4B8C-83A1-F6EECF244321}">
                <p14:modId xmlns:p14="http://schemas.microsoft.com/office/powerpoint/2010/main" val="3662529118"/>
              </p:ext>
            </p:extLst>
          </p:nvPr>
        </p:nvGraphicFramePr>
        <p:xfrm>
          <a:off x="384636" y="1113095"/>
          <a:ext cx="6043996" cy="372600"/>
        </p:xfrm>
        <a:graphic>
          <a:graphicData uri="http://schemas.openxmlformats.org/drawingml/2006/table">
            <a:tbl>
              <a:tblPr firstRow="1" bandRow="1">
                <a:tableStyleId>{5C22544A-7EE6-4342-B048-85BDC9FD1C3A}</a:tableStyleId>
              </a:tblPr>
              <a:tblGrid>
                <a:gridCol w="275764">
                  <a:extLst>
                    <a:ext uri="{9D8B030D-6E8A-4147-A177-3AD203B41FA5}">
                      <a16:colId xmlns:a16="http://schemas.microsoft.com/office/drawing/2014/main" val="657570846"/>
                    </a:ext>
                  </a:extLst>
                </a:gridCol>
                <a:gridCol w="327025">
                  <a:extLst>
                    <a:ext uri="{9D8B030D-6E8A-4147-A177-3AD203B41FA5}">
                      <a16:colId xmlns:a16="http://schemas.microsoft.com/office/drawing/2014/main" val="3259894497"/>
                    </a:ext>
                  </a:extLst>
                </a:gridCol>
                <a:gridCol w="423863">
                  <a:extLst>
                    <a:ext uri="{9D8B030D-6E8A-4147-A177-3AD203B41FA5}">
                      <a16:colId xmlns:a16="http://schemas.microsoft.com/office/drawing/2014/main" val="4170535043"/>
                    </a:ext>
                  </a:extLst>
                </a:gridCol>
                <a:gridCol w="418112">
                  <a:extLst>
                    <a:ext uri="{9D8B030D-6E8A-4147-A177-3AD203B41FA5}">
                      <a16:colId xmlns:a16="http://schemas.microsoft.com/office/drawing/2014/main" val="2079070694"/>
                    </a:ext>
                  </a:extLst>
                </a:gridCol>
                <a:gridCol w="418112">
                  <a:extLst>
                    <a:ext uri="{9D8B030D-6E8A-4147-A177-3AD203B41FA5}">
                      <a16:colId xmlns:a16="http://schemas.microsoft.com/office/drawing/2014/main" val="4213315911"/>
                    </a:ext>
                  </a:extLst>
                </a:gridCol>
                <a:gridCol w="418112">
                  <a:extLst>
                    <a:ext uri="{9D8B030D-6E8A-4147-A177-3AD203B41FA5}">
                      <a16:colId xmlns:a16="http://schemas.microsoft.com/office/drawing/2014/main" val="2769999950"/>
                    </a:ext>
                  </a:extLst>
                </a:gridCol>
                <a:gridCol w="418112">
                  <a:extLst>
                    <a:ext uri="{9D8B030D-6E8A-4147-A177-3AD203B41FA5}">
                      <a16:colId xmlns:a16="http://schemas.microsoft.com/office/drawing/2014/main" val="135637185"/>
                    </a:ext>
                  </a:extLst>
                </a:gridCol>
                <a:gridCol w="418112">
                  <a:extLst>
                    <a:ext uri="{9D8B030D-6E8A-4147-A177-3AD203B41FA5}">
                      <a16:colId xmlns:a16="http://schemas.microsoft.com/office/drawing/2014/main" val="3038050475"/>
                    </a:ext>
                  </a:extLst>
                </a:gridCol>
                <a:gridCol w="418112">
                  <a:extLst>
                    <a:ext uri="{9D8B030D-6E8A-4147-A177-3AD203B41FA5}">
                      <a16:colId xmlns:a16="http://schemas.microsoft.com/office/drawing/2014/main" val="1979433044"/>
                    </a:ext>
                  </a:extLst>
                </a:gridCol>
                <a:gridCol w="418112">
                  <a:extLst>
                    <a:ext uri="{9D8B030D-6E8A-4147-A177-3AD203B41FA5}">
                      <a16:colId xmlns:a16="http://schemas.microsoft.com/office/drawing/2014/main" val="4270661649"/>
                    </a:ext>
                  </a:extLst>
                </a:gridCol>
                <a:gridCol w="418112">
                  <a:extLst>
                    <a:ext uri="{9D8B030D-6E8A-4147-A177-3AD203B41FA5}">
                      <a16:colId xmlns:a16="http://schemas.microsoft.com/office/drawing/2014/main" val="3027041370"/>
                    </a:ext>
                  </a:extLst>
                </a:gridCol>
                <a:gridCol w="418112">
                  <a:extLst>
                    <a:ext uri="{9D8B030D-6E8A-4147-A177-3AD203B41FA5}">
                      <a16:colId xmlns:a16="http://schemas.microsoft.com/office/drawing/2014/main" val="2852526216"/>
                    </a:ext>
                  </a:extLst>
                </a:gridCol>
                <a:gridCol w="418112">
                  <a:extLst>
                    <a:ext uri="{9D8B030D-6E8A-4147-A177-3AD203B41FA5}">
                      <a16:colId xmlns:a16="http://schemas.microsoft.com/office/drawing/2014/main" val="103420222"/>
                    </a:ext>
                  </a:extLst>
                </a:gridCol>
                <a:gridCol w="418112">
                  <a:extLst>
                    <a:ext uri="{9D8B030D-6E8A-4147-A177-3AD203B41FA5}">
                      <a16:colId xmlns:a16="http://schemas.microsoft.com/office/drawing/2014/main" val="1470405609"/>
                    </a:ext>
                  </a:extLst>
                </a:gridCol>
                <a:gridCol w="41811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GAIN_CH1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E533027C-E661-0D43-5589-5DB3A4143832}"/>
              </a:ext>
            </a:extLst>
          </p:cNvPr>
          <p:cNvSpPr txBox="1"/>
          <p:nvPr/>
        </p:nvSpPr>
        <p:spPr>
          <a:xfrm>
            <a:off x="401571" y="8322325"/>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 12</a:t>
            </a:r>
          </a:p>
        </p:txBody>
      </p:sp>
      <p:sp>
        <p:nvSpPr>
          <p:cNvPr id="11" name="TextBox 10">
            <a:extLst>
              <a:ext uri="{FF2B5EF4-FFF2-40B4-BE49-F238E27FC236}">
                <a16:creationId xmlns:a16="http://schemas.microsoft.com/office/drawing/2014/main" id="{948F7305-578E-CB0D-96BE-E2A987B46CA6}"/>
              </a:ext>
            </a:extLst>
          </p:cNvPr>
          <p:cNvSpPr txBox="1"/>
          <p:nvPr/>
        </p:nvSpPr>
        <p:spPr>
          <a:xfrm>
            <a:off x="401571" y="7645300"/>
            <a:ext cx="605164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GAIN 11</a:t>
            </a:r>
          </a:p>
        </p:txBody>
      </p:sp>
      <p:sp>
        <p:nvSpPr>
          <p:cNvPr id="4" name="TextBox 3">
            <a:extLst>
              <a:ext uri="{FF2B5EF4-FFF2-40B4-BE49-F238E27FC236}">
                <a16:creationId xmlns:a16="http://schemas.microsoft.com/office/drawing/2014/main" id="{93045805-E99B-9A50-DADE-30CFA466287F}"/>
              </a:ext>
            </a:extLst>
          </p:cNvPr>
          <p:cNvSpPr txBox="1"/>
          <p:nvPr/>
        </p:nvSpPr>
        <p:spPr>
          <a:xfrm>
            <a:off x="399058" y="65519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graphicFrame>
        <p:nvGraphicFramePr>
          <p:cNvPr id="9" name="표 8">
            <a:extLst>
              <a:ext uri="{FF2B5EF4-FFF2-40B4-BE49-F238E27FC236}">
                <a16:creationId xmlns:a16="http://schemas.microsoft.com/office/drawing/2014/main" id="{5083CCCC-A446-EA2E-2991-5A1FD30A2A03}"/>
              </a:ext>
            </a:extLst>
          </p:cNvPr>
          <p:cNvGraphicFramePr>
            <a:graphicFrameLocks noGrp="1"/>
          </p:cNvGraphicFramePr>
          <p:nvPr>
            <p:extLst>
              <p:ext uri="{D42A27DB-BD31-4B8C-83A1-F6EECF244321}">
                <p14:modId xmlns:p14="http://schemas.microsoft.com/office/powerpoint/2010/main" val="2015095879"/>
              </p:ext>
            </p:extLst>
          </p:nvPr>
        </p:nvGraphicFramePr>
        <p:xfrm>
          <a:off x="384636" y="1789297"/>
          <a:ext cx="6043996" cy="372600"/>
        </p:xfrm>
        <a:graphic>
          <a:graphicData uri="http://schemas.openxmlformats.org/drawingml/2006/table">
            <a:tbl>
              <a:tblPr firstRow="1" bandRow="1">
                <a:tableStyleId>{5C22544A-7EE6-4342-B048-85BDC9FD1C3A}</a:tableStyleId>
              </a:tblPr>
              <a:tblGrid>
                <a:gridCol w="275764">
                  <a:extLst>
                    <a:ext uri="{9D8B030D-6E8A-4147-A177-3AD203B41FA5}">
                      <a16:colId xmlns:a16="http://schemas.microsoft.com/office/drawing/2014/main" val="657570846"/>
                    </a:ext>
                  </a:extLst>
                </a:gridCol>
                <a:gridCol w="327025">
                  <a:extLst>
                    <a:ext uri="{9D8B030D-6E8A-4147-A177-3AD203B41FA5}">
                      <a16:colId xmlns:a16="http://schemas.microsoft.com/office/drawing/2014/main" val="3259894497"/>
                    </a:ext>
                  </a:extLst>
                </a:gridCol>
                <a:gridCol w="423863">
                  <a:extLst>
                    <a:ext uri="{9D8B030D-6E8A-4147-A177-3AD203B41FA5}">
                      <a16:colId xmlns:a16="http://schemas.microsoft.com/office/drawing/2014/main" val="4170535043"/>
                    </a:ext>
                  </a:extLst>
                </a:gridCol>
                <a:gridCol w="418112">
                  <a:extLst>
                    <a:ext uri="{9D8B030D-6E8A-4147-A177-3AD203B41FA5}">
                      <a16:colId xmlns:a16="http://schemas.microsoft.com/office/drawing/2014/main" val="2079070694"/>
                    </a:ext>
                  </a:extLst>
                </a:gridCol>
                <a:gridCol w="418112">
                  <a:extLst>
                    <a:ext uri="{9D8B030D-6E8A-4147-A177-3AD203B41FA5}">
                      <a16:colId xmlns:a16="http://schemas.microsoft.com/office/drawing/2014/main" val="4213315911"/>
                    </a:ext>
                  </a:extLst>
                </a:gridCol>
                <a:gridCol w="418112">
                  <a:extLst>
                    <a:ext uri="{9D8B030D-6E8A-4147-A177-3AD203B41FA5}">
                      <a16:colId xmlns:a16="http://schemas.microsoft.com/office/drawing/2014/main" val="2769999950"/>
                    </a:ext>
                  </a:extLst>
                </a:gridCol>
                <a:gridCol w="418112">
                  <a:extLst>
                    <a:ext uri="{9D8B030D-6E8A-4147-A177-3AD203B41FA5}">
                      <a16:colId xmlns:a16="http://schemas.microsoft.com/office/drawing/2014/main" val="135637185"/>
                    </a:ext>
                  </a:extLst>
                </a:gridCol>
                <a:gridCol w="418112">
                  <a:extLst>
                    <a:ext uri="{9D8B030D-6E8A-4147-A177-3AD203B41FA5}">
                      <a16:colId xmlns:a16="http://schemas.microsoft.com/office/drawing/2014/main" val="3038050475"/>
                    </a:ext>
                  </a:extLst>
                </a:gridCol>
                <a:gridCol w="418112">
                  <a:extLst>
                    <a:ext uri="{9D8B030D-6E8A-4147-A177-3AD203B41FA5}">
                      <a16:colId xmlns:a16="http://schemas.microsoft.com/office/drawing/2014/main" val="1979433044"/>
                    </a:ext>
                  </a:extLst>
                </a:gridCol>
                <a:gridCol w="418112">
                  <a:extLst>
                    <a:ext uri="{9D8B030D-6E8A-4147-A177-3AD203B41FA5}">
                      <a16:colId xmlns:a16="http://schemas.microsoft.com/office/drawing/2014/main" val="4270661649"/>
                    </a:ext>
                  </a:extLst>
                </a:gridCol>
                <a:gridCol w="418112">
                  <a:extLst>
                    <a:ext uri="{9D8B030D-6E8A-4147-A177-3AD203B41FA5}">
                      <a16:colId xmlns:a16="http://schemas.microsoft.com/office/drawing/2014/main" val="3027041370"/>
                    </a:ext>
                  </a:extLst>
                </a:gridCol>
                <a:gridCol w="418112">
                  <a:extLst>
                    <a:ext uri="{9D8B030D-6E8A-4147-A177-3AD203B41FA5}">
                      <a16:colId xmlns:a16="http://schemas.microsoft.com/office/drawing/2014/main" val="2852526216"/>
                    </a:ext>
                  </a:extLst>
                </a:gridCol>
                <a:gridCol w="418112">
                  <a:extLst>
                    <a:ext uri="{9D8B030D-6E8A-4147-A177-3AD203B41FA5}">
                      <a16:colId xmlns:a16="http://schemas.microsoft.com/office/drawing/2014/main" val="103420222"/>
                    </a:ext>
                  </a:extLst>
                </a:gridCol>
                <a:gridCol w="418112">
                  <a:extLst>
                    <a:ext uri="{9D8B030D-6E8A-4147-A177-3AD203B41FA5}">
                      <a16:colId xmlns:a16="http://schemas.microsoft.com/office/drawing/2014/main" val="1470405609"/>
                    </a:ext>
                  </a:extLst>
                </a:gridCol>
                <a:gridCol w="41811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GAIN_CH2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2" name="표 11">
            <a:extLst>
              <a:ext uri="{FF2B5EF4-FFF2-40B4-BE49-F238E27FC236}">
                <a16:creationId xmlns:a16="http://schemas.microsoft.com/office/drawing/2014/main" id="{021D3055-C32B-8A7E-920E-3AB02F8461A5}"/>
              </a:ext>
            </a:extLst>
          </p:cNvPr>
          <p:cNvGraphicFramePr>
            <a:graphicFrameLocks noGrp="1"/>
          </p:cNvGraphicFramePr>
          <p:nvPr>
            <p:extLst>
              <p:ext uri="{D42A27DB-BD31-4B8C-83A1-F6EECF244321}">
                <p14:modId xmlns:p14="http://schemas.microsoft.com/office/powerpoint/2010/main" val="3245972144"/>
              </p:ext>
            </p:extLst>
          </p:nvPr>
        </p:nvGraphicFramePr>
        <p:xfrm>
          <a:off x="384636" y="2465499"/>
          <a:ext cx="6043996" cy="372600"/>
        </p:xfrm>
        <a:graphic>
          <a:graphicData uri="http://schemas.openxmlformats.org/drawingml/2006/table">
            <a:tbl>
              <a:tblPr firstRow="1" bandRow="1">
                <a:tableStyleId>{5C22544A-7EE6-4342-B048-85BDC9FD1C3A}</a:tableStyleId>
              </a:tblPr>
              <a:tblGrid>
                <a:gridCol w="275764">
                  <a:extLst>
                    <a:ext uri="{9D8B030D-6E8A-4147-A177-3AD203B41FA5}">
                      <a16:colId xmlns:a16="http://schemas.microsoft.com/office/drawing/2014/main" val="657570846"/>
                    </a:ext>
                  </a:extLst>
                </a:gridCol>
                <a:gridCol w="327025">
                  <a:extLst>
                    <a:ext uri="{9D8B030D-6E8A-4147-A177-3AD203B41FA5}">
                      <a16:colId xmlns:a16="http://schemas.microsoft.com/office/drawing/2014/main" val="3259894497"/>
                    </a:ext>
                  </a:extLst>
                </a:gridCol>
                <a:gridCol w="423863">
                  <a:extLst>
                    <a:ext uri="{9D8B030D-6E8A-4147-A177-3AD203B41FA5}">
                      <a16:colId xmlns:a16="http://schemas.microsoft.com/office/drawing/2014/main" val="4170535043"/>
                    </a:ext>
                  </a:extLst>
                </a:gridCol>
                <a:gridCol w="418112">
                  <a:extLst>
                    <a:ext uri="{9D8B030D-6E8A-4147-A177-3AD203B41FA5}">
                      <a16:colId xmlns:a16="http://schemas.microsoft.com/office/drawing/2014/main" val="2079070694"/>
                    </a:ext>
                  </a:extLst>
                </a:gridCol>
                <a:gridCol w="418112">
                  <a:extLst>
                    <a:ext uri="{9D8B030D-6E8A-4147-A177-3AD203B41FA5}">
                      <a16:colId xmlns:a16="http://schemas.microsoft.com/office/drawing/2014/main" val="4213315911"/>
                    </a:ext>
                  </a:extLst>
                </a:gridCol>
                <a:gridCol w="418112">
                  <a:extLst>
                    <a:ext uri="{9D8B030D-6E8A-4147-A177-3AD203B41FA5}">
                      <a16:colId xmlns:a16="http://schemas.microsoft.com/office/drawing/2014/main" val="2769999950"/>
                    </a:ext>
                  </a:extLst>
                </a:gridCol>
                <a:gridCol w="418112">
                  <a:extLst>
                    <a:ext uri="{9D8B030D-6E8A-4147-A177-3AD203B41FA5}">
                      <a16:colId xmlns:a16="http://schemas.microsoft.com/office/drawing/2014/main" val="135637185"/>
                    </a:ext>
                  </a:extLst>
                </a:gridCol>
                <a:gridCol w="418112">
                  <a:extLst>
                    <a:ext uri="{9D8B030D-6E8A-4147-A177-3AD203B41FA5}">
                      <a16:colId xmlns:a16="http://schemas.microsoft.com/office/drawing/2014/main" val="3038050475"/>
                    </a:ext>
                  </a:extLst>
                </a:gridCol>
                <a:gridCol w="418112">
                  <a:extLst>
                    <a:ext uri="{9D8B030D-6E8A-4147-A177-3AD203B41FA5}">
                      <a16:colId xmlns:a16="http://schemas.microsoft.com/office/drawing/2014/main" val="1979433044"/>
                    </a:ext>
                  </a:extLst>
                </a:gridCol>
                <a:gridCol w="418112">
                  <a:extLst>
                    <a:ext uri="{9D8B030D-6E8A-4147-A177-3AD203B41FA5}">
                      <a16:colId xmlns:a16="http://schemas.microsoft.com/office/drawing/2014/main" val="4270661649"/>
                    </a:ext>
                  </a:extLst>
                </a:gridCol>
                <a:gridCol w="418112">
                  <a:extLst>
                    <a:ext uri="{9D8B030D-6E8A-4147-A177-3AD203B41FA5}">
                      <a16:colId xmlns:a16="http://schemas.microsoft.com/office/drawing/2014/main" val="3027041370"/>
                    </a:ext>
                  </a:extLst>
                </a:gridCol>
                <a:gridCol w="418112">
                  <a:extLst>
                    <a:ext uri="{9D8B030D-6E8A-4147-A177-3AD203B41FA5}">
                      <a16:colId xmlns:a16="http://schemas.microsoft.com/office/drawing/2014/main" val="2852526216"/>
                    </a:ext>
                  </a:extLst>
                </a:gridCol>
                <a:gridCol w="418112">
                  <a:extLst>
                    <a:ext uri="{9D8B030D-6E8A-4147-A177-3AD203B41FA5}">
                      <a16:colId xmlns:a16="http://schemas.microsoft.com/office/drawing/2014/main" val="103420222"/>
                    </a:ext>
                  </a:extLst>
                </a:gridCol>
                <a:gridCol w="418112">
                  <a:extLst>
                    <a:ext uri="{9D8B030D-6E8A-4147-A177-3AD203B41FA5}">
                      <a16:colId xmlns:a16="http://schemas.microsoft.com/office/drawing/2014/main" val="1470405609"/>
                    </a:ext>
                  </a:extLst>
                </a:gridCol>
                <a:gridCol w="41811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GAIN_CH3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4" name="표 13">
            <a:extLst>
              <a:ext uri="{FF2B5EF4-FFF2-40B4-BE49-F238E27FC236}">
                <a16:creationId xmlns:a16="http://schemas.microsoft.com/office/drawing/2014/main" id="{118CDA3C-1325-3AC1-E46B-F3B151C3CF83}"/>
              </a:ext>
            </a:extLst>
          </p:cNvPr>
          <p:cNvGraphicFramePr>
            <a:graphicFrameLocks noGrp="1"/>
          </p:cNvGraphicFramePr>
          <p:nvPr>
            <p:extLst>
              <p:ext uri="{D42A27DB-BD31-4B8C-83A1-F6EECF244321}">
                <p14:modId xmlns:p14="http://schemas.microsoft.com/office/powerpoint/2010/main" val="314037922"/>
              </p:ext>
            </p:extLst>
          </p:nvPr>
        </p:nvGraphicFramePr>
        <p:xfrm>
          <a:off x="384636" y="3141701"/>
          <a:ext cx="6043996" cy="372600"/>
        </p:xfrm>
        <a:graphic>
          <a:graphicData uri="http://schemas.openxmlformats.org/drawingml/2006/table">
            <a:tbl>
              <a:tblPr firstRow="1" bandRow="1">
                <a:tableStyleId>{5C22544A-7EE6-4342-B048-85BDC9FD1C3A}</a:tableStyleId>
              </a:tblPr>
              <a:tblGrid>
                <a:gridCol w="275764">
                  <a:extLst>
                    <a:ext uri="{9D8B030D-6E8A-4147-A177-3AD203B41FA5}">
                      <a16:colId xmlns:a16="http://schemas.microsoft.com/office/drawing/2014/main" val="657570846"/>
                    </a:ext>
                  </a:extLst>
                </a:gridCol>
                <a:gridCol w="327025">
                  <a:extLst>
                    <a:ext uri="{9D8B030D-6E8A-4147-A177-3AD203B41FA5}">
                      <a16:colId xmlns:a16="http://schemas.microsoft.com/office/drawing/2014/main" val="3259894497"/>
                    </a:ext>
                  </a:extLst>
                </a:gridCol>
                <a:gridCol w="423863">
                  <a:extLst>
                    <a:ext uri="{9D8B030D-6E8A-4147-A177-3AD203B41FA5}">
                      <a16:colId xmlns:a16="http://schemas.microsoft.com/office/drawing/2014/main" val="4170535043"/>
                    </a:ext>
                  </a:extLst>
                </a:gridCol>
                <a:gridCol w="418112">
                  <a:extLst>
                    <a:ext uri="{9D8B030D-6E8A-4147-A177-3AD203B41FA5}">
                      <a16:colId xmlns:a16="http://schemas.microsoft.com/office/drawing/2014/main" val="2079070694"/>
                    </a:ext>
                  </a:extLst>
                </a:gridCol>
                <a:gridCol w="418112">
                  <a:extLst>
                    <a:ext uri="{9D8B030D-6E8A-4147-A177-3AD203B41FA5}">
                      <a16:colId xmlns:a16="http://schemas.microsoft.com/office/drawing/2014/main" val="4213315911"/>
                    </a:ext>
                  </a:extLst>
                </a:gridCol>
                <a:gridCol w="418112">
                  <a:extLst>
                    <a:ext uri="{9D8B030D-6E8A-4147-A177-3AD203B41FA5}">
                      <a16:colId xmlns:a16="http://schemas.microsoft.com/office/drawing/2014/main" val="2769999950"/>
                    </a:ext>
                  </a:extLst>
                </a:gridCol>
                <a:gridCol w="418112">
                  <a:extLst>
                    <a:ext uri="{9D8B030D-6E8A-4147-A177-3AD203B41FA5}">
                      <a16:colId xmlns:a16="http://schemas.microsoft.com/office/drawing/2014/main" val="135637185"/>
                    </a:ext>
                  </a:extLst>
                </a:gridCol>
                <a:gridCol w="418112">
                  <a:extLst>
                    <a:ext uri="{9D8B030D-6E8A-4147-A177-3AD203B41FA5}">
                      <a16:colId xmlns:a16="http://schemas.microsoft.com/office/drawing/2014/main" val="3038050475"/>
                    </a:ext>
                  </a:extLst>
                </a:gridCol>
                <a:gridCol w="418112">
                  <a:extLst>
                    <a:ext uri="{9D8B030D-6E8A-4147-A177-3AD203B41FA5}">
                      <a16:colId xmlns:a16="http://schemas.microsoft.com/office/drawing/2014/main" val="1979433044"/>
                    </a:ext>
                  </a:extLst>
                </a:gridCol>
                <a:gridCol w="418112">
                  <a:extLst>
                    <a:ext uri="{9D8B030D-6E8A-4147-A177-3AD203B41FA5}">
                      <a16:colId xmlns:a16="http://schemas.microsoft.com/office/drawing/2014/main" val="4270661649"/>
                    </a:ext>
                  </a:extLst>
                </a:gridCol>
                <a:gridCol w="418112">
                  <a:extLst>
                    <a:ext uri="{9D8B030D-6E8A-4147-A177-3AD203B41FA5}">
                      <a16:colId xmlns:a16="http://schemas.microsoft.com/office/drawing/2014/main" val="3027041370"/>
                    </a:ext>
                  </a:extLst>
                </a:gridCol>
                <a:gridCol w="418112">
                  <a:extLst>
                    <a:ext uri="{9D8B030D-6E8A-4147-A177-3AD203B41FA5}">
                      <a16:colId xmlns:a16="http://schemas.microsoft.com/office/drawing/2014/main" val="2852526216"/>
                    </a:ext>
                  </a:extLst>
                </a:gridCol>
                <a:gridCol w="418112">
                  <a:extLst>
                    <a:ext uri="{9D8B030D-6E8A-4147-A177-3AD203B41FA5}">
                      <a16:colId xmlns:a16="http://schemas.microsoft.com/office/drawing/2014/main" val="103420222"/>
                    </a:ext>
                  </a:extLst>
                </a:gridCol>
                <a:gridCol w="418112">
                  <a:extLst>
                    <a:ext uri="{9D8B030D-6E8A-4147-A177-3AD203B41FA5}">
                      <a16:colId xmlns:a16="http://schemas.microsoft.com/office/drawing/2014/main" val="1470405609"/>
                    </a:ext>
                  </a:extLst>
                </a:gridCol>
                <a:gridCol w="41811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GAIN_CH4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5" name="표 14">
            <a:extLst>
              <a:ext uri="{FF2B5EF4-FFF2-40B4-BE49-F238E27FC236}">
                <a16:creationId xmlns:a16="http://schemas.microsoft.com/office/drawing/2014/main" id="{86EFCB17-6871-EF91-5AA1-C6DDBCDD5294}"/>
              </a:ext>
            </a:extLst>
          </p:cNvPr>
          <p:cNvGraphicFramePr>
            <a:graphicFrameLocks noGrp="1"/>
          </p:cNvGraphicFramePr>
          <p:nvPr>
            <p:extLst>
              <p:ext uri="{D42A27DB-BD31-4B8C-83A1-F6EECF244321}">
                <p14:modId xmlns:p14="http://schemas.microsoft.com/office/powerpoint/2010/main" val="2120743207"/>
              </p:ext>
            </p:extLst>
          </p:nvPr>
        </p:nvGraphicFramePr>
        <p:xfrm>
          <a:off x="384636" y="3817903"/>
          <a:ext cx="6043996" cy="372600"/>
        </p:xfrm>
        <a:graphic>
          <a:graphicData uri="http://schemas.openxmlformats.org/drawingml/2006/table">
            <a:tbl>
              <a:tblPr firstRow="1" bandRow="1">
                <a:tableStyleId>{5C22544A-7EE6-4342-B048-85BDC9FD1C3A}</a:tableStyleId>
              </a:tblPr>
              <a:tblGrid>
                <a:gridCol w="275764">
                  <a:extLst>
                    <a:ext uri="{9D8B030D-6E8A-4147-A177-3AD203B41FA5}">
                      <a16:colId xmlns:a16="http://schemas.microsoft.com/office/drawing/2014/main" val="657570846"/>
                    </a:ext>
                  </a:extLst>
                </a:gridCol>
                <a:gridCol w="327025">
                  <a:extLst>
                    <a:ext uri="{9D8B030D-6E8A-4147-A177-3AD203B41FA5}">
                      <a16:colId xmlns:a16="http://schemas.microsoft.com/office/drawing/2014/main" val="3259894497"/>
                    </a:ext>
                  </a:extLst>
                </a:gridCol>
                <a:gridCol w="423863">
                  <a:extLst>
                    <a:ext uri="{9D8B030D-6E8A-4147-A177-3AD203B41FA5}">
                      <a16:colId xmlns:a16="http://schemas.microsoft.com/office/drawing/2014/main" val="4170535043"/>
                    </a:ext>
                  </a:extLst>
                </a:gridCol>
                <a:gridCol w="418112">
                  <a:extLst>
                    <a:ext uri="{9D8B030D-6E8A-4147-A177-3AD203B41FA5}">
                      <a16:colId xmlns:a16="http://schemas.microsoft.com/office/drawing/2014/main" val="2079070694"/>
                    </a:ext>
                  </a:extLst>
                </a:gridCol>
                <a:gridCol w="418112">
                  <a:extLst>
                    <a:ext uri="{9D8B030D-6E8A-4147-A177-3AD203B41FA5}">
                      <a16:colId xmlns:a16="http://schemas.microsoft.com/office/drawing/2014/main" val="4213315911"/>
                    </a:ext>
                  </a:extLst>
                </a:gridCol>
                <a:gridCol w="418112">
                  <a:extLst>
                    <a:ext uri="{9D8B030D-6E8A-4147-A177-3AD203B41FA5}">
                      <a16:colId xmlns:a16="http://schemas.microsoft.com/office/drawing/2014/main" val="2769999950"/>
                    </a:ext>
                  </a:extLst>
                </a:gridCol>
                <a:gridCol w="418112">
                  <a:extLst>
                    <a:ext uri="{9D8B030D-6E8A-4147-A177-3AD203B41FA5}">
                      <a16:colId xmlns:a16="http://schemas.microsoft.com/office/drawing/2014/main" val="135637185"/>
                    </a:ext>
                  </a:extLst>
                </a:gridCol>
                <a:gridCol w="418112">
                  <a:extLst>
                    <a:ext uri="{9D8B030D-6E8A-4147-A177-3AD203B41FA5}">
                      <a16:colId xmlns:a16="http://schemas.microsoft.com/office/drawing/2014/main" val="3038050475"/>
                    </a:ext>
                  </a:extLst>
                </a:gridCol>
                <a:gridCol w="418112">
                  <a:extLst>
                    <a:ext uri="{9D8B030D-6E8A-4147-A177-3AD203B41FA5}">
                      <a16:colId xmlns:a16="http://schemas.microsoft.com/office/drawing/2014/main" val="1979433044"/>
                    </a:ext>
                  </a:extLst>
                </a:gridCol>
                <a:gridCol w="418112">
                  <a:extLst>
                    <a:ext uri="{9D8B030D-6E8A-4147-A177-3AD203B41FA5}">
                      <a16:colId xmlns:a16="http://schemas.microsoft.com/office/drawing/2014/main" val="4270661649"/>
                    </a:ext>
                  </a:extLst>
                </a:gridCol>
                <a:gridCol w="418112">
                  <a:extLst>
                    <a:ext uri="{9D8B030D-6E8A-4147-A177-3AD203B41FA5}">
                      <a16:colId xmlns:a16="http://schemas.microsoft.com/office/drawing/2014/main" val="3027041370"/>
                    </a:ext>
                  </a:extLst>
                </a:gridCol>
                <a:gridCol w="418112">
                  <a:extLst>
                    <a:ext uri="{9D8B030D-6E8A-4147-A177-3AD203B41FA5}">
                      <a16:colId xmlns:a16="http://schemas.microsoft.com/office/drawing/2014/main" val="2852526216"/>
                    </a:ext>
                  </a:extLst>
                </a:gridCol>
                <a:gridCol w="418112">
                  <a:extLst>
                    <a:ext uri="{9D8B030D-6E8A-4147-A177-3AD203B41FA5}">
                      <a16:colId xmlns:a16="http://schemas.microsoft.com/office/drawing/2014/main" val="103420222"/>
                    </a:ext>
                  </a:extLst>
                </a:gridCol>
                <a:gridCol w="418112">
                  <a:extLst>
                    <a:ext uri="{9D8B030D-6E8A-4147-A177-3AD203B41FA5}">
                      <a16:colId xmlns:a16="http://schemas.microsoft.com/office/drawing/2014/main" val="1470405609"/>
                    </a:ext>
                  </a:extLst>
                </a:gridCol>
                <a:gridCol w="41811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GAIN_CH5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6" name="표 15">
            <a:extLst>
              <a:ext uri="{FF2B5EF4-FFF2-40B4-BE49-F238E27FC236}">
                <a16:creationId xmlns:a16="http://schemas.microsoft.com/office/drawing/2014/main" id="{966E2B13-51A5-A5FC-31BF-9F68FCA89A7A}"/>
              </a:ext>
            </a:extLst>
          </p:cNvPr>
          <p:cNvGraphicFramePr>
            <a:graphicFrameLocks noGrp="1"/>
          </p:cNvGraphicFramePr>
          <p:nvPr>
            <p:extLst>
              <p:ext uri="{D42A27DB-BD31-4B8C-83A1-F6EECF244321}">
                <p14:modId xmlns:p14="http://schemas.microsoft.com/office/powerpoint/2010/main" val="3673779117"/>
              </p:ext>
            </p:extLst>
          </p:nvPr>
        </p:nvGraphicFramePr>
        <p:xfrm>
          <a:off x="384636" y="4494105"/>
          <a:ext cx="6043996" cy="372600"/>
        </p:xfrm>
        <a:graphic>
          <a:graphicData uri="http://schemas.openxmlformats.org/drawingml/2006/table">
            <a:tbl>
              <a:tblPr firstRow="1" bandRow="1">
                <a:tableStyleId>{5C22544A-7EE6-4342-B048-85BDC9FD1C3A}</a:tableStyleId>
              </a:tblPr>
              <a:tblGrid>
                <a:gridCol w="275764">
                  <a:extLst>
                    <a:ext uri="{9D8B030D-6E8A-4147-A177-3AD203B41FA5}">
                      <a16:colId xmlns:a16="http://schemas.microsoft.com/office/drawing/2014/main" val="657570846"/>
                    </a:ext>
                  </a:extLst>
                </a:gridCol>
                <a:gridCol w="327025">
                  <a:extLst>
                    <a:ext uri="{9D8B030D-6E8A-4147-A177-3AD203B41FA5}">
                      <a16:colId xmlns:a16="http://schemas.microsoft.com/office/drawing/2014/main" val="3259894497"/>
                    </a:ext>
                  </a:extLst>
                </a:gridCol>
                <a:gridCol w="423863">
                  <a:extLst>
                    <a:ext uri="{9D8B030D-6E8A-4147-A177-3AD203B41FA5}">
                      <a16:colId xmlns:a16="http://schemas.microsoft.com/office/drawing/2014/main" val="4170535043"/>
                    </a:ext>
                  </a:extLst>
                </a:gridCol>
                <a:gridCol w="418112">
                  <a:extLst>
                    <a:ext uri="{9D8B030D-6E8A-4147-A177-3AD203B41FA5}">
                      <a16:colId xmlns:a16="http://schemas.microsoft.com/office/drawing/2014/main" val="2079070694"/>
                    </a:ext>
                  </a:extLst>
                </a:gridCol>
                <a:gridCol w="418112">
                  <a:extLst>
                    <a:ext uri="{9D8B030D-6E8A-4147-A177-3AD203B41FA5}">
                      <a16:colId xmlns:a16="http://schemas.microsoft.com/office/drawing/2014/main" val="4213315911"/>
                    </a:ext>
                  </a:extLst>
                </a:gridCol>
                <a:gridCol w="418112">
                  <a:extLst>
                    <a:ext uri="{9D8B030D-6E8A-4147-A177-3AD203B41FA5}">
                      <a16:colId xmlns:a16="http://schemas.microsoft.com/office/drawing/2014/main" val="2769999950"/>
                    </a:ext>
                  </a:extLst>
                </a:gridCol>
                <a:gridCol w="418112">
                  <a:extLst>
                    <a:ext uri="{9D8B030D-6E8A-4147-A177-3AD203B41FA5}">
                      <a16:colId xmlns:a16="http://schemas.microsoft.com/office/drawing/2014/main" val="135637185"/>
                    </a:ext>
                  </a:extLst>
                </a:gridCol>
                <a:gridCol w="418112">
                  <a:extLst>
                    <a:ext uri="{9D8B030D-6E8A-4147-A177-3AD203B41FA5}">
                      <a16:colId xmlns:a16="http://schemas.microsoft.com/office/drawing/2014/main" val="3038050475"/>
                    </a:ext>
                  </a:extLst>
                </a:gridCol>
                <a:gridCol w="418112">
                  <a:extLst>
                    <a:ext uri="{9D8B030D-6E8A-4147-A177-3AD203B41FA5}">
                      <a16:colId xmlns:a16="http://schemas.microsoft.com/office/drawing/2014/main" val="1979433044"/>
                    </a:ext>
                  </a:extLst>
                </a:gridCol>
                <a:gridCol w="418112">
                  <a:extLst>
                    <a:ext uri="{9D8B030D-6E8A-4147-A177-3AD203B41FA5}">
                      <a16:colId xmlns:a16="http://schemas.microsoft.com/office/drawing/2014/main" val="4270661649"/>
                    </a:ext>
                  </a:extLst>
                </a:gridCol>
                <a:gridCol w="418112">
                  <a:extLst>
                    <a:ext uri="{9D8B030D-6E8A-4147-A177-3AD203B41FA5}">
                      <a16:colId xmlns:a16="http://schemas.microsoft.com/office/drawing/2014/main" val="3027041370"/>
                    </a:ext>
                  </a:extLst>
                </a:gridCol>
                <a:gridCol w="418112">
                  <a:extLst>
                    <a:ext uri="{9D8B030D-6E8A-4147-A177-3AD203B41FA5}">
                      <a16:colId xmlns:a16="http://schemas.microsoft.com/office/drawing/2014/main" val="2852526216"/>
                    </a:ext>
                  </a:extLst>
                </a:gridCol>
                <a:gridCol w="418112">
                  <a:extLst>
                    <a:ext uri="{9D8B030D-6E8A-4147-A177-3AD203B41FA5}">
                      <a16:colId xmlns:a16="http://schemas.microsoft.com/office/drawing/2014/main" val="103420222"/>
                    </a:ext>
                  </a:extLst>
                </a:gridCol>
                <a:gridCol w="418112">
                  <a:extLst>
                    <a:ext uri="{9D8B030D-6E8A-4147-A177-3AD203B41FA5}">
                      <a16:colId xmlns:a16="http://schemas.microsoft.com/office/drawing/2014/main" val="1470405609"/>
                    </a:ext>
                  </a:extLst>
                </a:gridCol>
                <a:gridCol w="41811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GAIN_CH6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7" name="표 16">
            <a:extLst>
              <a:ext uri="{FF2B5EF4-FFF2-40B4-BE49-F238E27FC236}">
                <a16:creationId xmlns:a16="http://schemas.microsoft.com/office/drawing/2014/main" id="{AE7DF9E3-65CF-85A8-D243-F989119580A8}"/>
              </a:ext>
            </a:extLst>
          </p:cNvPr>
          <p:cNvGraphicFramePr>
            <a:graphicFrameLocks noGrp="1"/>
          </p:cNvGraphicFramePr>
          <p:nvPr>
            <p:extLst>
              <p:ext uri="{D42A27DB-BD31-4B8C-83A1-F6EECF244321}">
                <p14:modId xmlns:p14="http://schemas.microsoft.com/office/powerpoint/2010/main" val="3663397986"/>
              </p:ext>
            </p:extLst>
          </p:nvPr>
        </p:nvGraphicFramePr>
        <p:xfrm>
          <a:off x="384636" y="5170307"/>
          <a:ext cx="6043996" cy="372600"/>
        </p:xfrm>
        <a:graphic>
          <a:graphicData uri="http://schemas.openxmlformats.org/drawingml/2006/table">
            <a:tbl>
              <a:tblPr firstRow="1" bandRow="1">
                <a:tableStyleId>{5C22544A-7EE6-4342-B048-85BDC9FD1C3A}</a:tableStyleId>
              </a:tblPr>
              <a:tblGrid>
                <a:gridCol w="275764">
                  <a:extLst>
                    <a:ext uri="{9D8B030D-6E8A-4147-A177-3AD203B41FA5}">
                      <a16:colId xmlns:a16="http://schemas.microsoft.com/office/drawing/2014/main" val="657570846"/>
                    </a:ext>
                  </a:extLst>
                </a:gridCol>
                <a:gridCol w="327025">
                  <a:extLst>
                    <a:ext uri="{9D8B030D-6E8A-4147-A177-3AD203B41FA5}">
                      <a16:colId xmlns:a16="http://schemas.microsoft.com/office/drawing/2014/main" val="3259894497"/>
                    </a:ext>
                  </a:extLst>
                </a:gridCol>
                <a:gridCol w="423863">
                  <a:extLst>
                    <a:ext uri="{9D8B030D-6E8A-4147-A177-3AD203B41FA5}">
                      <a16:colId xmlns:a16="http://schemas.microsoft.com/office/drawing/2014/main" val="4170535043"/>
                    </a:ext>
                  </a:extLst>
                </a:gridCol>
                <a:gridCol w="418112">
                  <a:extLst>
                    <a:ext uri="{9D8B030D-6E8A-4147-A177-3AD203B41FA5}">
                      <a16:colId xmlns:a16="http://schemas.microsoft.com/office/drawing/2014/main" val="2079070694"/>
                    </a:ext>
                  </a:extLst>
                </a:gridCol>
                <a:gridCol w="418112">
                  <a:extLst>
                    <a:ext uri="{9D8B030D-6E8A-4147-A177-3AD203B41FA5}">
                      <a16:colId xmlns:a16="http://schemas.microsoft.com/office/drawing/2014/main" val="4213315911"/>
                    </a:ext>
                  </a:extLst>
                </a:gridCol>
                <a:gridCol w="418112">
                  <a:extLst>
                    <a:ext uri="{9D8B030D-6E8A-4147-A177-3AD203B41FA5}">
                      <a16:colId xmlns:a16="http://schemas.microsoft.com/office/drawing/2014/main" val="2769999950"/>
                    </a:ext>
                  </a:extLst>
                </a:gridCol>
                <a:gridCol w="418112">
                  <a:extLst>
                    <a:ext uri="{9D8B030D-6E8A-4147-A177-3AD203B41FA5}">
                      <a16:colId xmlns:a16="http://schemas.microsoft.com/office/drawing/2014/main" val="135637185"/>
                    </a:ext>
                  </a:extLst>
                </a:gridCol>
                <a:gridCol w="418112">
                  <a:extLst>
                    <a:ext uri="{9D8B030D-6E8A-4147-A177-3AD203B41FA5}">
                      <a16:colId xmlns:a16="http://schemas.microsoft.com/office/drawing/2014/main" val="3038050475"/>
                    </a:ext>
                  </a:extLst>
                </a:gridCol>
                <a:gridCol w="418112">
                  <a:extLst>
                    <a:ext uri="{9D8B030D-6E8A-4147-A177-3AD203B41FA5}">
                      <a16:colId xmlns:a16="http://schemas.microsoft.com/office/drawing/2014/main" val="1979433044"/>
                    </a:ext>
                  </a:extLst>
                </a:gridCol>
                <a:gridCol w="418112">
                  <a:extLst>
                    <a:ext uri="{9D8B030D-6E8A-4147-A177-3AD203B41FA5}">
                      <a16:colId xmlns:a16="http://schemas.microsoft.com/office/drawing/2014/main" val="4270661649"/>
                    </a:ext>
                  </a:extLst>
                </a:gridCol>
                <a:gridCol w="418112">
                  <a:extLst>
                    <a:ext uri="{9D8B030D-6E8A-4147-A177-3AD203B41FA5}">
                      <a16:colId xmlns:a16="http://schemas.microsoft.com/office/drawing/2014/main" val="3027041370"/>
                    </a:ext>
                  </a:extLst>
                </a:gridCol>
                <a:gridCol w="418112">
                  <a:extLst>
                    <a:ext uri="{9D8B030D-6E8A-4147-A177-3AD203B41FA5}">
                      <a16:colId xmlns:a16="http://schemas.microsoft.com/office/drawing/2014/main" val="2852526216"/>
                    </a:ext>
                  </a:extLst>
                </a:gridCol>
                <a:gridCol w="418112">
                  <a:extLst>
                    <a:ext uri="{9D8B030D-6E8A-4147-A177-3AD203B41FA5}">
                      <a16:colId xmlns:a16="http://schemas.microsoft.com/office/drawing/2014/main" val="103420222"/>
                    </a:ext>
                  </a:extLst>
                </a:gridCol>
                <a:gridCol w="418112">
                  <a:extLst>
                    <a:ext uri="{9D8B030D-6E8A-4147-A177-3AD203B41FA5}">
                      <a16:colId xmlns:a16="http://schemas.microsoft.com/office/drawing/2014/main" val="1470405609"/>
                    </a:ext>
                  </a:extLst>
                </a:gridCol>
                <a:gridCol w="41811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GAIN_CH7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8" name="표 17">
            <a:extLst>
              <a:ext uri="{FF2B5EF4-FFF2-40B4-BE49-F238E27FC236}">
                <a16:creationId xmlns:a16="http://schemas.microsoft.com/office/drawing/2014/main" id="{06CAA84A-D51B-BAFB-EF87-81EC922BA3E9}"/>
              </a:ext>
            </a:extLst>
          </p:cNvPr>
          <p:cNvGraphicFramePr>
            <a:graphicFrameLocks noGrp="1"/>
          </p:cNvGraphicFramePr>
          <p:nvPr>
            <p:extLst>
              <p:ext uri="{D42A27DB-BD31-4B8C-83A1-F6EECF244321}">
                <p14:modId xmlns:p14="http://schemas.microsoft.com/office/powerpoint/2010/main" val="1036265761"/>
              </p:ext>
            </p:extLst>
          </p:nvPr>
        </p:nvGraphicFramePr>
        <p:xfrm>
          <a:off x="384636" y="5846509"/>
          <a:ext cx="6043996" cy="372600"/>
        </p:xfrm>
        <a:graphic>
          <a:graphicData uri="http://schemas.openxmlformats.org/drawingml/2006/table">
            <a:tbl>
              <a:tblPr firstRow="1" bandRow="1">
                <a:tableStyleId>{5C22544A-7EE6-4342-B048-85BDC9FD1C3A}</a:tableStyleId>
              </a:tblPr>
              <a:tblGrid>
                <a:gridCol w="275764">
                  <a:extLst>
                    <a:ext uri="{9D8B030D-6E8A-4147-A177-3AD203B41FA5}">
                      <a16:colId xmlns:a16="http://schemas.microsoft.com/office/drawing/2014/main" val="657570846"/>
                    </a:ext>
                  </a:extLst>
                </a:gridCol>
                <a:gridCol w="327025">
                  <a:extLst>
                    <a:ext uri="{9D8B030D-6E8A-4147-A177-3AD203B41FA5}">
                      <a16:colId xmlns:a16="http://schemas.microsoft.com/office/drawing/2014/main" val="3259894497"/>
                    </a:ext>
                  </a:extLst>
                </a:gridCol>
                <a:gridCol w="423863">
                  <a:extLst>
                    <a:ext uri="{9D8B030D-6E8A-4147-A177-3AD203B41FA5}">
                      <a16:colId xmlns:a16="http://schemas.microsoft.com/office/drawing/2014/main" val="4170535043"/>
                    </a:ext>
                  </a:extLst>
                </a:gridCol>
                <a:gridCol w="418112">
                  <a:extLst>
                    <a:ext uri="{9D8B030D-6E8A-4147-A177-3AD203B41FA5}">
                      <a16:colId xmlns:a16="http://schemas.microsoft.com/office/drawing/2014/main" val="2079070694"/>
                    </a:ext>
                  </a:extLst>
                </a:gridCol>
                <a:gridCol w="418112">
                  <a:extLst>
                    <a:ext uri="{9D8B030D-6E8A-4147-A177-3AD203B41FA5}">
                      <a16:colId xmlns:a16="http://schemas.microsoft.com/office/drawing/2014/main" val="4213315911"/>
                    </a:ext>
                  </a:extLst>
                </a:gridCol>
                <a:gridCol w="418112">
                  <a:extLst>
                    <a:ext uri="{9D8B030D-6E8A-4147-A177-3AD203B41FA5}">
                      <a16:colId xmlns:a16="http://schemas.microsoft.com/office/drawing/2014/main" val="2769999950"/>
                    </a:ext>
                  </a:extLst>
                </a:gridCol>
                <a:gridCol w="418112">
                  <a:extLst>
                    <a:ext uri="{9D8B030D-6E8A-4147-A177-3AD203B41FA5}">
                      <a16:colId xmlns:a16="http://schemas.microsoft.com/office/drawing/2014/main" val="135637185"/>
                    </a:ext>
                  </a:extLst>
                </a:gridCol>
                <a:gridCol w="418112">
                  <a:extLst>
                    <a:ext uri="{9D8B030D-6E8A-4147-A177-3AD203B41FA5}">
                      <a16:colId xmlns:a16="http://schemas.microsoft.com/office/drawing/2014/main" val="3038050475"/>
                    </a:ext>
                  </a:extLst>
                </a:gridCol>
                <a:gridCol w="418112">
                  <a:extLst>
                    <a:ext uri="{9D8B030D-6E8A-4147-A177-3AD203B41FA5}">
                      <a16:colId xmlns:a16="http://schemas.microsoft.com/office/drawing/2014/main" val="1979433044"/>
                    </a:ext>
                  </a:extLst>
                </a:gridCol>
                <a:gridCol w="418112">
                  <a:extLst>
                    <a:ext uri="{9D8B030D-6E8A-4147-A177-3AD203B41FA5}">
                      <a16:colId xmlns:a16="http://schemas.microsoft.com/office/drawing/2014/main" val="4270661649"/>
                    </a:ext>
                  </a:extLst>
                </a:gridCol>
                <a:gridCol w="418112">
                  <a:extLst>
                    <a:ext uri="{9D8B030D-6E8A-4147-A177-3AD203B41FA5}">
                      <a16:colId xmlns:a16="http://schemas.microsoft.com/office/drawing/2014/main" val="3027041370"/>
                    </a:ext>
                  </a:extLst>
                </a:gridCol>
                <a:gridCol w="418112">
                  <a:extLst>
                    <a:ext uri="{9D8B030D-6E8A-4147-A177-3AD203B41FA5}">
                      <a16:colId xmlns:a16="http://schemas.microsoft.com/office/drawing/2014/main" val="2852526216"/>
                    </a:ext>
                  </a:extLst>
                </a:gridCol>
                <a:gridCol w="418112">
                  <a:extLst>
                    <a:ext uri="{9D8B030D-6E8A-4147-A177-3AD203B41FA5}">
                      <a16:colId xmlns:a16="http://schemas.microsoft.com/office/drawing/2014/main" val="103420222"/>
                    </a:ext>
                  </a:extLst>
                </a:gridCol>
                <a:gridCol w="418112">
                  <a:extLst>
                    <a:ext uri="{9D8B030D-6E8A-4147-A177-3AD203B41FA5}">
                      <a16:colId xmlns:a16="http://schemas.microsoft.com/office/drawing/2014/main" val="1470405609"/>
                    </a:ext>
                  </a:extLst>
                </a:gridCol>
                <a:gridCol w="41811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GAIN_CH8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9" name="표 18">
            <a:extLst>
              <a:ext uri="{FF2B5EF4-FFF2-40B4-BE49-F238E27FC236}">
                <a16:creationId xmlns:a16="http://schemas.microsoft.com/office/drawing/2014/main" id="{80F48DC8-0050-DC21-275A-043879972DE0}"/>
              </a:ext>
            </a:extLst>
          </p:cNvPr>
          <p:cNvGraphicFramePr>
            <a:graphicFrameLocks noGrp="1"/>
          </p:cNvGraphicFramePr>
          <p:nvPr>
            <p:extLst>
              <p:ext uri="{D42A27DB-BD31-4B8C-83A1-F6EECF244321}">
                <p14:modId xmlns:p14="http://schemas.microsoft.com/office/powerpoint/2010/main" val="2250207113"/>
              </p:ext>
            </p:extLst>
          </p:nvPr>
        </p:nvGraphicFramePr>
        <p:xfrm>
          <a:off x="384636" y="6522711"/>
          <a:ext cx="6043996" cy="372600"/>
        </p:xfrm>
        <a:graphic>
          <a:graphicData uri="http://schemas.openxmlformats.org/drawingml/2006/table">
            <a:tbl>
              <a:tblPr firstRow="1" bandRow="1">
                <a:tableStyleId>{5C22544A-7EE6-4342-B048-85BDC9FD1C3A}</a:tableStyleId>
              </a:tblPr>
              <a:tblGrid>
                <a:gridCol w="275764">
                  <a:extLst>
                    <a:ext uri="{9D8B030D-6E8A-4147-A177-3AD203B41FA5}">
                      <a16:colId xmlns:a16="http://schemas.microsoft.com/office/drawing/2014/main" val="657570846"/>
                    </a:ext>
                  </a:extLst>
                </a:gridCol>
                <a:gridCol w="327025">
                  <a:extLst>
                    <a:ext uri="{9D8B030D-6E8A-4147-A177-3AD203B41FA5}">
                      <a16:colId xmlns:a16="http://schemas.microsoft.com/office/drawing/2014/main" val="3259894497"/>
                    </a:ext>
                  </a:extLst>
                </a:gridCol>
                <a:gridCol w="423863">
                  <a:extLst>
                    <a:ext uri="{9D8B030D-6E8A-4147-A177-3AD203B41FA5}">
                      <a16:colId xmlns:a16="http://schemas.microsoft.com/office/drawing/2014/main" val="4170535043"/>
                    </a:ext>
                  </a:extLst>
                </a:gridCol>
                <a:gridCol w="418112">
                  <a:extLst>
                    <a:ext uri="{9D8B030D-6E8A-4147-A177-3AD203B41FA5}">
                      <a16:colId xmlns:a16="http://schemas.microsoft.com/office/drawing/2014/main" val="2079070694"/>
                    </a:ext>
                  </a:extLst>
                </a:gridCol>
                <a:gridCol w="418112">
                  <a:extLst>
                    <a:ext uri="{9D8B030D-6E8A-4147-A177-3AD203B41FA5}">
                      <a16:colId xmlns:a16="http://schemas.microsoft.com/office/drawing/2014/main" val="4213315911"/>
                    </a:ext>
                  </a:extLst>
                </a:gridCol>
                <a:gridCol w="418112">
                  <a:extLst>
                    <a:ext uri="{9D8B030D-6E8A-4147-A177-3AD203B41FA5}">
                      <a16:colId xmlns:a16="http://schemas.microsoft.com/office/drawing/2014/main" val="2769999950"/>
                    </a:ext>
                  </a:extLst>
                </a:gridCol>
                <a:gridCol w="418112">
                  <a:extLst>
                    <a:ext uri="{9D8B030D-6E8A-4147-A177-3AD203B41FA5}">
                      <a16:colId xmlns:a16="http://schemas.microsoft.com/office/drawing/2014/main" val="135637185"/>
                    </a:ext>
                  </a:extLst>
                </a:gridCol>
                <a:gridCol w="418112">
                  <a:extLst>
                    <a:ext uri="{9D8B030D-6E8A-4147-A177-3AD203B41FA5}">
                      <a16:colId xmlns:a16="http://schemas.microsoft.com/office/drawing/2014/main" val="3038050475"/>
                    </a:ext>
                  </a:extLst>
                </a:gridCol>
                <a:gridCol w="418112">
                  <a:extLst>
                    <a:ext uri="{9D8B030D-6E8A-4147-A177-3AD203B41FA5}">
                      <a16:colId xmlns:a16="http://schemas.microsoft.com/office/drawing/2014/main" val="1979433044"/>
                    </a:ext>
                  </a:extLst>
                </a:gridCol>
                <a:gridCol w="418112">
                  <a:extLst>
                    <a:ext uri="{9D8B030D-6E8A-4147-A177-3AD203B41FA5}">
                      <a16:colId xmlns:a16="http://schemas.microsoft.com/office/drawing/2014/main" val="4270661649"/>
                    </a:ext>
                  </a:extLst>
                </a:gridCol>
                <a:gridCol w="418112">
                  <a:extLst>
                    <a:ext uri="{9D8B030D-6E8A-4147-A177-3AD203B41FA5}">
                      <a16:colId xmlns:a16="http://schemas.microsoft.com/office/drawing/2014/main" val="3027041370"/>
                    </a:ext>
                  </a:extLst>
                </a:gridCol>
                <a:gridCol w="418112">
                  <a:extLst>
                    <a:ext uri="{9D8B030D-6E8A-4147-A177-3AD203B41FA5}">
                      <a16:colId xmlns:a16="http://schemas.microsoft.com/office/drawing/2014/main" val="2852526216"/>
                    </a:ext>
                  </a:extLst>
                </a:gridCol>
                <a:gridCol w="418112">
                  <a:extLst>
                    <a:ext uri="{9D8B030D-6E8A-4147-A177-3AD203B41FA5}">
                      <a16:colId xmlns:a16="http://schemas.microsoft.com/office/drawing/2014/main" val="103420222"/>
                    </a:ext>
                  </a:extLst>
                </a:gridCol>
                <a:gridCol w="418112">
                  <a:extLst>
                    <a:ext uri="{9D8B030D-6E8A-4147-A177-3AD203B41FA5}">
                      <a16:colId xmlns:a16="http://schemas.microsoft.com/office/drawing/2014/main" val="1470405609"/>
                    </a:ext>
                  </a:extLst>
                </a:gridCol>
                <a:gridCol w="41811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GAIN_CH9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20" name="표 19">
            <a:extLst>
              <a:ext uri="{FF2B5EF4-FFF2-40B4-BE49-F238E27FC236}">
                <a16:creationId xmlns:a16="http://schemas.microsoft.com/office/drawing/2014/main" id="{07DE0D03-7E1B-A9D0-7A15-7215F21CB038}"/>
              </a:ext>
            </a:extLst>
          </p:cNvPr>
          <p:cNvGraphicFramePr>
            <a:graphicFrameLocks noGrp="1"/>
          </p:cNvGraphicFramePr>
          <p:nvPr>
            <p:extLst>
              <p:ext uri="{D42A27DB-BD31-4B8C-83A1-F6EECF244321}">
                <p14:modId xmlns:p14="http://schemas.microsoft.com/office/powerpoint/2010/main" val="4104685164"/>
              </p:ext>
            </p:extLst>
          </p:nvPr>
        </p:nvGraphicFramePr>
        <p:xfrm>
          <a:off x="384636" y="7198913"/>
          <a:ext cx="6043996" cy="372600"/>
        </p:xfrm>
        <a:graphic>
          <a:graphicData uri="http://schemas.openxmlformats.org/drawingml/2006/table">
            <a:tbl>
              <a:tblPr firstRow="1" bandRow="1">
                <a:tableStyleId>{5C22544A-7EE6-4342-B048-85BDC9FD1C3A}</a:tableStyleId>
              </a:tblPr>
              <a:tblGrid>
                <a:gridCol w="275764">
                  <a:extLst>
                    <a:ext uri="{9D8B030D-6E8A-4147-A177-3AD203B41FA5}">
                      <a16:colId xmlns:a16="http://schemas.microsoft.com/office/drawing/2014/main" val="657570846"/>
                    </a:ext>
                  </a:extLst>
                </a:gridCol>
                <a:gridCol w="327025">
                  <a:extLst>
                    <a:ext uri="{9D8B030D-6E8A-4147-A177-3AD203B41FA5}">
                      <a16:colId xmlns:a16="http://schemas.microsoft.com/office/drawing/2014/main" val="3259894497"/>
                    </a:ext>
                  </a:extLst>
                </a:gridCol>
                <a:gridCol w="423863">
                  <a:extLst>
                    <a:ext uri="{9D8B030D-6E8A-4147-A177-3AD203B41FA5}">
                      <a16:colId xmlns:a16="http://schemas.microsoft.com/office/drawing/2014/main" val="4170535043"/>
                    </a:ext>
                  </a:extLst>
                </a:gridCol>
                <a:gridCol w="418112">
                  <a:extLst>
                    <a:ext uri="{9D8B030D-6E8A-4147-A177-3AD203B41FA5}">
                      <a16:colId xmlns:a16="http://schemas.microsoft.com/office/drawing/2014/main" val="2079070694"/>
                    </a:ext>
                  </a:extLst>
                </a:gridCol>
                <a:gridCol w="418112">
                  <a:extLst>
                    <a:ext uri="{9D8B030D-6E8A-4147-A177-3AD203B41FA5}">
                      <a16:colId xmlns:a16="http://schemas.microsoft.com/office/drawing/2014/main" val="4213315911"/>
                    </a:ext>
                  </a:extLst>
                </a:gridCol>
                <a:gridCol w="418112">
                  <a:extLst>
                    <a:ext uri="{9D8B030D-6E8A-4147-A177-3AD203B41FA5}">
                      <a16:colId xmlns:a16="http://schemas.microsoft.com/office/drawing/2014/main" val="2769999950"/>
                    </a:ext>
                  </a:extLst>
                </a:gridCol>
                <a:gridCol w="418112">
                  <a:extLst>
                    <a:ext uri="{9D8B030D-6E8A-4147-A177-3AD203B41FA5}">
                      <a16:colId xmlns:a16="http://schemas.microsoft.com/office/drawing/2014/main" val="135637185"/>
                    </a:ext>
                  </a:extLst>
                </a:gridCol>
                <a:gridCol w="418112">
                  <a:extLst>
                    <a:ext uri="{9D8B030D-6E8A-4147-A177-3AD203B41FA5}">
                      <a16:colId xmlns:a16="http://schemas.microsoft.com/office/drawing/2014/main" val="3038050475"/>
                    </a:ext>
                  </a:extLst>
                </a:gridCol>
                <a:gridCol w="418112">
                  <a:extLst>
                    <a:ext uri="{9D8B030D-6E8A-4147-A177-3AD203B41FA5}">
                      <a16:colId xmlns:a16="http://schemas.microsoft.com/office/drawing/2014/main" val="1979433044"/>
                    </a:ext>
                  </a:extLst>
                </a:gridCol>
                <a:gridCol w="418112">
                  <a:extLst>
                    <a:ext uri="{9D8B030D-6E8A-4147-A177-3AD203B41FA5}">
                      <a16:colId xmlns:a16="http://schemas.microsoft.com/office/drawing/2014/main" val="4270661649"/>
                    </a:ext>
                  </a:extLst>
                </a:gridCol>
                <a:gridCol w="418112">
                  <a:extLst>
                    <a:ext uri="{9D8B030D-6E8A-4147-A177-3AD203B41FA5}">
                      <a16:colId xmlns:a16="http://schemas.microsoft.com/office/drawing/2014/main" val="3027041370"/>
                    </a:ext>
                  </a:extLst>
                </a:gridCol>
                <a:gridCol w="418112">
                  <a:extLst>
                    <a:ext uri="{9D8B030D-6E8A-4147-A177-3AD203B41FA5}">
                      <a16:colId xmlns:a16="http://schemas.microsoft.com/office/drawing/2014/main" val="2852526216"/>
                    </a:ext>
                  </a:extLst>
                </a:gridCol>
                <a:gridCol w="418112">
                  <a:extLst>
                    <a:ext uri="{9D8B030D-6E8A-4147-A177-3AD203B41FA5}">
                      <a16:colId xmlns:a16="http://schemas.microsoft.com/office/drawing/2014/main" val="103420222"/>
                    </a:ext>
                  </a:extLst>
                </a:gridCol>
                <a:gridCol w="418112">
                  <a:extLst>
                    <a:ext uri="{9D8B030D-6E8A-4147-A177-3AD203B41FA5}">
                      <a16:colId xmlns:a16="http://schemas.microsoft.com/office/drawing/2014/main" val="1470405609"/>
                    </a:ext>
                  </a:extLst>
                </a:gridCol>
                <a:gridCol w="41811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GAIN_CH10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21" name="표 20">
            <a:extLst>
              <a:ext uri="{FF2B5EF4-FFF2-40B4-BE49-F238E27FC236}">
                <a16:creationId xmlns:a16="http://schemas.microsoft.com/office/drawing/2014/main" id="{14F269EE-23F0-FF93-DA7D-708BC68B6328}"/>
              </a:ext>
            </a:extLst>
          </p:cNvPr>
          <p:cNvGraphicFramePr>
            <a:graphicFrameLocks noGrp="1"/>
          </p:cNvGraphicFramePr>
          <p:nvPr>
            <p:extLst>
              <p:ext uri="{D42A27DB-BD31-4B8C-83A1-F6EECF244321}">
                <p14:modId xmlns:p14="http://schemas.microsoft.com/office/powerpoint/2010/main" val="1862922200"/>
              </p:ext>
            </p:extLst>
          </p:nvPr>
        </p:nvGraphicFramePr>
        <p:xfrm>
          <a:off x="384636" y="7875115"/>
          <a:ext cx="6043996" cy="372600"/>
        </p:xfrm>
        <a:graphic>
          <a:graphicData uri="http://schemas.openxmlformats.org/drawingml/2006/table">
            <a:tbl>
              <a:tblPr firstRow="1" bandRow="1">
                <a:tableStyleId>{5C22544A-7EE6-4342-B048-85BDC9FD1C3A}</a:tableStyleId>
              </a:tblPr>
              <a:tblGrid>
                <a:gridCol w="275764">
                  <a:extLst>
                    <a:ext uri="{9D8B030D-6E8A-4147-A177-3AD203B41FA5}">
                      <a16:colId xmlns:a16="http://schemas.microsoft.com/office/drawing/2014/main" val="657570846"/>
                    </a:ext>
                  </a:extLst>
                </a:gridCol>
                <a:gridCol w="327025">
                  <a:extLst>
                    <a:ext uri="{9D8B030D-6E8A-4147-A177-3AD203B41FA5}">
                      <a16:colId xmlns:a16="http://schemas.microsoft.com/office/drawing/2014/main" val="3259894497"/>
                    </a:ext>
                  </a:extLst>
                </a:gridCol>
                <a:gridCol w="423863">
                  <a:extLst>
                    <a:ext uri="{9D8B030D-6E8A-4147-A177-3AD203B41FA5}">
                      <a16:colId xmlns:a16="http://schemas.microsoft.com/office/drawing/2014/main" val="4170535043"/>
                    </a:ext>
                  </a:extLst>
                </a:gridCol>
                <a:gridCol w="418112">
                  <a:extLst>
                    <a:ext uri="{9D8B030D-6E8A-4147-A177-3AD203B41FA5}">
                      <a16:colId xmlns:a16="http://schemas.microsoft.com/office/drawing/2014/main" val="2079070694"/>
                    </a:ext>
                  </a:extLst>
                </a:gridCol>
                <a:gridCol w="418112">
                  <a:extLst>
                    <a:ext uri="{9D8B030D-6E8A-4147-A177-3AD203B41FA5}">
                      <a16:colId xmlns:a16="http://schemas.microsoft.com/office/drawing/2014/main" val="4213315911"/>
                    </a:ext>
                  </a:extLst>
                </a:gridCol>
                <a:gridCol w="418112">
                  <a:extLst>
                    <a:ext uri="{9D8B030D-6E8A-4147-A177-3AD203B41FA5}">
                      <a16:colId xmlns:a16="http://schemas.microsoft.com/office/drawing/2014/main" val="2769999950"/>
                    </a:ext>
                  </a:extLst>
                </a:gridCol>
                <a:gridCol w="418112">
                  <a:extLst>
                    <a:ext uri="{9D8B030D-6E8A-4147-A177-3AD203B41FA5}">
                      <a16:colId xmlns:a16="http://schemas.microsoft.com/office/drawing/2014/main" val="135637185"/>
                    </a:ext>
                  </a:extLst>
                </a:gridCol>
                <a:gridCol w="418112">
                  <a:extLst>
                    <a:ext uri="{9D8B030D-6E8A-4147-A177-3AD203B41FA5}">
                      <a16:colId xmlns:a16="http://schemas.microsoft.com/office/drawing/2014/main" val="3038050475"/>
                    </a:ext>
                  </a:extLst>
                </a:gridCol>
                <a:gridCol w="418112">
                  <a:extLst>
                    <a:ext uri="{9D8B030D-6E8A-4147-A177-3AD203B41FA5}">
                      <a16:colId xmlns:a16="http://schemas.microsoft.com/office/drawing/2014/main" val="1979433044"/>
                    </a:ext>
                  </a:extLst>
                </a:gridCol>
                <a:gridCol w="418112">
                  <a:extLst>
                    <a:ext uri="{9D8B030D-6E8A-4147-A177-3AD203B41FA5}">
                      <a16:colId xmlns:a16="http://schemas.microsoft.com/office/drawing/2014/main" val="4270661649"/>
                    </a:ext>
                  </a:extLst>
                </a:gridCol>
                <a:gridCol w="418112">
                  <a:extLst>
                    <a:ext uri="{9D8B030D-6E8A-4147-A177-3AD203B41FA5}">
                      <a16:colId xmlns:a16="http://schemas.microsoft.com/office/drawing/2014/main" val="3027041370"/>
                    </a:ext>
                  </a:extLst>
                </a:gridCol>
                <a:gridCol w="418112">
                  <a:extLst>
                    <a:ext uri="{9D8B030D-6E8A-4147-A177-3AD203B41FA5}">
                      <a16:colId xmlns:a16="http://schemas.microsoft.com/office/drawing/2014/main" val="2852526216"/>
                    </a:ext>
                  </a:extLst>
                </a:gridCol>
                <a:gridCol w="418112">
                  <a:extLst>
                    <a:ext uri="{9D8B030D-6E8A-4147-A177-3AD203B41FA5}">
                      <a16:colId xmlns:a16="http://schemas.microsoft.com/office/drawing/2014/main" val="103420222"/>
                    </a:ext>
                  </a:extLst>
                </a:gridCol>
                <a:gridCol w="418112">
                  <a:extLst>
                    <a:ext uri="{9D8B030D-6E8A-4147-A177-3AD203B41FA5}">
                      <a16:colId xmlns:a16="http://schemas.microsoft.com/office/drawing/2014/main" val="1470405609"/>
                    </a:ext>
                  </a:extLst>
                </a:gridCol>
                <a:gridCol w="41811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GAIN_CH11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22" name="표 21">
            <a:extLst>
              <a:ext uri="{FF2B5EF4-FFF2-40B4-BE49-F238E27FC236}">
                <a16:creationId xmlns:a16="http://schemas.microsoft.com/office/drawing/2014/main" id="{3AB19C2C-E139-2E61-97EE-388CAD9D1762}"/>
              </a:ext>
            </a:extLst>
          </p:cNvPr>
          <p:cNvGraphicFramePr>
            <a:graphicFrameLocks noGrp="1"/>
          </p:cNvGraphicFramePr>
          <p:nvPr>
            <p:extLst>
              <p:ext uri="{D42A27DB-BD31-4B8C-83A1-F6EECF244321}">
                <p14:modId xmlns:p14="http://schemas.microsoft.com/office/powerpoint/2010/main" val="1024605965"/>
              </p:ext>
            </p:extLst>
          </p:nvPr>
        </p:nvGraphicFramePr>
        <p:xfrm>
          <a:off x="384636" y="8551313"/>
          <a:ext cx="6043996" cy="372600"/>
        </p:xfrm>
        <a:graphic>
          <a:graphicData uri="http://schemas.openxmlformats.org/drawingml/2006/table">
            <a:tbl>
              <a:tblPr firstRow="1" bandRow="1">
                <a:tableStyleId>{5C22544A-7EE6-4342-B048-85BDC9FD1C3A}</a:tableStyleId>
              </a:tblPr>
              <a:tblGrid>
                <a:gridCol w="275764">
                  <a:extLst>
                    <a:ext uri="{9D8B030D-6E8A-4147-A177-3AD203B41FA5}">
                      <a16:colId xmlns:a16="http://schemas.microsoft.com/office/drawing/2014/main" val="657570846"/>
                    </a:ext>
                  </a:extLst>
                </a:gridCol>
                <a:gridCol w="327025">
                  <a:extLst>
                    <a:ext uri="{9D8B030D-6E8A-4147-A177-3AD203B41FA5}">
                      <a16:colId xmlns:a16="http://schemas.microsoft.com/office/drawing/2014/main" val="3259894497"/>
                    </a:ext>
                  </a:extLst>
                </a:gridCol>
                <a:gridCol w="423863">
                  <a:extLst>
                    <a:ext uri="{9D8B030D-6E8A-4147-A177-3AD203B41FA5}">
                      <a16:colId xmlns:a16="http://schemas.microsoft.com/office/drawing/2014/main" val="4170535043"/>
                    </a:ext>
                  </a:extLst>
                </a:gridCol>
                <a:gridCol w="418112">
                  <a:extLst>
                    <a:ext uri="{9D8B030D-6E8A-4147-A177-3AD203B41FA5}">
                      <a16:colId xmlns:a16="http://schemas.microsoft.com/office/drawing/2014/main" val="2079070694"/>
                    </a:ext>
                  </a:extLst>
                </a:gridCol>
                <a:gridCol w="418112">
                  <a:extLst>
                    <a:ext uri="{9D8B030D-6E8A-4147-A177-3AD203B41FA5}">
                      <a16:colId xmlns:a16="http://schemas.microsoft.com/office/drawing/2014/main" val="4213315911"/>
                    </a:ext>
                  </a:extLst>
                </a:gridCol>
                <a:gridCol w="418112">
                  <a:extLst>
                    <a:ext uri="{9D8B030D-6E8A-4147-A177-3AD203B41FA5}">
                      <a16:colId xmlns:a16="http://schemas.microsoft.com/office/drawing/2014/main" val="2769999950"/>
                    </a:ext>
                  </a:extLst>
                </a:gridCol>
                <a:gridCol w="418112">
                  <a:extLst>
                    <a:ext uri="{9D8B030D-6E8A-4147-A177-3AD203B41FA5}">
                      <a16:colId xmlns:a16="http://schemas.microsoft.com/office/drawing/2014/main" val="135637185"/>
                    </a:ext>
                  </a:extLst>
                </a:gridCol>
                <a:gridCol w="418112">
                  <a:extLst>
                    <a:ext uri="{9D8B030D-6E8A-4147-A177-3AD203B41FA5}">
                      <a16:colId xmlns:a16="http://schemas.microsoft.com/office/drawing/2014/main" val="3038050475"/>
                    </a:ext>
                  </a:extLst>
                </a:gridCol>
                <a:gridCol w="418112">
                  <a:extLst>
                    <a:ext uri="{9D8B030D-6E8A-4147-A177-3AD203B41FA5}">
                      <a16:colId xmlns:a16="http://schemas.microsoft.com/office/drawing/2014/main" val="1979433044"/>
                    </a:ext>
                  </a:extLst>
                </a:gridCol>
                <a:gridCol w="418112">
                  <a:extLst>
                    <a:ext uri="{9D8B030D-6E8A-4147-A177-3AD203B41FA5}">
                      <a16:colId xmlns:a16="http://schemas.microsoft.com/office/drawing/2014/main" val="4270661649"/>
                    </a:ext>
                  </a:extLst>
                </a:gridCol>
                <a:gridCol w="418112">
                  <a:extLst>
                    <a:ext uri="{9D8B030D-6E8A-4147-A177-3AD203B41FA5}">
                      <a16:colId xmlns:a16="http://schemas.microsoft.com/office/drawing/2014/main" val="3027041370"/>
                    </a:ext>
                  </a:extLst>
                </a:gridCol>
                <a:gridCol w="418112">
                  <a:extLst>
                    <a:ext uri="{9D8B030D-6E8A-4147-A177-3AD203B41FA5}">
                      <a16:colId xmlns:a16="http://schemas.microsoft.com/office/drawing/2014/main" val="2852526216"/>
                    </a:ext>
                  </a:extLst>
                </a:gridCol>
                <a:gridCol w="418112">
                  <a:extLst>
                    <a:ext uri="{9D8B030D-6E8A-4147-A177-3AD203B41FA5}">
                      <a16:colId xmlns:a16="http://schemas.microsoft.com/office/drawing/2014/main" val="103420222"/>
                    </a:ext>
                  </a:extLst>
                </a:gridCol>
                <a:gridCol w="418112">
                  <a:extLst>
                    <a:ext uri="{9D8B030D-6E8A-4147-A177-3AD203B41FA5}">
                      <a16:colId xmlns:a16="http://schemas.microsoft.com/office/drawing/2014/main" val="1470405609"/>
                    </a:ext>
                  </a:extLst>
                </a:gridCol>
                <a:gridCol w="41811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GAIN_CH12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918547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83968C52-2D17-46C0-A84D-B482DF945C71}"/>
              </a:ext>
            </a:extLst>
          </p:cNvPr>
          <p:cNvSpPr txBox="1"/>
          <p:nvPr/>
        </p:nvSpPr>
        <p:spPr>
          <a:xfrm>
            <a:off x="420038" y="774866"/>
            <a:ext cx="561246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Soldering Temperature Reflow Profile</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5FD10ED-8D61-313E-3D51-18422605D050}"/>
              </a:ext>
            </a:extLst>
          </p:cNvPr>
          <p:cNvSpPr txBox="1"/>
          <p:nvPr/>
        </p:nvSpPr>
        <p:spPr>
          <a:xfrm>
            <a:off x="390027"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sp>
        <p:nvSpPr>
          <p:cNvPr id="2" name="object 9">
            <a:extLst>
              <a:ext uri="{FF2B5EF4-FFF2-40B4-BE49-F238E27FC236}">
                <a16:creationId xmlns:a16="http://schemas.microsoft.com/office/drawing/2014/main" id="{741AD8E2-EECE-EB4D-F335-576FB0899602}"/>
              </a:ext>
            </a:extLst>
          </p:cNvPr>
          <p:cNvSpPr txBox="1"/>
          <p:nvPr/>
        </p:nvSpPr>
        <p:spPr>
          <a:xfrm>
            <a:off x="413545" y="8470612"/>
            <a:ext cx="6039889" cy="335989"/>
          </a:xfrm>
          <a:prstGeom prst="rect">
            <a:avLst/>
          </a:prstGeom>
        </p:spPr>
        <p:txBody>
          <a:bodyPr vert="horz" wrap="square" lIns="0" tIns="50800" rIns="0" bIns="0" rtlCol="0">
            <a:spAutoFit/>
          </a:bodyPr>
          <a:lstStyle/>
          <a:p>
            <a:pPr marL="12700" defTabSz="839876" fontAlgn="auto">
              <a:spcBef>
                <a:spcPts val="400"/>
              </a:spcBef>
              <a:spcAft>
                <a:spcPts val="0"/>
              </a:spcAft>
            </a:pPr>
            <a:r>
              <a:rPr kumimoji="0" sz="800" b="1" spc="-5" dirty="0">
                <a:solidFill>
                  <a:prstClr val="black"/>
                </a:solidFill>
                <a:latin typeface="Arial" panose="020B0604020202020204" pitchFamily="34" charset="0"/>
                <a:ea typeface="+mn-ea"/>
                <a:cs typeface="Arial" panose="020B0604020202020204" pitchFamily="34" charset="0"/>
              </a:rPr>
              <a:t>Important</a:t>
            </a:r>
            <a:r>
              <a:rPr kumimoji="0" sz="800" b="1" spc="-15" dirty="0">
                <a:solidFill>
                  <a:prstClr val="black"/>
                </a:solidFill>
                <a:latin typeface="Arial" panose="020B0604020202020204" pitchFamily="34" charset="0"/>
                <a:ea typeface="+mn-ea"/>
                <a:cs typeface="Arial" panose="020B0604020202020204" pitchFamily="34" charset="0"/>
              </a:rPr>
              <a:t> </a:t>
            </a:r>
            <a:r>
              <a:rPr kumimoji="0" sz="800" b="1" spc="-5" dirty="0">
                <a:solidFill>
                  <a:prstClr val="black"/>
                </a:solidFill>
                <a:latin typeface="Arial" panose="020B0604020202020204" pitchFamily="34" charset="0"/>
                <a:ea typeface="+mn-ea"/>
                <a:cs typeface="Arial" panose="020B0604020202020204" pitchFamily="34" charset="0"/>
              </a:rPr>
              <a:t>statement</a:t>
            </a:r>
            <a:endParaRPr kumimoji="0" sz="800" dirty="0">
              <a:solidFill>
                <a:prstClr val="black"/>
              </a:solidFill>
              <a:latin typeface="Arial" panose="020B0604020202020204" pitchFamily="34" charset="0"/>
              <a:ea typeface="+mn-ea"/>
              <a:cs typeface="Arial" panose="020B0604020202020204" pitchFamily="34" charset="0"/>
            </a:endParaRPr>
          </a:p>
          <a:p>
            <a:pPr marL="12700" defTabSz="839876" fontAlgn="auto">
              <a:spcBef>
                <a:spcPts val="305"/>
              </a:spcBef>
              <a:spcAft>
                <a:spcPts val="0"/>
              </a:spcAft>
            </a:pPr>
            <a:r>
              <a:rPr kumimoji="0" lang="en-US" sz="800" spc="-5" dirty="0">
                <a:solidFill>
                  <a:prstClr val="black"/>
                </a:solidFill>
                <a:latin typeface="Arial" panose="020B0604020202020204" pitchFamily="34" charset="0"/>
                <a:ea typeface="+mn-ea"/>
                <a:cs typeface="Arial" panose="020B0604020202020204" pitchFamily="34" charset="0"/>
              </a:rPr>
              <a:t>Global Technologies </a:t>
            </a:r>
            <a:r>
              <a:rPr kumimoji="0" sz="800" spc="-15" dirty="0">
                <a:solidFill>
                  <a:prstClr val="black"/>
                </a:solidFill>
                <a:latin typeface="Arial" panose="020B0604020202020204" pitchFamily="34" charset="0"/>
                <a:ea typeface="+mn-ea"/>
                <a:cs typeface="Arial" panose="020B0604020202020204" pitchFamily="34" charset="0"/>
              </a:rPr>
              <a:t> </a:t>
            </a:r>
            <a:r>
              <a:rPr kumimoji="0" sz="800" dirty="0">
                <a:solidFill>
                  <a:prstClr val="black"/>
                </a:solidFill>
                <a:latin typeface="Arial" panose="020B0604020202020204" pitchFamily="34" charset="0"/>
                <a:ea typeface="+mn-ea"/>
                <a:cs typeface="Arial" panose="020B0604020202020204" pitchFamily="34" charset="0"/>
              </a:rPr>
              <a:t>reserves</a:t>
            </a:r>
            <a:r>
              <a:rPr kumimoji="0" sz="800" spc="5"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the</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right</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to</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change</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the</a:t>
            </a:r>
            <a:r>
              <a:rPr kumimoji="0" sz="800" spc="15"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above-mentioned</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information</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without</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prior</a:t>
            </a:r>
            <a:r>
              <a:rPr kumimoji="0" sz="800" spc="5"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notice.</a:t>
            </a:r>
            <a:endParaRPr kumimoji="0" sz="800" dirty="0">
              <a:solidFill>
                <a:prstClr val="black"/>
              </a:solidFill>
              <a:latin typeface="Arial" panose="020B0604020202020204" pitchFamily="34" charset="0"/>
              <a:ea typeface="+mn-ea"/>
              <a:cs typeface="Arial" panose="020B0604020202020204" pitchFamily="34" charset="0"/>
            </a:endParaRPr>
          </a:p>
        </p:txBody>
      </p:sp>
      <p:sp>
        <p:nvSpPr>
          <p:cNvPr id="4" name="object 84">
            <a:extLst>
              <a:ext uri="{FF2B5EF4-FFF2-40B4-BE49-F238E27FC236}">
                <a16:creationId xmlns:a16="http://schemas.microsoft.com/office/drawing/2014/main" id="{1D5ED687-D270-3BA0-B783-D2302B318937}"/>
              </a:ext>
            </a:extLst>
          </p:cNvPr>
          <p:cNvSpPr txBox="1"/>
          <p:nvPr/>
        </p:nvSpPr>
        <p:spPr>
          <a:xfrm>
            <a:off x="2298356" y="4755479"/>
            <a:ext cx="2308324" cy="138499"/>
          </a:xfrm>
          <a:prstGeom prst="rect">
            <a:avLst/>
          </a:prstGeom>
        </p:spPr>
        <p:txBody>
          <a:bodyPr vert="horz" wrap="none" lIns="0" tIns="0" rIns="0" bIns="0" rtlCol="0" anchor="ctr" anchorCtr="0">
            <a:spAutoFit/>
          </a:bodyPr>
          <a:lstStyle/>
          <a:p>
            <a:pPr marL="12700" defTabSz="839876" fontAlgn="auto">
              <a:spcBef>
                <a:spcPts val="120"/>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15.  Reflow Soldering information</a:t>
            </a:r>
          </a:p>
        </p:txBody>
      </p:sp>
      <p:graphicFrame>
        <p:nvGraphicFramePr>
          <p:cNvPr id="5" name="object 8">
            <a:extLst>
              <a:ext uri="{FF2B5EF4-FFF2-40B4-BE49-F238E27FC236}">
                <a16:creationId xmlns:a16="http://schemas.microsoft.com/office/drawing/2014/main" id="{EE2E2B8D-CA48-DFA1-B5E8-143D5C138F17}"/>
              </a:ext>
            </a:extLst>
          </p:cNvPr>
          <p:cNvGraphicFramePr>
            <a:graphicFrameLocks noGrp="1"/>
          </p:cNvGraphicFramePr>
          <p:nvPr>
            <p:extLst>
              <p:ext uri="{D42A27DB-BD31-4B8C-83A1-F6EECF244321}">
                <p14:modId xmlns:p14="http://schemas.microsoft.com/office/powerpoint/2010/main" val="3027351996"/>
              </p:ext>
            </p:extLst>
          </p:nvPr>
        </p:nvGraphicFramePr>
        <p:xfrm>
          <a:off x="887435" y="5071762"/>
          <a:ext cx="5130165" cy="1692571"/>
        </p:xfrm>
        <a:graphic>
          <a:graphicData uri="http://schemas.openxmlformats.org/drawingml/2006/table">
            <a:tbl>
              <a:tblPr firstRow="1" bandRow="1"/>
              <a:tblGrid>
                <a:gridCol w="2615490">
                  <a:extLst>
                    <a:ext uri="{9D8B030D-6E8A-4147-A177-3AD203B41FA5}">
                      <a16:colId xmlns:a16="http://schemas.microsoft.com/office/drawing/2014/main" val="20000"/>
                    </a:ext>
                  </a:extLst>
                </a:gridCol>
                <a:gridCol w="2514675">
                  <a:extLst>
                    <a:ext uri="{9D8B030D-6E8A-4147-A177-3AD203B41FA5}">
                      <a16:colId xmlns:a16="http://schemas.microsoft.com/office/drawing/2014/main" val="20001"/>
                    </a:ext>
                  </a:extLst>
                </a:gridCol>
              </a:tblGrid>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241935" algn="ctr">
                        <a:lnSpc>
                          <a:spcPct val="100000"/>
                        </a:lnSpc>
                        <a:spcBef>
                          <a:spcPts val="310"/>
                        </a:spcBef>
                      </a:pPr>
                      <a:r>
                        <a:rPr sz="900" b="1" dirty="0">
                          <a:solidFill>
                            <a:schemeClr val="tx1"/>
                          </a:solidFill>
                          <a:latin typeface="Arial"/>
                          <a:ea typeface="+mn-ea"/>
                          <a:cs typeface="Arial"/>
                        </a:rPr>
                        <a:t>Parameter</a:t>
                      </a:r>
                    </a:p>
                  </a:txBody>
                  <a:tcPr marL="0" marR="0" marT="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lumMod val="95000"/>
                          <a:lumOff val="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241935" algn="ctr">
                        <a:lnSpc>
                          <a:spcPct val="100000"/>
                        </a:lnSpc>
                        <a:spcBef>
                          <a:spcPts val="310"/>
                        </a:spcBef>
                      </a:pPr>
                      <a:r>
                        <a:rPr lang="en-US" sz="900" b="1" dirty="0">
                          <a:solidFill>
                            <a:schemeClr val="tx1"/>
                          </a:solidFill>
                          <a:latin typeface="Arial"/>
                          <a:ea typeface="+mn-ea"/>
                          <a:cs typeface="Arial"/>
                        </a:rPr>
                        <a:t>Pb</a:t>
                      </a:r>
                      <a:r>
                        <a:rPr sz="900" b="1" dirty="0">
                          <a:solidFill>
                            <a:schemeClr val="tx1"/>
                          </a:solidFill>
                          <a:latin typeface="Arial"/>
                          <a:ea typeface="+mn-ea"/>
                          <a:cs typeface="Arial"/>
                        </a:rPr>
                        <a:t>-free soldering conditions</a:t>
                      </a:r>
                    </a:p>
                  </a:txBody>
                  <a:tcPr marL="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lumMod val="95000"/>
                          <a:lumOff val="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0"/>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5"/>
                        </a:spcBef>
                      </a:pPr>
                      <a:r>
                        <a:rPr sz="800" spc="-15" dirty="0">
                          <a:latin typeface="Arial" panose="020B0604020202020204" pitchFamily="34" charset="0"/>
                          <a:cs typeface="Arial" panose="020B0604020202020204" pitchFamily="34" charset="0"/>
                        </a:rPr>
                        <a:t>Average</a:t>
                      </a:r>
                      <a:r>
                        <a:rPr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ramp-up</a:t>
                      </a:r>
                      <a:r>
                        <a:rPr sz="80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rate</a:t>
                      </a:r>
                      <a:r>
                        <a:rPr lang="en-US" sz="800" spc="-1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(217</a:t>
                      </a:r>
                      <a:r>
                        <a:rPr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lang="en-US" sz="800" spc="-5" dirty="0">
                          <a:latin typeface="Arial" panose="020B0604020202020204" pitchFamily="34" charset="0"/>
                          <a:cs typeface="Arial" panose="020B0604020202020204" pitchFamily="34" charset="0"/>
                        </a:rPr>
                        <a:t> </a:t>
                      </a:r>
                      <a:r>
                        <a:rPr sz="800" spc="-26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to</a:t>
                      </a:r>
                      <a:r>
                        <a:rPr sz="80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Peak)</a:t>
                      </a:r>
                      <a:endParaRPr sz="800" dirty="0">
                        <a:latin typeface="Arial" panose="020B0604020202020204" pitchFamily="34" charset="0"/>
                        <a:cs typeface="Arial" panose="020B0604020202020204" pitchFamily="34" charset="0"/>
                      </a:endParaRPr>
                    </a:p>
                  </a:txBody>
                  <a:tcPr marL="0" marR="0" marT="4445"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5"/>
                        </a:spcBef>
                      </a:pPr>
                      <a:r>
                        <a:rPr sz="800" spc="-10" dirty="0">
                          <a:latin typeface="Arial" panose="020B0604020202020204" pitchFamily="34" charset="0"/>
                          <a:cs typeface="Arial" panose="020B0604020202020204" pitchFamily="34" charset="0"/>
                        </a:rPr>
                        <a:t>3℃/second</a:t>
                      </a:r>
                      <a:r>
                        <a:rPr sz="800" spc="-2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max</a:t>
                      </a:r>
                      <a:r>
                        <a:rPr lang="en-US" sz="800" spc="-1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72000" marR="0" marT="4445"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13092">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i</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of</a:t>
                      </a:r>
                      <a:r>
                        <a:rPr sz="800" spc="-10"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P</a:t>
                      </a:r>
                      <a:r>
                        <a:rPr sz="800" spc="-15" dirty="0">
                          <a:latin typeface="Arial" panose="020B0604020202020204" pitchFamily="34" charset="0"/>
                          <a:cs typeface="Arial" panose="020B0604020202020204" pitchFamily="34" charset="0"/>
                        </a:rPr>
                        <a:t>r</a:t>
                      </a:r>
                      <a:r>
                        <a:rPr sz="800" spc="-5" dirty="0">
                          <a:latin typeface="Arial" panose="020B0604020202020204" pitchFamily="34" charset="0"/>
                          <a:cs typeface="Arial" panose="020B0604020202020204" pitchFamily="34" charset="0"/>
                        </a:rPr>
                        <a:t>e</a:t>
                      </a:r>
                      <a:r>
                        <a:rPr sz="800" spc="15" dirty="0">
                          <a:latin typeface="Arial" panose="020B0604020202020204" pitchFamily="34" charset="0"/>
                          <a:cs typeface="Arial" panose="020B0604020202020204" pitchFamily="34" charset="0"/>
                        </a:rPr>
                        <a:t>h</a:t>
                      </a:r>
                      <a:r>
                        <a:rPr sz="800" spc="-5" dirty="0">
                          <a:latin typeface="Arial" panose="020B0604020202020204" pitchFamily="34" charset="0"/>
                          <a:cs typeface="Arial" panose="020B0604020202020204" pitchFamily="34" charset="0"/>
                        </a:rPr>
                        <a:t>e</a:t>
                      </a:r>
                      <a:r>
                        <a:rPr sz="800" spc="-10" dirty="0">
                          <a:latin typeface="Arial" panose="020B0604020202020204" pitchFamily="34" charset="0"/>
                          <a:cs typeface="Arial" panose="020B0604020202020204" pitchFamily="34" charset="0"/>
                        </a:rPr>
                        <a:t>a</a:t>
                      </a:r>
                      <a:r>
                        <a:rPr sz="800" dirty="0">
                          <a:latin typeface="Arial" panose="020B0604020202020204" pitchFamily="34" charset="0"/>
                          <a:cs typeface="Arial" panose="020B0604020202020204" pitchFamily="34" charset="0"/>
                        </a:rPr>
                        <a:t>t </a:t>
                      </a:r>
                      <a:r>
                        <a:rPr sz="800" spc="-10" dirty="0">
                          <a:latin typeface="Arial" panose="020B0604020202020204" pitchFamily="34" charset="0"/>
                          <a:cs typeface="Arial" panose="020B0604020202020204" pitchFamily="34" charset="0"/>
                        </a:rPr>
                        <a:t>t</a:t>
                      </a:r>
                      <a:r>
                        <a:rPr sz="800" spc="5"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p</a:t>
                      </a:r>
                      <a:r>
                        <a:rPr lang="en-US" sz="80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sz="800" spc="-10" dirty="0">
                          <a:latin typeface="Arial" panose="020B0604020202020204" pitchFamily="34" charset="0"/>
                          <a:cs typeface="Arial" panose="020B0604020202020204" pitchFamily="34" charset="0"/>
                        </a:rPr>
                        <a:t>f</a:t>
                      </a:r>
                      <a:r>
                        <a:rPr sz="800" spc="-15" dirty="0">
                          <a:latin typeface="Arial" panose="020B0604020202020204" pitchFamily="34" charset="0"/>
                          <a:cs typeface="Arial" panose="020B0604020202020204" pitchFamily="34" charset="0"/>
                        </a:rPr>
                        <a:t>r</a:t>
                      </a:r>
                      <a:r>
                        <a:rPr sz="800" dirty="0">
                          <a:latin typeface="Arial" panose="020B0604020202020204" pitchFamily="34" charset="0"/>
                          <a:cs typeface="Arial" panose="020B0604020202020204" pitchFamily="34" charset="0"/>
                        </a:rPr>
                        <a:t>om</a:t>
                      </a:r>
                      <a:r>
                        <a:rPr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1</a:t>
                      </a:r>
                      <a:r>
                        <a:rPr sz="800" dirty="0">
                          <a:latin typeface="Arial" panose="020B0604020202020204" pitchFamily="34" charset="0"/>
                          <a:cs typeface="Arial" panose="020B0604020202020204" pitchFamily="34" charset="0"/>
                        </a:rPr>
                        <a:t>50</a:t>
                      </a:r>
                      <a:r>
                        <a:rPr sz="800" spc="10"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 </a:t>
                      </a:r>
                      <a:r>
                        <a:rPr sz="800" spc="-275" dirty="0">
                          <a:latin typeface="Arial" panose="020B0604020202020204" pitchFamily="34" charset="0"/>
                          <a:cs typeface="Arial" panose="020B0604020202020204" pitchFamily="34" charset="0"/>
                        </a:rPr>
                        <a:t> </a:t>
                      </a:r>
                      <a:r>
                        <a:rPr lang="en-US" sz="800" spc="-27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o 200</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70"/>
                        </a:lnSpc>
                      </a:pPr>
                      <a:r>
                        <a:rPr sz="800" spc="-5" dirty="0">
                          <a:latin typeface="Arial" panose="020B0604020202020204" pitchFamily="34" charset="0"/>
                          <a:cs typeface="Arial" panose="020B0604020202020204" pitchFamily="34" charset="0"/>
                        </a:rPr>
                        <a:t>60</a:t>
                      </a:r>
                      <a:r>
                        <a:rPr lang="en-US" sz="800" spc="-5" dirty="0">
                          <a:latin typeface="Arial" panose="020B0604020202020204" pitchFamily="34" charset="0"/>
                          <a:cs typeface="Arial" panose="020B0604020202020204" pitchFamily="34" charset="0"/>
                        </a:rPr>
                        <a:t> ~ </a:t>
                      </a:r>
                      <a:r>
                        <a:rPr sz="800" spc="-5" dirty="0">
                          <a:latin typeface="Arial" panose="020B0604020202020204" pitchFamily="34" charset="0"/>
                          <a:cs typeface="Arial" panose="020B0604020202020204" pitchFamily="34" charset="0"/>
                        </a:rPr>
                        <a:t>120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14173">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5" dirty="0">
                          <a:latin typeface="Arial" panose="020B0604020202020204" pitchFamily="34" charset="0"/>
                          <a:cs typeface="Arial" panose="020B0604020202020204" pitchFamily="34" charset="0"/>
                        </a:rPr>
                        <a:t>Time</a:t>
                      </a:r>
                      <a:r>
                        <a:rPr sz="800" spc="-1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to</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be</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maintained</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above</a:t>
                      </a:r>
                      <a:r>
                        <a:rPr lang="en-US"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217</a:t>
                      </a:r>
                      <a:r>
                        <a:rPr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5" dirty="0">
                          <a:latin typeface="Arial" panose="020B0604020202020204" pitchFamily="34" charset="0"/>
                          <a:cs typeface="Arial" panose="020B0604020202020204" pitchFamily="34" charset="0"/>
                        </a:rPr>
                        <a:t>60</a:t>
                      </a:r>
                      <a:r>
                        <a:rPr lang="en-US" sz="800" spc="-5" dirty="0">
                          <a:latin typeface="Arial" panose="020B0604020202020204" pitchFamily="34" charset="0"/>
                          <a:cs typeface="Arial" panose="020B0604020202020204" pitchFamily="34" charset="0"/>
                        </a:rPr>
                        <a:t> ~ </a:t>
                      </a:r>
                      <a:r>
                        <a:rPr sz="800" spc="-5" dirty="0">
                          <a:latin typeface="Arial" panose="020B0604020202020204" pitchFamily="34" charset="0"/>
                          <a:cs typeface="Arial" panose="020B0604020202020204" pitchFamily="34" charset="0"/>
                        </a:rPr>
                        <a:t>150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10" dirty="0">
                          <a:latin typeface="Arial" panose="020B0604020202020204" pitchFamily="34" charset="0"/>
                          <a:cs typeface="Arial" panose="020B0604020202020204" pitchFamily="34" charset="0"/>
                        </a:rPr>
                        <a:t>Peak</a:t>
                      </a:r>
                      <a:r>
                        <a:rPr sz="800" spc="-3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temperature</a:t>
                      </a:r>
                      <a:endParaRPr sz="800" dirty="0">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lang="en-US" sz="800" spc="-5" dirty="0">
                          <a:latin typeface="Arial" panose="020B0604020202020204" pitchFamily="34" charset="0"/>
                          <a:cs typeface="Arial" panose="020B0604020202020204" pitchFamily="34" charset="0"/>
                        </a:rPr>
                        <a:t> </a:t>
                      </a:r>
                      <a:r>
                        <a:rPr lang="en-US" sz="800" kern="1200" spc="-5" dirty="0">
                          <a:solidFill>
                            <a:schemeClr val="tx1"/>
                          </a:solidFill>
                          <a:latin typeface="Arial" panose="020B0604020202020204" pitchFamily="34" charset="0"/>
                          <a:ea typeface="+mn-ea"/>
                          <a:cs typeface="Arial" panose="020B0604020202020204" pitchFamily="34" charset="0"/>
                        </a:rPr>
                        <a:t>260 </a:t>
                      </a:r>
                      <a:r>
                        <a:rPr lang="ko-KR" altLang="en-US" sz="800" kern="1200" spc="-5" dirty="0">
                          <a:solidFill>
                            <a:schemeClr val="tx1"/>
                          </a:solidFill>
                          <a:latin typeface="Arial" panose="020B0604020202020204" pitchFamily="34" charset="0"/>
                          <a:ea typeface="+mn-ea"/>
                          <a:cs typeface="Arial" panose="020B0604020202020204" pitchFamily="34" charset="0"/>
                        </a:rPr>
                        <a:t>℃</a:t>
                      </a:r>
                      <a:endParaRPr sz="800" kern="1200" spc="-5" dirty="0">
                        <a:solidFill>
                          <a:schemeClr val="tx1"/>
                        </a:solidFill>
                        <a:latin typeface="Arial" panose="020B0604020202020204" pitchFamily="34" charset="0"/>
                        <a:ea typeface="+mn-ea"/>
                        <a:cs typeface="Arial" panose="020B0604020202020204" pitchFamily="34" charset="0"/>
                      </a:endParaRPr>
                    </a:p>
                  </a:txBody>
                  <a:tcPr marL="72000" marR="0" marT="381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5" dirty="0">
                          <a:latin typeface="Arial" panose="020B0604020202020204" pitchFamily="34" charset="0"/>
                          <a:cs typeface="Arial" panose="020B0604020202020204" pitchFamily="34" charset="0"/>
                        </a:rPr>
                        <a:t>Time</a:t>
                      </a:r>
                      <a:r>
                        <a:rPr sz="800" spc="-1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within 5</a:t>
                      </a:r>
                      <a:r>
                        <a:rPr sz="80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lang="en-US"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of</a:t>
                      </a:r>
                      <a:r>
                        <a:rPr sz="800" spc="-1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actual</a:t>
                      </a:r>
                      <a:r>
                        <a:rPr sz="800" spc="-5" dirty="0">
                          <a:latin typeface="Arial" panose="020B0604020202020204" pitchFamily="34" charset="0"/>
                          <a:cs typeface="Arial" panose="020B0604020202020204" pitchFamily="34" charset="0"/>
                        </a:rPr>
                        <a:t> peak </a:t>
                      </a:r>
                      <a:r>
                        <a:rPr sz="800" spc="-10" dirty="0">
                          <a:latin typeface="Arial" panose="020B0604020202020204" pitchFamily="34" charset="0"/>
                          <a:cs typeface="Arial" panose="020B0604020202020204" pitchFamily="34" charset="0"/>
                        </a:rPr>
                        <a:t>temp</a:t>
                      </a:r>
                      <a:endParaRPr sz="800" dirty="0">
                        <a:latin typeface="Arial" panose="020B0604020202020204" pitchFamily="34" charset="0"/>
                        <a:cs typeface="Arial" panose="020B0604020202020204" pitchFamily="34" charset="0"/>
                      </a:endParaRP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5" dirty="0">
                          <a:latin typeface="Arial" panose="020B0604020202020204" pitchFamily="34" charset="0"/>
                          <a:cs typeface="Arial" panose="020B0604020202020204" pitchFamily="34" charset="0"/>
                        </a:rPr>
                        <a:t>30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70"/>
                        </a:lnSpc>
                      </a:pPr>
                      <a:r>
                        <a:rPr sz="800" spc="-5" dirty="0">
                          <a:latin typeface="Arial" panose="020B0604020202020204" pitchFamily="34" charset="0"/>
                          <a:cs typeface="Arial" panose="020B0604020202020204" pitchFamily="34" charset="0"/>
                        </a:rPr>
                        <a:t>Ramp-down</a:t>
                      </a:r>
                      <a:r>
                        <a:rPr sz="800" spc="-25" dirty="0">
                          <a:latin typeface="Arial" panose="020B0604020202020204" pitchFamily="34" charset="0"/>
                          <a:cs typeface="Arial" panose="020B0604020202020204" pitchFamily="34" charset="0"/>
                        </a:rPr>
                        <a:t> </a:t>
                      </a:r>
                      <a:r>
                        <a:rPr sz="800" spc="-15" dirty="0">
                          <a:latin typeface="Arial" panose="020B0604020202020204" pitchFamily="34" charset="0"/>
                          <a:cs typeface="Arial" panose="020B0604020202020204" pitchFamily="34" charset="0"/>
                        </a:rPr>
                        <a:t>rate</a:t>
                      </a:r>
                      <a:endParaRPr sz="800" dirty="0">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5" dirty="0">
                          <a:latin typeface="Arial" panose="020B0604020202020204" pitchFamily="34" charset="0"/>
                          <a:cs typeface="Arial" panose="020B0604020202020204" pitchFamily="34" charset="0"/>
                        </a:rPr>
                        <a:t>6</a:t>
                      </a:r>
                      <a:r>
                        <a:rPr sz="800" spc="19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℃/second</a:t>
                      </a:r>
                      <a:r>
                        <a:rPr sz="800" spc="-2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max.</a:t>
                      </a:r>
                      <a:endParaRPr sz="800" dirty="0">
                        <a:latin typeface="Arial" panose="020B0604020202020204" pitchFamily="34" charset="0"/>
                        <a:cs typeface="Arial" panose="020B0604020202020204" pitchFamily="34" charset="0"/>
                      </a:endParaRPr>
                    </a:p>
                  </a:txBody>
                  <a:tcPr marL="72000" marR="0" marT="381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0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i</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 f</a:t>
                      </a:r>
                      <a:r>
                        <a:rPr sz="800" spc="-15" dirty="0">
                          <a:latin typeface="Arial" panose="020B0604020202020204" pitchFamily="34" charset="0"/>
                          <a:cs typeface="Arial" panose="020B0604020202020204" pitchFamily="34" charset="0"/>
                        </a:rPr>
                        <a:t>r</a:t>
                      </a:r>
                      <a:r>
                        <a:rPr sz="800" dirty="0">
                          <a:latin typeface="Arial" panose="020B0604020202020204" pitchFamily="34" charset="0"/>
                          <a:cs typeface="Arial" panose="020B0604020202020204" pitchFamily="34" charset="0"/>
                        </a:rPr>
                        <a:t>om </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2</a:t>
                      </a:r>
                      <a:r>
                        <a:rPr sz="800" spc="15" dirty="0">
                          <a:latin typeface="Arial" panose="020B0604020202020204" pitchFamily="34" charset="0"/>
                          <a:cs typeface="Arial" panose="020B0604020202020204" pitchFamily="34" charset="0"/>
                        </a:rPr>
                        <a:t>5</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 </a:t>
                      </a:r>
                      <a:r>
                        <a:rPr sz="800" spc="-27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o </a:t>
                      </a:r>
                      <a:r>
                        <a:rPr sz="800" spc="5" dirty="0">
                          <a:latin typeface="Arial" panose="020B0604020202020204" pitchFamily="34" charset="0"/>
                          <a:cs typeface="Arial" panose="020B0604020202020204" pitchFamily="34" charset="0"/>
                        </a:rPr>
                        <a:t>p</a:t>
                      </a:r>
                      <a:r>
                        <a:rPr sz="800" spc="-5" dirty="0">
                          <a:latin typeface="Arial" panose="020B0604020202020204" pitchFamily="34" charset="0"/>
                          <a:cs typeface="Arial" panose="020B0604020202020204" pitchFamily="34" charset="0"/>
                        </a:rPr>
                        <a:t>e</a:t>
                      </a:r>
                      <a:r>
                        <a:rPr sz="800" dirty="0">
                          <a:latin typeface="Arial" panose="020B0604020202020204" pitchFamily="34" charset="0"/>
                          <a:cs typeface="Arial" panose="020B0604020202020204" pitchFamily="34" charset="0"/>
                        </a:rPr>
                        <a:t>ak </a:t>
                      </a:r>
                      <a:r>
                        <a:rPr sz="800" spc="-10" dirty="0">
                          <a:latin typeface="Arial" panose="020B0604020202020204" pitchFamily="34" charset="0"/>
                          <a:cs typeface="Arial" panose="020B0604020202020204" pitchFamily="34" charset="0"/>
                        </a:rPr>
                        <a:t>t</a:t>
                      </a:r>
                      <a:r>
                        <a:rPr sz="800" spc="-5"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p</a:t>
                      </a: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lumMod val="95000"/>
                          <a:lumOff val="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5" dirty="0">
                          <a:latin typeface="Arial" panose="020B0604020202020204" pitchFamily="34" charset="0"/>
                          <a:cs typeface="Arial" panose="020B0604020202020204" pitchFamily="34" charset="0"/>
                        </a:rPr>
                        <a:t>8</a:t>
                      </a:r>
                      <a:r>
                        <a:rPr sz="800" spc="-3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minutes</a:t>
                      </a:r>
                      <a:r>
                        <a:rPr sz="800" spc="-1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max</a:t>
                      </a:r>
                      <a:r>
                        <a:rPr lang="en-US" sz="800" spc="-1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lumMod val="95000"/>
                          <a:lumOff val="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bl>
          </a:graphicData>
        </a:graphic>
      </p:graphicFrame>
      <p:sp>
        <p:nvSpPr>
          <p:cNvPr id="6" name="object 11">
            <a:extLst>
              <a:ext uri="{FF2B5EF4-FFF2-40B4-BE49-F238E27FC236}">
                <a16:creationId xmlns:a16="http://schemas.microsoft.com/office/drawing/2014/main" id="{51C267EC-96B9-BAFE-D000-A726A77A3B57}"/>
              </a:ext>
            </a:extLst>
          </p:cNvPr>
          <p:cNvSpPr txBox="1"/>
          <p:nvPr/>
        </p:nvSpPr>
        <p:spPr>
          <a:xfrm>
            <a:off x="2354026" y="6878677"/>
            <a:ext cx="2149948" cy="132024"/>
          </a:xfrm>
          <a:prstGeom prst="rect">
            <a:avLst/>
          </a:prstGeom>
        </p:spPr>
        <p:txBody>
          <a:bodyPr vert="horz" wrap="none" lIns="0" tIns="0" rIns="0" bIns="0" rtlCol="0" anchor="ctr" anchorCtr="0">
            <a:spAutoFit/>
          </a:bodyPr>
          <a:lstStyle/>
          <a:p>
            <a:pPr marL="63500" defTabSz="839876" fontAlgn="auto">
              <a:lnSpc>
                <a:spcPts val="1065"/>
              </a:lnSpc>
              <a:spcBef>
                <a:spcPts val="100"/>
              </a:spcBef>
              <a:spcAft>
                <a:spcPts val="0"/>
              </a:spcAft>
              <a:tabLst>
                <a:tab pos="673100" algn="l"/>
              </a:tabLst>
            </a:pPr>
            <a:r>
              <a:rPr kumimoji="0" sz="900" b="1" spc="-65"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8</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Reflow Soldering Parameter </a:t>
            </a:r>
            <a:endParaRPr kumimoji="0" sz="900" dirty="0">
              <a:solidFill>
                <a:prstClr val="black"/>
              </a:solidFill>
              <a:latin typeface="Arial" panose="020B0604020202020204" pitchFamily="34" charset="0"/>
              <a:ea typeface="+mn-ea"/>
              <a:cs typeface="Arial" panose="020B0604020202020204" pitchFamily="34" charset="0"/>
            </a:endParaRPr>
          </a:p>
        </p:txBody>
      </p:sp>
      <p:sp>
        <p:nvSpPr>
          <p:cNvPr id="7" name="object 7">
            <a:extLst>
              <a:ext uri="{FF2B5EF4-FFF2-40B4-BE49-F238E27FC236}">
                <a16:creationId xmlns:a16="http://schemas.microsoft.com/office/drawing/2014/main" id="{FFA3C654-01DC-87C8-A163-B06EA3FA4981}"/>
              </a:ext>
            </a:extLst>
          </p:cNvPr>
          <p:cNvSpPr txBox="1"/>
          <p:nvPr/>
        </p:nvSpPr>
        <p:spPr>
          <a:xfrm>
            <a:off x="404812" y="7106106"/>
            <a:ext cx="6048622" cy="1164421"/>
          </a:xfrm>
          <a:prstGeom prst="rect">
            <a:avLst/>
          </a:prstGeom>
        </p:spPr>
        <p:txBody>
          <a:bodyPr vert="horz" wrap="square" lIns="0" tIns="0" rIns="0" bIns="0" rtlCol="0" anchor="ctr" anchorCtr="0">
            <a:spAutoFit/>
          </a:bodyPr>
          <a:lstStyle/>
          <a:p>
            <a:pPr marL="11527" marR="4611">
              <a:spcBef>
                <a:spcPts val="159"/>
              </a:spcBef>
            </a:pPr>
            <a:r>
              <a:rPr sz="800" spc="-5" dirty="0">
                <a:latin typeface="Arial"/>
                <a:cs typeface="Arial"/>
              </a:rPr>
              <a:t>Note: </a:t>
            </a:r>
            <a:endParaRPr lang="en-US" sz="800" spc="-5" dirty="0">
              <a:latin typeface="Arial"/>
              <a:cs typeface="Arial"/>
            </a:endParaRPr>
          </a:p>
          <a:p>
            <a:pPr marL="11527" marR="4611">
              <a:spcBef>
                <a:spcPts val="159"/>
              </a:spcBef>
            </a:pPr>
            <a:r>
              <a:rPr lang="en-US" sz="800" spc="-5" dirty="0">
                <a:latin typeface="Arial"/>
                <a:cs typeface="Arial"/>
              </a:rPr>
              <a:t>1. </a:t>
            </a:r>
            <a:r>
              <a:rPr sz="800" spc="-5" dirty="0">
                <a:latin typeface="Arial"/>
                <a:cs typeface="Arial"/>
              </a:rPr>
              <a:t>The</a:t>
            </a:r>
            <a:r>
              <a:rPr sz="800" spc="14" dirty="0">
                <a:latin typeface="Arial"/>
                <a:cs typeface="Arial"/>
              </a:rPr>
              <a:t> </a:t>
            </a:r>
            <a:r>
              <a:rPr sz="800" spc="-5" dirty="0">
                <a:latin typeface="Arial"/>
                <a:cs typeface="Arial"/>
              </a:rPr>
              <a:t>reflow</a:t>
            </a:r>
            <a:r>
              <a:rPr sz="800" spc="5" dirty="0">
                <a:latin typeface="Arial"/>
                <a:cs typeface="Arial"/>
              </a:rPr>
              <a:t> </a:t>
            </a:r>
            <a:r>
              <a:rPr sz="800" spc="-5" dirty="0">
                <a:latin typeface="Arial"/>
                <a:cs typeface="Arial"/>
              </a:rPr>
              <a:t>peak</a:t>
            </a:r>
            <a:r>
              <a:rPr sz="800" spc="9" dirty="0">
                <a:latin typeface="Arial"/>
                <a:cs typeface="Arial"/>
              </a:rPr>
              <a:t> </a:t>
            </a:r>
            <a:r>
              <a:rPr sz="800" spc="-5" dirty="0">
                <a:latin typeface="Arial"/>
                <a:cs typeface="Arial"/>
              </a:rPr>
              <a:t>soldering</a:t>
            </a:r>
            <a:r>
              <a:rPr sz="800" spc="14" dirty="0">
                <a:latin typeface="Arial"/>
                <a:cs typeface="Arial"/>
              </a:rPr>
              <a:t> </a:t>
            </a:r>
            <a:r>
              <a:rPr sz="800" spc="-5" dirty="0">
                <a:latin typeface="Arial"/>
                <a:cs typeface="Arial"/>
              </a:rPr>
              <a:t>temperature</a:t>
            </a:r>
            <a:r>
              <a:rPr sz="800" spc="14" dirty="0">
                <a:latin typeface="Arial"/>
                <a:cs typeface="Arial"/>
              </a:rPr>
              <a:t> </a:t>
            </a:r>
            <a:r>
              <a:rPr sz="800" spc="-9" dirty="0">
                <a:latin typeface="Arial"/>
                <a:cs typeface="Arial"/>
              </a:rPr>
              <a:t>is</a:t>
            </a:r>
            <a:r>
              <a:rPr sz="800" spc="23" dirty="0">
                <a:latin typeface="Arial"/>
                <a:cs typeface="Arial"/>
              </a:rPr>
              <a:t> </a:t>
            </a:r>
            <a:r>
              <a:rPr sz="800" spc="-9" dirty="0">
                <a:latin typeface="Arial"/>
                <a:cs typeface="Arial"/>
              </a:rPr>
              <a:t>peak</a:t>
            </a:r>
            <a:r>
              <a:rPr sz="800" spc="27" dirty="0">
                <a:latin typeface="Arial"/>
                <a:cs typeface="Arial"/>
              </a:rPr>
              <a:t> </a:t>
            </a:r>
            <a:r>
              <a:rPr sz="800" spc="-5" dirty="0">
                <a:latin typeface="Arial"/>
                <a:cs typeface="Arial"/>
              </a:rPr>
              <a:t>260°C</a:t>
            </a:r>
            <a:r>
              <a:rPr sz="800" spc="18" dirty="0">
                <a:latin typeface="Arial"/>
                <a:cs typeface="Arial"/>
              </a:rPr>
              <a:t> </a:t>
            </a:r>
            <a:r>
              <a:rPr sz="800" spc="-5" dirty="0">
                <a:latin typeface="Arial"/>
                <a:cs typeface="Arial"/>
              </a:rPr>
              <a:t>and</a:t>
            </a:r>
            <a:r>
              <a:rPr sz="800" spc="14" dirty="0">
                <a:latin typeface="Arial"/>
                <a:cs typeface="Arial"/>
              </a:rPr>
              <a:t> </a:t>
            </a:r>
            <a:r>
              <a:rPr sz="800" spc="-9" dirty="0">
                <a:latin typeface="Arial"/>
                <a:cs typeface="Arial"/>
              </a:rPr>
              <a:t>it</a:t>
            </a:r>
            <a:r>
              <a:rPr sz="800" spc="18" dirty="0">
                <a:latin typeface="Arial"/>
                <a:cs typeface="Arial"/>
              </a:rPr>
              <a:t> </a:t>
            </a:r>
            <a:r>
              <a:rPr sz="800" spc="-9" dirty="0">
                <a:latin typeface="Arial"/>
                <a:cs typeface="Arial"/>
              </a:rPr>
              <a:t>is</a:t>
            </a:r>
            <a:r>
              <a:rPr sz="800" spc="9" dirty="0">
                <a:latin typeface="Arial"/>
                <a:cs typeface="Arial"/>
              </a:rPr>
              <a:t> </a:t>
            </a:r>
            <a:r>
              <a:rPr sz="800" spc="-5" dirty="0">
                <a:latin typeface="Arial"/>
                <a:cs typeface="Arial"/>
              </a:rPr>
              <a:t>specified</a:t>
            </a:r>
            <a:r>
              <a:rPr sz="800" spc="5" dirty="0">
                <a:latin typeface="Arial"/>
                <a:cs typeface="Arial"/>
              </a:rPr>
              <a:t> </a:t>
            </a:r>
            <a:r>
              <a:rPr sz="800" spc="-5" dirty="0">
                <a:latin typeface="Arial"/>
                <a:cs typeface="Arial"/>
              </a:rPr>
              <a:t>based</a:t>
            </a:r>
            <a:r>
              <a:rPr sz="800" spc="5" dirty="0">
                <a:latin typeface="Arial"/>
                <a:cs typeface="Arial"/>
              </a:rPr>
              <a:t> </a:t>
            </a:r>
            <a:r>
              <a:rPr sz="800" dirty="0">
                <a:latin typeface="Arial"/>
                <a:cs typeface="Arial"/>
              </a:rPr>
              <a:t>on</a:t>
            </a:r>
            <a:r>
              <a:rPr sz="800" spc="5" dirty="0">
                <a:latin typeface="Arial"/>
                <a:cs typeface="Arial"/>
              </a:rPr>
              <a:t> </a:t>
            </a:r>
            <a:r>
              <a:rPr sz="800" spc="-5" dirty="0">
                <a:latin typeface="Arial"/>
                <a:cs typeface="Arial"/>
              </a:rPr>
              <a:t>IPC/JEDEC</a:t>
            </a:r>
            <a:r>
              <a:rPr sz="800" spc="5" dirty="0">
                <a:latin typeface="Arial"/>
                <a:cs typeface="Arial"/>
              </a:rPr>
              <a:t> </a:t>
            </a:r>
            <a:r>
              <a:rPr sz="800" spc="-5" dirty="0">
                <a:latin typeface="Arial"/>
                <a:cs typeface="Arial"/>
              </a:rPr>
              <a:t>J-STD- </a:t>
            </a:r>
            <a:r>
              <a:rPr sz="800" spc="-236" dirty="0">
                <a:latin typeface="Arial"/>
                <a:cs typeface="Arial"/>
              </a:rPr>
              <a:t> </a:t>
            </a:r>
            <a:r>
              <a:rPr sz="800" spc="-9" dirty="0">
                <a:latin typeface="Arial"/>
                <a:cs typeface="Arial"/>
              </a:rPr>
              <a:t>020</a:t>
            </a:r>
            <a:r>
              <a:rPr sz="800" dirty="0">
                <a:latin typeface="Arial"/>
                <a:cs typeface="Arial"/>
              </a:rPr>
              <a:t> </a:t>
            </a:r>
            <a:r>
              <a:rPr sz="800" spc="-5" dirty="0">
                <a:latin typeface="Arial"/>
                <a:cs typeface="Arial"/>
              </a:rPr>
              <a:t>“</a:t>
            </a:r>
            <a:endParaRPr lang="en-US" sz="800" spc="-5" dirty="0">
              <a:latin typeface="Arial"/>
              <a:cs typeface="Arial"/>
            </a:endParaRPr>
          </a:p>
          <a:p>
            <a:pPr marL="11527" marR="4611">
              <a:spcBef>
                <a:spcPts val="159"/>
              </a:spcBef>
            </a:pPr>
            <a:r>
              <a:rPr lang="en-US" sz="800" spc="-5" dirty="0">
                <a:latin typeface="Arial"/>
                <a:cs typeface="Arial"/>
              </a:rPr>
              <a:t>     </a:t>
            </a:r>
            <a:r>
              <a:rPr sz="800" spc="-5" dirty="0">
                <a:latin typeface="Arial"/>
                <a:cs typeface="Arial"/>
              </a:rPr>
              <a:t>Moisture/Reflow</a:t>
            </a:r>
            <a:r>
              <a:rPr sz="800" spc="14" dirty="0">
                <a:latin typeface="Arial"/>
                <a:cs typeface="Arial"/>
              </a:rPr>
              <a:t> </a:t>
            </a:r>
            <a:r>
              <a:rPr sz="800" spc="-5" dirty="0">
                <a:latin typeface="Arial"/>
                <a:cs typeface="Arial"/>
              </a:rPr>
              <a:t>Sensitivity</a:t>
            </a:r>
            <a:r>
              <a:rPr sz="800" spc="5" dirty="0">
                <a:latin typeface="Arial"/>
                <a:cs typeface="Arial"/>
              </a:rPr>
              <a:t> </a:t>
            </a:r>
            <a:r>
              <a:rPr sz="800" spc="-5" dirty="0">
                <a:latin typeface="Arial"/>
                <a:cs typeface="Arial"/>
              </a:rPr>
              <a:t>Classification</a:t>
            </a:r>
            <a:r>
              <a:rPr sz="800" spc="5" dirty="0">
                <a:latin typeface="Arial"/>
                <a:cs typeface="Arial"/>
              </a:rPr>
              <a:t> </a:t>
            </a:r>
            <a:r>
              <a:rPr sz="800" spc="-5" dirty="0">
                <a:latin typeface="Arial"/>
                <a:cs typeface="Arial"/>
              </a:rPr>
              <a:t>for</a:t>
            </a:r>
            <a:r>
              <a:rPr sz="800" spc="14" dirty="0">
                <a:latin typeface="Arial"/>
                <a:cs typeface="Arial"/>
              </a:rPr>
              <a:t> </a:t>
            </a:r>
            <a:r>
              <a:rPr sz="800" spc="-5" dirty="0">
                <a:latin typeface="Arial"/>
                <a:cs typeface="Arial"/>
              </a:rPr>
              <a:t>Non-Hermetic</a:t>
            </a:r>
            <a:r>
              <a:rPr sz="800" spc="9" dirty="0">
                <a:latin typeface="Arial"/>
                <a:cs typeface="Arial"/>
              </a:rPr>
              <a:t> </a:t>
            </a:r>
            <a:r>
              <a:rPr sz="800" spc="-5" dirty="0">
                <a:latin typeface="Arial"/>
                <a:cs typeface="Arial"/>
              </a:rPr>
              <a:t>Solid</a:t>
            </a:r>
            <a:r>
              <a:rPr sz="800" spc="9" dirty="0">
                <a:latin typeface="Arial"/>
                <a:cs typeface="Arial"/>
              </a:rPr>
              <a:t> </a:t>
            </a:r>
            <a:r>
              <a:rPr sz="800" spc="-5" dirty="0">
                <a:latin typeface="Arial"/>
                <a:cs typeface="Arial"/>
              </a:rPr>
              <a:t>State</a:t>
            </a:r>
            <a:r>
              <a:rPr sz="800" spc="5" dirty="0">
                <a:latin typeface="Arial"/>
                <a:cs typeface="Arial"/>
              </a:rPr>
              <a:t> </a:t>
            </a:r>
            <a:r>
              <a:rPr sz="800" dirty="0">
                <a:latin typeface="Arial"/>
                <a:cs typeface="Arial"/>
              </a:rPr>
              <a:t>Surface </a:t>
            </a:r>
            <a:r>
              <a:rPr sz="800" spc="-5" dirty="0">
                <a:latin typeface="Arial"/>
                <a:cs typeface="Arial"/>
              </a:rPr>
              <a:t>Mount</a:t>
            </a:r>
            <a:r>
              <a:rPr sz="800" spc="5" dirty="0">
                <a:latin typeface="Arial"/>
                <a:cs typeface="Arial"/>
              </a:rPr>
              <a:t> </a:t>
            </a:r>
            <a:r>
              <a:rPr sz="800" dirty="0">
                <a:latin typeface="Arial"/>
                <a:cs typeface="Arial"/>
              </a:rPr>
              <a:t>Devices”</a:t>
            </a:r>
            <a:endParaRPr lang="en-US" sz="800" dirty="0">
              <a:latin typeface="Arial"/>
              <a:cs typeface="Arial"/>
            </a:endParaRPr>
          </a:p>
          <a:p>
            <a:pPr marL="11527" marR="4611">
              <a:spcBef>
                <a:spcPts val="159"/>
              </a:spcBef>
            </a:pPr>
            <a:r>
              <a:rPr lang="en-US" sz="800" dirty="0">
                <a:latin typeface="Arial"/>
                <a:cs typeface="Arial"/>
              </a:rPr>
              <a:t>2. Tolerance for peak proﬁle temperature (Tp) is deﬁned as a supplier minimum and a user maximum.</a:t>
            </a:r>
          </a:p>
          <a:p>
            <a:pPr marL="11527" marR="4611">
              <a:spcBef>
                <a:spcPts val="159"/>
              </a:spcBef>
            </a:pPr>
            <a:r>
              <a:rPr lang="en-US" sz="800" dirty="0">
                <a:latin typeface="Arial"/>
                <a:cs typeface="Arial"/>
              </a:rPr>
              <a:t>3. This document should serve as recommendation only. Other parameters may also affect soldering, so these profiles</a:t>
            </a:r>
          </a:p>
          <a:p>
            <a:pPr marL="11527" marR="4611">
              <a:spcBef>
                <a:spcPts val="159"/>
              </a:spcBef>
            </a:pPr>
            <a:r>
              <a:rPr lang="en-US" sz="800" dirty="0">
                <a:latin typeface="Arial"/>
                <a:cs typeface="Arial"/>
              </a:rPr>
              <a:t>     do not guarantee absolute success.</a:t>
            </a:r>
          </a:p>
          <a:p>
            <a:pPr marL="11527" marR="4611">
              <a:spcBef>
                <a:spcPts val="159"/>
              </a:spcBef>
            </a:pPr>
            <a:r>
              <a:rPr lang="en-US" sz="800" dirty="0">
                <a:latin typeface="Arial"/>
                <a:cs typeface="Arial"/>
              </a:rPr>
              <a:t>4. Soldering profile should be determined by the manufacturer of the solder paste, providing there is no contradiction          </a:t>
            </a:r>
          </a:p>
          <a:p>
            <a:pPr marL="11527" marR="4611">
              <a:spcBef>
                <a:spcPts val="159"/>
              </a:spcBef>
            </a:pPr>
            <a:r>
              <a:rPr lang="en-US" sz="800" dirty="0">
                <a:latin typeface="Arial"/>
                <a:cs typeface="Arial"/>
              </a:rPr>
              <a:t>      with the recommendations in this document.</a:t>
            </a:r>
            <a:endParaRPr sz="800" dirty="0">
              <a:latin typeface="Arial"/>
              <a:cs typeface="Arial"/>
            </a:endParaRPr>
          </a:p>
        </p:txBody>
      </p:sp>
      <p:pic>
        <p:nvPicPr>
          <p:cNvPr id="8" name="그림 7">
            <a:extLst>
              <a:ext uri="{FF2B5EF4-FFF2-40B4-BE49-F238E27FC236}">
                <a16:creationId xmlns:a16="http://schemas.microsoft.com/office/drawing/2014/main" id="{32BE5CB7-FE59-E4B1-65A1-CE59B9A926A0}"/>
              </a:ext>
            </a:extLst>
          </p:cNvPr>
          <p:cNvPicPr>
            <a:picLocks noChangeAspect="1"/>
          </p:cNvPicPr>
          <p:nvPr/>
        </p:nvPicPr>
        <p:blipFill>
          <a:blip r:embed="rId2"/>
          <a:stretch>
            <a:fillRect/>
          </a:stretch>
        </p:blipFill>
        <p:spPr>
          <a:xfrm>
            <a:off x="1164855" y="1131343"/>
            <a:ext cx="4483612" cy="3472798"/>
          </a:xfrm>
          <a:prstGeom prst="rect">
            <a:avLst/>
          </a:prstGeom>
        </p:spPr>
      </p:pic>
    </p:spTree>
    <p:extLst>
      <p:ext uri="{BB962C8B-B14F-4D97-AF65-F5344CB8AC3E}">
        <p14:creationId xmlns:p14="http://schemas.microsoft.com/office/powerpoint/2010/main" val="7566176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83968C52-2D17-46C0-A84D-B482DF945C71}"/>
              </a:ext>
            </a:extLst>
          </p:cNvPr>
          <p:cNvSpPr txBox="1"/>
          <p:nvPr/>
        </p:nvSpPr>
        <p:spPr>
          <a:xfrm>
            <a:off x="404813" y="821032"/>
            <a:ext cx="6048615" cy="215444"/>
          </a:xfrm>
          <a:prstGeom prst="rect">
            <a:avLst/>
          </a:prstGeom>
          <a:noFill/>
        </p:spPr>
        <p:txBody>
          <a:bodyPr vert="horz" wrap="square" lIns="0" tIns="0" rIns="0" bIns="0" rtlCol="0" anchor="ctr" anchorCtr="0">
            <a:spAutoFit/>
          </a:bodyPr>
          <a:lstStyle/>
          <a:p>
            <a:r>
              <a:rPr lang="en-US" altLang="ko-KR" sz="1400" b="1" dirty="0">
                <a:latin typeface="Arial" panose="020B0604020202020204" pitchFamily="34" charset="0"/>
                <a:cs typeface="Arial" panose="020B0604020202020204" pitchFamily="34" charset="0"/>
              </a:rPr>
              <a:t>Package specification</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5FD10ED-8D61-313E-3D51-18422605D050}"/>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grpSp>
        <p:nvGrpSpPr>
          <p:cNvPr id="10" name="그룹 9">
            <a:extLst>
              <a:ext uri="{FF2B5EF4-FFF2-40B4-BE49-F238E27FC236}">
                <a16:creationId xmlns:a16="http://schemas.microsoft.com/office/drawing/2014/main" id="{9C60ED0E-AD57-0C1A-6F93-CC0040ACB422}"/>
              </a:ext>
            </a:extLst>
          </p:cNvPr>
          <p:cNvGrpSpPr/>
          <p:nvPr/>
        </p:nvGrpSpPr>
        <p:grpSpPr>
          <a:xfrm>
            <a:off x="950714" y="2222547"/>
            <a:ext cx="2017514" cy="2017631"/>
            <a:chOff x="934465" y="2137885"/>
            <a:chExt cx="1602000" cy="1602000"/>
          </a:xfrm>
        </p:grpSpPr>
        <p:sp>
          <p:nvSpPr>
            <p:cNvPr id="11" name="직사각형 10">
              <a:extLst>
                <a:ext uri="{FF2B5EF4-FFF2-40B4-BE49-F238E27FC236}">
                  <a16:creationId xmlns:a16="http://schemas.microsoft.com/office/drawing/2014/main" id="{3D19DF92-9F59-3044-EBFA-EF0F11AFF2A3}"/>
                </a:ext>
              </a:extLst>
            </p:cNvPr>
            <p:cNvSpPr/>
            <p:nvPr/>
          </p:nvSpPr>
          <p:spPr>
            <a:xfrm>
              <a:off x="934465" y="2137885"/>
              <a:ext cx="1602000" cy="1602000"/>
            </a:xfrm>
            <a:prstGeom prst="rect">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3" name="타원 12">
              <a:extLst>
                <a:ext uri="{FF2B5EF4-FFF2-40B4-BE49-F238E27FC236}">
                  <a16:creationId xmlns:a16="http://schemas.microsoft.com/office/drawing/2014/main" id="{287340AB-B6AD-5634-ADF7-FE1FA3F09C12}"/>
                </a:ext>
              </a:extLst>
            </p:cNvPr>
            <p:cNvSpPr/>
            <p:nvPr/>
          </p:nvSpPr>
          <p:spPr>
            <a:xfrm>
              <a:off x="1068746" y="3568638"/>
              <a:ext cx="72000" cy="72000"/>
            </a:xfrm>
            <a:prstGeom prst="ellipse">
              <a:avLst/>
            </a:prstGeom>
            <a:solidFill>
              <a:schemeClr val="tx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4" name="TextBox 13">
              <a:extLst>
                <a:ext uri="{FF2B5EF4-FFF2-40B4-BE49-F238E27FC236}">
                  <a16:creationId xmlns:a16="http://schemas.microsoft.com/office/drawing/2014/main" id="{2248BB79-0FCB-EFD4-CFAB-E3B39ACC1951}"/>
                </a:ext>
              </a:extLst>
            </p:cNvPr>
            <p:cNvSpPr txBox="1"/>
            <p:nvPr/>
          </p:nvSpPr>
          <p:spPr>
            <a:xfrm>
              <a:off x="951974" y="3353975"/>
              <a:ext cx="356656" cy="158844"/>
            </a:xfrm>
            <a:prstGeom prst="rect">
              <a:avLst/>
            </a:prstGeom>
            <a:noFill/>
            <a:ln w="12700">
              <a:noFill/>
            </a:ln>
          </p:spPr>
          <p:txBody>
            <a:bodyPr wrap="none" rtlCol="0">
              <a:spAutoFit/>
            </a:bodyPr>
            <a:lstStyle/>
            <a:p>
              <a:r>
                <a:rPr lang="en-US" altLang="ko-KR" sz="700" b="1" dirty="0">
                  <a:latin typeface="Arial" panose="020B0604020202020204" pitchFamily="34" charset="0"/>
                  <a:cs typeface="Arial" panose="020B0604020202020204" pitchFamily="34" charset="0"/>
                </a:rPr>
                <a:t>Pin #1</a:t>
              </a:r>
              <a:endParaRPr lang="ko-KR" altLang="en-US" sz="700" b="1" dirty="0">
                <a:latin typeface="Arial" panose="020B0604020202020204" pitchFamily="34" charset="0"/>
                <a:cs typeface="Arial" panose="020B0604020202020204" pitchFamily="34" charset="0"/>
              </a:endParaRPr>
            </a:p>
          </p:txBody>
        </p:sp>
      </p:grpSp>
      <p:cxnSp>
        <p:nvCxnSpPr>
          <p:cNvPr id="16" name="직선 연결선 15">
            <a:extLst>
              <a:ext uri="{FF2B5EF4-FFF2-40B4-BE49-F238E27FC236}">
                <a16:creationId xmlns:a16="http://schemas.microsoft.com/office/drawing/2014/main" id="{E19A48B9-465F-F4D6-3E89-3F5D2910A501}"/>
              </a:ext>
            </a:extLst>
          </p:cNvPr>
          <p:cNvCxnSpPr>
            <a:cxnSpLocks/>
          </p:cNvCxnSpPr>
          <p:nvPr/>
        </p:nvCxnSpPr>
        <p:spPr>
          <a:xfrm flipH="1">
            <a:off x="597482" y="2222547"/>
            <a:ext cx="25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직선 연결선 17">
            <a:extLst>
              <a:ext uri="{FF2B5EF4-FFF2-40B4-BE49-F238E27FC236}">
                <a16:creationId xmlns:a16="http://schemas.microsoft.com/office/drawing/2014/main" id="{E56C4A0A-FF8D-5068-A502-B7BAD42ED1C7}"/>
              </a:ext>
            </a:extLst>
          </p:cNvPr>
          <p:cNvCxnSpPr/>
          <p:nvPr/>
        </p:nvCxnSpPr>
        <p:spPr>
          <a:xfrm>
            <a:off x="719771" y="2244635"/>
            <a:ext cx="0" cy="1949621"/>
          </a:xfrm>
          <a:prstGeom prst="line">
            <a:avLst/>
          </a:prstGeom>
          <a:ln w="3175">
            <a:solidFill>
              <a:schemeClr val="tx1"/>
            </a:solidFill>
            <a:headEnd type="triangle"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19" name="직선 연결선 18">
            <a:extLst>
              <a:ext uri="{FF2B5EF4-FFF2-40B4-BE49-F238E27FC236}">
                <a16:creationId xmlns:a16="http://schemas.microsoft.com/office/drawing/2014/main" id="{46D4D303-6224-F151-37E5-B0A4D8D7A78B}"/>
              </a:ext>
            </a:extLst>
          </p:cNvPr>
          <p:cNvCxnSpPr>
            <a:cxnSpLocks/>
          </p:cNvCxnSpPr>
          <p:nvPr/>
        </p:nvCxnSpPr>
        <p:spPr>
          <a:xfrm flipH="1">
            <a:off x="584089" y="4212771"/>
            <a:ext cx="25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직선 연결선 19">
            <a:extLst>
              <a:ext uri="{FF2B5EF4-FFF2-40B4-BE49-F238E27FC236}">
                <a16:creationId xmlns:a16="http://schemas.microsoft.com/office/drawing/2014/main" id="{61E345FC-BBC1-3AB8-A8F7-63ED9CDE56BB}"/>
              </a:ext>
            </a:extLst>
          </p:cNvPr>
          <p:cNvCxnSpPr>
            <a:cxnSpLocks/>
          </p:cNvCxnSpPr>
          <p:nvPr/>
        </p:nvCxnSpPr>
        <p:spPr>
          <a:xfrm rot="5400000" flipH="1" flipV="1">
            <a:off x="829249" y="4421900"/>
            <a:ext cx="25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직선 연결선 21">
            <a:extLst>
              <a:ext uri="{FF2B5EF4-FFF2-40B4-BE49-F238E27FC236}">
                <a16:creationId xmlns:a16="http://schemas.microsoft.com/office/drawing/2014/main" id="{A62870C1-DF60-9007-6351-2B99C6751217}"/>
              </a:ext>
            </a:extLst>
          </p:cNvPr>
          <p:cNvCxnSpPr>
            <a:cxnSpLocks/>
          </p:cNvCxnSpPr>
          <p:nvPr/>
        </p:nvCxnSpPr>
        <p:spPr>
          <a:xfrm rot="5400000" flipH="1" flipV="1">
            <a:off x="2836324" y="4420685"/>
            <a:ext cx="252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직선 연결선 22">
            <a:extLst>
              <a:ext uri="{FF2B5EF4-FFF2-40B4-BE49-F238E27FC236}">
                <a16:creationId xmlns:a16="http://schemas.microsoft.com/office/drawing/2014/main" id="{D46AC9AF-AC12-D6DA-8BED-08211461B132}"/>
              </a:ext>
            </a:extLst>
          </p:cNvPr>
          <p:cNvCxnSpPr>
            <a:cxnSpLocks/>
          </p:cNvCxnSpPr>
          <p:nvPr/>
        </p:nvCxnSpPr>
        <p:spPr>
          <a:xfrm flipH="1">
            <a:off x="957663" y="4414575"/>
            <a:ext cx="1994845" cy="0"/>
          </a:xfrm>
          <a:prstGeom prst="line">
            <a:avLst/>
          </a:prstGeom>
          <a:ln w="3175">
            <a:solidFill>
              <a:schemeClr val="tx1"/>
            </a:solidFill>
            <a:headEnd type="triangle" w="sm" len="med"/>
            <a:tailEnd type="triangle" w="sm" len="med"/>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A5F43BF8-D5E2-952B-D8F5-804FC641D419}"/>
              </a:ext>
            </a:extLst>
          </p:cNvPr>
          <p:cNvSpPr txBox="1"/>
          <p:nvPr/>
        </p:nvSpPr>
        <p:spPr>
          <a:xfrm>
            <a:off x="1911804" y="4329936"/>
            <a:ext cx="86562" cy="169277"/>
          </a:xfrm>
          <a:prstGeom prst="rect">
            <a:avLst/>
          </a:prstGeom>
          <a:solidFill>
            <a:schemeClr val="bg1"/>
          </a:solidFill>
        </p:spPr>
        <p:txBody>
          <a:bodyPr wrap="none" lIns="0" tIns="0" rIns="0" bIns="0" rtlCol="0" anchor="ctr" anchorCtr="0">
            <a:spAutoFit/>
          </a:bodyPr>
          <a:lstStyle/>
          <a:p>
            <a:r>
              <a:rPr lang="en-US" altLang="ko-KR" sz="1100" dirty="0"/>
              <a:t>D</a:t>
            </a:r>
            <a:endParaRPr lang="ko-KR" altLang="en-US" sz="1100" dirty="0"/>
          </a:p>
        </p:txBody>
      </p:sp>
      <p:graphicFrame>
        <p:nvGraphicFramePr>
          <p:cNvPr id="7" name="object 2">
            <a:extLst>
              <a:ext uri="{FF2B5EF4-FFF2-40B4-BE49-F238E27FC236}">
                <a16:creationId xmlns:a16="http://schemas.microsoft.com/office/drawing/2014/main" id="{0B9B7991-237F-E7E6-7D59-BFB5F34D7471}"/>
              </a:ext>
            </a:extLst>
          </p:cNvPr>
          <p:cNvGraphicFramePr>
            <a:graphicFrameLocks noGrp="1"/>
          </p:cNvGraphicFramePr>
          <p:nvPr/>
        </p:nvGraphicFramePr>
        <p:xfrm>
          <a:off x="3919794" y="5053616"/>
          <a:ext cx="2359085" cy="3561530"/>
        </p:xfrm>
        <a:graphic>
          <a:graphicData uri="http://schemas.openxmlformats.org/drawingml/2006/table">
            <a:tbl>
              <a:tblPr firstRow="1" bandRow="1">
                <a:tableStyleId>{2D5ABB26-0587-4C30-8999-92F81FD0307C}</a:tableStyleId>
              </a:tblPr>
              <a:tblGrid>
                <a:gridCol w="693962">
                  <a:extLst>
                    <a:ext uri="{9D8B030D-6E8A-4147-A177-3AD203B41FA5}">
                      <a16:colId xmlns:a16="http://schemas.microsoft.com/office/drawing/2014/main" val="20000"/>
                    </a:ext>
                  </a:extLst>
                </a:gridCol>
                <a:gridCol w="556456">
                  <a:extLst>
                    <a:ext uri="{9D8B030D-6E8A-4147-A177-3AD203B41FA5}">
                      <a16:colId xmlns:a16="http://schemas.microsoft.com/office/drawing/2014/main" val="20001"/>
                    </a:ext>
                  </a:extLst>
                </a:gridCol>
                <a:gridCol w="545379">
                  <a:extLst>
                    <a:ext uri="{9D8B030D-6E8A-4147-A177-3AD203B41FA5}">
                      <a16:colId xmlns:a16="http://schemas.microsoft.com/office/drawing/2014/main" val="4065758931"/>
                    </a:ext>
                  </a:extLst>
                </a:gridCol>
                <a:gridCol w="563288">
                  <a:extLst>
                    <a:ext uri="{9D8B030D-6E8A-4147-A177-3AD203B41FA5}">
                      <a16:colId xmlns:a16="http://schemas.microsoft.com/office/drawing/2014/main" val="20002"/>
                    </a:ext>
                  </a:extLst>
                </a:gridCol>
              </a:tblGrid>
              <a:tr h="229005">
                <a:tc rowSpan="2">
                  <a:txBody>
                    <a:bodyPr/>
                    <a:lstStyle/>
                    <a:p>
                      <a:pPr marL="0" indent="0" algn="ctr">
                        <a:lnSpc>
                          <a:spcPct val="100000"/>
                        </a:lnSpc>
                        <a:spcBef>
                          <a:spcPts val="185"/>
                        </a:spcBef>
                      </a:pPr>
                      <a:r>
                        <a:rPr lang="en-US" sz="900" b="1" dirty="0">
                          <a:latin typeface="Arial" panose="020B0604020202020204" pitchFamily="34" charset="0"/>
                          <a:cs typeface="Arial" panose="020B0604020202020204" pitchFamily="34" charset="0"/>
                        </a:rPr>
                        <a:t>Symbol</a:t>
                      </a:r>
                      <a:endParaRPr sz="900" b="1"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gridSpan="3">
                  <a:txBody>
                    <a:bodyPr/>
                    <a:lstStyle/>
                    <a:p>
                      <a:pPr marL="63500" algn="ctr">
                        <a:lnSpc>
                          <a:spcPct val="100000"/>
                        </a:lnSpc>
                        <a:spcBef>
                          <a:spcPts val="185"/>
                        </a:spcBef>
                      </a:pPr>
                      <a:r>
                        <a:rPr lang="en-US" sz="900" b="1" dirty="0">
                          <a:latin typeface="Arial" panose="020B0604020202020204" pitchFamily="34" charset="0"/>
                          <a:cs typeface="Arial" panose="020B0604020202020204" pitchFamily="34" charset="0"/>
                        </a:rPr>
                        <a:t>Dimensions in mm</a:t>
                      </a:r>
                      <a:endParaRPr sz="900" b="1"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marL="63500" algn="ctr">
                        <a:lnSpc>
                          <a:spcPct val="100000"/>
                        </a:lnSpc>
                        <a:spcBef>
                          <a:spcPts val="185"/>
                        </a:spcBef>
                      </a:pPr>
                      <a:endParaRPr sz="1000" dirty="0">
                        <a:latin typeface="Calibri"/>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tcPr>
                </a:tc>
                <a:tc hMerge="1">
                  <a:txBody>
                    <a:bodyPr/>
                    <a:lstStyle/>
                    <a:p>
                      <a:pPr marL="64135" algn="ctr">
                        <a:lnSpc>
                          <a:spcPct val="100000"/>
                        </a:lnSpc>
                        <a:spcBef>
                          <a:spcPts val="185"/>
                        </a:spcBef>
                      </a:pPr>
                      <a:endParaRPr sz="1000" dirty="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229005">
                <a:tc v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0" indent="0" algn="ctr" defTabSz="685800" rtl="0" eaLnBrk="1" latinLnBrk="1" hangingPunct="1">
                        <a:lnSpc>
                          <a:spcPct val="100000"/>
                        </a:lnSpc>
                        <a:spcBef>
                          <a:spcPts val="185"/>
                        </a:spcBef>
                      </a:pPr>
                      <a:r>
                        <a:rPr lang="en-US" sz="900" b="1" kern="1200" spc="-10" dirty="0">
                          <a:solidFill>
                            <a:schemeClr val="tx1"/>
                          </a:solidFill>
                          <a:latin typeface="Arial" panose="020B0604020202020204" pitchFamily="34" charset="0"/>
                          <a:ea typeface="+mn-ea"/>
                          <a:cs typeface="Arial" panose="020B0604020202020204" pitchFamily="34" charset="0"/>
                        </a:rPr>
                        <a:t>Min</a:t>
                      </a:r>
                      <a:endParaRPr sz="900" b="1"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indent="0" algn="ctr" defTabSz="685800" rtl="0" eaLnBrk="1" latinLnBrk="1" hangingPunct="1">
                        <a:lnSpc>
                          <a:spcPct val="100000"/>
                        </a:lnSpc>
                        <a:spcBef>
                          <a:spcPts val="185"/>
                        </a:spcBef>
                      </a:pPr>
                      <a:r>
                        <a:rPr lang="en-US" sz="900" b="1" kern="1200" spc="-10" dirty="0">
                          <a:solidFill>
                            <a:schemeClr val="tx1"/>
                          </a:solidFill>
                          <a:latin typeface="Arial" panose="020B0604020202020204" pitchFamily="34" charset="0"/>
                          <a:ea typeface="+mn-ea"/>
                          <a:cs typeface="Arial" panose="020B0604020202020204" pitchFamily="34" charset="0"/>
                        </a:rPr>
                        <a:t>Typ</a:t>
                      </a:r>
                      <a:endParaRPr sz="900" b="1"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indent="0" algn="ctr" defTabSz="685800" rtl="0" eaLnBrk="1" latinLnBrk="1" hangingPunct="1">
                        <a:lnSpc>
                          <a:spcPct val="100000"/>
                        </a:lnSpc>
                        <a:spcBef>
                          <a:spcPts val="185"/>
                        </a:spcBef>
                      </a:pPr>
                      <a:r>
                        <a:rPr lang="en-US" sz="900" b="1" kern="1200" spc="-10" dirty="0">
                          <a:solidFill>
                            <a:schemeClr val="tx1"/>
                          </a:solidFill>
                          <a:latin typeface="Arial" panose="020B0604020202020204" pitchFamily="34" charset="0"/>
                          <a:ea typeface="+mn-ea"/>
                          <a:cs typeface="Arial" panose="020B0604020202020204" pitchFamily="34" charset="0"/>
                        </a:rPr>
                        <a:t>Max</a:t>
                      </a:r>
                      <a:endParaRPr sz="900" b="1"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0.50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0.55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0.60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0.00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0.05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A2</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0.45 REF</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A3</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0.152 REF</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tc>
                <a:extLst>
                  <a:ext uri="{0D108BD9-81ED-4DB2-BD59-A6C34878D82A}">
                    <a16:rowId xmlns:a16="http://schemas.microsoft.com/office/drawing/2014/main" val="2321657069"/>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b</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0.15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b1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0.08</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0.13</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0.18</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D</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2.90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3.00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3.10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D1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1.35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1.40</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1.45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E</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2.90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3.00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3.10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E1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1.75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1.80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1.85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e </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0.40 BSC</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11"/>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K</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K1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0.65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0.70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0.75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9159450"/>
                  </a:ext>
                </a:extLst>
              </a:tr>
              <a:tr h="22168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L</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sp>
        <p:nvSpPr>
          <p:cNvPr id="12" name="TextBox 11">
            <a:extLst>
              <a:ext uri="{FF2B5EF4-FFF2-40B4-BE49-F238E27FC236}">
                <a16:creationId xmlns:a16="http://schemas.microsoft.com/office/drawing/2014/main" id="{C0A64E1C-33EA-1238-5141-A68DDCF8FC0C}"/>
              </a:ext>
            </a:extLst>
          </p:cNvPr>
          <p:cNvSpPr txBox="1"/>
          <p:nvPr/>
        </p:nvSpPr>
        <p:spPr>
          <a:xfrm>
            <a:off x="1598278" y="4964092"/>
            <a:ext cx="660437" cy="153888"/>
          </a:xfrm>
          <a:prstGeom prst="rect">
            <a:avLst/>
          </a:prstGeom>
          <a:noFill/>
        </p:spPr>
        <p:txBody>
          <a:bodyPr vert="horz" wrap="none" lIns="0" tIns="0" rIns="0" bIns="0" rtlCol="0" anchor="ctr" anchorCtr="0">
            <a:spAutoFit/>
          </a:bodyPr>
          <a:lstStyle/>
          <a:p>
            <a:r>
              <a:rPr lang="en-US" altLang="ko-KR" sz="1000" b="1" dirty="0">
                <a:latin typeface="Arial" panose="020B0604020202020204" pitchFamily="34" charset="0"/>
                <a:cs typeface="Arial" panose="020B0604020202020204" pitchFamily="34" charset="0"/>
              </a:rPr>
              <a:t>SIDE VIEW</a:t>
            </a:r>
            <a:endParaRPr lang="ko-KR" altLang="en-US" sz="1000" b="1" dirty="0">
              <a:latin typeface="Arial" panose="020B0604020202020204" pitchFamily="34" charset="0"/>
              <a:cs typeface="Arial" panose="020B0604020202020204" pitchFamily="34" charset="0"/>
            </a:endParaRPr>
          </a:p>
        </p:txBody>
      </p:sp>
      <p:sp>
        <p:nvSpPr>
          <p:cNvPr id="8" name="object 84">
            <a:extLst>
              <a:ext uri="{FF2B5EF4-FFF2-40B4-BE49-F238E27FC236}">
                <a16:creationId xmlns:a16="http://schemas.microsoft.com/office/drawing/2014/main" id="{1E9A1E01-6F1D-EB23-92C6-9C650F0B90D6}"/>
              </a:ext>
            </a:extLst>
          </p:cNvPr>
          <p:cNvSpPr txBox="1"/>
          <p:nvPr/>
        </p:nvSpPr>
        <p:spPr>
          <a:xfrm>
            <a:off x="2660200" y="8815546"/>
            <a:ext cx="1537600"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16. Package Outline</a:t>
            </a:r>
          </a:p>
        </p:txBody>
      </p:sp>
      <p:sp>
        <p:nvSpPr>
          <p:cNvPr id="28" name="object 3">
            <a:extLst>
              <a:ext uri="{FF2B5EF4-FFF2-40B4-BE49-F238E27FC236}">
                <a16:creationId xmlns:a16="http://schemas.microsoft.com/office/drawing/2014/main" id="{21C39B93-B2F1-FB91-1EEE-E0B3D0A972CA}"/>
              </a:ext>
            </a:extLst>
          </p:cNvPr>
          <p:cNvSpPr txBox="1"/>
          <p:nvPr/>
        </p:nvSpPr>
        <p:spPr>
          <a:xfrm>
            <a:off x="2363268" y="1313712"/>
            <a:ext cx="2062039" cy="169277"/>
          </a:xfrm>
          <a:prstGeom prst="rect">
            <a:avLst/>
          </a:prstGeom>
        </p:spPr>
        <p:txBody>
          <a:bodyPr vert="horz" wrap="none" lIns="0" tIns="0" rIns="0" bIns="0" rtlCol="0" anchor="ctr" anchorCtr="0">
            <a:spAutoFit/>
          </a:bodyPr>
          <a:lstStyle/>
          <a:p>
            <a:pPr algn="ctr" defTabSz="895327" fontAlgn="auto">
              <a:spcBef>
                <a:spcPts val="474"/>
              </a:spcBef>
              <a:spcAft>
                <a:spcPts val="0"/>
              </a:spcAft>
            </a:pPr>
            <a:r>
              <a:rPr lang="en-US" altLang="ko-KR" sz="1100" b="1" spc="-20" dirty="0">
                <a:solidFill>
                  <a:prstClr val="black"/>
                </a:solidFill>
                <a:latin typeface="Arial"/>
                <a:ea typeface="맑은 고딕" panose="020B0503020000020004" pitchFamily="50" charset="-127"/>
                <a:cs typeface="Arial"/>
              </a:rPr>
              <a:t>Q</a:t>
            </a:r>
            <a:r>
              <a:rPr kumimoji="0" lang="en-US" altLang="ko-KR" sz="1100" b="1" spc="-20" dirty="0">
                <a:solidFill>
                  <a:prstClr val="black"/>
                </a:solidFill>
                <a:latin typeface="Arial"/>
                <a:ea typeface="맑은 고딕" panose="020B0503020000020004" pitchFamily="50" charset="-127"/>
                <a:cs typeface="Arial"/>
              </a:rPr>
              <a:t>FN 3030-24L </a:t>
            </a:r>
            <a:r>
              <a:rPr kumimoji="0" lang="en-US" altLang="ko-KR" sz="1100" b="1" spc="-5" dirty="0">
                <a:solidFill>
                  <a:prstClr val="black"/>
                </a:solidFill>
                <a:latin typeface="Arial"/>
                <a:ea typeface="맑은 고딕" panose="020B0503020000020004" pitchFamily="50" charset="-127"/>
                <a:cs typeface="Arial"/>
              </a:rPr>
              <a:t> Package</a:t>
            </a:r>
            <a:r>
              <a:rPr kumimoji="0" lang="en-US" altLang="ko-KR" sz="1100" b="1" spc="-73" dirty="0">
                <a:solidFill>
                  <a:prstClr val="black"/>
                </a:solidFill>
                <a:latin typeface="Arial"/>
                <a:ea typeface="맑은 고딕" panose="020B0503020000020004" pitchFamily="50" charset="-127"/>
                <a:cs typeface="Arial"/>
              </a:rPr>
              <a:t> </a:t>
            </a:r>
            <a:r>
              <a:rPr kumimoji="0" lang="en-US" altLang="ko-KR" sz="1100" b="1" spc="-5" dirty="0">
                <a:solidFill>
                  <a:prstClr val="black"/>
                </a:solidFill>
                <a:latin typeface="Arial"/>
                <a:ea typeface="맑은 고딕" panose="020B0503020000020004" pitchFamily="50" charset="-127"/>
                <a:cs typeface="Arial"/>
              </a:rPr>
              <a:t>Outline</a:t>
            </a:r>
            <a:endParaRPr kumimoji="0" lang="en-US" altLang="ko-KR" sz="1100" b="1" dirty="0">
              <a:solidFill>
                <a:prstClr val="black"/>
              </a:solidFill>
              <a:latin typeface="Arial"/>
              <a:ea typeface="맑은 고딕" panose="020B0503020000020004" pitchFamily="50" charset="-127"/>
              <a:cs typeface="Arial"/>
            </a:endParaRPr>
          </a:p>
        </p:txBody>
      </p:sp>
      <p:sp>
        <p:nvSpPr>
          <p:cNvPr id="24" name="TextBox 23">
            <a:extLst>
              <a:ext uri="{FF2B5EF4-FFF2-40B4-BE49-F238E27FC236}">
                <a16:creationId xmlns:a16="http://schemas.microsoft.com/office/drawing/2014/main" id="{6F1D99D7-953D-A0B1-E3C7-F81D54B49737}"/>
              </a:ext>
            </a:extLst>
          </p:cNvPr>
          <p:cNvSpPr txBox="1"/>
          <p:nvPr/>
        </p:nvSpPr>
        <p:spPr>
          <a:xfrm>
            <a:off x="683684" y="3113632"/>
            <a:ext cx="68930" cy="169277"/>
          </a:xfrm>
          <a:prstGeom prst="rect">
            <a:avLst/>
          </a:prstGeom>
          <a:solidFill>
            <a:schemeClr val="bg1"/>
          </a:solidFill>
        </p:spPr>
        <p:txBody>
          <a:bodyPr wrap="none" lIns="0" tIns="0" rIns="0" bIns="0" rtlCol="0" anchor="ctr" anchorCtr="0">
            <a:spAutoFit/>
          </a:bodyPr>
          <a:lstStyle/>
          <a:p>
            <a:r>
              <a:rPr lang="en-US" altLang="ko-KR" sz="1100" dirty="0"/>
              <a:t>E</a:t>
            </a:r>
            <a:endParaRPr lang="ko-KR" altLang="en-US" sz="1100" dirty="0"/>
          </a:p>
        </p:txBody>
      </p:sp>
      <p:pic>
        <p:nvPicPr>
          <p:cNvPr id="5" name="그림 4">
            <a:extLst>
              <a:ext uri="{FF2B5EF4-FFF2-40B4-BE49-F238E27FC236}">
                <a16:creationId xmlns:a16="http://schemas.microsoft.com/office/drawing/2014/main" id="{663B7B1A-304F-B0CE-AD67-2365D48781A7}"/>
              </a:ext>
            </a:extLst>
          </p:cNvPr>
          <p:cNvPicPr>
            <a:picLocks noChangeAspect="1"/>
          </p:cNvPicPr>
          <p:nvPr/>
        </p:nvPicPr>
        <p:blipFill>
          <a:blip r:embed="rId2"/>
          <a:srcRect l="5862" t="4574" r="3323"/>
          <a:stretch/>
        </p:blipFill>
        <p:spPr>
          <a:xfrm>
            <a:off x="3429000" y="1966324"/>
            <a:ext cx="3169411" cy="2742145"/>
          </a:xfrm>
          <a:prstGeom prst="rect">
            <a:avLst/>
          </a:prstGeom>
        </p:spPr>
      </p:pic>
      <p:sp>
        <p:nvSpPr>
          <p:cNvPr id="15" name="TextBox 14">
            <a:extLst>
              <a:ext uri="{FF2B5EF4-FFF2-40B4-BE49-F238E27FC236}">
                <a16:creationId xmlns:a16="http://schemas.microsoft.com/office/drawing/2014/main" id="{0CB09810-A151-C751-9644-0DADE9A706F0}"/>
              </a:ext>
            </a:extLst>
          </p:cNvPr>
          <p:cNvSpPr txBox="1"/>
          <p:nvPr/>
        </p:nvSpPr>
        <p:spPr>
          <a:xfrm>
            <a:off x="1598278" y="1765924"/>
            <a:ext cx="625171" cy="153888"/>
          </a:xfrm>
          <a:prstGeom prst="rect">
            <a:avLst/>
          </a:prstGeom>
          <a:noFill/>
        </p:spPr>
        <p:txBody>
          <a:bodyPr vert="horz" wrap="none" lIns="0" tIns="0" rIns="0" bIns="0" rtlCol="0" anchor="ctr" anchorCtr="0">
            <a:spAutoFit/>
          </a:bodyPr>
          <a:lstStyle/>
          <a:p>
            <a:r>
              <a:rPr lang="en-US" altLang="ko-KR" sz="1000" b="1" dirty="0">
                <a:latin typeface="Arial" panose="020B0604020202020204" pitchFamily="34" charset="0"/>
                <a:cs typeface="Arial" panose="020B0604020202020204" pitchFamily="34" charset="0"/>
              </a:rPr>
              <a:t>TOP VIEW</a:t>
            </a:r>
            <a:endParaRPr lang="ko-KR" altLang="en-US" sz="1000" b="1" dirty="0">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40700C89-2519-CBD2-F48D-BD62E4479CF3}"/>
              </a:ext>
            </a:extLst>
          </p:cNvPr>
          <p:cNvSpPr txBox="1"/>
          <p:nvPr/>
        </p:nvSpPr>
        <p:spPr>
          <a:xfrm>
            <a:off x="4479475" y="1766381"/>
            <a:ext cx="910506" cy="153888"/>
          </a:xfrm>
          <a:prstGeom prst="rect">
            <a:avLst/>
          </a:prstGeom>
          <a:noFill/>
        </p:spPr>
        <p:txBody>
          <a:bodyPr vert="horz" wrap="none" lIns="0" tIns="0" rIns="0" bIns="0" rtlCol="0" anchor="ctr" anchorCtr="0">
            <a:spAutoFit/>
          </a:bodyPr>
          <a:lstStyle>
            <a:defPPr>
              <a:defRPr lang="en-US"/>
            </a:defPPr>
            <a:lvl1pPr>
              <a:defRPr sz="1100">
                <a:latin typeface="Arial" panose="020B0604020202020204" pitchFamily="34" charset="0"/>
                <a:cs typeface="Arial" panose="020B0604020202020204" pitchFamily="34" charset="0"/>
              </a:defRPr>
            </a:lvl1pPr>
          </a:lstStyle>
          <a:p>
            <a:r>
              <a:rPr lang="en-US" altLang="ko-KR" sz="1000" b="1" dirty="0"/>
              <a:t>BOTTOM VIEW</a:t>
            </a:r>
            <a:endParaRPr lang="ko-KR" altLang="en-US" sz="1000" b="1" dirty="0"/>
          </a:p>
        </p:txBody>
      </p:sp>
      <p:pic>
        <p:nvPicPr>
          <p:cNvPr id="9" name="그림 8">
            <a:extLst>
              <a:ext uri="{FF2B5EF4-FFF2-40B4-BE49-F238E27FC236}">
                <a16:creationId xmlns:a16="http://schemas.microsoft.com/office/drawing/2014/main" id="{02FD8DDD-4218-E119-5947-7CFC848EC676}"/>
              </a:ext>
            </a:extLst>
          </p:cNvPr>
          <p:cNvPicPr>
            <a:picLocks noChangeAspect="1"/>
          </p:cNvPicPr>
          <p:nvPr/>
        </p:nvPicPr>
        <p:blipFill>
          <a:blip r:embed="rId3"/>
          <a:stretch>
            <a:fillRect/>
          </a:stretch>
        </p:blipFill>
        <p:spPr>
          <a:xfrm>
            <a:off x="413545" y="5273132"/>
            <a:ext cx="2757164" cy="1016507"/>
          </a:xfrm>
          <a:prstGeom prst="rect">
            <a:avLst/>
          </a:prstGeom>
        </p:spPr>
      </p:pic>
    </p:spTree>
    <p:extLst>
      <p:ext uri="{BB962C8B-B14F-4D97-AF65-F5344CB8AC3E}">
        <p14:creationId xmlns:p14="http://schemas.microsoft.com/office/powerpoint/2010/main" val="23927872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83968C52-2D17-46C0-A84D-B482DF945C71}"/>
              </a:ext>
            </a:extLst>
          </p:cNvPr>
          <p:cNvSpPr txBox="1"/>
          <p:nvPr/>
        </p:nvSpPr>
        <p:spPr>
          <a:xfrm>
            <a:off x="420037" y="774866"/>
            <a:ext cx="3566175"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Recommended Footprint</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9591E58-643D-71CA-18A8-8C8A710F9288}"/>
              </a:ext>
            </a:extLst>
          </p:cNvPr>
          <p:cNvSpPr txBox="1"/>
          <p:nvPr/>
        </p:nvSpPr>
        <p:spPr>
          <a:xfrm>
            <a:off x="390027"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XD12</a:t>
            </a:r>
            <a:endParaRPr lang="ko-KR" altLang="en-US" b="1" dirty="0">
              <a:latin typeface="Arial" panose="020B0604020202020204" pitchFamily="34" charset="0"/>
              <a:cs typeface="Arial" panose="020B0604020202020204" pitchFamily="34" charset="0"/>
            </a:endParaRPr>
          </a:p>
        </p:txBody>
      </p:sp>
      <p:grpSp>
        <p:nvGrpSpPr>
          <p:cNvPr id="5" name="그룹 4">
            <a:extLst>
              <a:ext uri="{FF2B5EF4-FFF2-40B4-BE49-F238E27FC236}">
                <a16:creationId xmlns:a16="http://schemas.microsoft.com/office/drawing/2014/main" id="{F7C88A4A-2ACF-AF41-3E61-D57D67A5C780}"/>
              </a:ext>
            </a:extLst>
          </p:cNvPr>
          <p:cNvGrpSpPr/>
          <p:nvPr/>
        </p:nvGrpSpPr>
        <p:grpSpPr>
          <a:xfrm>
            <a:off x="404813" y="6827172"/>
            <a:ext cx="6048622" cy="2068425"/>
            <a:chOff x="404813" y="6381344"/>
            <a:chExt cx="6048622" cy="2068425"/>
          </a:xfrm>
        </p:grpSpPr>
        <p:grpSp>
          <p:nvGrpSpPr>
            <p:cNvPr id="9" name="그룹 8">
              <a:extLst>
                <a:ext uri="{FF2B5EF4-FFF2-40B4-BE49-F238E27FC236}">
                  <a16:creationId xmlns:a16="http://schemas.microsoft.com/office/drawing/2014/main" id="{23E2F9BD-A0F0-7A79-0B99-1FBB69CA50F7}"/>
                </a:ext>
              </a:extLst>
            </p:cNvPr>
            <p:cNvGrpSpPr/>
            <p:nvPr/>
          </p:nvGrpSpPr>
          <p:grpSpPr>
            <a:xfrm>
              <a:off x="404813" y="6381344"/>
              <a:ext cx="6048622" cy="553998"/>
              <a:chOff x="404813" y="5895833"/>
              <a:chExt cx="6048622" cy="553998"/>
            </a:xfrm>
          </p:grpSpPr>
          <p:sp>
            <p:nvSpPr>
              <p:cNvPr id="20" name="Rectangle 12">
                <a:extLst>
                  <a:ext uri="{FF2B5EF4-FFF2-40B4-BE49-F238E27FC236}">
                    <a16:creationId xmlns:a16="http://schemas.microsoft.com/office/drawing/2014/main" id="{AA99C72C-C2AE-11DE-F064-51BB93828186}"/>
                  </a:ext>
                </a:extLst>
              </p:cNvPr>
              <p:cNvSpPr>
                <a:spLocks noChangeArrowheads="1"/>
              </p:cNvSpPr>
              <p:nvPr/>
            </p:nvSpPr>
            <p:spPr bwMode="auto">
              <a:xfrm>
                <a:off x="404813" y="5895833"/>
                <a:ext cx="6048622" cy="55399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spcBef>
                    <a:spcPct val="0"/>
                  </a:spcBef>
                  <a:spcAft>
                    <a:spcPct val="0"/>
                  </a:spcAft>
                </a:pPr>
                <a:r>
                  <a:rPr lang="en-US" altLang="ko-KR" sz="600" dirty="0">
                    <a:latin typeface="Arial" panose="020B0604020202020204" pitchFamily="34" charset="0"/>
                    <a:ea typeface="맑은 고딕" panose="020B0503020000020004" pitchFamily="50" charset="-127"/>
                    <a:cs typeface="Arial" panose="020B0604020202020204" pitchFamily="34" charset="0"/>
                  </a:rPr>
                  <a:t>    is the trademark of Global Technologies Co., Ltd. or its subsidiaries in the Republic of Korea and/or other countries. The products of Global Technologies reserve the right to make changes without further notice to any products herein. Global Technologies makes no warranty, representation or guarantee regarding the suitability of its products for any particular purpose, nor does Global Technologies assume any liability arising out of the application or use of any product or circuit, and specifically disclaims any and all liability, including without limitation special, consequential or incidental damages. Global Technologies does not convey any license under its patent rights nor the rights of others.</a:t>
                </a:r>
                <a:endParaRPr lang="en-US" altLang="ko-KR" sz="600" dirty="0">
                  <a:latin typeface="Arial" panose="020B0604020202020204" pitchFamily="34" charset="0"/>
                  <a:cs typeface="Arial" panose="020B0604020202020204" pitchFamily="34" charset="0"/>
                </a:endParaRPr>
              </a:p>
            </p:txBody>
          </p:sp>
          <p:pic>
            <p:nvPicPr>
              <p:cNvPr id="21" name="그림 1">
                <a:extLst>
                  <a:ext uri="{FF2B5EF4-FFF2-40B4-BE49-F238E27FC236}">
                    <a16:creationId xmlns:a16="http://schemas.microsoft.com/office/drawing/2014/main" id="{B5253500-EF94-DA03-790D-6DB240AD2C0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9879" y="5922392"/>
                <a:ext cx="100553" cy="14696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5" name="그룹 14">
              <a:extLst>
                <a:ext uri="{FF2B5EF4-FFF2-40B4-BE49-F238E27FC236}">
                  <a16:creationId xmlns:a16="http://schemas.microsoft.com/office/drawing/2014/main" id="{AD049AF6-0940-D9AE-B061-F1B69A0C3650}"/>
                </a:ext>
              </a:extLst>
            </p:cNvPr>
            <p:cNvGrpSpPr/>
            <p:nvPr/>
          </p:nvGrpSpPr>
          <p:grpSpPr>
            <a:xfrm>
              <a:off x="404813" y="6972441"/>
              <a:ext cx="6048622" cy="1477328"/>
              <a:chOff x="404813" y="6972441"/>
              <a:chExt cx="6048622" cy="1477328"/>
            </a:xfrm>
          </p:grpSpPr>
          <p:sp>
            <p:nvSpPr>
              <p:cNvPr id="17" name="Rectangle 15">
                <a:extLst>
                  <a:ext uri="{FF2B5EF4-FFF2-40B4-BE49-F238E27FC236}">
                    <a16:creationId xmlns:a16="http://schemas.microsoft.com/office/drawing/2014/main" id="{E369E8BE-DCFD-0664-31ED-A466C29F2DAC}"/>
                  </a:ext>
                </a:extLst>
              </p:cNvPr>
              <p:cNvSpPr>
                <a:spLocks noChangeArrowheads="1"/>
              </p:cNvSpPr>
              <p:nvPr/>
            </p:nvSpPr>
            <p:spPr bwMode="auto">
              <a:xfrm>
                <a:off x="404813" y="6972441"/>
                <a:ext cx="6048622" cy="147732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spcBef>
                    <a:spcPct val="0"/>
                  </a:spcBef>
                  <a:spcAft>
                    <a:spcPct val="0"/>
                  </a:spcAft>
                </a:pPr>
                <a:r>
                  <a:rPr lang="en-US" altLang="ko-KR" sz="600" dirty="0">
                    <a:latin typeface="Arial" panose="020B0604020202020204" pitchFamily="34" charset="0"/>
                    <a:ea typeface="맑은 고딕" panose="020B0503020000020004" pitchFamily="50" charset="-127"/>
                    <a:cs typeface="Arial" panose="020B0604020202020204" pitchFamily="34" charset="0"/>
                  </a:rPr>
                  <a:t>    is the trademark of Global Technologies Co., Ltd. or its subsidiaries in the Republic of Korea and/or other countries. Global Technologies owns the rights to a number of patents, trademarks, copyrights, trade secrets, and other intellectual property.  Global Technologies reserves the right to make changes without further notice to any products herein. Global Technologies makes no warranty, representation or guarantee regarding the suitability of its products for any particular purpose, nor does Global Technologies assume any liability arising out of the application or use of any product or circuit, and specifically disclaims any and all liability, including without limitation special, consequential or incidental damages. Buyer is responsible for its products and applications using Global Technologies products, including compliance with all laws, regulations and safety requirements or standards, regardless of any support or applications information provided by Global Technologies. “Typical” parameters which may be provided in Global Technologies data sheets and/or specifications can and do vary in different applications and actual performance may vary over time. All operating parameters, including “Typical” must be validated for each customer application by customer’s technical experts. Global Technologies does not convey any license under its patent rights nor the rights of others. Global Technologies products are not designed, intended, or authorized for use as a critical component in life support systems or any FDA Class 3 medical devices or medical devices with a same or similar classification in a foreign jurisdiction or any devices intended for implantation in the human body. Should Buyer purchase or use Global Technologies products for any such unintended or unauthorized application, Buyer shall indemnify and hold Global Technologies and its officers, employees, subsidiaries, affiliates, and distributors harmless against all claims, costs, damages, and expenses, and reasonable attorney fees arising out of, directly or indirectly, any claim of personal injury or death associated with such unintended or unauthorized use, even if such claim alleges that Global Technologies was negligent regarding the design or manufacture of the part. Global Technologies is an Equal Opportunity/Affirmative Action Employer. This literature is subject to all applicable copyright laws and is not for resale in any manner.</a:t>
                </a:r>
                <a:endParaRPr lang="en-US" altLang="ko-KR" sz="600" dirty="0">
                  <a:latin typeface="Arial" panose="020B0604020202020204" pitchFamily="34" charset="0"/>
                  <a:cs typeface="Arial" panose="020B0604020202020204" pitchFamily="34" charset="0"/>
                </a:endParaRPr>
              </a:p>
            </p:txBody>
          </p:sp>
          <p:pic>
            <p:nvPicPr>
              <p:cNvPr id="19" name="그림 1">
                <a:extLst>
                  <a:ext uri="{FF2B5EF4-FFF2-40B4-BE49-F238E27FC236}">
                    <a16:creationId xmlns:a16="http://schemas.microsoft.com/office/drawing/2014/main" id="{9F21F4B8-55AC-4A16-9001-1E19703DFB1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8780" y="7003594"/>
                <a:ext cx="91652" cy="133953"/>
              </a:xfrm>
              <a:prstGeom prst="rect">
                <a:avLst/>
              </a:prstGeom>
              <a:noFill/>
              <a:extLst>
                <a:ext uri="{909E8E84-426E-40DD-AFC4-6F175D3DCCD1}">
                  <a14:hiddenFill xmlns:a14="http://schemas.microsoft.com/office/drawing/2010/main">
                    <a:solidFill>
                      <a:srgbClr val="FFFFFF"/>
                    </a:solidFill>
                  </a14:hiddenFill>
                </a:ext>
              </a:extLst>
            </p:spPr>
          </p:pic>
        </p:grpSp>
      </p:grpSp>
      <p:pic>
        <p:nvPicPr>
          <p:cNvPr id="2" name="그림 1">
            <a:extLst>
              <a:ext uri="{FF2B5EF4-FFF2-40B4-BE49-F238E27FC236}">
                <a16:creationId xmlns:a16="http://schemas.microsoft.com/office/drawing/2014/main" id="{2B917052-130D-F02E-E79B-8CC827EFD343}"/>
              </a:ext>
            </a:extLst>
          </p:cNvPr>
          <p:cNvPicPr>
            <a:picLocks noChangeAspect="1"/>
          </p:cNvPicPr>
          <p:nvPr/>
        </p:nvPicPr>
        <p:blipFill>
          <a:blip r:embed="rId3"/>
          <a:stretch>
            <a:fillRect/>
          </a:stretch>
        </p:blipFill>
        <p:spPr>
          <a:xfrm>
            <a:off x="404813" y="1546061"/>
            <a:ext cx="4001941" cy="3256882"/>
          </a:xfrm>
          <a:prstGeom prst="rect">
            <a:avLst/>
          </a:prstGeom>
        </p:spPr>
      </p:pic>
      <p:sp>
        <p:nvSpPr>
          <p:cNvPr id="6" name="object 7">
            <a:extLst>
              <a:ext uri="{FF2B5EF4-FFF2-40B4-BE49-F238E27FC236}">
                <a16:creationId xmlns:a16="http://schemas.microsoft.com/office/drawing/2014/main" id="{AE1D5F5C-3E65-3F85-E941-18CE27F58AAD}"/>
              </a:ext>
            </a:extLst>
          </p:cNvPr>
          <p:cNvSpPr txBox="1"/>
          <p:nvPr/>
        </p:nvSpPr>
        <p:spPr>
          <a:xfrm>
            <a:off x="404813" y="6097478"/>
            <a:ext cx="6048621" cy="302647"/>
          </a:xfrm>
          <a:prstGeom prst="rect">
            <a:avLst/>
          </a:prstGeom>
        </p:spPr>
        <p:txBody>
          <a:bodyPr vert="horz" wrap="square" lIns="0" tIns="0" rIns="0" bIns="0" rtlCol="0" anchor="ctr" anchorCtr="0">
            <a:spAutoFit/>
          </a:bodyPr>
          <a:lstStyle/>
          <a:p>
            <a:pPr marL="11286" marR="4515" defTabSz="895327" fontAlgn="auto">
              <a:spcBef>
                <a:spcPts val="156"/>
              </a:spcBef>
              <a:spcAft>
                <a:spcPts val="0"/>
              </a:spcAft>
            </a:pPr>
            <a:r>
              <a:rPr kumimoji="0" sz="900" spc="-5" dirty="0">
                <a:solidFill>
                  <a:prstClr val="black"/>
                </a:solidFill>
                <a:latin typeface="Arial"/>
                <a:ea typeface="+mn-ea"/>
                <a:cs typeface="Arial"/>
              </a:rPr>
              <a:t>Note: The</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reflow</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peak</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soldering</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temperature</a:t>
            </a:r>
            <a:r>
              <a:rPr kumimoji="0" sz="900" spc="14" dirty="0">
                <a:solidFill>
                  <a:prstClr val="black"/>
                </a:solidFill>
                <a:latin typeface="Arial"/>
                <a:ea typeface="+mn-ea"/>
                <a:cs typeface="Arial"/>
              </a:rPr>
              <a:t> </a:t>
            </a:r>
            <a:r>
              <a:rPr kumimoji="0" sz="900" spc="-9" dirty="0">
                <a:solidFill>
                  <a:prstClr val="black"/>
                </a:solidFill>
                <a:latin typeface="Arial"/>
                <a:ea typeface="+mn-ea"/>
                <a:cs typeface="Arial"/>
              </a:rPr>
              <a:t>is</a:t>
            </a:r>
            <a:r>
              <a:rPr kumimoji="0" sz="900" spc="23" dirty="0">
                <a:solidFill>
                  <a:prstClr val="black"/>
                </a:solidFill>
                <a:latin typeface="Arial"/>
                <a:ea typeface="+mn-ea"/>
                <a:cs typeface="Arial"/>
              </a:rPr>
              <a:t> </a:t>
            </a:r>
            <a:r>
              <a:rPr kumimoji="0" sz="900" spc="-9" dirty="0">
                <a:solidFill>
                  <a:prstClr val="black"/>
                </a:solidFill>
                <a:latin typeface="Arial"/>
                <a:ea typeface="+mn-ea"/>
                <a:cs typeface="Arial"/>
              </a:rPr>
              <a:t>peak</a:t>
            </a:r>
            <a:r>
              <a:rPr kumimoji="0" sz="900" spc="26" dirty="0">
                <a:solidFill>
                  <a:prstClr val="black"/>
                </a:solidFill>
                <a:latin typeface="Arial"/>
                <a:ea typeface="+mn-ea"/>
                <a:cs typeface="Arial"/>
              </a:rPr>
              <a:t> </a:t>
            </a:r>
            <a:r>
              <a:rPr kumimoji="0" sz="900" spc="-5" dirty="0">
                <a:solidFill>
                  <a:prstClr val="black"/>
                </a:solidFill>
                <a:latin typeface="Arial"/>
                <a:ea typeface="+mn-ea"/>
                <a:cs typeface="Arial"/>
              </a:rPr>
              <a:t>260°C</a:t>
            </a:r>
            <a:r>
              <a:rPr kumimoji="0" sz="900" spc="17" dirty="0">
                <a:solidFill>
                  <a:prstClr val="black"/>
                </a:solidFill>
                <a:latin typeface="Arial"/>
                <a:ea typeface="+mn-ea"/>
                <a:cs typeface="Arial"/>
              </a:rPr>
              <a:t> </a:t>
            </a:r>
            <a:r>
              <a:rPr kumimoji="0" sz="900" spc="-5" dirty="0">
                <a:solidFill>
                  <a:prstClr val="black"/>
                </a:solidFill>
                <a:latin typeface="Arial"/>
                <a:ea typeface="+mn-ea"/>
                <a:cs typeface="Arial"/>
              </a:rPr>
              <a:t>and</a:t>
            </a:r>
            <a:r>
              <a:rPr kumimoji="0" sz="900" spc="14" dirty="0">
                <a:solidFill>
                  <a:prstClr val="black"/>
                </a:solidFill>
                <a:latin typeface="Arial"/>
                <a:ea typeface="+mn-ea"/>
                <a:cs typeface="Arial"/>
              </a:rPr>
              <a:t> </a:t>
            </a:r>
            <a:r>
              <a:rPr kumimoji="0" sz="900" spc="-9" dirty="0">
                <a:solidFill>
                  <a:prstClr val="black"/>
                </a:solidFill>
                <a:latin typeface="Arial"/>
                <a:ea typeface="+mn-ea"/>
                <a:cs typeface="Arial"/>
              </a:rPr>
              <a:t>it</a:t>
            </a:r>
            <a:r>
              <a:rPr kumimoji="0" sz="900" spc="17" dirty="0">
                <a:solidFill>
                  <a:prstClr val="black"/>
                </a:solidFill>
                <a:latin typeface="Arial"/>
                <a:ea typeface="+mn-ea"/>
                <a:cs typeface="Arial"/>
              </a:rPr>
              <a:t> </a:t>
            </a:r>
            <a:r>
              <a:rPr kumimoji="0" sz="900" spc="-9" dirty="0">
                <a:solidFill>
                  <a:prstClr val="black"/>
                </a:solidFill>
                <a:latin typeface="Arial"/>
                <a:ea typeface="+mn-ea"/>
                <a:cs typeface="Arial"/>
              </a:rPr>
              <a:t>is</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specified</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based</a:t>
            </a:r>
            <a:r>
              <a:rPr kumimoji="0" sz="900" spc="5" dirty="0">
                <a:solidFill>
                  <a:prstClr val="black"/>
                </a:solidFill>
                <a:latin typeface="Arial"/>
                <a:ea typeface="+mn-ea"/>
                <a:cs typeface="Arial"/>
              </a:rPr>
              <a:t> </a:t>
            </a:r>
            <a:r>
              <a:rPr kumimoji="0" sz="900" dirty="0">
                <a:solidFill>
                  <a:prstClr val="black"/>
                </a:solidFill>
                <a:latin typeface="Arial"/>
                <a:ea typeface="+mn-ea"/>
                <a:cs typeface="Arial"/>
              </a:rPr>
              <a:t>on</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IPC/JEDEC</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J-STD- </a:t>
            </a:r>
            <a:r>
              <a:rPr kumimoji="0" sz="900" spc="-231" dirty="0">
                <a:solidFill>
                  <a:prstClr val="black"/>
                </a:solidFill>
                <a:latin typeface="Arial"/>
                <a:ea typeface="+mn-ea"/>
                <a:cs typeface="Arial"/>
              </a:rPr>
              <a:t> </a:t>
            </a:r>
            <a:r>
              <a:rPr kumimoji="0" sz="900" spc="-9" dirty="0">
                <a:solidFill>
                  <a:prstClr val="black"/>
                </a:solidFill>
                <a:latin typeface="Arial"/>
                <a:ea typeface="+mn-ea"/>
                <a:cs typeface="Arial"/>
              </a:rPr>
              <a:t>020</a:t>
            </a:r>
            <a:endParaRPr lang="en-US" sz="900" spc="-9" dirty="0">
              <a:solidFill>
                <a:prstClr val="black"/>
              </a:solidFill>
              <a:latin typeface="Arial"/>
              <a:cs typeface="Arial"/>
            </a:endParaRPr>
          </a:p>
          <a:p>
            <a:pPr marL="11286" marR="4515" defTabSz="895327" fontAlgn="auto">
              <a:spcBef>
                <a:spcPts val="156"/>
              </a:spcBef>
              <a:spcAft>
                <a:spcPts val="0"/>
              </a:spcAft>
            </a:pPr>
            <a:r>
              <a:rPr kumimoji="0" lang="en-US" sz="900" spc="-9" dirty="0">
                <a:solidFill>
                  <a:prstClr val="black"/>
                </a:solidFill>
                <a:latin typeface="Arial"/>
                <a:ea typeface="+mn-ea"/>
                <a:cs typeface="Arial"/>
              </a:rPr>
              <a:t>          </a:t>
            </a:r>
            <a:r>
              <a:rPr kumimoji="0" sz="900" spc="-5" dirty="0">
                <a:solidFill>
                  <a:prstClr val="black"/>
                </a:solidFill>
                <a:latin typeface="Arial"/>
                <a:ea typeface="+mn-ea"/>
                <a:cs typeface="Arial"/>
              </a:rPr>
              <a:t>“Moisture/Reflow</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Sensitivity</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Classification</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for</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Non-Hermetic</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Solid</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State</a:t>
            </a:r>
            <a:r>
              <a:rPr kumimoji="0" sz="900" spc="5" dirty="0">
                <a:solidFill>
                  <a:prstClr val="black"/>
                </a:solidFill>
                <a:latin typeface="Arial"/>
                <a:ea typeface="+mn-ea"/>
                <a:cs typeface="Arial"/>
              </a:rPr>
              <a:t> </a:t>
            </a:r>
            <a:r>
              <a:rPr kumimoji="0" sz="900" dirty="0">
                <a:solidFill>
                  <a:prstClr val="black"/>
                </a:solidFill>
                <a:latin typeface="Arial"/>
                <a:ea typeface="+mn-ea"/>
                <a:cs typeface="Arial"/>
              </a:rPr>
              <a:t>Surface </a:t>
            </a:r>
            <a:r>
              <a:rPr kumimoji="0" sz="900" spc="-5" dirty="0">
                <a:solidFill>
                  <a:prstClr val="black"/>
                </a:solidFill>
                <a:latin typeface="Arial"/>
                <a:ea typeface="+mn-ea"/>
                <a:cs typeface="Arial"/>
              </a:rPr>
              <a:t>Mount</a:t>
            </a:r>
            <a:r>
              <a:rPr kumimoji="0" sz="900" spc="5" dirty="0">
                <a:solidFill>
                  <a:prstClr val="black"/>
                </a:solidFill>
                <a:latin typeface="Arial"/>
                <a:ea typeface="+mn-ea"/>
                <a:cs typeface="Arial"/>
              </a:rPr>
              <a:t> </a:t>
            </a:r>
            <a:r>
              <a:rPr kumimoji="0" sz="900" dirty="0">
                <a:solidFill>
                  <a:prstClr val="black"/>
                </a:solidFill>
                <a:latin typeface="Arial"/>
                <a:ea typeface="+mn-ea"/>
                <a:cs typeface="Arial"/>
              </a:rPr>
              <a:t>Devices”</a:t>
            </a:r>
          </a:p>
        </p:txBody>
      </p:sp>
      <p:graphicFrame>
        <p:nvGraphicFramePr>
          <p:cNvPr id="7" name="object 2">
            <a:extLst>
              <a:ext uri="{FF2B5EF4-FFF2-40B4-BE49-F238E27FC236}">
                <a16:creationId xmlns:a16="http://schemas.microsoft.com/office/drawing/2014/main" id="{F6A20C5C-F939-880D-B58E-34738334B0CB}"/>
              </a:ext>
            </a:extLst>
          </p:cNvPr>
          <p:cNvGraphicFramePr>
            <a:graphicFrameLocks noGrp="1"/>
          </p:cNvGraphicFramePr>
          <p:nvPr>
            <p:extLst>
              <p:ext uri="{D42A27DB-BD31-4B8C-83A1-F6EECF244321}">
                <p14:modId xmlns:p14="http://schemas.microsoft.com/office/powerpoint/2010/main" val="1974200072"/>
              </p:ext>
            </p:extLst>
          </p:nvPr>
        </p:nvGraphicFramePr>
        <p:xfrm>
          <a:off x="4625513" y="1557844"/>
          <a:ext cx="1716147" cy="3331205"/>
        </p:xfrm>
        <a:graphic>
          <a:graphicData uri="http://schemas.openxmlformats.org/drawingml/2006/table">
            <a:tbl>
              <a:tblPr firstRow="1" bandRow="1">
                <a:tableStyleId>{2D5ABB26-0587-4C30-8999-92F81FD0307C}</a:tableStyleId>
              </a:tblPr>
              <a:tblGrid>
                <a:gridCol w="500380">
                  <a:extLst>
                    <a:ext uri="{9D8B030D-6E8A-4147-A177-3AD203B41FA5}">
                      <a16:colId xmlns:a16="http://schemas.microsoft.com/office/drawing/2014/main" val="20000"/>
                    </a:ext>
                  </a:extLst>
                </a:gridCol>
                <a:gridCol w="607830">
                  <a:extLst>
                    <a:ext uri="{9D8B030D-6E8A-4147-A177-3AD203B41FA5}">
                      <a16:colId xmlns:a16="http://schemas.microsoft.com/office/drawing/2014/main" val="20001"/>
                    </a:ext>
                  </a:extLst>
                </a:gridCol>
                <a:gridCol w="607937">
                  <a:extLst>
                    <a:ext uri="{9D8B030D-6E8A-4147-A177-3AD203B41FA5}">
                      <a16:colId xmlns:a16="http://schemas.microsoft.com/office/drawing/2014/main" val="20002"/>
                    </a:ext>
                  </a:extLst>
                </a:gridCol>
              </a:tblGrid>
              <a:tr h="296388">
                <a:tc rowSpan="2">
                  <a:txBody>
                    <a:bodyPr/>
                    <a:lstStyle/>
                    <a:p>
                      <a:pPr marL="63500" algn="ctr">
                        <a:lnSpc>
                          <a:spcPct val="100000"/>
                        </a:lnSpc>
                        <a:spcBef>
                          <a:spcPts val="185"/>
                        </a:spcBef>
                      </a:pPr>
                      <a:r>
                        <a:rPr lang="en-US" sz="900" b="1" spc="-10" dirty="0">
                          <a:latin typeface="Arial" panose="020B0604020202020204" pitchFamily="34" charset="0"/>
                          <a:cs typeface="Arial" panose="020B0604020202020204" pitchFamily="34" charset="0"/>
                        </a:rPr>
                        <a:t>Symbol</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gridSpan="2">
                  <a:txBody>
                    <a:bodyPr/>
                    <a:lstStyle/>
                    <a:p>
                      <a:pPr marL="63500" algn="ctr">
                        <a:lnSpc>
                          <a:spcPct val="100000"/>
                        </a:lnSpc>
                        <a:spcBef>
                          <a:spcPts val="185"/>
                        </a:spcBef>
                      </a:pPr>
                      <a:r>
                        <a:rPr lang="en-US" sz="900" b="1" dirty="0">
                          <a:latin typeface="Arial" panose="020B0604020202020204" pitchFamily="34" charset="0"/>
                          <a:cs typeface="Arial" panose="020B0604020202020204" pitchFamily="34" charset="0"/>
                        </a:rPr>
                        <a:t>Dimensions in mm</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marL="64135" algn="ctr">
                        <a:lnSpc>
                          <a:spcPct val="100000"/>
                        </a:lnSpc>
                        <a:spcBef>
                          <a:spcPts val="185"/>
                        </a:spcBef>
                      </a:pPr>
                      <a:endParaRPr sz="900" b="0"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250209">
                <a:tc vMerge="1">
                  <a:txBody>
                    <a:bodyPr/>
                    <a:lstStyle/>
                    <a:p>
                      <a:pPr marL="63500" algn="ctr">
                        <a:lnSpc>
                          <a:spcPct val="100000"/>
                        </a:lnSpc>
                        <a:spcBef>
                          <a:spcPts val="185"/>
                        </a:spcBef>
                      </a:pP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63500" algn="ctr">
                        <a:lnSpc>
                          <a:spcPct val="100000"/>
                        </a:lnSpc>
                        <a:spcBef>
                          <a:spcPts val="185"/>
                        </a:spcBef>
                      </a:pPr>
                      <a:r>
                        <a:rPr lang="en-US" sz="900" b="1" dirty="0">
                          <a:latin typeface="Arial" panose="020B0604020202020204" pitchFamily="34" charset="0"/>
                          <a:cs typeface="Arial" panose="020B0604020202020204" pitchFamily="34" charset="0"/>
                        </a:rPr>
                        <a:t>Value</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64135" algn="ctr">
                        <a:lnSpc>
                          <a:spcPct val="100000"/>
                        </a:lnSpc>
                        <a:spcBef>
                          <a:spcPts val="185"/>
                        </a:spcBef>
                      </a:pPr>
                      <a:r>
                        <a:rPr lang="en-US" sz="900" b="1" dirty="0">
                          <a:latin typeface="Arial" panose="020B0604020202020204" pitchFamily="34" charset="0"/>
                          <a:cs typeface="Arial" panose="020B0604020202020204" pitchFamily="34" charset="0"/>
                        </a:rPr>
                        <a:t>Margin</a:t>
                      </a:r>
                    </a:p>
                    <a:p>
                      <a:pPr marL="64135" algn="ctr">
                        <a:lnSpc>
                          <a:spcPct val="100000"/>
                        </a:lnSpc>
                        <a:spcBef>
                          <a:spcPts val="185"/>
                        </a:spcBef>
                      </a:pPr>
                      <a:r>
                        <a:rPr lang="en-US" sz="900" b="1" dirty="0">
                          <a:latin typeface="Arial" panose="020B0604020202020204" pitchFamily="34" charset="0"/>
                          <a:cs typeface="Arial" panose="020B0604020202020204" pitchFamily="34" charset="0"/>
                        </a:rPr>
                        <a:t>(Typ+)</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55896170"/>
                  </a:ext>
                </a:extLst>
              </a:tr>
              <a:tr h="169353">
                <a:tc>
                  <a:txBody>
                    <a:bodyPr/>
                    <a:lstStyle/>
                    <a:p>
                      <a:pPr marL="63500" algn="ctr">
                        <a:lnSpc>
                          <a:spcPct val="100000"/>
                        </a:lnSpc>
                        <a:spcBef>
                          <a:spcPts val="185"/>
                        </a:spcBef>
                      </a:pPr>
                      <a:r>
                        <a:rPr sz="900" b="0" dirty="0">
                          <a:latin typeface="Arial" panose="020B0604020202020204" pitchFamily="34" charset="0"/>
                          <a:cs typeface="Arial" panose="020B0604020202020204" pitchFamily="34" charset="0"/>
                        </a:rPr>
                        <a:t>X</a:t>
                      </a: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0.5</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69353">
                <a:tc>
                  <a:txBody>
                    <a:bodyPr/>
                    <a:lstStyle/>
                    <a:p>
                      <a:pPr marL="63500" algn="ctr">
                        <a:lnSpc>
                          <a:spcPct val="100000"/>
                        </a:lnSpc>
                        <a:spcBef>
                          <a:spcPts val="185"/>
                        </a:spcBef>
                      </a:pPr>
                      <a:r>
                        <a:rPr sz="900" b="0" dirty="0">
                          <a:latin typeface="Arial" panose="020B0604020202020204" pitchFamily="34" charset="0"/>
                          <a:cs typeface="Arial" panose="020B0604020202020204" pitchFamily="34" charset="0"/>
                        </a:rPr>
                        <a:t>Y</a:t>
                      </a: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69353">
                <a:tc>
                  <a:txBody>
                    <a:bodyPr/>
                    <a:lstStyle/>
                    <a:p>
                      <a:pPr marL="63500" algn="ctr">
                        <a:lnSpc>
                          <a:spcPct val="100000"/>
                        </a:lnSpc>
                        <a:spcBef>
                          <a:spcPts val="185"/>
                        </a:spcBef>
                      </a:pPr>
                      <a:r>
                        <a:rPr sz="900" b="0" dirty="0">
                          <a:latin typeface="Arial" panose="020B0604020202020204" pitchFamily="34" charset="0"/>
                          <a:cs typeface="Arial" panose="020B0604020202020204" pitchFamily="34" charset="0"/>
                        </a:rPr>
                        <a:t>C</a:t>
                      </a: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0.4</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169353">
                <a:tc>
                  <a:txBody>
                    <a:bodyPr/>
                    <a:lstStyle/>
                    <a:p>
                      <a:pPr marL="63500" algn="ctr">
                        <a:lnSpc>
                          <a:spcPct val="100000"/>
                        </a:lnSpc>
                        <a:spcBef>
                          <a:spcPts val="185"/>
                        </a:spcBef>
                      </a:pPr>
                      <a:r>
                        <a:rPr sz="900" b="0" spc="-10" dirty="0">
                          <a:latin typeface="Arial" panose="020B0604020202020204" pitchFamily="34" charset="0"/>
                          <a:cs typeface="Arial" panose="020B0604020202020204" pitchFamily="34" charset="0"/>
                        </a:rPr>
                        <a:t>X1</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0.5</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169353">
                <a:tc>
                  <a:txBody>
                    <a:bodyPr/>
                    <a:lstStyle/>
                    <a:p>
                      <a:pPr marL="63500" algn="ctr">
                        <a:lnSpc>
                          <a:spcPct val="100000"/>
                        </a:lnSpc>
                        <a:spcBef>
                          <a:spcPts val="185"/>
                        </a:spcBef>
                      </a:pPr>
                      <a:r>
                        <a:rPr sz="900" b="0" spc="-15" dirty="0">
                          <a:latin typeface="Arial" panose="020B0604020202020204" pitchFamily="34" charset="0"/>
                          <a:cs typeface="Arial" panose="020B0604020202020204" pitchFamily="34" charset="0"/>
                        </a:rPr>
                        <a:t>Y1</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0.5</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169353">
                <a:tc>
                  <a:txBody>
                    <a:bodyPr/>
                    <a:lstStyle/>
                    <a:p>
                      <a:pPr marL="63500" algn="ctr">
                        <a:lnSpc>
                          <a:spcPct val="100000"/>
                        </a:lnSpc>
                        <a:spcBef>
                          <a:spcPts val="185"/>
                        </a:spcBef>
                      </a:pPr>
                      <a:r>
                        <a:rPr sz="900" b="0" spc="-10" dirty="0">
                          <a:latin typeface="Arial" panose="020B0604020202020204" pitchFamily="34" charset="0"/>
                          <a:cs typeface="Arial" panose="020B0604020202020204" pitchFamily="34" charset="0"/>
                        </a:rPr>
                        <a:t>X2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1.4</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+0.1</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169353">
                <a:tc>
                  <a:txBody>
                    <a:bodyPr/>
                    <a:lstStyle/>
                    <a:p>
                      <a:pPr marL="63500" algn="ctr">
                        <a:lnSpc>
                          <a:spcPct val="100000"/>
                        </a:lnSpc>
                        <a:spcBef>
                          <a:spcPts val="185"/>
                        </a:spcBef>
                      </a:pPr>
                      <a:r>
                        <a:rPr sz="900" b="0" spc="-15" dirty="0">
                          <a:latin typeface="Arial" panose="020B0604020202020204" pitchFamily="34" charset="0"/>
                          <a:cs typeface="Arial" panose="020B0604020202020204" pitchFamily="34" charset="0"/>
                        </a:rPr>
                        <a:t>Y2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1.9</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+0.1</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169353">
                <a:tc>
                  <a:txBody>
                    <a:bodyPr/>
                    <a:lstStyle/>
                    <a:p>
                      <a:pPr marL="63500" algn="ctr">
                        <a:lnSpc>
                          <a:spcPct val="100000"/>
                        </a:lnSpc>
                        <a:spcBef>
                          <a:spcPts val="185"/>
                        </a:spcBef>
                      </a:pPr>
                      <a:r>
                        <a:rPr sz="900" b="0" spc="-10" dirty="0">
                          <a:latin typeface="Arial" panose="020B0604020202020204" pitchFamily="34" charset="0"/>
                          <a:cs typeface="Arial" panose="020B0604020202020204" pitchFamily="34" charset="0"/>
                        </a:rPr>
                        <a:t>X3</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1.1</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+0.1</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169353">
                <a:tc>
                  <a:txBody>
                    <a:bodyPr/>
                    <a:lstStyle/>
                    <a:p>
                      <a:pPr marL="63500" algn="ctr">
                        <a:lnSpc>
                          <a:spcPct val="100000"/>
                        </a:lnSpc>
                        <a:spcBef>
                          <a:spcPts val="185"/>
                        </a:spcBef>
                      </a:pPr>
                      <a:r>
                        <a:rPr sz="900" b="0" spc="-15" dirty="0">
                          <a:latin typeface="Arial" panose="020B0604020202020204" pitchFamily="34" charset="0"/>
                          <a:cs typeface="Arial" panose="020B0604020202020204" pitchFamily="34" charset="0"/>
                        </a:rPr>
                        <a:t>Y3</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1.6</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+0.1</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169353">
                <a:tc>
                  <a:txBody>
                    <a:bodyPr/>
                    <a:lstStyle/>
                    <a:p>
                      <a:pPr marL="63500" algn="ctr">
                        <a:lnSpc>
                          <a:spcPct val="100000"/>
                        </a:lnSpc>
                        <a:spcBef>
                          <a:spcPts val="185"/>
                        </a:spcBef>
                      </a:pPr>
                      <a:r>
                        <a:rPr sz="900" b="0" spc="-10" dirty="0">
                          <a:latin typeface="Arial" panose="020B0604020202020204" pitchFamily="34" charset="0"/>
                          <a:cs typeface="Arial" panose="020B0604020202020204" pitchFamily="34" charset="0"/>
                        </a:rPr>
                        <a:t>X4</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3.4</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r h="169353">
                <a:tc>
                  <a:txBody>
                    <a:bodyPr/>
                    <a:lstStyle/>
                    <a:p>
                      <a:pPr marL="63500" algn="ctr">
                        <a:lnSpc>
                          <a:spcPct val="100000"/>
                        </a:lnSpc>
                        <a:spcBef>
                          <a:spcPts val="185"/>
                        </a:spcBef>
                      </a:pPr>
                      <a:r>
                        <a:rPr sz="900" b="0" spc="-15" dirty="0">
                          <a:latin typeface="Arial" panose="020B0604020202020204" pitchFamily="34" charset="0"/>
                          <a:cs typeface="Arial" panose="020B0604020202020204" pitchFamily="34" charset="0"/>
                        </a:rPr>
                        <a:t>Y4</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3.4</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1"/>
                  </a:ext>
                </a:extLst>
              </a:tr>
              <a:tr h="169353">
                <a:tc>
                  <a:txBody>
                    <a:bodyPr/>
                    <a:lstStyle/>
                    <a:p>
                      <a:pPr marL="63500" algn="ctr">
                        <a:lnSpc>
                          <a:spcPct val="100000"/>
                        </a:lnSpc>
                        <a:spcBef>
                          <a:spcPts val="185"/>
                        </a:spcBef>
                      </a:pPr>
                      <a:r>
                        <a:rPr sz="900" b="0" dirty="0">
                          <a:latin typeface="Arial" panose="020B0604020202020204" pitchFamily="34" charset="0"/>
                          <a:cs typeface="Arial" panose="020B0604020202020204" pitchFamily="34" charset="0"/>
                        </a:rPr>
                        <a:t>G</a:t>
                      </a: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b="0" dirty="0">
                          <a:latin typeface="Arial" panose="020B0604020202020204" pitchFamily="34" charset="0"/>
                          <a:cs typeface="Arial" panose="020B0604020202020204" pitchFamily="34" charset="0"/>
                        </a:rPr>
                        <a:t>0.2</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00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4"/>
                  </a:ext>
                </a:extLst>
              </a:tr>
              <a:tr h="169964">
                <a:tc>
                  <a:txBody>
                    <a:bodyPr/>
                    <a:lstStyle/>
                    <a:p>
                      <a:pPr marL="63500" algn="ctr">
                        <a:lnSpc>
                          <a:spcPct val="100000"/>
                        </a:lnSpc>
                        <a:spcBef>
                          <a:spcPts val="190"/>
                        </a:spcBef>
                      </a:pPr>
                      <a:r>
                        <a:rPr sz="900" b="0" spc="-10" dirty="0">
                          <a:latin typeface="Arial" panose="020B0604020202020204" pitchFamily="34" charset="0"/>
                          <a:cs typeface="Arial" panose="020B0604020202020204" pitchFamily="34" charset="0"/>
                        </a:rPr>
                        <a:t>G1</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900" b="0" dirty="0">
                          <a:latin typeface="Arial" panose="020B0604020202020204" pitchFamily="34" charset="0"/>
                          <a:cs typeface="Arial" panose="020B0604020202020204" pitchFamily="34" charset="0"/>
                        </a:rPr>
                        <a:t>0.3</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5"/>
                  </a:ext>
                </a:extLst>
              </a:tr>
              <a:tr h="169964">
                <a:tc>
                  <a:txBody>
                    <a:bodyPr/>
                    <a:lstStyle/>
                    <a:p>
                      <a:pPr marL="63500" algn="ctr">
                        <a:lnSpc>
                          <a:spcPct val="100000"/>
                        </a:lnSpc>
                        <a:spcBef>
                          <a:spcPts val="190"/>
                        </a:spcBef>
                      </a:pPr>
                      <a:r>
                        <a:rPr sz="900" b="0" spc="-10" dirty="0">
                          <a:latin typeface="Arial" panose="020B0604020202020204" pitchFamily="34" charset="0"/>
                          <a:cs typeface="Arial" panose="020B0604020202020204" pitchFamily="34" charset="0"/>
                        </a:rPr>
                        <a:t>G2</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900" b="0" dirty="0">
                          <a:latin typeface="Arial" panose="020B0604020202020204" pitchFamily="34" charset="0"/>
                          <a:cs typeface="Arial" panose="020B0604020202020204" pitchFamily="34" charset="0"/>
                        </a:rPr>
                        <a:t>0.1</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6"/>
                  </a:ext>
                </a:extLst>
              </a:tr>
              <a:tr h="169964">
                <a:tc>
                  <a:txBody>
                    <a:bodyPr/>
                    <a:lstStyle/>
                    <a:p>
                      <a:pPr marL="63500" algn="ctr">
                        <a:lnSpc>
                          <a:spcPct val="100000"/>
                        </a:lnSpc>
                        <a:spcBef>
                          <a:spcPts val="190"/>
                        </a:spcBef>
                      </a:pPr>
                      <a:r>
                        <a:rPr sz="900" b="0" spc="-10" dirty="0">
                          <a:latin typeface="Arial" panose="020B0604020202020204" pitchFamily="34" charset="0"/>
                          <a:cs typeface="Arial" panose="020B0604020202020204" pitchFamily="34" charset="0"/>
                        </a:rPr>
                        <a:t>G3</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900" b="0" dirty="0">
                          <a:latin typeface="Arial" panose="020B0604020202020204" pitchFamily="34" charset="0"/>
                          <a:cs typeface="Arial" panose="020B0604020202020204" pitchFamily="34" charset="0"/>
                        </a:rPr>
                        <a:t>0.1</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7"/>
                  </a:ext>
                </a:extLst>
              </a:tr>
              <a:tr h="169964">
                <a:tc>
                  <a:txBody>
                    <a:bodyPr/>
                    <a:lstStyle/>
                    <a:p>
                      <a:pPr marL="63500" algn="ctr">
                        <a:lnSpc>
                          <a:spcPct val="100000"/>
                        </a:lnSpc>
                        <a:spcBef>
                          <a:spcPts val="190"/>
                        </a:spcBef>
                      </a:pPr>
                      <a:r>
                        <a:rPr sz="900" b="0" spc="-15" dirty="0">
                          <a:latin typeface="Arial" panose="020B0604020202020204" pitchFamily="34" charset="0"/>
                          <a:cs typeface="Arial" panose="020B0604020202020204" pitchFamily="34" charset="0"/>
                        </a:rPr>
                        <a:t>G4</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900" b="0" dirty="0">
                          <a:latin typeface="Arial" panose="020B0604020202020204" pitchFamily="34" charset="0"/>
                          <a:cs typeface="Arial" panose="020B0604020202020204" pitchFamily="34" charset="0"/>
                        </a:rPr>
                        <a:t>0.1</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900" b="0" dirty="0">
                          <a:latin typeface="Arial" panose="020B0604020202020204" pitchFamily="34" charset="0"/>
                          <a:cs typeface="Arial" panose="020B0604020202020204" pitchFamily="34" charset="0"/>
                        </a:rPr>
                        <a:t>0</a:t>
                      </a:r>
                      <a:endParaRPr sz="900" b="0" dirty="0">
                        <a:latin typeface="Arial" panose="020B0604020202020204" pitchFamily="34" charset="0"/>
                        <a:cs typeface="Arial" panose="020B0604020202020204" pitchFamily="34" charset="0"/>
                      </a:endParaRPr>
                    </a:p>
                  </a:txBody>
                  <a:tcPr marL="0" marR="0" marT="23627"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8"/>
                  </a:ext>
                </a:extLst>
              </a:tr>
            </a:tbl>
          </a:graphicData>
        </a:graphic>
      </p:graphicFrame>
      <p:sp>
        <p:nvSpPr>
          <p:cNvPr id="8" name="object 84">
            <a:extLst>
              <a:ext uri="{FF2B5EF4-FFF2-40B4-BE49-F238E27FC236}">
                <a16:creationId xmlns:a16="http://schemas.microsoft.com/office/drawing/2014/main" id="{A1B708B8-336D-3816-E48C-61B89C7414BD}"/>
              </a:ext>
            </a:extLst>
          </p:cNvPr>
          <p:cNvSpPr txBox="1"/>
          <p:nvPr/>
        </p:nvSpPr>
        <p:spPr>
          <a:xfrm>
            <a:off x="2443908" y="5229620"/>
            <a:ext cx="2017219"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17. Recommended Footprint</a:t>
            </a:r>
          </a:p>
        </p:txBody>
      </p:sp>
    </p:spTree>
    <p:extLst>
      <p:ext uri="{BB962C8B-B14F-4D97-AF65-F5344CB8AC3E}">
        <p14:creationId xmlns:p14="http://schemas.microsoft.com/office/powerpoint/2010/main" val="1970544529"/>
      </p:ext>
    </p:extLst>
  </p:cSld>
  <p:clrMapOvr>
    <a:masterClrMapping/>
  </p:clrMapOvr>
</p:sld>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문서" ma:contentTypeID="0x010100AFC4A675C1E113449D0248043CD1C0F7" ma:contentTypeVersion="4" ma:contentTypeDescription="새 문서를 만듭니다." ma:contentTypeScope="" ma:versionID="b5bb315d749e6b00b177ef1d11898eef">
  <xsd:schema xmlns:xsd="http://www.w3.org/2001/XMLSchema" xmlns:xs="http://www.w3.org/2001/XMLSchema" xmlns:p="http://schemas.microsoft.com/office/2006/metadata/properties" xmlns:ns3="b68af7c0-9cef-4e12-8243-523fceba86ee" targetNamespace="http://schemas.microsoft.com/office/2006/metadata/properties" ma:root="true" ma:fieldsID="3390cc5023201d4da9fc1987b8c9f5b3" ns3:_="">
    <xsd:import namespace="b68af7c0-9cef-4e12-8243-523fceba86ee"/>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68af7c0-9cef-4e12-8243-523fceba86e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98F8765-65A5-4E5A-8F42-35C584A4DA0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68af7c0-9cef-4e12-8243-523fceba86e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F6F863B-59A5-4DCE-B63F-FE618623F17F}">
  <ds:schemaRefs>
    <ds:schemaRef ds:uri="http://purl.org/dc/terms/"/>
    <ds:schemaRef ds:uri="http://schemas.openxmlformats.org/package/2006/metadata/core-properties"/>
    <ds:schemaRef ds:uri="http://www.w3.org/XML/1998/namespace"/>
    <ds:schemaRef ds:uri="http://schemas.microsoft.com/office/2006/metadata/properties"/>
    <ds:schemaRef ds:uri="http://purl.org/dc/elements/1.1/"/>
    <ds:schemaRef ds:uri="http://purl.org/dc/dcmitype/"/>
    <ds:schemaRef ds:uri="b68af7c0-9cef-4e12-8243-523fceba86ee"/>
    <ds:schemaRef ds:uri="http://schemas.microsoft.com/office/2006/documentManagement/types"/>
    <ds:schemaRef ds:uri="http://schemas.microsoft.com/office/infopath/2007/PartnerControls"/>
  </ds:schemaRefs>
</ds:datastoreItem>
</file>

<file path=customXml/itemProps3.xml><?xml version="1.0" encoding="utf-8"?>
<ds:datastoreItem xmlns:ds="http://schemas.openxmlformats.org/officeDocument/2006/customXml" ds:itemID="{E4F76A09-908A-4E45-A9CC-081CB8515A4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37721</TotalTime>
  <Words>10174</Words>
  <Application>Microsoft Office PowerPoint</Application>
  <PresentationFormat>A4 용지(210x297mm)</PresentationFormat>
  <Paragraphs>3072</Paragraphs>
  <Slides>33</Slides>
  <Notes>0</Notes>
  <HiddenSlides>0</HiddenSlides>
  <MMClips>0</MMClips>
  <ScaleCrop>false</ScaleCrop>
  <HeadingPairs>
    <vt:vector size="6" baseType="variant">
      <vt:variant>
        <vt:lpstr>사용한 글꼴</vt:lpstr>
      </vt:variant>
      <vt:variant>
        <vt:i4>7</vt:i4>
      </vt:variant>
      <vt:variant>
        <vt:lpstr>테마</vt:lpstr>
      </vt:variant>
      <vt:variant>
        <vt:i4>1</vt:i4>
      </vt:variant>
      <vt:variant>
        <vt:lpstr>슬라이드 제목</vt:lpstr>
      </vt:variant>
      <vt:variant>
        <vt:i4>33</vt:i4>
      </vt:variant>
    </vt:vector>
  </HeadingPairs>
  <TitlesOfParts>
    <vt:vector size="41" baseType="lpstr">
      <vt:lpstr>Microsoft GothicNeo</vt:lpstr>
      <vt:lpstr>굴림</vt:lpstr>
      <vt:lpstr>맑은 고딕</vt:lpstr>
      <vt:lpstr>Arial</vt:lpstr>
      <vt:lpstr>Calibri</vt:lpstr>
      <vt:lpstr>Calibri Light</vt:lpstr>
      <vt:lpstr>Times New Roman</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엄윤섭</dc:creator>
  <cp:lastModifiedBy>윤 진수</cp:lastModifiedBy>
  <cp:revision>1541</cp:revision>
  <cp:lastPrinted>2023-08-01T07:21:23Z</cp:lastPrinted>
  <dcterms:created xsi:type="dcterms:W3CDTF">2020-06-17T04:27:48Z</dcterms:created>
  <dcterms:modified xsi:type="dcterms:W3CDTF">2025-06-04T22:55:17Z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0x010100AFC4A675C1E113449D0248043CD1C0F7</vt:lpwstr>
  </property>
</Properties>
</file>